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embeddedFontLst>
    <p:embeddedFont>
      <p:font typeface="Noto Sans" panose="020B0502040504020204" pitchFamily="34" charset="0"/>
      <p:regular r:id="rId23"/>
      <p:bold r:id="rId24"/>
      <p:italic r:id="rId25"/>
      <p:boldItalic r:id="rId2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 Id="rId23" Type="http://schemas.openxmlformats.org/officeDocument/2006/relationships/font" Target="fonts/font1.fntdata"/><Relationship Id="rId24" Type="http://schemas.openxmlformats.org/officeDocument/2006/relationships/font" Target="fonts/font2.fntdata"/><Relationship Id="rId25" Type="http://schemas.openxmlformats.org/officeDocument/2006/relationships/font" Target="fonts/font3.fntdata"/><Relationship Id="rId26" Type="http://schemas.openxmlformats.org/officeDocument/2006/relationships/font" Target="fonts/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Bugun birlamchi va ikkilamchi oʻzgartirgichlar farqini, optik va temperatura datchiklarining ishlash tamoyillarini oʻrganamiz hamda Pt100 koʻprigi, termopara va fotodiodli TIA zanjirini hisoblaymiz.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Optik datchiklar: fotorezistor, fotodiod, fototranzistor, optopara, enkoder. Temperatura datchiklari: termopara, Pt100, NTC va PTC termistorlar, yarimoʻtkazgichli IC datchiklar. Fizik hodisalar: ichki va tashqi fotoeffekt, p-n oʻtishdagi fotoeffekt, Seebeck effekti.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Mashgʻulotdan oldin termostat va yorugʻlik manbaini tekshiring. Proteus yoki Simscape Electrical muhitida Vitston koʻprigi va TIA zanjirini oldindan modellashtirish mumkin.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Muhim izoh: bu nomlash rus tilidagi adabiyot anʼanasiga mos. Ingliz tilidagi ayrim manbalarda (masalan, J. Fraden) aksincha: tashqi manbasiz ishlovchi datchiklar passive, manba talab qiluvchilar esa active deb ataladi. Talabalar manbalarni oʻqiganda chalkashmasligi uchun buni albatta aytib oʻting.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Misol: Pt100 haroratni qarshilik oʻzgarishiga aylantiradi (birlamchi), Vitston koʻprigi bu oʻzgarishni kuchlanishga aylantiradi (ikkilamchi), instrumental kuchaytirgich va past chastotali filtr signalni ADC diapazoniga moslaydi. Fotodiod yorugʻlikni tokka aylantiradi, TIA esa tokni kuchlanishga aylantiradi.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Tezkorlik va chiziqlilik boʻyicha fotodiod eng yaxshi, lekin uning toki kichik (nA…µA), shuning uchun TIA kerak. Fotorezistor arzon va sezgir, lekin sekin va haroratga bogʻliq. Optopara mexatronikada boshqaruv zanjirini quvvat zanjiridan ajratishda keng qoʻllanadi.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R(photo) — fotodiodning spektral sezgirligi, A/W. Inverslovchi ulanishda chiqish kuchlanishining ishorasi tok yoʻnalishiga bogʻliq; fotodiodni teskari ulab yoki sxemani shunga moslab musbat chiqish olinadi, hisobda esa modul olinadi. Rf qancha katta boʻlsa, sezgirlik shuncha yuqori, lekin oʻtkazish polosasi torayadi.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Termopara — generatorli datchik, qolganlari parametrik (IC datchik esa ichki sxemasi bilan tayyor kuchlanish beradi). Pt100 0,385 Ω/°C sezgirlikka ega, bu R0 = 100 Ω va α = 0,00385 1/°C dan kelib chiqadi. DS18B20 kabi raqamli IC datchiklar natijani bevosita raqamli interfeys orqali beradi.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Koʻprik qarshilik oʻzgarishini kuchlanishga aylantiradi va muvozanat holatida (R(T) = R1 = R2 = R3) chiqish nolga teng boʻladi. Shuning uchun kichik oʻzgarishlar katta doimiy kuchlanish fonida emas, noldan boshlab oʻlchanadi. Instrumental kuchaytirgich ikki kirish orasidagi farqni kuchaytiradi va umumiy kuchlanishni soʻndiradi.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Jadval namuna sifatida toʻldirilgan. Talabalar stenddagi LM35 va NTC termistor uchun ham xuddi shunday qator qoʻshishi mumkin. Reaksiya tezligi datchik konstruksiyasiga (masalan, Pt100 gilzasi, termopara diametri) kuchli bogʻliqligini ham aytib oʻting.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Muhokama uchun: nima uchun pechda Pt100 emas, termopara? Pt100 yuqori aniq, lekin 800 °C chegarasiga yaqin va mexanik jihatdan zaifroq. Tutqichda nima uchun ultratovush emas, optik datchik? Ultratovushning oʻlik zonasi 2 mm masofadan katta va u sekinroq.</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Hisob: R(T)/(R1+R(T)) = 130,8/230,8 ≈ 0,56672; R3/(R2+R3) = 0,5; V(br) = 5 · 0,06672 = 0,3336 V. Muhokama: tokni kamaytirish uchun V(ex) ni pasaytirish yoki R1 ni kattalashtirish mumkin, lekin bunda koʻprik sezgirligi ham kamayadi. Amalda Pt100 koʻpincha tok manbai bilan va 3 yoki 4 simli sxemada ulanadi.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Termopara faqat issiq va sovuq uchlar harorati farqini oʻlchaydi. Sovuq uchlar harorati alohida datchik (masalan, termistor yoki IC datchik) bilan oʻlchanadi va unga mos kuchlanish qoʻshiladi — natijada 0 °C ga nisbatan kuchlanish olinadi. Kompensatsiya qilinmasa, xona harorati oʻzgarishi bevosita xatolikka aylanadi. Haqiqiy K-termopara biroz nochiziqli, shuning uchun aniq hisoblarda standart jadvallar ishlatiladi.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Qoʻshimcha savol: nurlanish quvvati 300 µW gacha oshsa, chiqish 3,63 V boʻladi va 3,3 V ADC toʻyinadi. Bunday holatda Rf ni kamaytirish kerak: 3,3 V / (0,55 · 300 µW) = 20 kΩ dan kichik, masalan 18 kΩ.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3-bosqichda Pt100 tajriba qiymatlarini R(T) = R0(1 + αT) bilan solishtirib, chiziqlilik xatosini hisoblash mumkin. Koʻprik tajribasida Pt100 tokini 1 mA atrofida ushlash uchun manba kuchlanishini kamaytiring yoki koʻprik rezistorlarini kattalashtiring, aks holda oʻz-oʻzini qizdirish natijani buzadi.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Savollar hisobot himoyasida ogʻzaki beriladi. 11-savol uchun asosiy fikr: termopara signali millivoltlar tartibida va uzun simlarda umumiy (sinfaz) xalaqit katta boʻladi; instrumental kuchaytirgich farq signalini kuchaytirib, umumiy xalaqitni soʻndiradi.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5F3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9"/>
            <a:ext cx="10566400" cy="447040"/>
          </a:xfrm>
          <a:prstGeom prst="rect">
            <a:avLst/>
          </a:prstGeom>
          <a:noFill/>
          <a:ln/>
        </p:spPr>
        <p:txBody>
          <a:bodyPr wrap="square" lIns="0" tIns="0" rIns="0" bIns="0" rtlCol="0" anchor="t"/>
          <a:lstStyle>
            <a:lvl1pPr algn="l" indent="0" marL="0">
              <a:lnSpc>
                <a:spcPct val="115000"/>
              </a:lnSpc>
              <a:buNone/>
              <a:defRPr lang="en-US" sz="3200" dirty="0">
                <a:solidFill>
                  <a:srgbClr val="16233B"/>
                </a:solidFill>
                <a:latin typeface="Noto Sans" pitchFamily="34" charset="0"/>
                <a:ea typeface="Noto Sans" pitchFamily="34" charset="-122"/>
                <a:cs typeface="Noto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99"/>
            <a:ext cx="10566400" cy="4191001"/>
          </a:xfrm>
          <a:prstGeom prst="rect">
            <a:avLst/>
          </a:prstGeom>
          <a:noFill/>
          <a:ln/>
        </p:spPr>
        <p:txBody>
          <a:bodyPr wrap="square" lIns="0" tIns="0" rIns="0" bIns="0" rtlCol="0" anchor="t"/>
          <a:lstStyle>
            <a:lvl1pPr algn="l" indent="0" marL="0">
              <a:lnSpc>
                <a:spcPct val="140000"/>
              </a:lnSpc>
              <a:buNone/>
              <a:defRPr lang="en-US" sz="1600" dirty="0">
                <a:solidFill>
                  <a:srgbClr val="16233B"/>
                </a:solidFill>
                <a:latin typeface="Noto Sans" pitchFamily="34" charset="0"/>
                <a:ea typeface="Noto Sans" pitchFamily="34" charset="-122"/>
                <a:cs typeface="Noto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5F3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59"/>
            <a:ext cx="10566400" cy="447040"/>
          </a:xfrm>
          <a:prstGeom prst="rect">
            <a:avLst/>
          </a:prstGeom>
          <a:noFill/>
          <a:ln/>
        </p:spPr>
        <p:txBody>
          <a:bodyPr wrap="square" lIns="0" tIns="0" rIns="0" bIns="0" rtlCol="0" anchor="t"/>
          <a:lstStyle>
            <a:lvl1pPr algn="l" indent="0" marL="0">
              <a:lnSpc>
                <a:spcPct val="115000"/>
              </a:lnSpc>
              <a:buNone/>
              <a:defRPr lang="en-US" sz="3200" dirty="0">
                <a:solidFill>
                  <a:srgbClr val="16233B"/>
                </a:solidFill>
                <a:latin typeface="Noto Sans" pitchFamily="34" charset="0"/>
                <a:ea typeface="Noto Sans" pitchFamily="34" charset="-122"/>
                <a:cs typeface="Noto Sans"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54199"/>
            <a:ext cx="10566400" cy="4191001"/>
          </a:xfrm>
          <a:prstGeom prst="rect">
            <a:avLst/>
          </a:prstGeom>
          <a:noFill/>
          <a:ln/>
        </p:spPr>
        <p:txBody>
          <a:bodyPr wrap="square" lIns="0" tIns="0" rIns="0" bIns="0" rtlCol="0" anchor="t"/>
          <a:lstStyle>
            <a:lvl1pPr algn="l" indent="0" marL="0">
              <a:lnSpc>
                <a:spcPct val="140000"/>
              </a:lnSpc>
              <a:buNone/>
              <a:defRPr lang="en-US" sz="1600" dirty="0">
                <a:solidFill>
                  <a:srgbClr val="16233B"/>
                </a:solidFill>
                <a:latin typeface="Noto Sans" pitchFamily="34" charset="0"/>
                <a:ea typeface="Noto Sans" pitchFamily="34" charset="-122"/>
                <a:cs typeface="Noto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33B"/>
        </a:solidFill>
      </p:bgPr>
    </p:bg>
    <p:spTree>
      <p:nvGrpSpPr>
        <p:cNvPr id="1" name=""/>
        <p:cNvGrpSpPr/>
        <p:nvPr/>
      </p:nvGrpSpPr>
      <p:grpSpPr>
        <a:xfrm>
          <a:off x="0" y="0"/>
          <a:ext cx="0" cy="0"/>
          <a:chOff x="0" y="0"/>
          <a:chExt cx="0" cy="0"/>
        </a:xfrm>
      </p:grpSpPr>
      <p:sp>
        <p:nvSpPr>
          <p:cNvPr id="2" name="Shape 0"/>
          <p:cNvSpPr/>
          <p:nvPr/>
        </p:nvSpPr>
        <p:spPr>
          <a:xfrm>
            <a:off x="0" y="0"/>
            <a:ext cx="152400" cy="6858000"/>
          </a:xfrm>
          <a:prstGeom prst="rect">
            <a:avLst/>
          </a:prstGeom>
          <a:solidFill>
            <a:srgbClr val="D9692B"/>
          </a:solidFill>
          <a:ln/>
        </p:spPr>
      </p:sp>
      <p:sp>
        <p:nvSpPr>
          <p:cNvPr id="3" name="Text 1"/>
          <p:cNvSpPr/>
          <p:nvPr/>
        </p:nvSpPr>
        <p:spPr>
          <a:xfrm>
            <a:off x="812800" y="184023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200" kern="0" dirty="0">
                <a:solidFill>
                  <a:srgbClr val="F0A46E"/>
                </a:solidFill>
                <a:latin typeface="Noto Sans" pitchFamily="34" charset="0"/>
                <a:ea typeface="Noto Sans" pitchFamily="34" charset="-122"/>
                <a:cs typeface="Noto Sans" pitchFamily="34" charset="-120"/>
              </a:rPr>
              <a:t>AMALIYOT MASHGʻULOTI №6</a:t>
            </a:r>
            <a:endParaRPr lang="en-US" sz="1400" dirty="0"/>
          </a:p>
        </p:txBody>
      </p:sp>
      <p:sp>
        <p:nvSpPr>
          <p:cNvPr id="4" name="Text 2"/>
          <p:cNvSpPr/>
          <p:nvPr>
            <p:ph type="title"/>
          </p:nvPr>
        </p:nvSpPr>
        <p:spPr>
          <a:xfrm>
            <a:off x="812800" y="2343150"/>
            <a:ext cx="10203180" cy="1869440"/>
          </a:xfrm>
          <a:prstGeom prst="rect">
            <a:avLst/>
          </a:prstGeom>
          <a:noFill/>
          <a:ln/>
        </p:spPr>
        <p:txBody>
          <a:bodyPr wrap="square" lIns="0" tIns="0" rIns="0" bIns="0" rtlCol="0" anchor="t">
            <a:normAutofit/>
          </a:bodyPr>
          <a:lstStyle/>
          <a:p>
            <a:pPr algn="l" indent="0" marL="0">
              <a:lnSpc>
                <a:spcPts val="4840"/>
              </a:lnSpc>
              <a:buNone/>
            </a:pPr>
            <a:r>
              <a:rPr lang="en-US" sz="4400" b="1" i="0" dirty="0">
                <a:solidFill>
                  <a:srgbClr val="F5F3EE"/>
                </a:solidFill>
                <a:latin typeface="Noto Sans" pitchFamily="34" charset="0"/>
                <a:ea typeface="Noto Sans" pitchFamily="34" charset="-122"/>
                <a:cs typeface="Noto Sans" pitchFamily="34" charset="-120"/>
              </a:rPr>
              <a:t>Birlamchi oʻzgartirgichlar ishini tahlil qilish. Optik va temperatura datchiklari</a:t>
            </a:r>
            <a:endParaRPr lang="en-US" sz="4400" dirty="0"/>
          </a:p>
        </p:txBody>
      </p:sp>
      <p:sp>
        <p:nvSpPr>
          <p:cNvPr id="5" name="Shape 3"/>
          <p:cNvSpPr/>
          <p:nvPr/>
        </p:nvSpPr>
        <p:spPr>
          <a:xfrm>
            <a:off x="812800" y="4441190"/>
            <a:ext cx="1270000" cy="38100"/>
          </a:xfrm>
          <a:prstGeom prst="rect">
            <a:avLst/>
          </a:prstGeom>
          <a:solidFill>
            <a:srgbClr val="D9692B"/>
          </a:solidFill>
          <a:ln/>
        </p:spPr>
      </p:sp>
      <p:sp>
        <p:nvSpPr>
          <p:cNvPr id="6" name="Text 4"/>
          <p:cNvSpPr/>
          <p:nvPr/>
        </p:nvSpPr>
        <p:spPr>
          <a:xfrm>
            <a:off x="812800" y="4733290"/>
            <a:ext cx="9156700" cy="30988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9CFDB"/>
                </a:solidFill>
                <a:latin typeface="Noto Sans" pitchFamily="34" charset="0"/>
                <a:ea typeface="Noto Sans" pitchFamily="34" charset="-122"/>
                <a:cs typeface="Noto Sans" pitchFamily="34" charset="-120"/>
              </a:rPr>
              <a:t>«Mexatron modul va robotlarning informatsion qurilmalari» fani</a:t>
            </a:r>
            <a:endParaRPr lang="en-US" sz="1600" dirty="0"/>
          </a:p>
        </p:txBody>
      </p:sp>
      <p:sp>
        <p:nvSpPr>
          <p:cNvPr id="7" name="Text 5"/>
          <p:cNvSpPr/>
          <p:nvPr/>
        </p:nvSpPr>
        <p:spPr>
          <a:xfrm>
            <a:off x="812800" y="623824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3B5"/>
                </a:solidFill>
                <a:latin typeface="Noto Sans" pitchFamily="34" charset="0"/>
                <a:ea typeface="Noto Sans" pitchFamily="34" charset="-122"/>
                <a:cs typeface="Noto Sans" pitchFamily="34" charset="-120"/>
              </a:rPr>
              <a:t>[Oʻqituvchi F.I.Sh.] ·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A"/>
                </a:solidFill>
                <a:latin typeface="Noto Sans" pitchFamily="34" charset="0"/>
                <a:ea typeface="Noto Sans" pitchFamily="34" charset="-122"/>
                <a:cs typeface="Noto Sans" pitchFamily="34" charset="-120"/>
              </a:rPr>
              <a:t>KIRISH</a:t>
            </a:r>
            <a:endParaRPr lang="en-US" sz="1200" dirty="0"/>
          </a:p>
        </p:txBody>
      </p:sp>
      <p:sp>
        <p:nvSpPr>
          <p:cNvPr id="3" name="Text 1"/>
          <p:cNvSpPr/>
          <p:nvPr>
            <p:ph type="title"/>
          </p:nvPr>
        </p:nvSpPr>
        <p:spPr>
          <a:xfrm>
            <a:off x="812800" y="1102360"/>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33B"/>
                </a:solidFill>
                <a:latin typeface="Noto Sans" pitchFamily="34" charset="0"/>
                <a:ea typeface="Noto Sans" pitchFamily="34" charset="-122"/>
                <a:cs typeface="Noto Sans" pitchFamily="34" charset="-120"/>
              </a:rPr>
              <a:t>Ishning maqsadi</a:t>
            </a:r>
            <a:endParaRPr lang="en-US" sz="3200" dirty="0"/>
          </a:p>
        </p:txBody>
      </p:sp>
      <p:sp>
        <p:nvSpPr>
          <p:cNvPr id="4" name="Text 2"/>
          <p:cNvSpPr/>
          <p:nvPr/>
        </p:nvSpPr>
        <p:spPr>
          <a:xfrm>
            <a:off x="812800" y="1828800"/>
            <a:ext cx="10464800"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1D2433"/>
                </a:solidFill>
                <a:latin typeface="Noto Sans" pitchFamily="34" charset="0"/>
                <a:ea typeface="Noto Sans" pitchFamily="34" charset="-122"/>
                <a:cs typeface="Noto Sans" pitchFamily="34" charset="-120"/>
              </a:rPr>
              <a:t>Birlamchi oʻzgartirgichlarning ishlash prinsiplari, optik va temperatura datchiklarining tavsiflari, signalni shakllantirish va oʻlchash zanjirlarini hisoblash hamda tahlil qilish koʻnikmalarini shakllantirish.</a:t>
            </a:r>
            <a:endParaRPr lang="en-US" sz="1600" dirty="0"/>
          </a:p>
        </p:txBody>
      </p:sp>
      <p:sp>
        <p:nvSpPr>
          <p:cNvPr id="5" name="Shape 3"/>
          <p:cNvSpPr/>
          <p:nvPr/>
        </p:nvSpPr>
        <p:spPr>
          <a:xfrm>
            <a:off x="815975" y="2680335"/>
            <a:ext cx="2005330" cy="1715770"/>
          </a:xfrm>
          <a:prstGeom prst="roundRect">
            <a:avLst>
              <a:gd name="adj" fmla="val 4256"/>
            </a:avLst>
          </a:prstGeom>
          <a:solidFill>
            <a:srgbClr val="FDFCF9"/>
          </a:solidFill>
          <a:ln w="6350">
            <a:solidFill>
              <a:srgbClr val="E2DED4"/>
            </a:solidFill>
            <a:prstDash val="solid"/>
          </a:ln>
        </p:spPr>
      </p:sp>
      <p:sp>
        <p:nvSpPr>
          <p:cNvPr id="6" name="Text 4"/>
          <p:cNvSpPr/>
          <p:nvPr/>
        </p:nvSpPr>
        <p:spPr>
          <a:xfrm>
            <a:off x="995680" y="2860040"/>
            <a:ext cx="169672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D9692B"/>
                </a:solidFill>
                <a:latin typeface="Noto Sans" pitchFamily="34" charset="0"/>
                <a:ea typeface="Noto Sans" pitchFamily="34" charset="-122"/>
                <a:cs typeface="Noto Sans" pitchFamily="34" charset="-120"/>
              </a:rPr>
              <a:t>1</a:t>
            </a:r>
            <a:endParaRPr lang="en-US" sz="2000" dirty="0"/>
          </a:p>
        </p:txBody>
      </p:sp>
      <p:sp>
        <p:nvSpPr>
          <p:cNvPr id="7" name="Text 5"/>
          <p:cNvSpPr/>
          <p:nvPr/>
        </p:nvSpPr>
        <p:spPr>
          <a:xfrm>
            <a:off x="995680" y="3291840"/>
            <a:ext cx="1696720" cy="9499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433"/>
                </a:solidFill>
                <a:latin typeface="Noto Sans" pitchFamily="34" charset="0"/>
                <a:ea typeface="Noto Sans" pitchFamily="34" charset="-122"/>
                <a:cs typeface="Noto Sans" pitchFamily="34" charset="-120"/>
              </a:rPr>
              <a:t>Birlamchi va ikkilamchi oʻzgartirgichlar bogʻliqligi</a:t>
            </a:r>
            <a:endParaRPr lang="en-US" sz="1300" dirty="0"/>
          </a:p>
        </p:txBody>
      </p:sp>
      <p:sp>
        <p:nvSpPr>
          <p:cNvPr id="8" name="Shape 6"/>
          <p:cNvSpPr/>
          <p:nvPr/>
        </p:nvSpPr>
        <p:spPr>
          <a:xfrm>
            <a:off x="2954655" y="2680335"/>
            <a:ext cx="2005330" cy="1715770"/>
          </a:xfrm>
          <a:prstGeom prst="roundRect">
            <a:avLst>
              <a:gd name="adj" fmla="val 4256"/>
            </a:avLst>
          </a:prstGeom>
          <a:solidFill>
            <a:srgbClr val="FDFCF9"/>
          </a:solidFill>
          <a:ln w="6350">
            <a:solidFill>
              <a:srgbClr val="E2DED4"/>
            </a:solidFill>
            <a:prstDash val="solid"/>
          </a:ln>
        </p:spPr>
      </p:sp>
      <p:sp>
        <p:nvSpPr>
          <p:cNvPr id="9" name="Text 7"/>
          <p:cNvSpPr/>
          <p:nvPr/>
        </p:nvSpPr>
        <p:spPr>
          <a:xfrm>
            <a:off x="3134360" y="2860040"/>
            <a:ext cx="169672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D9692B"/>
                </a:solidFill>
                <a:latin typeface="Noto Sans" pitchFamily="34" charset="0"/>
                <a:ea typeface="Noto Sans" pitchFamily="34" charset="-122"/>
                <a:cs typeface="Noto Sans" pitchFamily="34" charset="-120"/>
              </a:rPr>
              <a:t>2</a:t>
            </a:r>
            <a:endParaRPr lang="en-US" sz="2000" dirty="0"/>
          </a:p>
        </p:txBody>
      </p:sp>
      <p:sp>
        <p:nvSpPr>
          <p:cNvPr id="10" name="Text 8"/>
          <p:cNvSpPr/>
          <p:nvPr/>
        </p:nvSpPr>
        <p:spPr>
          <a:xfrm>
            <a:off x="3134360" y="3291840"/>
            <a:ext cx="1696720"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433"/>
                </a:solidFill>
                <a:latin typeface="Noto Sans" pitchFamily="34" charset="0"/>
                <a:ea typeface="Noto Sans" pitchFamily="34" charset="-122"/>
                <a:cs typeface="Noto Sans" pitchFamily="34" charset="-120"/>
              </a:rPr>
              <a:t>Fotoeffekt va optoelektron modullar</a:t>
            </a:r>
            <a:endParaRPr lang="en-US" sz="1300" dirty="0"/>
          </a:p>
        </p:txBody>
      </p:sp>
      <p:sp>
        <p:nvSpPr>
          <p:cNvPr id="11" name="Shape 9"/>
          <p:cNvSpPr/>
          <p:nvPr/>
        </p:nvSpPr>
        <p:spPr>
          <a:xfrm>
            <a:off x="5093335" y="2680335"/>
            <a:ext cx="2005330" cy="1715770"/>
          </a:xfrm>
          <a:prstGeom prst="roundRect">
            <a:avLst>
              <a:gd name="adj" fmla="val 4256"/>
            </a:avLst>
          </a:prstGeom>
          <a:solidFill>
            <a:srgbClr val="FDFCF9"/>
          </a:solidFill>
          <a:ln w="6350">
            <a:solidFill>
              <a:srgbClr val="E2DED4"/>
            </a:solidFill>
            <a:prstDash val="solid"/>
          </a:ln>
        </p:spPr>
      </p:sp>
      <p:sp>
        <p:nvSpPr>
          <p:cNvPr id="12" name="Text 10"/>
          <p:cNvSpPr/>
          <p:nvPr/>
        </p:nvSpPr>
        <p:spPr>
          <a:xfrm>
            <a:off x="5273040" y="2860040"/>
            <a:ext cx="169672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D9692B"/>
                </a:solidFill>
                <a:latin typeface="Noto Sans" pitchFamily="34" charset="0"/>
                <a:ea typeface="Noto Sans" pitchFamily="34" charset="-122"/>
                <a:cs typeface="Noto Sans" pitchFamily="34" charset="-120"/>
              </a:rPr>
              <a:t>3</a:t>
            </a:r>
            <a:endParaRPr lang="en-US" sz="2000" dirty="0"/>
          </a:p>
        </p:txBody>
      </p:sp>
      <p:sp>
        <p:nvSpPr>
          <p:cNvPr id="13" name="Text 11"/>
          <p:cNvSpPr/>
          <p:nvPr/>
        </p:nvSpPr>
        <p:spPr>
          <a:xfrm>
            <a:off x="5273040" y="3291840"/>
            <a:ext cx="1696720"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433"/>
                </a:solidFill>
                <a:latin typeface="Noto Sans" pitchFamily="34" charset="0"/>
                <a:ea typeface="Noto Sans" pitchFamily="34" charset="-122"/>
                <a:cs typeface="Noto Sans" pitchFamily="34" charset="-120"/>
              </a:rPr>
              <a:t>Seebeck effekti va qarshilikning haroratga bogʻliqligi</a:t>
            </a:r>
            <a:endParaRPr lang="en-US" sz="1300" dirty="0"/>
          </a:p>
        </p:txBody>
      </p:sp>
      <p:sp>
        <p:nvSpPr>
          <p:cNvPr id="14" name="Shape 12"/>
          <p:cNvSpPr/>
          <p:nvPr/>
        </p:nvSpPr>
        <p:spPr>
          <a:xfrm>
            <a:off x="7232015" y="2680335"/>
            <a:ext cx="2005330" cy="1715770"/>
          </a:xfrm>
          <a:prstGeom prst="roundRect">
            <a:avLst>
              <a:gd name="adj" fmla="val 4256"/>
            </a:avLst>
          </a:prstGeom>
          <a:solidFill>
            <a:srgbClr val="FDFCF9"/>
          </a:solidFill>
          <a:ln w="6350">
            <a:solidFill>
              <a:srgbClr val="E2DED4"/>
            </a:solidFill>
            <a:prstDash val="solid"/>
          </a:ln>
        </p:spPr>
      </p:sp>
      <p:sp>
        <p:nvSpPr>
          <p:cNvPr id="15" name="Text 13"/>
          <p:cNvSpPr/>
          <p:nvPr/>
        </p:nvSpPr>
        <p:spPr>
          <a:xfrm>
            <a:off x="7411720" y="2860040"/>
            <a:ext cx="169672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D9692B"/>
                </a:solidFill>
                <a:latin typeface="Noto Sans" pitchFamily="34" charset="0"/>
                <a:ea typeface="Noto Sans" pitchFamily="34" charset="-122"/>
                <a:cs typeface="Noto Sans" pitchFamily="34" charset="-120"/>
              </a:rPr>
              <a:t>4</a:t>
            </a:r>
            <a:endParaRPr lang="en-US" sz="2000" dirty="0"/>
          </a:p>
        </p:txBody>
      </p:sp>
      <p:sp>
        <p:nvSpPr>
          <p:cNvPr id="16" name="Text 14"/>
          <p:cNvSpPr/>
          <p:nvPr/>
        </p:nvSpPr>
        <p:spPr>
          <a:xfrm>
            <a:off x="7411720" y="3291840"/>
            <a:ext cx="1696720"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433"/>
                </a:solidFill>
                <a:latin typeface="Noto Sans" pitchFamily="34" charset="0"/>
                <a:ea typeface="Noto Sans" pitchFamily="34" charset="-122"/>
                <a:cs typeface="Noto Sans" pitchFamily="34" charset="-120"/>
              </a:rPr>
              <a:t>Vitston koʻprigi, TIA va instrumental kuchaytirgich</a:t>
            </a:r>
            <a:endParaRPr lang="en-US" sz="1300" dirty="0"/>
          </a:p>
        </p:txBody>
      </p:sp>
      <p:sp>
        <p:nvSpPr>
          <p:cNvPr id="17" name="Shape 15"/>
          <p:cNvSpPr/>
          <p:nvPr/>
        </p:nvSpPr>
        <p:spPr>
          <a:xfrm>
            <a:off x="9370695" y="2680335"/>
            <a:ext cx="2005330" cy="1715770"/>
          </a:xfrm>
          <a:prstGeom prst="roundRect">
            <a:avLst>
              <a:gd name="adj" fmla="val 4256"/>
            </a:avLst>
          </a:prstGeom>
          <a:solidFill>
            <a:srgbClr val="FDFCF9"/>
          </a:solidFill>
          <a:ln w="6350">
            <a:solidFill>
              <a:srgbClr val="E2DED4"/>
            </a:solidFill>
            <a:prstDash val="solid"/>
          </a:ln>
        </p:spPr>
      </p:sp>
      <p:sp>
        <p:nvSpPr>
          <p:cNvPr id="18" name="Text 16"/>
          <p:cNvSpPr/>
          <p:nvPr/>
        </p:nvSpPr>
        <p:spPr>
          <a:xfrm>
            <a:off x="9550400" y="2860040"/>
            <a:ext cx="169672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D9692B"/>
                </a:solidFill>
                <a:latin typeface="Noto Sans" pitchFamily="34" charset="0"/>
                <a:ea typeface="Noto Sans" pitchFamily="34" charset="-122"/>
                <a:cs typeface="Noto Sans" pitchFamily="34" charset="-120"/>
              </a:rPr>
              <a:t>5</a:t>
            </a:r>
            <a:endParaRPr lang="en-US" sz="2000" dirty="0"/>
          </a:p>
        </p:txBody>
      </p:sp>
      <p:sp>
        <p:nvSpPr>
          <p:cNvPr id="19" name="Text 17"/>
          <p:cNvSpPr/>
          <p:nvPr/>
        </p:nvSpPr>
        <p:spPr>
          <a:xfrm>
            <a:off x="9550400" y="3291840"/>
            <a:ext cx="1696720" cy="94996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433"/>
                </a:solidFill>
                <a:latin typeface="Noto Sans" pitchFamily="34" charset="0"/>
                <a:ea typeface="Noto Sans" pitchFamily="34" charset="-122"/>
                <a:cs typeface="Noto Sans" pitchFamily="34" charset="-120"/>
              </a:rPr>
              <a:t>Zanjirlarni modellashtirish va natijalarni qayta ishlash</a:t>
            </a:r>
            <a:endParaRPr lang="en-US" sz="1300" dirty="0"/>
          </a:p>
        </p:txBody>
      </p:sp>
      <p:sp>
        <p:nvSpPr>
          <p:cNvPr id="20" name="Text 18"/>
          <p:cNvSpPr/>
          <p:nvPr/>
        </p:nvSpPr>
        <p:spPr>
          <a:xfrm>
            <a:off x="812800" y="62382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Noto Sans" pitchFamily="34" charset="0"/>
                <a:ea typeface="Noto Sans" pitchFamily="34" charset="-122"/>
                <a:cs typeface="Noto Sans" pitchFamily="34" charset="-120"/>
              </a:rPr>
              <a:t>Amaliyot №6 · Optik va temperatura datchiklari · 02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A"/>
                </a:solidFill>
                <a:latin typeface="Noto Sans" pitchFamily="34" charset="0"/>
                <a:ea typeface="Noto Sans" pitchFamily="34" charset="-122"/>
                <a:cs typeface="Noto Sans" pitchFamily="34" charset="-120"/>
              </a:rPr>
              <a:t>KIRISH</a:t>
            </a:r>
            <a:endParaRPr lang="en-US" sz="1200" dirty="0"/>
          </a:p>
        </p:txBody>
      </p:sp>
      <p:sp>
        <p:nvSpPr>
          <p:cNvPr id="3" name="Text 1"/>
          <p:cNvSpPr/>
          <p:nvPr>
            <p:ph type="title"/>
          </p:nvPr>
        </p:nvSpPr>
        <p:spPr>
          <a:xfrm>
            <a:off x="812800" y="1102361"/>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33B"/>
                </a:solidFill>
                <a:latin typeface="Noto Sans" pitchFamily="34" charset="0"/>
                <a:ea typeface="Noto Sans" pitchFamily="34" charset="-122"/>
                <a:cs typeface="Noto Sans" pitchFamily="34" charset="-120"/>
              </a:rPr>
              <a:t>Asbob-uskunalar va dasturiy taʼminot</a:t>
            </a:r>
            <a:endParaRPr lang="en-US" sz="3200" dirty="0"/>
          </a:p>
        </p:txBody>
      </p:sp>
      <p:sp>
        <p:nvSpPr>
          <p:cNvPr id="4" name="Shape 2"/>
          <p:cNvSpPr/>
          <p:nvPr/>
        </p:nvSpPr>
        <p:spPr>
          <a:xfrm>
            <a:off x="815975" y="1857375"/>
            <a:ext cx="5200650" cy="1423670"/>
          </a:xfrm>
          <a:prstGeom prst="roundRect">
            <a:avLst>
              <a:gd name="adj" fmla="val 5129"/>
            </a:avLst>
          </a:prstGeom>
          <a:solidFill>
            <a:srgbClr val="FDFCF9"/>
          </a:solidFill>
          <a:ln w="6350">
            <a:solidFill>
              <a:srgbClr val="E2DED4"/>
            </a:solidFill>
            <a:prstDash val="solid"/>
          </a:ln>
        </p:spPr>
      </p:sp>
      <p:sp>
        <p:nvSpPr>
          <p:cNvPr id="5" name="Text 3"/>
          <p:cNvSpPr/>
          <p:nvPr/>
        </p:nvSpPr>
        <p:spPr>
          <a:xfrm>
            <a:off x="1071880" y="2062480"/>
            <a:ext cx="4829505"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D2433"/>
                </a:solidFill>
                <a:latin typeface="Noto Sans" pitchFamily="34" charset="0"/>
                <a:ea typeface="Noto Sans" pitchFamily="34" charset="-122"/>
                <a:cs typeface="Noto Sans" pitchFamily="34" charset="-120"/>
              </a:rPr>
              <a:t>Oʻquv stendlari</a:t>
            </a:r>
            <a:endParaRPr lang="en-US" sz="1600" dirty="0"/>
          </a:p>
        </p:txBody>
      </p:sp>
      <p:sp>
        <p:nvSpPr>
          <p:cNvPr id="6" name="Text 4"/>
          <p:cNvSpPr/>
          <p:nvPr/>
        </p:nvSpPr>
        <p:spPr>
          <a:xfrm>
            <a:off x="1071880" y="2382520"/>
            <a:ext cx="4829505"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433"/>
                </a:solidFill>
                <a:latin typeface="Noto Sans" pitchFamily="34" charset="0"/>
                <a:ea typeface="Noto Sans" pitchFamily="34" charset="-122"/>
                <a:cs typeface="Noto Sans" pitchFamily="34" charset="-120"/>
              </a:rPr>
              <a:t>Optoelektron stend (LED, fotodiod, fotorezistor, optopara, enkoder); harorat stendi (termostat, Pt100, K-termopara, NTC, LM35 / DS18B20)</a:t>
            </a:r>
            <a:endParaRPr lang="en-US" sz="1300" dirty="0"/>
          </a:p>
        </p:txBody>
      </p:sp>
      <p:sp>
        <p:nvSpPr>
          <p:cNvPr id="7" name="Shape 5"/>
          <p:cNvSpPr/>
          <p:nvPr/>
        </p:nvSpPr>
        <p:spPr>
          <a:xfrm>
            <a:off x="6175375" y="1857375"/>
            <a:ext cx="5200650" cy="1423670"/>
          </a:xfrm>
          <a:prstGeom prst="roundRect">
            <a:avLst>
              <a:gd name="adj" fmla="val 5129"/>
            </a:avLst>
          </a:prstGeom>
          <a:solidFill>
            <a:srgbClr val="FDFCF9"/>
          </a:solidFill>
          <a:ln w="6350">
            <a:solidFill>
              <a:srgbClr val="E2DED4"/>
            </a:solidFill>
            <a:prstDash val="solid"/>
          </a:ln>
        </p:spPr>
      </p:sp>
      <p:sp>
        <p:nvSpPr>
          <p:cNvPr id="8" name="Text 6"/>
          <p:cNvSpPr/>
          <p:nvPr/>
        </p:nvSpPr>
        <p:spPr>
          <a:xfrm>
            <a:off x="6431280" y="2062480"/>
            <a:ext cx="4829505"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D2433"/>
                </a:solidFill>
                <a:latin typeface="Noto Sans" pitchFamily="34" charset="0"/>
                <a:ea typeface="Noto Sans" pitchFamily="34" charset="-122"/>
                <a:cs typeface="Noto Sans" pitchFamily="34" charset="-120"/>
              </a:rPr>
              <a:t>Nazorat-oʻlchov vositalari</a:t>
            </a:r>
            <a:endParaRPr lang="en-US" sz="1600" dirty="0"/>
          </a:p>
        </p:txBody>
      </p:sp>
      <p:sp>
        <p:nvSpPr>
          <p:cNvPr id="9" name="Text 7"/>
          <p:cNvSpPr/>
          <p:nvPr/>
        </p:nvSpPr>
        <p:spPr>
          <a:xfrm>
            <a:off x="6431280" y="2382520"/>
            <a:ext cx="494157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433"/>
                </a:solidFill>
                <a:latin typeface="Noto Sans" pitchFamily="34" charset="0"/>
                <a:ea typeface="Noto Sans" pitchFamily="34" charset="-122"/>
                <a:cs typeface="Noto Sans" pitchFamily="34" charset="-120"/>
              </a:rPr>
              <a:t>Ikki kanalli ossillograf, multimetr, 0…30 V manba, lyuksmetr</a:t>
            </a:r>
            <a:endParaRPr lang="en-US" sz="1300" dirty="0"/>
          </a:p>
        </p:txBody>
      </p:sp>
      <p:sp>
        <p:nvSpPr>
          <p:cNvPr id="10" name="Shape 8"/>
          <p:cNvSpPr/>
          <p:nvPr/>
        </p:nvSpPr>
        <p:spPr>
          <a:xfrm>
            <a:off x="815975" y="3439795"/>
            <a:ext cx="5200650" cy="1192530"/>
          </a:xfrm>
          <a:prstGeom prst="roundRect">
            <a:avLst>
              <a:gd name="adj" fmla="val 6124"/>
            </a:avLst>
          </a:prstGeom>
          <a:solidFill>
            <a:srgbClr val="FDFCF9"/>
          </a:solidFill>
          <a:ln w="6350">
            <a:solidFill>
              <a:srgbClr val="E2DED4"/>
            </a:solidFill>
            <a:prstDash val="solid"/>
          </a:ln>
        </p:spPr>
      </p:sp>
      <p:sp>
        <p:nvSpPr>
          <p:cNvPr id="11" name="Text 9"/>
          <p:cNvSpPr/>
          <p:nvPr/>
        </p:nvSpPr>
        <p:spPr>
          <a:xfrm>
            <a:off x="1071880" y="3644900"/>
            <a:ext cx="4829505"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D2433"/>
                </a:solidFill>
                <a:latin typeface="Noto Sans" pitchFamily="34" charset="0"/>
                <a:ea typeface="Noto Sans" pitchFamily="34" charset="-122"/>
                <a:cs typeface="Noto Sans" pitchFamily="34" charset="-120"/>
              </a:rPr>
              <a:t>Boshqaruv va DAQ</a:t>
            </a:r>
            <a:endParaRPr lang="en-US" sz="1600" dirty="0"/>
          </a:p>
        </p:txBody>
      </p:sp>
      <p:sp>
        <p:nvSpPr>
          <p:cNvPr id="12" name="Text 10"/>
          <p:cNvSpPr/>
          <p:nvPr/>
        </p:nvSpPr>
        <p:spPr>
          <a:xfrm>
            <a:off x="1071880" y="3964939"/>
            <a:ext cx="4829505"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433"/>
                </a:solidFill>
                <a:latin typeface="Noto Sans" pitchFamily="34" charset="0"/>
                <a:ea typeface="Noto Sans" pitchFamily="34" charset="-122"/>
                <a:cs typeface="Noto Sans" pitchFamily="34" charset="-120"/>
              </a:rPr>
              <a:t>STM32F4/F7 plata, Arduino Mega, National Instruments DAQ platasi</a:t>
            </a:r>
            <a:endParaRPr lang="en-US" sz="1300" dirty="0"/>
          </a:p>
        </p:txBody>
      </p:sp>
      <p:sp>
        <p:nvSpPr>
          <p:cNvPr id="13" name="Shape 11"/>
          <p:cNvSpPr/>
          <p:nvPr/>
        </p:nvSpPr>
        <p:spPr>
          <a:xfrm>
            <a:off x="6172200" y="3436620"/>
            <a:ext cx="5207000" cy="1198880"/>
          </a:xfrm>
          <a:prstGeom prst="roundRect">
            <a:avLst>
              <a:gd name="adj" fmla="val 6356"/>
            </a:avLst>
          </a:prstGeom>
          <a:solidFill>
            <a:srgbClr val="16233B"/>
          </a:solidFill>
          <a:ln/>
        </p:spPr>
      </p:sp>
      <p:sp>
        <p:nvSpPr>
          <p:cNvPr id="14" name="Shape 12"/>
          <p:cNvSpPr/>
          <p:nvPr/>
        </p:nvSpPr>
        <p:spPr>
          <a:xfrm>
            <a:off x="6172200" y="3436620"/>
            <a:ext cx="5207000" cy="1198880"/>
          </a:xfrm>
          <a:custGeom>
            <a:avLst/>
            <a:gdLst/>
            <a:ahLst/>
            <a:cxnLst/>
            <a:rect l="l" t="t" r="r" b="b"/>
            <a:pathLst>
              <a:path w="5207000" h="1198880">
                <a:moveTo>
                  <a:pt x="76200" y="1198880"/>
                </a:moveTo>
                <a:lnTo>
                  <a:pt x="76200" y="1198880"/>
                </a:lnTo>
                <a:arcTo hR="76200" wR="76200" stAng="5400000" swAng="5400000"/>
                <a:lnTo>
                  <a:pt x="0" y="76200"/>
                </a:lnTo>
                <a:arcTo hR="76200" wR="76200" stAng="10800000" swAng="5400000"/>
                <a:lnTo>
                  <a:pt x="76200" y="0"/>
                </a:lnTo>
                <a:arcTo hR="76200" wR="25400" stAng="16200000" swAng="-5400000"/>
                <a:lnTo>
                  <a:pt x="50800" y="1122680"/>
                </a:lnTo>
                <a:arcTo hR="76200" wR="25400" stAng="10800000" swAng="-5400000"/>
                <a:close/>
              </a:path>
            </a:pathLst>
          </a:custGeom>
          <a:solidFill>
            <a:srgbClr val="D9692B"/>
          </a:solidFill>
          <a:ln/>
        </p:spPr>
      </p:sp>
      <p:sp>
        <p:nvSpPr>
          <p:cNvPr id="15" name="Text 13"/>
          <p:cNvSpPr/>
          <p:nvPr/>
        </p:nvSpPr>
        <p:spPr>
          <a:xfrm>
            <a:off x="6477000" y="3639820"/>
            <a:ext cx="4787646"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F0A46E"/>
                </a:solidFill>
                <a:latin typeface="Noto Sans" pitchFamily="34" charset="0"/>
                <a:ea typeface="Noto Sans" pitchFamily="34" charset="-122"/>
                <a:cs typeface="Noto Sans" pitchFamily="34" charset="-120"/>
              </a:rPr>
              <a:t>Dasturiy muhit</a:t>
            </a:r>
            <a:endParaRPr lang="en-US" sz="1600" dirty="0"/>
          </a:p>
        </p:txBody>
      </p:sp>
      <p:sp>
        <p:nvSpPr>
          <p:cNvPr id="16" name="Text 14"/>
          <p:cNvSpPr/>
          <p:nvPr/>
        </p:nvSpPr>
        <p:spPr>
          <a:xfrm>
            <a:off x="6477000" y="3959861"/>
            <a:ext cx="4902200"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F5F3EE"/>
                </a:solidFill>
                <a:latin typeface="Noto Sans" pitchFamily="34" charset="0"/>
                <a:ea typeface="Noto Sans" pitchFamily="34" charset="-122"/>
                <a:cs typeface="Noto Sans" pitchFamily="34" charset="-120"/>
              </a:rPr>
              <a:t>MATLAB / Simulink (Simscape Electrical), LabVIEW, Proteus</a:t>
            </a:r>
            <a:endParaRPr lang="en-US" sz="1300" dirty="0"/>
          </a:p>
        </p:txBody>
      </p:sp>
      <p:sp>
        <p:nvSpPr>
          <p:cNvPr id="17" name="Text 15"/>
          <p:cNvSpPr/>
          <p:nvPr/>
        </p:nvSpPr>
        <p:spPr>
          <a:xfrm>
            <a:off x="812800" y="62382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Noto Sans" pitchFamily="34" charset="0"/>
                <a:ea typeface="Noto Sans" pitchFamily="34" charset="-122"/>
                <a:cs typeface="Noto Sans" pitchFamily="34" charset="-120"/>
              </a:rPr>
              <a:t>Amaliyot №6 · Optik va temperatura datchiklari · 03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A"/>
                </a:solidFill>
                <a:latin typeface="Noto Sans" pitchFamily="34" charset="0"/>
                <a:ea typeface="Noto Sans" pitchFamily="34" charset="-122"/>
                <a:cs typeface="Noto Sans" pitchFamily="34" charset="-120"/>
              </a:rPr>
              <a:t>NAZARIYA</a:t>
            </a:r>
            <a:endParaRPr lang="en-US" sz="1200" dirty="0"/>
          </a:p>
        </p:txBody>
      </p:sp>
      <p:sp>
        <p:nvSpPr>
          <p:cNvPr id="3" name="Text 1"/>
          <p:cNvSpPr/>
          <p:nvPr>
            <p:ph type="title"/>
          </p:nvPr>
        </p:nvSpPr>
        <p:spPr>
          <a:xfrm>
            <a:off x="812800" y="1102361"/>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33B"/>
                </a:solidFill>
                <a:latin typeface="Noto Sans" pitchFamily="34" charset="0"/>
                <a:ea typeface="Noto Sans" pitchFamily="34" charset="-122"/>
                <a:cs typeface="Noto Sans" pitchFamily="34" charset="-120"/>
              </a:rPr>
              <a:t>Birlamchi oʻzgartirgich va uning ikki guruhi</a:t>
            </a:r>
            <a:endParaRPr lang="en-US" sz="3200" dirty="0"/>
          </a:p>
        </p:txBody>
      </p:sp>
      <p:sp>
        <p:nvSpPr>
          <p:cNvPr id="4" name="Text 2"/>
          <p:cNvSpPr/>
          <p:nvPr/>
        </p:nvSpPr>
        <p:spPr>
          <a:xfrm>
            <a:off x="812800" y="1803400"/>
            <a:ext cx="10464800" cy="5588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D2433"/>
                </a:solidFill>
                <a:latin typeface="Noto Sans" pitchFamily="34" charset="0"/>
                <a:ea typeface="Noto Sans" pitchFamily="34" charset="-122"/>
                <a:cs typeface="Noto Sans" pitchFamily="34" charset="-120"/>
              </a:rPr>
              <a:t>Fizik kattalikni bevosita qabul qilib, uni elektr signaliga — kuchlanish, tok, qarshilik, sigʻim yoki chastotaga aylantiruvchi element.</a:t>
            </a:r>
            <a:endParaRPr lang="en-US" sz="1500" dirty="0"/>
          </a:p>
        </p:txBody>
      </p:sp>
      <p:sp>
        <p:nvSpPr>
          <p:cNvPr id="5" name="Shape 3"/>
          <p:cNvSpPr/>
          <p:nvPr/>
        </p:nvSpPr>
        <p:spPr>
          <a:xfrm>
            <a:off x="815975" y="2593975"/>
            <a:ext cx="5175250" cy="1718310"/>
          </a:xfrm>
          <a:prstGeom prst="roundRect">
            <a:avLst>
              <a:gd name="adj" fmla="val 5728"/>
            </a:avLst>
          </a:prstGeom>
          <a:solidFill>
            <a:srgbClr val="FDFCF9"/>
          </a:solidFill>
          <a:ln w="6350">
            <a:solidFill>
              <a:srgbClr val="E2DED4"/>
            </a:solidFill>
            <a:prstDash val="solid"/>
          </a:ln>
        </p:spPr>
      </p:sp>
      <p:sp>
        <p:nvSpPr>
          <p:cNvPr id="6" name="Text 4"/>
          <p:cNvSpPr/>
          <p:nvPr/>
        </p:nvSpPr>
        <p:spPr>
          <a:xfrm>
            <a:off x="1071880" y="2849880"/>
            <a:ext cx="4803343"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D2433"/>
                </a:solidFill>
                <a:latin typeface="Noto Sans" pitchFamily="34" charset="0"/>
                <a:ea typeface="Noto Sans" pitchFamily="34" charset="-122"/>
                <a:cs typeface="Noto Sans" pitchFamily="34" charset="-120"/>
              </a:rPr>
              <a:t>Generatorli (aktiv)</a:t>
            </a:r>
            <a:endParaRPr lang="en-US" sz="1800" dirty="0"/>
          </a:p>
        </p:txBody>
      </p:sp>
      <p:sp>
        <p:nvSpPr>
          <p:cNvPr id="7" name="Text 5"/>
          <p:cNvSpPr/>
          <p:nvPr/>
        </p:nvSpPr>
        <p:spPr>
          <a:xfrm>
            <a:off x="1071880" y="3225800"/>
            <a:ext cx="4803343"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D2433"/>
                </a:solidFill>
                <a:latin typeface="Noto Sans" pitchFamily="34" charset="0"/>
                <a:ea typeface="Noto Sans" pitchFamily="34" charset="-122"/>
                <a:cs typeface="Noto Sans" pitchFamily="34" charset="-120"/>
              </a:rPr>
              <a:t>Tashqi manbasiz energiyani bevosita EYuK yoki tokka aylantiradi</a:t>
            </a:r>
            <a:endParaRPr lang="en-US" sz="1400" dirty="0"/>
          </a:p>
        </p:txBody>
      </p:sp>
      <p:sp>
        <p:nvSpPr>
          <p:cNvPr id="8" name="Text 6"/>
          <p:cNvSpPr/>
          <p:nvPr/>
        </p:nvSpPr>
        <p:spPr>
          <a:xfrm>
            <a:off x="1071880" y="3825239"/>
            <a:ext cx="4803343" cy="256540"/>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B5563"/>
                </a:solidFill>
                <a:latin typeface="Noto Sans" pitchFamily="34" charset="0"/>
                <a:ea typeface="Noto Sans" pitchFamily="34" charset="-122"/>
                <a:cs typeface="Noto Sans" pitchFamily="34" charset="-120"/>
              </a:rPr>
              <a:t>Termopara, pyezoelektr datchik, fotoelement</a:t>
            </a:r>
            <a:endParaRPr lang="en-US" sz="1300" dirty="0"/>
          </a:p>
        </p:txBody>
      </p:sp>
      <p:sp>
        <p:nvSpPr>
          <p:cNvPr id="9" name="Shape 7"/>
          <p:cNvSpPr/>
          <p:nvPr/>
        </p:nvSpPr>
        <p:spPr>
          <a:xfrm>
            <a:off x="6200775" y="2593975"/>
            <a:ext cx="5175250" cy="1718310"/>
          </a:xfrm>
          <a:prstGeom prst="roundRect">
            <a:avLst>
              <a:gd name="adj" fmla="val 5728"/>
            </a:avLst>
          </a:prstGeom>
          <a:solidFill>
            <a:srgbClr val="FDFCF9"/>
          </a:solidFill>
          <a:ln w="6350">
            <a:solidFill>
              <a:srgbClr val="E2DED4"/>
            </a:solidFill>
            <a:prstDash val="solid"/>
          </a:ln>
        </p:spPr>
      </p:sp>
      <p:sp>
        <p:nvSpPr>
          <p:cNvPr id="10" name="Text 8"/>
          <p:cNvSpPr/>
          <p:nvPr/>
        </p:nvSpPr>
        <p:spPr>
          <a:xfrm>
            <a:off x="6456680" y="2849880"/>
            <a:ext cx="4803343"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1D2433"/>
                </a:solidFill>
                <a:latin typeface="Noto Sans" pitchFamily="34" charset="0"/>
                <a:ea typeface="Noto Sans" pitchFamily="34" charset="-122"/>
                <a:cs typeface="Noto Sans" pitchFamily="34" charset="-120"/>
              </a:rPr>
              <a:t>Parametrik (passiv)</a:t>
            </a:r>
            <a:endParaRPr lang="en-US" sz="1800" dirty="0"/>
          </a:p>
        </p:txBody>
      </p:sp>
      <p:sp>
        <p:nvSpPr>
          <p:cNvPr id="11" name="Text 9"/>
          <p:cNvSpPr/>
          <p:nvPr/>
        </p:nvSpPr>
        <p:spPr>
          <a:xfrm>
            <a:off x="6456680" y="3225800"/>
            <a:ext cx="4803343"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D2433"/>
                </a:solidFill>
                <a:latin typeface="Noto Sans" pitchFamily="34" charset="0"/>
                <a:ea typeface="Noto Sans" pitchFamily="34" charset="-122"/>
                <a:cs typeface="Noto Sans" pitchFamily="34" charset="-120"/>
              </a:rPr>
              <a:t>R, C yoki L parametrini oʻzgartiradi; tashqi taʼminot talab qiladi</a:t>
            </a:r>
            <a:endParaRPr lang="en-US" sz="1400" dirty="0"/>
          </a:p>
        </p:txBody>
      </p:sp>
      <p:sp>
        <p:nvSpPr>
          <p:cNvPr id="12" name="Text 10"/>
          <p:cNvSpPr/>
          <p:nvPr/>
        </p:nvSpPr>
        <p:spPr>
          <a:xfrm>
            <a:off x="6456680" y="3825239"/>
            <a:ext cx="4803343" cy="256540"/>
          </a:xfrm>
          <a:prstGeom prst="rect">
            <a:avLst/>
          </a:prstGeom>
          <a:noFill/>
          <a:ln/>
        </p:spPr>
        <p:txBody>
          <a:bodyPr wrap="square" lIns="0" tIns="0" rIns="0" bIns="0" rtlCol="0" anchor="t">
            <a:normAutofit/>
          </a:bodyPr>
          <a:lstStyle/>
          <a:p>
            <a:pPr algn="l" indent="0" marL="0">
              <a:lnSpc>
                <a:spcPts val="1820"/>
              </a:lnSpc>
              <a:buNone/>
            </a:pPr>
            <a:r>
              <a:rPr lang="en-US" sz="1300" i="1" dirty="0">
                <a:solidFill>
                  <a:srgbClr val="4B5563"/>
                </a:solidFill>
                <a:latin typeface="Noto Sans" pitchFamily="34" charset="0"/>
                <a:ea typeface="Noto Sans" pitchFamily="34" charset="-122"/>
                <a:cs typeface="Noto Sans" pitchFamily="34" charset="-120"/>
              </a:rPr>
              <a:t>Termistor, Pt100, fotorezistor, tenzorezistor, LVDT</a:t>
            </a:r>
            <a:endParaRPr lang="en-US" sz="1300" dirty="0"/>
          </a:p>
        </p:txBody>
      </p:sp>
      <p:sp>
        <p:nvSpPr>
          <p:cNvPr id="13" name="Text 11"/>
          <p:cNvSpPr/>
          <p:nvPr/>
        </p:nvSpPr>
        <p:spPr>
          <a:xfrm>
            <a:off x="812800" y="62382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Noto Sans" pitchFamily="34" charset="0"/>
                <a:ea typeface="Noto Sans" pitchFamily="34" charset="-122"/>
                <a:cs typeface="Noto Sans" pitchFamily="34" charset="-120"/>
              </a:rPr>
              <a:t>Amaliyot №6 · Optik va temperatura datchiklari · 04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A"/>
                </a:solidFill>
                <a:latin typeface="Noto Sans" pitchFamily="34" charset="0"/>
                <a:ea typeface="Noto Sans" pitchFamily="34" charset="-122"/>
                <a:cs typeface="Noto Sans" pitchFamily="34" charset="-120"/>
              </a:rPr>
              <a:t>NAZARIYA</a:t>
            </a:r>
            <a:endParaRPr lang="en-US" sz="1200" dirty="0"/>
          </a:p>
        </p:txBody>
      </p:sp>
      <p:sp>
        <p:nvSpPr>
          <p:cNvPr id="3" name="Text 1"/>
          <p:cNvSpPr/>
          <p:nvPr>
            <p:ph type="title"/>
          </p:nvPr>
        </p:nvSpPr>
        <p:spPr>
          <a:xfrm>
            <a:off x="812800" y="1102361"/>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33B"/>
                </a:solidFill>
                <a:latin typeface="Noto Sans" pitchFamily="34" charset="0"/>
                <a:ea typeface="Noto Sans" pitchFamily="34" charset="-122"/>
                <a:cs typeface="Noto Sans" pitchFamily="34" charset="-120"/>
              </a:rPr>
              <a:t>Axborotni shakllantirish zanjiri</a:t>
            </a:r>
            <a:endParaRPr lang="en-US" sz="3200" dirty="0"/>
          </a:p>
        </p:txBody>
      </p:sp>
      <p:pic>
        <p:nvPicPr>
          <p:cNvPr id="4" name="Image 0" descr="Fizik kattalik, birlamchi oʻzgartirgich, ikkilamchi oʻzgartirgich, signalni konditsiyalash, ADC va mikrokontroller ketma-ket zanjiri">    </p:cNvPr>
          <p:cNvPicPr>
            <a:picLocks noChangeAspect="1"/>
          </p:cNvPicPr>
          <p:nvPr/>
        </p:nvPicPr>
        <p:blipFill>
          <a:blip r:embed="rId1"/>
          <a:srcRect l="0" r="0" t="0" b="0"/>
          <a:stretch/>
        </p:blipFill>
        <p:spPr>
          <a:xfrm>
            <a:off x="812800" y="1854200"/>
            <a:ext cx="10566400" cy="1981200"/>
          </a:xfrm>
          <a:prstGeom prst="rect">
            <a:avLst/>
          </a:prstGeom>
        </p:spPr>
      </p:pic>
      <p:sp>
        <p:nvSpPr>
          <p:cNvPr id="5" name="Text 2"/>
          <p:cNvSpPr/>
          <p:nvPr/>
        </p:nvSpPr>
        <p:spPr>
          <a:xfrm>
            <a:off x="812800" y="4140200"/>
            <a:ext cx="10566400" cy="873760"/>
          </a:xfrm>
          <a:prstGeom prst="roundRect">
            <a:avLst>
              <a:gd name="adj" fmla="val 8721"/>
            </a:avLst>
          </a:prstGeom>
          <a:solidFill>
            <a:srgbClr val="E8EEF6"/>
          </a:solidFill>
          <a:ln/>
        </p:spPr>
        <p:txBody>
          <a:bodyPr wrap="square" lIns="231682" tIns="130082" rIns="0" bIns="104682" rtlCol="0" anchor="t">
            <a:normAutofit/>
          </a:bodyPr>
          <a:lstStyle/>
          <a:p>
            <a:pPr algn="l" indent="0" marL="0">
              <a:lnSpc>
                <a:spcPts val="2240"/>
              </a:lnSpc>
              <a:buNone/>
            </a:pPr>
            <a:r>
              <a:rPr lang="en-US" sz="1600" b="1" dirty="0">
                <a:solidFill>
                  <a:srgbClr val="16233B"/>
                </a:solidFill>
                <a:latin typeface="Noto Sans" pitchFamily="34" charset="0"/>
                <a:ea typeface="Noto Sans" pitchFamily="34" charset="-122"/>
                <a:cs typeface="Noto Sans" pitchFamily="34" charset="-120"/>
              </a:rPr>
              <a:t>Birlamchi oʻzgartirgich kattalikni sezadi, ikkilamchi oʻzgartirgich esa uning kichik oʻzgarishini oʻlchanadigan kuchlanishga aylantiradi.</a:t>
            </a:r>
            <a:endParaRPr lang="en-US" sz="1600" dirty="0"/>
          </a:p>
        </p:txBody>
      </p:sp>
      <p:sp>
        <p:nvSpPr>
          <p:cNvPr id="6" name="Text 3"/>
          <p:cNvSpPr/>
          <p:nvPr/>
        </p:nvSpPr>
        <p:spPr>
          <a:xfrm>
            <a:off x="812800" y="62382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Noto Sans" pitchFamily="34" charset="0"/>
                <a:ea typeface="Noto Sans" pitchFamily="34" charset="-122"/>
                <a:cs typeface="Noto Sans" pitchFamily="34" charset="-120"/>
              </a:rPr>
              <a:t>Amaliyot №6 · Optik va temperatura datchiklari · 05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A"/>
                </a:solidFill>
                <a:latin typeface="Noto Sans" pitchFamily="34" charset="0"/>
                <a:ea typeface="Noto Sans" pitchFamily="34" charset="-122"/>
                <a:cs typeface="Noto Sans" pitchFamily="34" charset="-120"/>
              </a:rPr>
              <a:t>OPTIK DATCHIKLAR</a:t>
            </a:r>
            <a:endParaRPr lang="en-US" sz="1200" dirty="0"/>
          </a:p>
        </p:txBody>
      </p:sp>
      <p:sp>
        <p:nvSpPr>
          <p:cNvPr id="3" name="Text 1"/>
          <p:cNvSpPr/>
          <p:nvPr>
            <p:ph type="title"/>
          </p:nvPr>
        </p:nvSpPr>
        <p:spPr>
          <a:xfrm>
            <a:off x="812800" y="1102361"/>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33B"/>
                </a:solidFill>
                <a:latin typeface="Noto Sans" pitchFamily="34" charset="0"/>
                <a:ea typeface="Noto Sans" pitchFamily="34" charset="-122"/>
                <a:cs typeface="Noto Sans" pitchFamily="34" charset="-120"/>
              </a:rPr>
              <a:t>Optik datchiklarning turlari</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813560"/>
          <a:ext cx="10556240" cy="2945765"/>
        </p:xfrm>
        <a:graphic>
          <a:graphicData uri="http://schemas.openxmlformats.org/drawingml/2006/table">
            <a:tbl>
              <a:tblPr/>
              <a:tblGrid>
                <a:gridCol w="3518747"/>
                <a:gridCol w="3518747"/>
                <a:gridCol w="3518747"/>
              </a:tblGrid>
              <a:tr h="410845">
                <a:tc>
                  <a:txBody>
                    <a:bodyPr/>
                    <a:lstStyle/>
                    <a:p>
                      <a:pPr indent="0" marL="0">
                        <a:lnSpc>
                          <a:spcPts val="1820"/>
                        </a:lnSpc>
                        <a:buNone/>
                      </a:pPr>
                      <a:r>
                        <a:rPr lang="en-US" sz="1300" b="1" dirty="0">
                          <a:solidFill>
                            <a:srgbClr val="F5F3EE"/>
                          </a:solidFill>
                          <a:latin typeface="Noto Sans" pitchFamily="34" charset="0"/>
                          <a:ea typeface="Noto Sans" pitchFamily="34" charset="-122"/>
                          <a:cs typeface="Noto Sans" pitchFamily="34" charset="-120"/>
                        </a:rPr>
                        <a:t>Datchik</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162032"/>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162032"/>
                      </a:solidFill>
                      <a:prstDash val="solid"/>
                      <a:round/>
                      <a:headEnd type="none" w="med" len="med"/>
                      <a:tailEnd type="none" w="med" len="med"/>
                    </a:lnB>
                    <a:solidFill>
                      <a:srgbClr val="16233B"/>
                    </a:solidFill>
                  </a:tcPr>
                </a:tc>
                <a:tc>
                  <a:txBody>
                    <a:bodyPr/>
                    <a:lstStyle/>
                    <a:p>
                      <a:pPr indent="0" marL="0">
                        <a:lnSpc>
                          <a:spcPts val="1820"/>
                        </a:lnSpc>
                        <a:buNone/>
                      </a:pPr>
                      <a:r>
                        <a:rPr lang="en-US" sz="1300" b="1" dirty="0">
                          <a:solidFill>
                            <a:srgbClr val="F5F3EE"/>
                          </a:solidFill>
                          <a:latin typeface="Noto Sans" pitchFamily="34" charset="0"/>
                          <a:ea typeface="Noto Sans" pitchFamily="34" charset="-122"/>
                          <a:cs typeface="Noto Sans" pitchFamily="34" charset="-120"/>
                        </a:rPr>
                        <a:t>Fizik tamoyil</a:t>
                      </a:r>
                      <a:endParaRPr lang="en-US" sz="1300" dirty="0">
                        <a:latin typeface="Noto Sans" charset="0"/>
                        <a:ea typeface="Noto Sans" charset="0"/>
                        <a:cs typeface="Noto Sans" charset="0"/>
                      </a:endParaRPr>
                    </a:p>
                  </a:txBody>
                  <a:tcPr marL="127000" marR="127000" marT="88900" marB="88900" anchor="t">
                    <a:lnL w="12700" cap="flat" cmpd="sng" algn="ctr">
                      <a:solidFill>
                        <a:srgbClr val="162032"/>
                      </a:solidFill>
                      <a:prstDash val="solid"/>
                      <a:round/>
                      <a:headEnd type="none" w="med" len="med"/>
                      <a:tailEnd type="none" w="med" len="med"/>
                    </a:lnL>
                    <a:lnR w="12700" cap="flat" cmpd="sng" algn="ctr">
                      <a:solidFill>
                        <a:srgbClr val="162032"/>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162032"/>
                      </a:solidFill>
                      <a:prstDash val="solid"/>
                      <a:round/>
                      <a:headEnd type="none" w="med" len="med"/>
                      <a:tailEnd type="none" w="med" len="med"/>
                    </a:lnB>
                    <a:solidFill>
                      <a:srgbClr val="16233B"/>
                    </a:solidFill>
                  </a:tcPr>
                </a:tc>
                <a:tc>
                  <a:txBody>
                    <a:bodyPr/>
                    <a:lstStyle/>
                    <a:p>
                      <a:pPr indent="0" marL="0">
                        <a:lnSpc>
                          <a:spcPts val="1820"/>
                        </a:lnSpc>
                        <a:buNone/>
                      </a:pPr>
                      <a:r>
                        <a:rPr lang="en-US" sz="1300" b="1" dirty="0">
                          <a:solidFill>
                            <a:srgbClr val="F5F3EE"/>
                          </a:solidFill>
                          <a:latin typeface="Noto Sans" pitchFamily="34" charset="0"/>
                          <a:ea typeface="Noto Sans" pitchFamily="34" charset="-122"/>
                          <a:cs typeface="Noto Sans" pitchFamily="34" charset="-120"/>
                        </a:rPr>
                        <a:t>Xususiyati va qoʻllanilishi</a:t>
                      </a:r>
                      <a:endParaRPr lang="en-US" sz="1300" dirty="0">
                        <a:latin typeface="Noto Sans" charset="0"/>
                        <a:ea typeface="Noto Sans" charset="0"/>
                        <a:cs typeface="Noto Sans" charset="0"/>
                      </a:endParaRPr>
                    </a:p>
                  </a:txBody>
                  <a:tcPr marL="127000" marR="127000" marT="88900" marB="88900" anchor="t">
                    <a:lnL w="12700" cap="flat" cmpd="sng" algn="ctr">
                      <a:solidFill>
                        <a:srgbClr val="162032"/>
                      </a:solidFill>
                      <a:prstDash val="solid"/>
                      <a:round/>
                      <a:headEnd type="none" w="med" len="med"/>
                      <a:tailEnd type="none" w="med" len="med"/>
                    </a:lnL>
                    <a:lnR w="12700" cap="flat" cmpd="sng" algn="ctr">
                      <a:solidFill>
                        <a:srgbClr val="162032"/>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162032"/>
                      </a:solidFill>
                      <a:prstDash val="solid"/>
                      <a:round/>
                      <a:headEnd type="none" w="med" len="med"/>
                      <a:tailEnd type="none" w="med" len="med"/>
                    </a:lnB>
                    <a:solidFill>
                      <a:srgbClr val="16233B"/>
                    </a:solidFill>
                  </a:tcPr>
                </a:tc>
              </a:tr>
              <a:tr h="633730">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Fotorezistor (LDR)</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162032"/>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Ichki fotoeffekt: yorugʻlikda qarshilik keskin kamayadi</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162032"/>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Nochiziqli, sezgir, inersion (10…100 ms); yorugʻlik kalitlari</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162032"/>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r>
              <a:tr h="633730">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Fotodiod</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Teskari siljitilgan p-n oʻtishda fototok hosil boʻladi</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Juda tez (ns), chiziqli; enkoderlar, optik tola aloqasi</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r>
              <a:tr h="633730">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Fototranzistor</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Fotodiod va tranzistor kuchaytirgichi birikmasi</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Fotodioddan 100…500 marta sezgirroq, sekinroq; optoparalar</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r>
              <a:tr h="633730">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Optik enkoder</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Disk tirqishlari orqali oʻtgan nurni sanash</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1024…65 536 ppr; robot boʻgʻinlari va motor vallari</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r>
            </a:tbl>
          </a:graphicData>
        </a:graphic>
      </p:graphicFrame>
      <p:sp>
        <p:nvSpPr>
          <p:cNvPr id="5" name="Text 2"/>
          <p:cNvSpPr/>
          <p:nvPr/>
        </p:nvSpPr>
        <p:spPr>
          <a:xfrm>
            <a:off x="812800" y="5013325"/>
            <a:ext cx="10883392"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B5563"/>
                </a:solidFill>
                <a:latin typeface="Noto Sans" pitchFamily="34" charset="0"/>
                <a:ea typeface="Noto Sans" pitchFamily="34" charset="-122"/>
                <a:cs typeface="Noto Sans" pitchFamily="34" charset="-120"/>
              </a:rPr>
              <a:t>Optopara galvanik ajratish uchun ham ishlatiladi: signal yorugʻlik orqali uzatiladi, zanjirlar elektr jihatdan bogʻlanmaydi.</a:t>
            </a:r>
            <a:endParaRPr lang="en-US" sz="1400" dirty="0"/>
          </a:p>
        </p:txBody>
      </p:sp>
      <p:sp>
        <p:nvSpPr>
          <p:cNvPr id="6" name="Text 3"/>
          <p:cNvSpPr/>
          <p:nvPr/>
        </p:nvSpPr>
        <p:spPr>
          <a:xfrm>
            <a:off x="812800" y="62382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Noto Sans" pitchFamily="34" charset="0"/>
                <a:ea typeface="Noto Sans" pitchFamily="34" charset="-122"/>
                <a:cs typeface="Noto Sans" pitchFamily="34" charset="-120"/>
              </a:rPr>
              <a:t>Amaliyot №6 · Optik va temperatura datchiklari · 06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A"/>
                </a:solidFill>
                <a:latin typeface="Noto Sans" pitchFamily="34" charset="0"/>
                <a:ea typeface="Noto Sans" pitchFamily="34" charset="-122"/>
                <a:cs typeface="Noto Sans" pitchFamily="34" charset="-120"/>
              </a:rPr>
              <a:t>OPTIK DATCHIKLAR</a:t>
            </a:r>
            <a:endParaRPr lang="en-US" sz="1200" dirty="0"/>
          </a:p>
        </p:txBody>
      </p:sp>
      <p:sp>
        <p:nvSpPr>
          <p:cNvPr id="3" name="Text 1"/>
          <p:cNvSpPr/>
          <p:nvPr>
            <p:ph type="title"/>
          </p:nvPr>
        </p:nvSpPr>
        <p:spPr>
          <a:xfrm>
            <a:off x="812800" y="1102361"/>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33B"/>
                </a:solidFill>
                <a:latin typeface="Noto Sans" pitchFamily="34" charset="0"/>
                <a:ea typeface="Noto Sans" pitchFamily="34" charset="-122"/>
                <a:cs typeface="Noto Sans" pitchFamily="34" charset="-120"/>
              </a:rPr>
              <a:t>Fotodiod va transimpedans kuchaytirgich (TIA)</a:t>
            </a:r>
            <a:endParaRPr lang="en-US" sz="3200" dirty="0"/>
          </a:p>
        </p:txBody>
      </p:sp>
      <p:pic>
        <p:nvPicPr>
          <p:cNvPr id="4" name="Image 0" descr="TIA sxemasi: LED nuri fotodiodga tushadi, fototok operatsion kuchaytirgichning inverslovchi kirishiga beriladi, Rf qayta aloqa qarshiligi chiqishdan kirishga ulangan">    </p:cNvPr>
          <p:cNvPicPr>
            <a:picLocks noChangeAspect="1"/>
          </p:cNvPicPr>
          <p:nvPr/>
        </p:nvPicPr>
        <p:blipFill>
          <a:blip r:embed="rId1"/>
          <a:srcRect l="0" r="0" t="0" b="0"/>
          <a:stretch/>
        </p:blipFill>
        <p:spPr>
          <a:xfrm>
            <a:off x="812800" y="1803400"/>
            <a:ext cx="5715000" cy="3302000"/>
          </a:xfrm>
          <a:prstGeom prst="rect">
            <a:avLst/>
          </a:prstGeom>
        </p:spPr>
      </p:pic>
      <p:sp>
        <p:nvSpPr>
          <p:cNvPr id="5" name="Text 2"/>
          <p:cNvSpPr/>
          <p:nvPr/>
        </p:nvSpPr>
        <p:spPr>
          <a:xfrm>
            <a:off x="6883400" y="2335529"/>
            <a:ext cx="463067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D6CB0"/>
                </a:solidFill>
                <a:latin typeface="Noto Sans" pitchFamily="34" charset="0"/>
                <a:ea typeface="Noto Sans" pitchFamily="34" charset="-122"/>
                <a:cs typeface="Noto Sans" pitchFamily="34" charset="-120"/>
              </a:rPr>
              <a:t>Fototok</a:t>
            </a:r>
            <a:endParaRPr lang="en-US" sz="1200" dirty="0"/>
          </a:p>
        </p:txBody>
      </p:sp>
      <p:sp>
        <p:nvSpPr>
          <p:cNvPr id="6" name="Text 3"/>
          <p:cNvSpPr/>
          <p:nvPr/>
        </p:nvSpPr>
        <p:spPr>
          <a:xfrm>
            <a:off x="6883400" y="2599689"/>
            <a:ext cx="463067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1D2433"/>
                </a:solidFill>
                <a:latin typeface="Noto Sans" pitchFamily="34" charset="0"/>
                <a:ea typeface="Noto Sans" pitchFamily="34" charset="-122"/>
                <a:cs typeface="Noto Sans" pitchFamily="34" charset="-120"/>
              </a:rPr>
              <a:t>I(ph) = R(photo) · P(opt)</a:t>
            </a:r>
            <a:endParaRPr lang="en-US" sz="2000" dirty="0"/>
          </a:p>
        </p:txBody>
      </p:sp>
      <p:sp>
        <p:nvSpPr>
          <p:cNvPr id="7" name="Text 4"/>
          <p:cNvSpPr/>
          <p:nvPr/>
        </p:nvSpPr>
        <p:spPr>
          <a:xfrm>
            <a:off x="6883400" y="3107689"/>
            <a:ext cx="463067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D6CB0"/>
                </a:solidFill>
                <a:latin typeface="Noto Sans" pitchFamily="34" charset="0"/>
                <a:ea typeface="Noto Sans" pitchFamily="34" charset="-122"/>
                <a:cs typeface="Noto Sans" pitchFamily="34" charset="-120"/>
              </a:rPr>
              <a:t>Chiqish kuchlanishi</a:t>
            </a:r>
            <a:endParaRPr lang="en-US" sz="1200" dirty="0"/>
          </a:p>
        </p:txBody>
      </p:sp>
      <p:sp>
        <p:nvSpPr>
          <p:cNvPr id="8" name="Text 5"/>
          <p:cNvSpPr/>
          <p:nvPr/>
        </p:nvSpPr>
        <p:spPr>
          <a:xfrm>
            <a:off x="6883400" y="3371850"/>
            <a:ext cx="4630674"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1D2433"/>
                </a:solidFill>
                <a:latin typeface="Noto Sans" pitchFamily="34" charset="0"/>
                <a:ea typeface="Noto Sans" pitchFamily="34" charset="-122"/>
                <a:cs typeface="Noto Sans" pitchFamily="34" charset="-120"/>
              </a:rPr>
              <a:t>V(out) = I(ph) · Rf</a:t>
            </a:r>
            <a:endParaRPr lang="en-US" sz="2000" dirty="0"/>
          </a:p>
        </p:txBody>
      </p:sp>
      <p:sp>
        <p:nvSpPr>
          <p:cNvPr id="9" name="Text 6"/>
          <p:cNvSpPr/>
          <p:nvPr/>
        </p:nvSpPr>
        <p:spPr>
          <a:xfrm>
            <a:off x="6883400" y="3879850"/>
            <a:ext cx="4630674" cy="71882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433"/>
                </a:solidFill>
                <a:latin typeface="Noto Sans" pitchFamily="34" charset="0"/>
                <a:ea typeface="Noto Sans" pitchFamily="34" charset="-122"/>
                <a:cs typeface="Noto Sans" pitchFamily="34" charset="-120"/>
              </a:rPr>
              <a:t>TIA fotodiodning kichik tokini (nA…µA) oʻlchanadigan kuchlanishga aylantiradi va fotodiod kuchlanishini deyarli nol ushlaydi — bu tezkorlik va chiziqlilikni oshiradi.</a:t>
            </a:r>
            <a:endParaRPr lang="en-US" sz="1300" dirty="0"/>
          </a:p>
        </p:txBody>
      </p:sp>
      <p:sp>
        <p:nvSpPr>
          <p:cNvPr id="10" name="Text 7"/>
          <p:cNvSpPr/>
          <p:nvPr/>
        </p:nvSpPr>
        <p:spPr>
          <a:xfrm>
            <a:off x="812800" y="6238239"/>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Noto Sans" pitchFamily="34" charset="0"/>
                <a:ea typeface="Noto Sans" pitchFamily="34" charset="-122"/>
                <a:cs typeface="Noto Sans" pitchFamily="34" charset="-120"/>
              </a:rPr>
              <a:t>Amaliyot №6 · Optik va temperatura datchiklari · 07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A"/>
                </a:solidFill>
                <a:latin typeface="Noto Sans" pitchFamily="34" charset="0"/>
                <a:ea typeface="Noto Sans" pitchFamily="34" charset="-122"/>
                <a:cs typeface="Noto Sans" pitchFamily="34" charset="-120"/>
              </a:rPr>
              <a:t>TEMPERATURA DATCHIKLARI</a:t>
            </a:r>
            <a:endParaRPr lang="en-US" sz="1200" dirty="0"/>
          </a:p>
        </p:txBody>
      </p:sp>
      <p:sp>
        <p:nvSpPr>
          <p:cNvPr id="3" name="Text 1"/>
          <p:cNvSpPr/>
          <p:nvPr>
            <p:ph type="title"/>
          </p:nvPr>
        </p:nvSpPr>
        <p:spPr>
          <a:xfrm>
            <a:off x="812800" y="1102361"/>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33B"/>
                </a:solidFill>
                <a:latin typeface="Noto Sans" pitchFamily="34" charset="0"/>
                <a:ea typeface="Noto Sans" pitchFamily="34" charset="-122"/>
                <a:cs typeface="Noto Sans" pitchFamily="34" charset="-120"/>
              </a:rPr>
              <a:t>Harorat datchiklarini taqqoslash</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813560"/>
          <a:ext cx="10556240" cy="2945765"/>
        </p:xfrm>
        <a:graphic>
          <a:graphicData uri="http://schemas.openxmlformats.org/drawingml/2006/table">
            <a:tbl>
              <a:tblPr/>
              <a:tblGrid>
                <a:gridCol w="2639060"/>
                <a:gridCol w="2639060"/>
                <a:gridCol w="2639060"/>
                <a:gridCol w="2639060"/>
              </a:tblGrid>
              <a:tr h="410845">
                <a:tc>
                  <a:txBody>
                    <a:bodyPr/>
                    <a:lstStyle/>
                    <a:p>
                      <a:pPr indent="0" marL="0">
                        <a:lnSpc>
                          <a:spcPts val="1820"/>
                        </a:lnSpc>
                        <a:buNone/>
                      </a:pPr>
                      <a:r>
                        <a:rPr lang="en-US" sz="1300" b="1" dirty="0">
                          <a:solidFill>
                            <a:srgbClr val="F5F3EE"/>
                          </a:solidFill>
                          <a:latin typeface="Noto Sans" pitchFamily="34" charset="0"/>
                          <a:ea typeface="Noto Sans" pitchFamily="34" charset="-122"/>
                          <a:cs typeface="Noto Sans" pitchFamily="34" charset="-120"/>
                        </a:rPr>
                        <a:t>Datchik</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162032"/>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162032"/>
                      </a:solidFill>
                      <a:prstDash val="solid"/>
                      <a:round/>
                      <a:headEnd type="none" w="med" len="med"/>
                      <a:tailEnd type="none" w="med" len="med"/>
                    </a:lnB>
                    <a:solidFill>
                      <a:srgbClr val="16233B"/>
                    </a:solidFill>
                  </a:tcPr>
                </a:tc>
                <a:tc>
                  <a:txBody>
                    <a:bodyPr/>
                    <a:lstStyle/>
                    <a:p>
                      <a:pPr indent="0" marL="0">
                        <a:lnSpc>
                          <a:spcPts val="1820"/>
                        </a:lnSpc>
                        <a:buNone/>
                      </a:pPr>
                      <a:r>
                        <a:rPr lang="en-US" sz="1300" b="1" dirty="0">
                          <a:solidFill>
                            <a:srgbClr val="F5F3EE"/>
                          </a:solidFill>
                          <a:latin typeface="Noto Sans" pitchFamily="34" charset="0"/>
                          <a:ea typeface="Noto Sans" pitchFamily="34" charset="-122"/>
                          <a:cs typeface="Noto Sans" pitchFamily="34" charset="-120"/>
                        </a:rPr>
                        <a:t>Tamoyil va formula</a:t>
                      </a:r>
                      <a:endParaRPr lang="en-US" sz="1300" dirty="0">
                        <a:latin typeface="Noto Sans" charset="0"/>
                        <a:ea typeface="Noto Sans" charset="0"/>
                        <a:cs typeface="Noto Sans" charset="0"/>
                      </a:endParaRPr>
                    </a:p>
                  </a:txBody>
                  <a:tcPr marL="127000" marR="127000" marT="88900" marB="88900" anchor="t">
                    <a:lnL w="12700" cap="flat" cmpd="sng" algn="ctr">
                      <a:solidFill>
                        <a:srgbClr val="162032"/>
                      </a:solidFill>
                      <a:prstDash val="solid"/>
                      <a:round/>
                      <a:headEnd type="none" w="med" len="med"/>
                      <a:tailEnd type="none" w="med" len="med"/>
                    </a:lnL>
                    <a:lnR w="12700" cap="flat" cmpd="sng" algn="ctr">
                      <a:solidFill>
                        <a:srgbClr val="162032"/>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162032"/>
                      </a:solidFill>
                      <a:prstDash val="solid"/>
                      <a:round/>
                      <a:headEnd type="none" w="med" len="med"/>
                      <a:tailEnd type="none" w="med" len="med"/>
                    </a:lnB>
                    <a:solidFill>
                      <a:srgbClr val="16233B"/>
                    </a:solidFill>
                  </a:tcPr>
                </a:tc>
                <a:tc>
                  <a:txBody>
                    <a:bodyPr/>
                    <a:lstStyle/>
                    <a:p>
                      <a:pPr indent="0" marL="0">
                        <a:lnSpc>
                          <a:spcPts val="1820"/>
                        </a:lnSpc>
                        <a:buNone/>
                      </a:pPr>
                      <a:r>
                        <a:rPr lang="en-US" sz="1300" b="1" dirty="0">
                          <a:solidFill>
                            <a:srgbClr val="F5F3EE"/>
                          </a:solidFill>
                          <a:latin typeface="Noto Sans" pitchFamily="34" charset="0"/>
                          <a:ea typeface="Noto Sans" pitchFamily="34" charset="-122"/>
                          <a:cs typeface="Noto Sans" pitchFamily="34" charset="-120"/>
                        </a:rPr>
                        <a:t>Diapazon</a:t>
                      </a:r>
                      <a:endParaRPr lang="en-US" sz="1300" dirty="0">
                        <a:latin typeface="Noto Sans" charset="0"/>
                        <a:ea typeface="Noto Sans" charset="0"/>
                        <a:cs typeface="Noto Sans" charset="0"/>
                      </a:endParaRPr>
                    </a:p>
                  </a:txBody>
                  <a:tcPr marL="127000" marR="127000" marT="88900" marB="88900" anchor="t">
                    <a:lnL w="12700" cap="flat" cmpd="sng" algn="ctr">
                      <a:solidFill>
                        <a:srgbClr val="162032"/>
                      </a:solidFill>
                      <a:prstDash val="solid"/>
                      <a:round/>
                      <a:headEnd type="none" w="med" len="med"/>
                      <a:tailEnd type="none" w="med" len="med"/>
                    </a:lnL>
                    <a:lnR w="12700" cap="flat" cmpd="sng" algn="ctr">
                      <a:solidFill>
                        <a:srgbClr val="162032"/>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162032"/>
                      </a:solidFill>
                      <a:prstDash val="solid"/>
                      <a:round/>
                      <a:headEnd type="none" w="med" len="med"/>
                      <a:tailEnd type="none" w="med" len="med"/>
                    </a:lnB>
                    <a:solidFill>
                      <a:srgbClr val="16233B"/>
                    </a:solidFill>
                  </a:tcPr>
                </a:tc>
                <a:tc>
                  <a:txBody>
                    <a:bodyPr/>
                    <a:lstStyle/>
                    <a:p>
                      <a:pPr indent="0" marL="0">
                        <a:lnSpc>
                          <a:spcPts val="1820"/>
                        </a:lnSpc>
                        <a:buNone/>
                      </a:pPr>
                      <a:r>
                        <a:rPr lang="en-US" sz="1300" b="1" dirty="0">
                          <a:solidFill>
                            <a:srgbClr val="F5F3EE"/>
                          </a:solidFill>
                          <a:latin typeface="Noto Sans" pitchFamily="34" charset="0"/>
                          <a:ea typeface="Noto Sans" pitchFamily="34" charset="-122"/>
                          <a:cs typeface="Noto Sans" pitchFamily="34" charset="-120"/>
                        </a:rPr>
                        <a:t>Xususiyati</a:t>
                      </a:r>
                      <a:endParaRPr lang="en-US" sz="1300" dirty="0">
                        <a:latin typeface="Noto Sans" charset="0"/>
                        <a:ea typeface="Noto Sans" charset="0"/>
                        <a:cs typeface="Noto Sans" charset="0"/>
                      </a:endParaRPr>
                    </a:p>
                  </a:txBody>
                  <a:tcPr marL="127000" marR="127000" marT="88900" marB="88900" anchor="t">
                    <a:lnL w="12700" cap="flat" cmpd="sng" algn="ctr">
                      <a:solidFill>
                        <a:srgbClr val="162032"/>
                      </a:solidFill>
                      <a:prstDash val="solid"/>
                      <a:round/>
                      <a:headEnd type="none" w="med" len="med"/>
                      <a:tailEnd type="none" w="med" len="med"/>
                    </a:lnL>
                    <a:lnR w="12700" cap="flat" cmpd="sng" algn="ctr">
                      <a:solidFill>
                        <a:srgbClr val="162032"/>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162032"/>
                      </a:solidFill>
                      <a:prstDash val="solid"/>
                      <a:round/>
                      <a:headEnd type="none" w="med" len="med"/>
                      <a:tailEnd type="none" w="med" len="med"/>
                    </a:lnB>
                    <a:solidFill>
                      <a:srgbClr val="16233B"/>
                    </a:solidFill>
                  </a:tcPr>
                </a:tc>
              </a:tr>
              <a:tr h="633730">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Termopara</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162032"/>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Seebeck: E = S · (T(hot) − T(cold))</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162032"/>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−200…+1800 °C</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162032"/>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Juda keng diapazon; signal kichik (mV)</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162032"/>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r>
              <a:tr h="633730">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RTD Pt100</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R(T) = R₀ (1 + α T)</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−200…+850 °C</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Yuqori aniqlik va chiziqlilik; 0,385 Ω/°C</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r>
              <a:tr h="633730">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NTC termistor</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R(T) = R₀ · exp[β (1/T − 1/T₀)], T — kelvinda</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−50…+150 °C</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Juda sezgir; keskin nochiziqli</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r>
              <a:tr h="633730">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IC datchik (LM35)</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p-n oʻtish: V(out) = 10 mV/°C</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−55…+150 °C</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820"/>
                        </a:lnSpc>
                        <a:buNone/>
                      </a:pPr>
                      <a:r>
                        <a:rPr lang="en-US" sz="1300" dirty="0">
                          <a:solidFill>
                            <a:srgbClr val="1D2433"/>
                          </a:solidFill>
                          <a:latin typeface="Noto Sans" pitchFamily="34" charset="0"/>
                          <a:ea typeface="Noto Sans" pitchFamily="34" charset="-122"/>
                          <a:cs typeface="Noto Sans" pitchFamily="34" charset="-120"/>
                        </a:rPr>
                        <a:t>Tayyor chiziqli chiqish; tor diapazon</a:t>
                      </a:r>
                      <a:endParaRPr lang="en-US" sz="1300" dirty="0">
                        <a:latin typeface="Noto Sans" charset="0"/>
                        <a:ea typeface="Noto Sans" charset="0"/>
                        <a:cs typeface="Noto Sans" charset="0"/>
                      </a:endParaRPr>
                    </a:p>
                  </a:txBody>
                  <a:tcPr marL="127000" marR="127000" marT="88900" marB="889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r>
            </a:tbl>
          </a:graphicData>
        </a:graphic>
      </p:graphicFrame>
      <p:sp>
        <p:nvSpPr>
          <p:cNvPr id="5" name="Text 2"/>
          <p:cNvSpPr/>
          <p:nvPr/>
        </p:nvSpPr>
        <p:spPr>
          <a:xfrm>
            <a:off x="812800" y="5013325"/>
            <a:ext cx="10883392"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B5563"/>
                </a:solidFill>
                <a:latin typeface="Noto Sans" pitchFamily="34" charset="0"/>
                <a:ea typeface="Noto Sans" pitchFamily="34" charset="-122"/>
                <a:cs typeface="Noto Sans" pitchFamily="34" charset="-120"/>
              </a:rPr>
              <a:t>PTC termistorning qarshiligi esa harorat ortishi bilan ortadi — u koʻpincha qizishdan himoyalashda ishlatiladi.</a:t>
            </a:r>
            <a:endParaRPr lang="en-US" sz="1400" dirty="0"/>
          </a:p>
        </p:txBody>
      </p:sp>
      <p:sp>
        <p:nvSpPr>
          <p:cNvPr id="6" name="Text 3"/>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Noto Sans" pitchFamily="34" charset="0"/>
                <a:ea typeface="Noto Sans" pitchFamily="34" charset="-122"/>
                <a:cs typeface="Noto Sans" pitchFamily="34" charset="-120"/>
              </a:rPr>
              <a:t>Amaliyot №6 · Optik va temperatura datchiklari · 08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A"/>
                </a:solidFill>
                <a:latin typeface="Noto Sans" pitchFamily="34" charset="0"/>
                <a:ea typeface="Noto Sans" pitchFamily="34" charset="-122"/>
                <a:cs typeface="Noto Sans" pitchFamily="34" charset="-120"/>
              </a:rPr>
              <a:t>TEMPERATURA DATCHIKLARI</a:t>
            </a:r>
            <a:endParaRPr lang="en-US" sz="1200" dirty="0"/>
          </a:p>
        </p:txBody>
      </p:sp>
      <p:sp>
        <p:nvSpPr>
          <p:cNvPr id="3" name="Text 1"/>
          <p:cNvSpPr/>
          <p:nvPr>
            <p:ph type="title"/>
          </p:nvPr>
        </p:nvSpPr>
        <p:spPr>
          <a:xfrm>
            <a:off x="812800" y="1102358"/>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33B"/>
                </a:solidFill>
                <a:latin typeface="Noto Sans" pitchFamily="34" charset="0"/>
                <a:ea typeface="Noto Sans" pitchFamily="34" charset="-122"/>
                <a:cs typeface="Noto Sans" pitchFamily="34" charset="-120"/>
              </a:rPr>
              <a:t>Pt100 uchun Vitston koʻprigi va kuchaytirgich</a:t>
            </a:r>
            <a:endParaRPr lang="en-US" sz="3200" dirty="0"/>
          </a:p>
        </p:txBody>
      </p:sp>
      <p:pic>
        <p:nvPicPr>
          <p:cNvPr id="4" name="Image 0" descr="Vitston koʻprigi: R1, R2, R3 va Pt100 rezistorlari, 5 V manba, A va B nuqtalar instrumental kuchaytirgichga ulangan">    </p:cNvPr>
          <p:cNvPicPr>
            <a:picLocks noChangeAspect="1"/>
          </p:cNvPicPr>
          <p:nvPr/>
        </p:nvPicPr>
        <p:blipFill>
          <a:blip r:embed="rId1"/>
          <a:srcRect l="0" r="0" t="0" b="0"/>
          <a:stretch/>
        </p:blipFill>
        <p:spPr>
          <a:xfrm>
            <a:off x="812800" y="1803400"/>
            <a:ext cx="5715000" cy="3429000"/>
          </a:xfrm>
          <a:prstGeom prst="rect">
            <a:avLst/>
          </a:prstGeom>
        </p:spPr>
      </p:pic>
      <p:sp>
        <p:nvSpPr>
          <p:cNvPr id="5" name="Text 2"/>
          <p:cNvSpPr/>
          <p:nvPr/>
        </p:nvSpPr>
        <p:spPr>
          <a:xfrm>
            <a:off x="6883400" y="2364742"/>
            <a:ext cx="463067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D6CB0"/>
                </a:solidFill>
                <a:latin typeface="Noto Sans" pitchFamily="34" charset="0"/>
                <a:ea typeface="Noto Sans" pitchFamily="34" charset="-122"/>
                <a:cs typeface="Noto Sans" pitchFamily="34" charset="-120"/>
              </a:rPr>
              <a:t>Pt100 qarshiligi</a:t>
            </a:r>
            <a:endParaRPr lang="en-US" sz="1200" dirty="0"/>
          </a:p>
        </p:txBody>
      </p:sp>
      <p:sp>
        <p:nvSpPr>
          <p:cNvPr id="6" name="Text 3"/>
          <p:cNvSpPr/>
          <p:nvPr/>
        </p:nvSpPr>
        <p:spPr>
          <a:xfrm>
            <a:off x="6883400" y="2628900"/>
            <a:ext cx="4630674" cy="34544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D2433"/>
                </a:solidFill>
                <a:latin typeface="Noto Sans" pitchFamily="34" charset="0"/>
                <a:ea typeface="Noto Sans" pitchFamily="34" charset="-122"/>
                <a:cs typeface="Noto Sans" pitchFamily="34" charset="-120"/>
              </a:rPr>
              <a:t>R(T) = R₀ (1 + α T)</a:t>
            </a:r>
            <a:endParaRPr lang="en-US" sz="1800" dirty="0"/>
          </a:p>
        </p:txBody>
      </p:sp>
      <p:sp>
        <p:nvSpPr>
          <p:cNvPr id="7" name="Text 4"/>
          <p:cNvSpPr/>
          <p:nvPr/>
        </p:nvSpPr>
        <p:spPr>
          <a:xfrm>
            <a:off x="6883400" y="3101342"/>
            <a:ext cx="463067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D6CB0"/>
                </a:solidFill>
                <a:latin typeface="Noto Sans" pitchFamily="34" charset="0"/>
                <a:ea typeface="Noto Sans" pitchFamily="34" charset="-122"/>
                <a:cs typeface="Noto Sans" pitchFamily="34" charset="-120"/>
              </a:rPr>
              <a:t>Koʻprik kuchlanishi</a:t>
            </a:r>
            <a:endParaRPr lang="en-US" sz="1200" dirty="0"/>
          </a:p>
        </p:txBody>
      </p:sp>
      <p:sp>
        <p:nvSpPr>
          <p:cNvPr id="8" name="Text 5"/>
          <p:cNvSpPr/>
          <p:nvPr/>
        </p:nvSpPr>
        <p:spPr>
          <a:xfrm>
            <a:off x="6883400" y="3365500"/>
            <a:ext cx="4630674" cy="59436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1D2433"/>
                </a:solidFill>
                <a:latin typeface="Noto Sans" pitchFamily="34" charset="0"/>
                <a:ea typeface="Noto Sans" pitchFamily="34" charset="-122"/>
                <a:cs typeface="Noto Sans" pitchFamily="34" charset="-120"/>
              </a:rPr>
              <a:t>V(br) = V(ex) · [R(T) / (R1 + R(T)) − R3 / (R2 + R3)]</a:t>
            </a:r>
            <a:endParaRPr lang="en-US" sz="1600" dirty="0"/>
          </a:p>
        </p:txBody>
      </p:sp>
      <p:sp>
        <p:nvSpPr>
          <p:cNvPr id="9" name="Text 6"/>
          <p:cNvSpPr/>
          <p:nvPr/>
        </p:nvSpPr>
        <p:spPr>
          <a:xfrm>
            <a:off x="6883400" y="4086858"/>
            <a:ext cx="463067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D6CB0"/>
                </a:solidFill>
                <a:latin typeface="Noto Sans" pitchFamily="34" charset="0"/>
                <a:ea typeface="Noto Sans" pitchFamily="34" charset="-122"/>
                <a:cs typeface="Noto Sans" pitchFamily="34" charset="-120"/>
              </a:rPr>
              <a:t>Chiqish</a:t>
            </a:r>
            <a:endParaRPr lang="en-US" sz="1200" dirty="0"/>
          </a:p>
        </p:txBody>
      </p:sp>
      <p:sp>
        <p:nvSpPr>
          <p:cNvPr id="10" name="Text 7"/>
          <p:cNvSpPr/>
          <p:nvPr/>
        </p:nvSpPr>
        <p:spPr>
          <a:xfrm>
            <a:off x="6883400" y="4351021"/>
            <a:ext cx="4630674" cy="34544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D2433"/>
                </a:solidFill>
                <a:latin typeface="Noto Sans" pitchFamily="34" charset="0"/>
                <a:ea typeface="Noto Sans" pitchFamily="34" charset="-122"/>
                <a:cs typeface="Noto Sans" pitchFamily="34" charset="-120"/>
              </a:rPr>
              <a:t>V(out) = G · V(br)</a:t>
            </a:r>
            <a:endParaRPr lang="en-US" sz="1800" dirty="0"/>
          </a:p>
        </p:txBody>
      </p:sp>
      <p:sp>
        <p:nvSpPr>
          <p:cNvPr id="11" name="Text 8"/>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Noto Sans" pitchFamily="34" charset="0"/>
                <a:ea typeface="Noto Sans" pitchFamily="34" charset="-122"/>
                <a:cs typeface="Noto Sans" pitchFamily="34" charset="-120"/>
              </a:rPr>
              <a:t>Amaliyot №6 · Optik va temperatura datchiklari · 09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A"/>
                </a:solidFill>
                <a:latin typeface="Noto Sans" pitchFamily="34" charset="0"/>
                <a:ea typeface="Noto Sans" pitchFamily="34" charset="-122"/>
                <a:cs typeface="Noto Sans" pitchFamily="34" charset="-120"/>
              </a:rPr>
              <a:t>TOPSHIRIQ 1</a:t>
            </a:r>
            <a:endParaRPr lang="en-US" sz="1200" dirty="0"/>
          </a:p>
        </p:txBody>
      </p:sp>
      <p:sp>
        <p:nvSpPr>
          <p:cNvPr id="3" name="Text 1"/>
          <p:cNvSpPr/>
          <p:nvPr>
            <p:ph type="title"/>
          </p:nvPr>
        </p:nvSpPr>
        <p:spPr>
          <a:xfrm>
            <a:off x="812800" y="1102358"/>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33B"/>
                </a:solidFill>
                <a:latin typeface="Noto Sans" pitchFamily="34" charset="0"/>
                <a:ea typeface="Noto Sans" pitchFamily="34" charset="-122"/>
                <a:cs typeface="Noto Sans" pitchFamily="34" charset="-120"/>
              </a:rPr>
              <a:t>Optik va harorat datchiklarini qiyosiy tahlil qilish</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2960" y="1813560"/>
          <a:ext cx="10556240" cy="2595880"/>
        </p:xfrm>
        <a:graphic>
          <a:graphicData uri="http://schemas.openxmlformats.org/drawingml/2006/table">
            <a:tbl>
              <a:tblPr/>
              <a:tblGrid>
                <a:gridCol w="2639060"/>
                <a:gridCol w="2639060"/>
                <a:gridCol w="2639060"/>
                <a:gridCol w="2639060"/>
              </a:tblGrid>
              <a:tr h="360680">
                <a:tc>
                  <a:txBody>
                    <a:bodyPr/>
                    <a:lstStyle/>
                    <a:p>
                      <a:pPr indent="0" marL="0">
                        <a:lnSpc>
                          <a:spcPts val="1680"/>
                        </a:lnSpc>
                        <a:buNone/>
                      </a:pPr>
                      <a:r>
                        <a:rPr lang="en-US" sz="1200" b="1" dirty="0">
                          <a:solidFill>
                            <a:srgbClr val="F5F3EE"/>
                          </a:solidFill>
                          <a:latin typeface="Noto Sans" pitchFamily="34" charset="0"/>
                          <a:ea typeface="Noto Sans" pitchFamily="34" charset="-122"/>
                          <a:cs typeface="Noto Sans" pitchFamily="34" charset="-120"/>
                        </a:rPr>
                        <a:t>Datchik</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162032"/>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162032"/>
                      </a:solidFill>
                      <a:prstDash val="solid"/>
                      <a:round/>
                      <a:headEnd type="none" w="med" len="med"/>
                      <a:tailEnd type="none" w="med" len="med"/>
                    </a:lnB>
                    <a:solidFill>
                      <a:srgbClr val="16233B"/>
                    </a:solidFill>
                  </a:tcPr>
                </a:tc>
                <a:tc>
                  <a:txBody>
                    <a:bodyPr/>
                    <a:lstStyle/>
                    <a:p>
                      <a:pPr indent="0" marL="0">
                        <a:lnSpc>
                          <a:spcPts val="1680"/>
                        </a:lnSpc>
                        <a:buNone/>
                      </a:pPr>
                      <a:r>
                        <a:rPr lang="en-US" sz="1200" b="1" dirty="0">
                          <a:solidFill>
                            <a:srgbClr val="F5F3EE"/>
                          </a:solidFill>
                          <a:latin typeface="Noto Sans" pitchFamily="34" charset="0"/>
                          <a:ea typeface="Noto Sans" pitchFamily="34" charset="-122"/>
                          <a:cs typeface="Noto Sans" pitchFamily="34" charset="-120"/>
                        </a:rPr>
                        <a:t>Reaksiya tezligi</a:t>
                      </a:r>
                      <a:endParaRPr lang="en-US" sz="1200" dirty="0">
                        <a:latin typeface="Noto Sans" charset="0"/>
                        <a:ea typeface="Noto Sans" charset="0"/>
                        <a:cs typeface="Noto Sans" charset="0"/>
                      </a:endParaRPr>
                    </a:p>
                  </a:txBody>
                  <a:tcPr marL="127000" marR="127000" marT="76200" marB="76200" anchor="t">
                    <a:lnL w="12700" cap="flat" cmpd="sng" algn="ctr">
                      <a:solidFill>
                        <a:srgbClr val="162032"/>
                      </a:solidFill>
                      <a:prstDash val="solid"/>
                      <a:round/>
                      <a:headEnd type="none" w="med" len="med"/>
                      <a:tailEnd type="none" w="med" len="med"/>
                    </a:lnL>
                    <a:lnR w="12700" cap="flat" cmpd="sng" algn="ctr">
                      <a:solidFill>
                        <a:srgbClr val="162032"/>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162032"/>
                      </a:solidFill>
                      <a:prstDash val="solid"/>
                      <a:round/>
                      <a:headEnd type="none" w="med" len="med"/>
                      <a:tailEnd type="none" w="med" len="med"/>
                    </a:lnB>
                    <a:solidFill>
                      <a:srgbClr val="16233B"/>
                    </a:solidFill>
                  </a:tcPr>
                </a:tc>
                <a:tc>
                  <a:txBody>
                    <a:bodyPr/>
                    <a:lstStyle/>
                    <a:p>
                      <a:pPr indent="0" marL="0">
                        <a:lnSpc>
                          <a:spcPts val="1680"/>
                        </a:lnSpc>
                        <a:buNone/>
                      </a:pPr>
                      <a:r>
                        <a:rPr lang="en-US" sz="1200" b="1" dirty="0">
                          <a:solidFill>
                            <a:srgbClr val="F5F3EE"/>
                          </a:solidFill>
                          <a:latin typeface="Noto Sans" pitchFamily="34" charset="0"/>
                          <a:ea typeface="Noto Sans" pitchFamily="34" charset="-122"/>
                          <a:cs typeface="Noto Sans" pitchFamily="34" charset="-120"/>
                        </a:rPr>
                        <a:t>Chiziqlilik va sezgirlik</a:t>
                      </a:r>
                      <a:endParaRPr lang="en-US" sz="1200" dirty="0">
                        <a:latin typeface="Noto Sans" charset="0"/>
                        <a:ea typeface="Noto Sans" charset="0"/>
                        <a:cs typeface="Noto Sans" charset="0"/>
                      </a:endParaRPr>
                    </a:p>
                  </a:txBody>
                  <a:tcPr marL="127000" marR="127000" marT="76200" marB="76200" anchor="t">
                    <a:lnL w="12700" cap="flat" cmpd="sng" algn="ctr">
                      <a:solidFill>
                        <a:srgbClr val="162032"/>
                      </a:solidFill>
                      <a:prstDash val="solid"/>
                      <a:round/>
                      <a:headEnd type="none" w="med" len="med"/>
                      <a:tailEnd type="none" w="med" len="med"/>
                    </a:lnL>
                    <a:lnR w="12700" cap="flat" cmpd="sng" algn="ctr">
                      <a:solidFill>
                        <a:srgbClr val="162032"/>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162032"/>
                      </a:solidFill>
                      <a:prstDash val="solid"/>
                      <a:round/>
                      <a:headEnd type="none" w="med" len="med"/>
                      <a:tailEnd type="none" w="med" len="med"/>
                    </a:lnB>
                    <a:solidFill>
                      <a:srgbClr val="16233B"/>
                    </a:solidFill>
                  </a:tcPr>
                </a:tc>
                <a:tc>
                  <a:txBody>
                    <a:bodyPr/>
                    <a:lstStyle/>
                    <a:p>
                      <a:pPr indent="0" marL="0">
                        <a:lnSpc>
                          <a:spcPts val="1680"/>
                        </a:lnSpc>
                        <a:buNone/>
                      </a:pPr>
                      <a:r>
                        <a:rPr lang="en-US" sz="1200" b="1" dirty="0">
                          <a:solidFill>
                            <a:srgbClr val="F5F3EE"/>
                          </a:solidFill>
                          <a:latin typeface="Noto Sans" pitchFamily="34" charset="0"/>
                          <a:ea typeface="Noto Sans" pitchFamily="34" charset="-122"/>
                          <a:cs typeface="Noto Sans" pitchFamily="34" charset="-120"/>
                        </a:rPr>
                        <a:t>Ustunligi / kamchiligi</a:t>
                      </a:r>
                      <a:endParaRPr lang="en-US" sz="1200" dirty="0">
                        <a:latin typeface="Noto Sans" charset="0"/>
                        <a:ea typeface="Noto Sans" charset="0"/>
                        <a:cs typeface="Noto Sans" charset="0"/>
                      </a:endParaRPr>
                    </a:p>
                  </a:txBody>
                  <a:tcPr marL="127000" marR="127000" marT="76200" marB="76200" anchor="t">
                    <a:lnL w="12700" cap="flat" cmpd="sng" algn="ctr">
                      <a:solidFill>
                        <a:srgbClr val="162032"/>
                      </a:solidFill>
                      <a:prstDash val="solid"/>
                      <a:round/>
                      <a:headEnd type="none" w="med" len="med"/>
                      <a:tailEnd type="none" w="med" len="med"/>
                    </a:lnL>
                    <a:lnR w="12700" cap="flat" cmpd="sng" algn="ctr">
                      <a:solidFill>
                        <a:srgbClr val="162032"/>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162032"/>
                      </a:solidFill>
                      <a:prstDash val="solid"/>
                      <a:round/>
                      <a:headEnd type="none" w="med" len="med"/>
                      <a:tailEnd type="none" w="med" len="med"/>
                    </a:lnB>
                    <a:solidFill>
                      <a:srgbClr val="16233B"/>
                    </a:solidFill>
                  </a:tcPr>
                </a:tc>
              </a:tr>
              <a:tr h="558800">
                <a:tc>
                  <a:txBody>
                    <a:bodyPr/>
                    <a:lstStyle/>
                    <a:p>
                      <a:pPr indent="0" marL="0">
                        <a:lnSpc>
                          <a:spcPts val="1680"/>
                        </a:lnSpc>
                        <a:buNone/>
                      </a:pPr>
                      <a:r>
                        <a:rPr lang="en-US" sz="1200" dirty="0">
                          <a:solidFill>
                            <a:srgbClr val="1D2433"/>
                          </a:solidFill>
                          <a:latin typeface="Noto Sans" pitchFamily="34" charset="0"/>
                          <a:ea typeface="Noto Sans" pitchFamily="34" charset="-122"/>
                          <a:cs typeface="Noto Sans" pitchFamily="34" charset="-120"/>
                        </a:rPr>
                        <a:t>Fotorezistor</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162032"/>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680"/>
                        </a:lnSpc>
                        <a:buNone/>
                      </a:pPr>
                      <a:r>
                        <a:rPr lang="en-US" sz="1200" dirty="0">
                          <a:solidFill>
                            <a:srgbClr val="1D2433"/>
                          </a:solidFill>
                          <a:latin typeface="Noto Sans" pitchFamily="34" charset="0"/>
                          <a:ea typeface="Noto Sans" pitchFamily="34" charset="-122"/>
                          <a:cs typeface="Noto Sans" pitchFamily="34" charset="-120"/>
                        </a:rPr>
                        <a:t>Sekin, 10…100 ms</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162032"/>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680"/>
                        </a:lnSpc>
                        <a:buNone/>
                      </a:pPr>
                      <a:r>
                        <a:rPr lang="en-US" sz="1200" dirty="0">
                          <a:solidFill>
                            <a:srgbClr val="1D2433"/>
                          </a:solidFill>
                          <a:latin typeface="Noto Sans" pitchFamily="34" charset="0"/>
                          <a:ea typeface="Noto Sans" pitchFamily="34" charset="-122"/>
                          <a:cs typeface="Noto Sans" pitchFamily="34" charset="-120"/>
                        </a:rPr>
                        <a:t>Nochiziqli; sezgir</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162032"/>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680"/>
                        </a:lnSpc>
                        <a:buNone/>
                      </a:pPr>
                      <a:r>
                        <a:rPr lang="en-US" sz="1200" dirty="0">
                          <a:solidFill>
                            <a:srgbClr val="1D2433"/>
                          </a:solidFill>
                          <a:latin typeface="Noto Sans" pitchFamily="34" charset="0"/>
                          <a:ea typeface="Noto Sans" pitchFamily="34" charset="-122"/>
                          <a:cs typeface="Noto Sans" pitchFamily="34" charset="-120"/>
                        </a:rPr>
                        <a:t>Arzon, sodda / inersion, haroratga bogʻliq</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162032"/>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r>
              <a:tr h="558800">
                <a:tc>
                  <a:txBody>
                    <a:bodyPr/>
                    <a:lstStyle/>
                    <a:p>
                      <a:pPr indent="0" marL="0">
                        <a:lnSpc>
                          <a:spcPts val="1680"/>
                        </a:lnSpc>
                        <a:buNone/>
                      </a:pPr>
                      <a:r>
                        <a:rPr lang="en-US" sz="1200" dirty="0">
                          <a:solidFill>
                            <a:srgbClr val="1D2433"/>
                          </a:solidFill>
                          <a:latin typeface="Noto Sans" pitchFamily="34" charset="0"/>
                          <a:ea typeface="Noto Sans" pitchFamily="34" charset="-122"/>
                          <a:cs typeface="Noto Sans" pitchFamily="34" charset="-120"/>
                        </a:rPr>
                        <a:t>Fotodiod</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680"/>
                        </a:lnSpc>
                        <a:buNone/>
                      </a:pPr>
                      <a:r>
                        <a:rPr lang="en-US" sz="1200" dirty="0">
                          <a:solidFill>
                            <a:srgbClr val="1D2433"/>
                          </a:solidFill>
                          <a:latin typeface="Noto Sans" pitchFamily="34" charset="0"/>
                          <a:ea typeface="Noto Sans" pitchFamily="34" charset="-122"/>
                          <a:cs typeface="Noto Sans" pitchFamily="34" charset="-120"/>
                        </a:rPr>
                        <a:t>Juda tez, &lt; 1 µs</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680"/>
                        </a:lnSpc>
                        <a:buNone/>
                      </a:pPr>
                      <a:r>
                        <a:rPr lang="en-US" sz="1200" dirty="0">
                          <a:solidFill>
                            <a:srgbClr val="1D2433"/>
                          </a:solidFill>
                          <a:latin typeface="Noto Sans" pitchFamily="34" charset="0"/>
                          <a:ea typeface="Noto Sans" pitchFamily="34" charset="-122"/>
                          <a:cs typeface="Noto Sans" pitchFamily="34" charset="-120"/>
                        </a:rPr>
                        <a:t>Chiziqli; sezgirligi oʻrtacha</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680"/>
                        </a:lnSpc>
                        <a:buNone/>
                      </a:pPr>
                      <a:r>
                        <a:rPr lang="en-US" sz="1200" dirty="0">
                          <a:solidFill>
                            <a:srgbClr val="1D2433"/>
                          </a:solidFill>
                          <a:latin typeface="Noto Sans" pitchFamily="34" charset="0"/>
                          <a:ea typeface="Noto Sans" pitchFamily="34" charset="-122"/>
                          <a:cs typeface="Noto Sans" pitchFamily="34" charset="-120"/>
                        </a:rPr>
                        <a:t>Aniq va tezkor / toki kichik (nA…µA)</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r>
              <a:tr h="558800">
                <a:tc>
                  <a:txBody>
                    <a:bodyPr/>
                    <a:lstStyle/>
                    <a:p>
                      <a:pPr indent="0" marL="0">
                        <a:lnSpc>
                          <a:spcPts val="1680"/>
                        </a:lnSpc>
                        <a:buNone/>
                      </a:pPr>
                      <a:r>
                        <a:rPr lang="en-US" sz="1200" dirty="0">
                          <a:solidFill>
                            <a:srgbClr val="1D2433"/>
                          </a:solidFill>
                          <a:latin typeface="Noto Sans" pitchFamily="34" charset="0"/>
                          <a:ea typeface="Noto Sans" pitchFamily="34" charset="-122"/>
                          <a:cs typeface="Noto Sans" pitchFamily="34" charset="-120"/>
                        </a:rPr>
                        <a:t>RTD Pt100</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680"/>
                        </a:lnSpc>
                        <a:buNone/>
                      </a:pPr>
                      <a:r>
                        <a:rPr lang="en-US" sz="1200" dirty="0">
                          <a:solidFill>
                            <a:srgbClr val="1D2433"/>
                          </a:solidFill>
                          <a:latin typeface="Noto Sans" pitchFamily="34" charset="0"/>
                          <a:ea typeface="Noto Sans" pitchFamily="34" charset="-122"/>
                          <a:cs typeface="Noto Sans" pitchFamily="34" charset="-120"/>
                        </a:rPr>
                        <a:t>Oʻrtacha, 0,5…2 s</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680"/>
                        </a:lnSpc>
                        <a:buNone/>
                      </a:pPr>
                      <a:r>
                        <a:rPr lang="en-US" sz="1200" dirty="0">
                          <a:solidFill>
                            <a:srgbClr val="1D2433"/>
                          </a:solidFill>
                          <a:latin typeface="Noto Sans" pitchFamily="34" charset="0"/>
                          <a:ea typeface="Noto Sans" pitchFamily="34" charset="-122"/>
                          <a:cs typeface="Noto Sans" pitchFamily="34" charset="-120"/>
                        </a:rPr>
                        <a:t>Chiziqli; 0,385 Ω/°C</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680"/>
                        </a:lnSpc>
                        <a:buNone/>
                      </a:pPr>
                      <a:r>
                        <a:rPr lang="en-US" sz="1200" dirty="0">
                          <a:solidFill>
                            <a:srgbClr val="1D2433"/>
                          </a:solidFill>
                          <a:latin typeface="Noto Sans" pitchFamily="34" charset="0"/>
                          <a:ea typeface="Noto Sans" pitchFamily="34" charset="-122"/>
                          <a:cs typeface="Noto Sans" pitchFamily="34" charset="-120"/>
                        </a:rPr>
                        <a:t>Etalon aniqlik / oʻz-oʻzini qizdirish xatosi</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r>
              <a:tr h="558800">
                <a:tc>
                  <a:txBody>
                    <a:bodyPr/>
                    <a:lstStyle/>
                    <a:p>
                      <a:pPr indent="0" marL="0">
                        <a:lnSpc>
                          <a:spcPts val="1680"/>
                        </a:lnSpc>
                        <a:buNone/>
                      </a:pPr>
                      <a:r>
                        <a:rPr lang="en-US" sz="1200" dirty="0">
                          <a:solidFill>
                            <a:srgbClr val="1D2433"/>
                          </a:solidFill>
                          <a:latin typeface="Noto Sans" pitchFamily="34" charset="0"/>
                          <a:ea typeface="Noto Sans" pitchFamily="34" charset="-122"/>
                          <a:cs typeface="Noto Sans" pitchFamily="34" charset="-120"/>
                        </a:rPr>
                        <a:t>Termopara (K)</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680"/>
                        </a:lnSpc>
                        <a:buNone/>
                      </a:pPr>
                      <a:r>
                        <a:rPr lang="en-US" sz="1200" dirty="0">
                          <a:solidFill>
                            <a:srgbClr val="1D2433"/>
                          </a:solidFill>
                          <a:latin typeface="Noto Sans" pitchFamily="34" charset="0"/>
                          <a:ea typeface="Noto Sans" pitchFamily="34" charset="-122"/>
                          <a:cs typeface="Noto Sans" pitchFamily="34" charset="-120"/>
                        </a:rPr>
                        <a:t>Tez, 0,1…1 s</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680"/>
                        </a:lnSpc>
                        <a:buNone/>
                      </a:pPr>
                      <a:r>
                        <a:rPr lang="en-US" sz="1200" dirty="0">
                          <a:solidFill>
                            <a:srgbClr val="1D2433"/>
                          </a:solidFill>
                          <a:latin typeface="Noto Sans" pitchFamily="34" charset="0"/>
                          <a:ea typeface="Noto Sans" pitchFamily="34" charset="-122"/>
                          <a:cs typeface="Noto Sans" pitchFamily="34" charset="-120"/>
                        </a:rPr>
                        <a:t>Nochiziqli; ≈ 41 µV/°C</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c>
                  <a:txBody>
                    <a:bodyPr/>
                    <a:lstStyle/>
                    <a:p>
                      <a:pPr indent="0" marL="0">
                        <a:lnSpc>
                          <a:spcPts val="1680"/>
                        </a:lnSpc>
                        <a:buNone/>
                      </a:pPr>
                      <a:r>
                        <a:rPr lang="en-US" sz="1200" dirty="0">
                          <a:solidFill>
                            <a:srgbClr val="1D2433"/>
                          </a:solidFill>
                          <a:latin typeface="Noto Sans" pitchFamily="34" charset="0"/>
                          <a:ea typeface="Noto Sans" pitchFamily="34" charset="-122"/>
                          <a:cs typeface="Noto Sans" pitchFamily="34" charset="-120"/>
                        </a:rPr>
                        <a:t>Juda yuqori harorat / sovuq tutashuv kompensatsiyasi kerak</a:t>
                      </a:r>
                      <a:endParaRPr lang="en-US" sz="1200" dirty="0">
                        <a:latin typeface="Noto Sans" charset="0"/>
                        <a:ea typeface="Noto Sans" charset="0"/>
                        <a:cs typeface="Noto Sans" charset="0"/>
                      </a:endParaRPr>
                    </a:p>
                  </a:txBody>
                  <a:tcPr marL="127000" marR="127000" marT="76200" marB="76200" anchor="t">
                    <a:lnL w="12700" cap="flat" cmpd="sng" algn="ctr">
                      <a:solidFill>
                        <a:srgbClr val="C4C2BE"/>
                      </a:solidFill>
                      <a:prstDash val="solid"/>
                      <a:round/>
                      <a:headEnd type="none" w="med" len="med"/>
                      <a:tailEnd type="none" w="med" len="med"/>
                    </a:lnL>
                    <a:lnR w="12700" cap="flat" cmpd="sng" algn="ctr">
                      <a:solidFill>
                        <a:srgbClr val="C4C2BE"/>
                      </a:solidFill>
                      <a:prstDash val="solid"/>
                      <a:round/>
                      <a:headEnd type="none" w="med" len="med"/>
                      <a:tailEnd type="none" w="med" len="med"/>
                    </a:lnR>
                    <a:lnT w="12700" cap="flat" cmpd="sng" algn="ctr">
                      <a:solidFill>
                        <a:srgbClr val="C4C2BE"/>
                      </a:solidFill>
                      <a:prstDash val="solid"/>
                      <a:round/>
                      <a:headEnd type="none" w="med" len="med"/>
                      <a:tailEnd type="none" w="med" len="med"/>
                    </a:lnT>
                    <a:lnB w="12700" cap="flat" cmpd="sng" algn="ctr">
                      <a:solidFill>
                        <a:srgbClr val="C4C2BE"/>
                      </a:solidFill>
                      <a:prstDash val="solid"/>
                      <a:round/>
                      <a:headEnd type="none" w="med" len="med"/>
                      <a:tailEnd type="none" w="med" len="med"/>
                    </a:lnB>
                  </a:tcPr>
                </a:tc>
              </a:tr>
            </a:tbl>
          </a:graphicData>
        </a:graphic>
      </p:graphicFrame>
      <p:sp>
        <p:nvSpPr>
          <p:cNvPr id="5" name="Text 2"/>
          <p:cNvSpPr/>
          <p:nvPr/>
        </p:nvSpPr>
        <p:spPr>
          <a:xfrm>
            <a:off x="812800" y="4663442"/>
            <a:ext cx="10883392"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B5563"/>
                </a:solidFill>
                <a:latin typeface="Noto Sans" pitchFamily="34" charset="0"/>
                <a:ea typeface="Noto Sans" pitchFamily="34" charset="-122"/>
                <a:cs typeface="Noto Sans" pitchFamily="34" charset="-120"/>
              </a:rPr>
              <a:t>Topshiriq: stenddagi har bir datchik uchun jadvalni toʻldiring va tajriba natijalari bilan solishtiring.</a:t>
            </a:r>
            <a:endParaRPr lang="en-US" sz="1400" dirty="0"/>
          </a:p>
        </p:txBody>
      </p:sp>
      <p:sp>
        <p:nvSpPr>
          <p:cNvPr id="6" name="Text 3"/>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Noto Sans" pitchFamily="34" charset="0"/>
                <a:ea typeface="Noto Sans" pitchFamily="34" charset="-122"/>
                <a:cs typeface="Noto Sans" pitchFamily="34" charset="-120"/>
              </a:rPr>
              <a:t>Amaliyot №6 · Optik va temperatura datchiklari · 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A"/>
                </a:solidFill>
                <a:latin typeface="Noto Sans" pitchFamily="34" charset="0"/>
                <a:ea typeface="Noto Sans" pitchFamily="34" charset="-122"/>
                <a:cs typeface="Noto Sans" pitchFamily="34" charset="-120"/>
              </a:rPr>
              <a:t>TOPSHIRIQ 2</a:t>
            </a:r>
            <a:endParaRPr lang="en-US" sz="1200" dirty="0"/>
          </a:p>
        </p:txBody>
      </p:sp>
      <p:sp>
        <p:nvSpPr>
          <p:cNvPr id="3" name="Text 1"/>
          <p:cNvSpPr/>
          <p:nvPr>
            <p:ph type="title"/>
          </p:nvPr>
        </p:nvSpPr>
        <p:spPr>
          <a:xfrm>
            <a:off x="812800" y="1102358"/>
            <a:ext cx="10883392" cy="91948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33B"/>
                </a:solidFill>
                <a:latin typeface="Noto Sans" pitchFamily="34" charset="0"/>
                <a:ea typeface="Noto Sans" pitchFamily="34" charset="-122"/>
                <a:cs typeface="Noto Sans" pitchFamily="34" charset="-120"/>
              </a:rPr>
              <a:t>Sanoat pechi va robot tutqichi uchun datchik tanlash</a:t>
            </a:r>
            <a:endParaRPr lang="en-US" sz="3200" dirty="0"/>
          </a:p>
        </p:txBody>
      </p:sp>
      <p:sp>
        <p:nvSpPr>
          <p:cNvPr id="4" name="Shape 2"/>
          <p:cNvSpPr/>
          <p:nvPr/>
        </p:nvSpPr>
        <p:spPr>
          <a:xfrm>
            <a:off x="815975" y="2253617"/>
            <a:ext cx="5175250" cy="2472690"/>
          </a:xfrm>
          <a:prstGeom prst="roundRect">
            <a:avLst>
              <a:gd name="adj" fmla="val 3980"/>
            </a:avLst>
          </a:prstGeom>
          <a:solidFill>
            <a:srgbClr val="FDFCF9"/>
          </a:solidFill>
          <a:ln w="6350">
            <a:solidFill>
              <a:srgbClr val="E2DED4"/>
            </a:solidFill>
            <a:prstDash val="solid"/>
          </a:ln>
        </p:spPr>
      </p:sp>
      <p:sp>
        <p:nvSpPr>
          <p:cNvPr id="5" name="Text 3"/>
          <p:cNvSpPr/>
          <p:nvPr/>
        </p:nvSpPr>
        <p:spPr>
          <a:xfrm>
            <a:off x="1071880" y="2509521"/>
            <a:ext cx="480334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B5521A"/>
                </a:solidFill>
                <a:latin typeface="Noto Sans" pitchFamily="34" charset="0"/>
                <a:ea typeface="Noto Sans" pitchFamily="34" charset="-122"/>
                <a:cs typeface="Noto Sans" pitchFamily="34" charset="-120"/>
              </a:rPr>
              <a:t>1-MODUL</a:t>
            </a:r>
            <a:endParaRPr lang="en-US" sz="1200" dirty="0"/>
          </a:p>
        </p:txBody>
      </p:sp>
      <p:sp>
        <p:nvSpPr>
          <p:cNvPr id="6" name="Text 4"/>
          <p:cNvSpPr/>
          <p:nvPr/>
        </p:nvSpPr>
        <p:spPr>
          <a:xfrm>
            <a:off x="1071880" y="2824479"/>
            <a:ext cx="4803343"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D2433"/>
                </a:solidFill>
                <a:latin typeface="Noto Sans" pitchFamily="34" charset="0"/>
                <a:ea typeface="Noto Sans" pitchFamily="34" charset="-122"/>
                <a:cs typeface="Noto Sans" pitchFamily="34" charset="-120"/>
              </a:rPr>
              <a:t>Metall eritish pechi, 800 °C</a:t>
            </a:r>
            <a:endParaRPr lang="en-US" sz="1600" dirty="0"/>
          </a:p>
        </p:txBody>
      </p:sp>
      <p:sp>
        <p:nvSpPr>
          <p:cNvPr id="7" name="Shape 5"/>
          <p:cNvSpPr/>
          <p:nvPr/>
        </p:nvSpPr>
        <p:spPr>
          <a:xfrm>
            <a:off x="1071880" y="3169921"/>
            <a:ext cx="4663440" cy="736600"/>
          </a:xfrm>
          <a:prstGeom prst="roundRect">
            <a:avLst>
              <a:gd name="adj" fmla="val 8621"/>
            </a:avLst>
          </a:prstGeom>
          <a:solidFill>
            <a:srgbClr val="F5F3EE"/>
          </a:solidFill>
          <a:ln/>
        </p:spPr>
      </p:sp>
      <p:sp>
        <p:nvSpPr>
          <p:cNvPr id="8" name="Text 6"/>
          <p:cNvSpPr/>
          <p:nvPr/>
        </p:nvSpPr>
        <p:spPr>
          <a:xfrm>
            <a:off x="1224280" y="3296921"/>
            <a:ext cx="4489399"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6233B"/>
                </a:solidFill>
                <a:latin typeface="Noto Sans" pitchFamily="34" charset="0"/>
                <a:ea typeface="Noto Sans" pitchFamily="34" charset="-122"/>
                <a:cs typeface="Noto Sans" pitchFamily="34" charset="-120"/>
              </a:rPr>
              <a:t>K-tip termopara (xromel–alyumel)</a:t>
            </a:r>
            <a:endParaRPr lang="en-US" sz="1300" dirty="0"/>
          </a:p>
        </p:txBody>
      </p:sp>
      <p:sp>
        <p:nvSpPr>
          <p:cNvPr id="9" name="Text 7"/>
          <p:cNvSpPr/>
          <p:nvPr/>
        </p:nvSpPr>
        <p:spPr>
          <a:xfrm>
            <a:off x="1224280" y="3566158"/>
            <a:ext cx="448939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2433"/>
                </a:solidFill>
                <a:latin typeface="Noto Sans" pitchFamily="34" charset="0"/>
                <a:ea typeface="Noto Sans" pitchFamily="34" charset="-122"/>
                <a:cs typeface="Noto Sans" pitchFamily="34" charset="-120"/>
              </a:rPr>
              <a:t>Yuqori diapazon (1200 °C gacha) va chidamlilik</a:t>
            </a:r>
            <a:endParaRPr lang="en-US" sz="1200" dirty="0"/>
          </a:p>
        </p:txBody>
      </p:sp>
      <p:sp>
        <p:nvSpPr>
          <p:cNvPr id="10" name="Text 8"/>
          <p:cNvSpPr/>
          <p:nvPr/>
        </p:nvSpPr>
        <p:spPr>
          <a:xfrm>
            <a:off x="1071880" y="4008121"/>
            <a:ext cx="4803343" cy="4876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D2433"/>
                </a:solidFill>
                <a:latin typeface="Noto Sans" pitchFamily="34" charset="0"/>
                <a:ea typeface="Noto Sans" pitchFamily="34" charset="-122"/>
                <a:cs typeface="Noto Sans" pitchFamily="34" charset="-120"/>
              </a:rPr>
              <a:t>Konditsiyalash:</a:t>
            </a:r>
            <a:r>
              <a:rPr lang="en-US" sz="1300" dirty="0">
                <a:solidFill>
                  <a:srgbClr val="1D2433"/>
                </a:solidFill>
                <a:latin typeface="Noto Sans" pitchFamily="34" charset="0"/>
                <a:ea typeface="Noto Sans" pitchFamily="34" charset="-122"/>
                <a:cs typeface="Noto Sans" pitchFamily="34" charset="-120"/>
              </a:rPr>
              <a:t> sovuq tutashuv kompensatsiyali ADC mikrosxemasi (MAX31855)</a:t>
            </a:r>
            <a:endParaRPr lang="en-US" sz="1300" dirty="0"/>
          </a:p>
        </p:txBody>
      </p:sp>
      <p:sp>
        <p:nvSpPr>
          <p:cNvPr id="11" name="Shape 9"/>
          <p:cNvSpPr/>
          <p:nvPr/>
        </p:nvSpPr>
        <p:spPr>
          <a:xfrm>
            <a:off x="6200775" y="2253617"/>
            <a:ext cx="5175250" cy="2472690"/>
          </a:xfrm>
          <a:prstGeom prst="roundRect">
            <a:avLst>
              <a:gd name="adj" fmla="val 3980"/>
            </a:avLst>
          </a:prstGeom>
          <a:solidFill>
            <a:srgbClr val="FDFCF9"/>
          </a:solidFill>
          <a:ln w="6350">
            <a:solidFill>
              <a:srgbClr val="E2DED4"/>
            </a:solidFill>
            <a:prstDash val="solid"/>
          </a:ln>
        </p:spPr>
      </p:sp>
      <p:sp>
        <p:nvSpPr>
          <p:cNvPr id="12" name="Text 10"/>
          <p:cNvSpPr/>
          <p:nvPr/>
        </p:nvSpPr>
        <p:spPr>
          <a:xfrm>
            <a:off x="6456680" y="2509521"/>
            <a:ext cx="4803343"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D6CB0"/>
                </a:solidFill>
                <a:latin typeface="Noto Sans" pitchFamily="34" charset="0"/>
                <a:ea typeface="Noto Sans" pitchFamily="34" charset="-122"/>
                <a:cs typeface="Noto Sans" pitchFamily="34" charset="-120"/>
              </a:rPr>
              <a:t>2-MODUL</a:t>
            </a:r>
            <a:endParaRPr lang="en-US" sz="1200" dirty="0"/>
          </a:p>
        </p:txBody>
      </p:sp>
      <p:sp>
        <p:nvSpPr>
          <p:cNvPr id="13" name="Text 11"/>
          <p:cNvSpPr/>
          <p:nvPr/>
        </p:nvSpPr>
        <p:spPr>
          <a:xfrm>
            <a:off x="6456680" y="2824479"/>
            <a:ext cx="4803343"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D2433"/>
                </a:solidFill>
                <a:latin typeface="Noto Sans" pitchFamily="34" charset="0"/>
                <a:ea typeface="Noto Sans" pitchFamily="34" charset="-122"/>
                <a:cs typeface="Noto Sans" pitchFamily="34" charset="-120"/>
              </a:rPr>
              <a:t>Tutqichda obyektni aniqlash: 2 mm, &lt; 1 ms</a:t>
            </a:r>
            <a:endParaRPr lang="en-US" sz="1600" dirty="0"/>
          </a:p>
        </p:txBody>
      </p:sp>
      <p:sp>
        <p:nvSpPr>
          <p:cNvPr id="14" name="Shape 12"/>
          <p:cNvSpPr/>
          <p:nvPr/>
        </p:nvSpPr>
        <p:spPr>
          <a:xfrm>
            <a:off x="6456680" y="3169921"/>
            <a:ext cx="4663440" cy="736600"/>
          </a:xfrm>
          <a:prstGeom prst="roundRect">
            <a:avLst>
              <a:gd name="adj" fmla="val 8621"/>
            </a:avLst>
          </a:prstGeom>
          <a:solidFill>
            <a:srgbClr val="F5F3EE"/>
          </a:solidFill>
          <a:ln/>
        </p:spPr>
      </p:sp>
      <p:sp>
        <p:nvSpPr>
          <p:cNvPr id="15" name="Text 13"/>
          <p:cNvSpPr/>
          <p:nvPr/>
        </p:nvSpPr>
        <p:spPr>
          <a:xfrm>
            <a:off x="6609080" y="3296921"/>
            <a:ext cx="4489399"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6233B"/>
                </a:solidFill>
                <a:latin typeface="Noto Sans" pitchFamily="34" charset="0"/>
                <a:ea typeface="Noto Sans" pitchFamily="34" charset="-122"/>
                <a:cs typeface="Noto Sans" pitchFamily="34" charset="-120"/>
              </a:rPr>
              <a:t>Reflektiv optik datchik (fotodiodli optopara)</a:t>
            </a:r>
            <a:endParaRPr lang="en-US" sz="1300" dirty="0"/>
          </a:p>
        </p:txBody>
      </p:sp>
      <p:sp>
        <p:nvSpPr>
          <p:cNvPr id="16" name="Text 14"/>
          <p:cNvSpPr/>
          <p:nvPr/>
        </p:nvSpPr>
        <p:spPr>
          <a:xfrm>
            <a:off x="6609080" y="3566158"/>
            <a:ext cx="4489399"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2433"/>
                </a:solidFill>
                <a:latin typeface="Noto Sans" pitchFamily="34" charset="0"/>
                <a:ea typeface="Noto Sans" pitchFamily="34" charset="-122"/>
                <a:cs typeface="Noto Sans" pitchFamily="34" charset="-120"/>
              </a:rPr>
              <a:t>Mikrosekund tezkorlik, kontaktsiz</a:t>
            </a:r>
            <a:endParaRPr lang="en-US" sz="1200" dirty="0"/>
          </a:p>
        </p:txBody>
      </p:sp>
      <p:sp>
        <p:nvSpPr>
          <p:cNvPr id="17" name="Text 15"/>
          <p:cNvSpPr/>
          <p:nvPr/>
        </p:nvSpPr>
        <p:spPr>
          <a:xfrm>
            <a:off x="6456680" y="4008121"/>
            <a:ext cx="4803343"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D2433"/>
                </a:solidFill>
                <a:latin typeface="Noto Sans" pitchFamily="34" charset="0"/>
                <a:ea typeface="Noto Sans" pitchFamily="34" charset="-122"/>
                <a:cs typeface="Noto Sans" pitchFamily="34" charset="-120"/>
              </a:rPr>
              <a:t>Konditsiyalash:</a:t>
            </a:r>
            <a:r>
              <a:rPr lang="en-US" sz="1300" dirty="0">
                <a:solidFill>
                  <a:srgbClr val="1D2433"/>
                </a:solidFill>
                <a:latin typeface="Noto Sans" pitchFamily="34" charset="0"/>
                <a:ea typeface="Noto Sans" pitchFamily="34" charset="-122"/>
                <a:cs typeface="Noto Sans" pitchFamily="34" charset="-120"/>
              </a:rPr>
              <a:t> komparator (LM393) va LED drayveri</a:t>
            </a:r>
            <a:endParaRPr lang="en-US" sz="1300" dirty="0"/>
          </a:p>
        </p:txBody>
      </p:sp>
      <p:sp>
        <p:nvSpPr>
          <p:cNvPr id="18" name="Text 16"/>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Noto Sans" pitchFamily="34" charset="0"/>
                <a:ea typeface="Noto Sans" pitchFamily="34" charset="-122"/>
                <a:cs typeface="Noto Sans" pitchFamily="34" charset="-120"/>
              </a:rPr>
              <a:t>Amaliyot №6 · Optik va temperatura datchiklari · 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A"/>
                </a:solidFill>
                <a:latin typeface="Noto Sans" pitchFamily="34" charset="0"/>
                <a:ea typeface="Noto Sans" pitchFamily="34" charset="-122"/>
                <a:cs typeface="Noto Sans" pitchFamily="34" charset="-120"/>
              </a:rPr>
              <a:t>MASALA 1</a:t>
            </a:r>
            <a:endParaRPr lang="en-US" sz="1200" dirty="0"/>
          </a:p>
        </p:txBody>
      </p:sp>
      <p:sp>
        <p:nvSpPr>
          <p:cNvPr id="3" name="Text 1"/>
          <p:cNvSpPr/>
          <p:nvPr>
            <p:ph type="title"/>
          </p:nvPr>
        </p:nvSpPr>
        <p:spPr>
          <a:xfrm>
            <a:off x="812800" y="1102358"/>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33B"/>
                </a:solidFill>
                <a:latin typeface="Noto Sans" pitchFamily="34" charset="0"/>
                <a:ea typeface="Noto Sans" pitchFamily="34" charset="-122"/>
                <a:cs typeface="Noto Sans" pitchFamily="34" charset="-120"/>
              </a:rPr>
              <a:t>Pt100 va Vitston koʻprigi hisobi</a:t>
            </a:r>
            <a:endParaRPr lang="en-US" sz="3200" dirty="0"/>
          </a:p>
        </p:txBody>
      </p:sp>
      <p:sp>
        <p:nvSpPr>
          <p:cNvPr id="4" name="Text 2"/>
          <p:cNvSpPr/>
          <p:nvPr/>
        </p:nvSpPr>
        <p:spPr>
          <a:xfrm>
            <a:off x="812800" y="17780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D2433"/>
                </a:solidFill>
                <a:latin typeface="Noto Sans" pitchFamily="34" charset="0"/>
                <a:ea typeface="Noto Sans" pitchFamily="34" charset="-122"/>
                <a:cs typeface="Noto Sans" pitchFamily="34" charset="-120"/>
              </a:rPr>
              <a:t>R₀ = 100 Ω, α = 0,00385 1/°C, R1 = R2 = R3 = 100 Ω, V(ex) = 5 V, G = 40, T = 80 °C</a:t>
            </a:r>
            <a:endParaRPr lang="en-US" sz="1400" dirty="0"/>
          </a:p>
        </p:txBody>
      </p:sp>
      <p:sp>
        <p:nvSpPr>
          <p:cNvPr id="5" name="Shape 3"/>
          <p:cNvSpPr/>
          <p:nvPr/>
        </p:nvSpPr>
        <p:spPr>
          <a:xfrm>
            <a:off x="815975" y="2258696"/>
            <a:ext cx="3417570" cy="1278890"/>
          </a:xfrm>
          <a:prstGeom prst="roundRect">
            <a:avLst>
              <a:gd name="adj" fmla="val 5710"/>
            </a:avLst>
          </a:prstGeom>
          <a:solidFill>
            <a:srgbClr val="FDFCF9"/>
          </a:solidFill>
          <a:ln w="6350">
            <a:solidFill>
              <a:srgbClr val="E2DED4"/>
            </a:solidFill>
            <a:prstDash val="solid"/>
          </a:ln>
        </p:spPr>
      </p:sp>
      <p:sp>
        <p:nvSpPr>
          <p:cNvPr id="6" name="Text 4"/>
          <p:cNvSpPr/>
          <p:nvPr/>
        </p:nvSpPr>
        <p:spPr>
          <a:xfrm>
            <a:off x="1021080" y="2438400"/>
            <a:ext cx="3097581"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D6CB0"/>
                </a:solidFill>
                <a:latin typeface="Noto Sans" pitchFamily="34" charset="0"/>
                <a:ea typeface="Noto Sans" pitchFamily="34" charset="-122"/>
                <a:cs typeface="Noto Sans" pitchFamily="34" charset="-120"/>
              </a:rPr>
              <a:t>Pt100 QARSHILIGI</a:t>
            </a:r>
            <a:endParaRPr lang="en-US" sz="1200" dirty="0"/>
          </a:p>
        </p:txBody>
      </p:sp>
      <p:sp>
        <p:nvSpPr>
          <p:cNvPr id="7" name="Text 5"/>
          <p:cNvSpPr/>
          <p:nvPr/>
        </p:nvSpPr>
        <p:spPr>
          <a:xfrm>
            <a:off x="1021080" y="2702558"/>
            <a:ext cx="3097581" cy="41656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1D2433"/>
                </a:solidFill>
                <a:latin typeface="Noto Sans" pitchFamily="34" charset="0"/>
                <a:ea typeface="Noto Sans" pitchFamily="34" charset="-122"/>
                <a:cs typeface="Noto Sans" pitchFamily="34" charset="-120"/>
              </a:rPr>
              <a:t>130,8 Ω</a:t>
            </a:r>
            <a:endParaRPr lang="en-US" sz="2800" dirty="0"/>
          </a:p>
        </p:txBody>
      </p:sp>
      <p:sp>
        <p:nvSpPr>
          <p:cNvPr id="8" name="Text 6"/>
          <p:cNvSpPr/>
          <p:nvPr/>
        </p:nvSpPr>
        <p:spPr>
          <a:xfrm>
            <a:off x="1021080" y="3144521"/>
            <a:ext cx="309758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B5563"/>
                </a:solidFill>
                <a:latin typeface="Noto Sans" pitchFamily="34" charset="0"/>
                <a:ea typeface="Noto Sans" pitchFamily="34" charset="-122"/>
                <a:cs typeface="Noto Sans" pitchFamily="34" charset="-120"/>
              </a:rPr>
              <a:t>100 · (1 + 0,308)</a:t>
            </a:r>
            <a:endParaRPr lang="en-US" sz="1200" dirty="0"/>
          </a:p>
        </p:txBody>
      </p:sp>
      <p:sp>
        <p:nvSpPr>
          <p:cNvPr id="9" name="Shape 7"/>
          <p:cNvSpPr/>
          <p:nvPr/>
        </p:nvSpPr>
        <p:spPr>
          <a:xfrm>
            <a:off x="4392295" y="2258696"/>
            <a:ext cx="3417570" cy="1278890"/>
          </a:xfrm>
          <a:prstGeom prst="roundRect">
            <a:avLst>
              <a:gd name="adj" fmla="val 5710"/>
            </a:avLst>
          </a:prstGeom>
          <a:solidFill>
            <a:srgbClr val="FDFCF9"/>
          </a:solidFill>
          <a:ln w="6350">
            <a:solidFill>
              <a:srgbClr val="E2DED4"/>
            </a:solidFill>
            <a:prstDash val="solid"/>
          </a:ln>
        </p:spPr>
      </p:sp>
      <p:sp>
        <p:nvSpPr>
          <p:cNvPr id="10" name="Text 8"/>
          <p:cNvSpPr/>
          <p:nvPr/>
        </p:nvSpPr>
        <p:spPr>
          <a:xfrm>
            <a:off x="4597400" y="2438400"/>
            <a:ext cx="3097581"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D6CB0"/>
                </a:solidFill>
                <a:latin typeface="Noto Sans" pitchFamily="34" charset="0"/>
                <a:ea typeface="Noto Sans" pitchFamily="34" charset="-122"/>
                <a:cs typeface="Noto Sans" pitchFamily="34" charset="-120"/>
              </a:rPr>
              <a:t>KOʻPRIK KUCHLANISHI</a:t>
            </a:r>
            <a:endParaRPr lang="en-US" sz="1200" dirty="0"/>
          </a:p>
        </p:txBody>
      </p:sp>
      <p:sp>
        <p:nvSpPr>
          <p:cNvPr id="11" name="Text 9"/>
          <p:cNvSpPr/>
          <p:nvPr/>
        </p:nvSpPr>
        <p:spPr>
          <a:xfrm>
            <a:off x="4597400" y="2702558"/>
            <a:ext cx="3097581" cy="41656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1D2433"/>
                </a:solidFill>
                <a:latin typeface="Noto Sans" pitchFamily="34" charset="0"/>
                <a:ea typeface="Noto Sans" pitchFamily="34" charset="-122"/>
                <a:cs typeface="Noto Sans" pitchFamily="34" charset="-120"/>
              </a:rPr>
              <a:t>333,6 mV</a:t>
            </a:r>
            <a:endParaRPr lang="en-US" sz="2800" dirty="0"/>
          </a:p>
        </p:txBody>
      </p:sp>
      <p:sp>
        <p:nvSpPr>
          <p:cNvPr id="12" name="Text 10"/>
          <p:cNvSpPr/>
          <p:nvPr/>
        </p:nvSpPr>
        <p:spPr>
          <a:xfrm>
            <a:off x="4597400" y="3144521"/>
            <a:ext cx="309758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B5563"/>
                </a:solidFill>
                <a:latin typeface="Noto Sans" pitchFamily="34" charset="0"/>
                <a:ea typeface="Noto Sans" pitchFamily="34" charset="-122"/>
                <a:cs typeface="Noto Sans" pitchFamily="34" charset="-120"/>
              </a:rPr>
              <a:t>5 · (0,56672 − 0,5)</a:t>
            </a:r>
            <a:endParaRPr lang="en-US" sz="1200" dirty="0"/>
          </a:p>
        </p:txBody>
      </p:sp>
      <p:sp>
        <p:nvSpPr>
          <p:cNvPr id="13" name="Shape 11"/>
          <p:cNvSpPr/>
          <p:nvPr/>
        </p:nvSpPr>
        <p:spPr>
          <a:xfrm>
            <a:off x="7965440" y="2255521"/>
            <a:ext cx="3413760" cy="1285240"/>
          </a:xfrm>
          <a:prstGeom prst="roundRect">
            <a:avLst>
              <a:gd name="adj" fmla="val 5929"/>
            </a:avLst>
          </a:prstGeom>
          <a:solidFill>
            <a:srgbClr val="16233B"/>
          </a:solidFill>
          <a:ln/>
        </p:spPr>
      </p:sp>
      <p:sp>
        <p:nvSpPr>
          <p:cNvPr id="14" name="Text 12"/>
          <p:cNvSpPr/>
          <p:nvPr/>
        </p:nvSpPr>
        <p:spPr>
          <a:xfrm>
            <a:off x="8168640" y="2433321"/>
            <a:ext cx="3097581"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0A46E"/>
                </a:solidFill>
                <a:latin typeface="Noto Sans" pitchFamily="34" charset="0"/>
                <a:ea typeface="Noto Sans" pitchFamily="34" charset="-122"/>
                <a:cs typeface="Noto Sans" pitchFamily="34" charset="-120"/>
              </a:rPr>
              <a:t>CHIQISH, G = 40</a:t>
            </a:r>
            <a:endParaRPr lang="en-US" sz="1200" dirty="0"/>
          </a:p>
        </p:txBody>
      </p:sp>
      <p:sp>
        <p:nvSpPr>
          <p:cNvPr id="15" name="Text 13"/>
          <p:cNvSpPr/>
          <p:nvPr/>
        </p:nvSpPr>
        <p:spPr>
          <a:xfrm>
            <a:off x="8168640" y="2697479"/>
            <a:ext cx="3097581" cy="41656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F0A46E"/>
                </a:solidFill>
                <a:latin typeface="Noto Sans" pitchFamily="34" charset="0"/>
                <a:ea typeface="Noto Sans" pitchFamily="34" charset="-122"/>
                <a:cs typeface="Noto Sans" pitchFamily="34" charset="-120"/>
              </a:rPr>
              <a:t>13,34 V</a:t>
            </a:r>
            <a:endParaRPr lang="en-US" sz="2800" dirty="0"/>
          </a:p>
        </p:txBody>
      </p:sp>
      <p:sp>
        <p:nvSpPr>
          <p:cNvPr id="16" name="Text 14"/>
          <p:cNvSpPr/>
          <p:nvPr/>
        </p:nvSpPr>
        <p:spPr>
          <a:xfrm>
            <a:off x="8168640" y="3139442"/>
            <a:ext cx="3097581"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CFDB"/>
                </a:solidFill>
                <a:latin typeface="Noto Sans" pitchFamily="34" charset="0"/>
                <a:ea typeface="Noto Sans" pitchFamily="34" charset="-122"/>
                <a:cs typeface="Noto Sans" pitchFamily="34" charset="-120"/>
              </a:rPr>
              <a:t>40 · 0,3336</a:t>
            </a:r>
            <a:endParaRPr lang="en-US" sz="1200" dirty="0"/>
          </a:p>
        </p:txBody>
      </p:sp>
      <p:sp>
        <p:nvSpPr>
          <p:cNvPr id="17" name="Shape 15"/>
          <p:cNvSpPr/>
          <p:nvPr/>
        </p:nvSpPr>
        <p:spPr>
          <a:xfrm>
            <a:off x="812800" y="3769358"/>
            <a:ext cx="10566400" cy="1122680"/>
          </a:xfrm>
          <a:prstGeom prst="roundRect">
            <a:avLst>
              <a:gd name="adj" fmla="val 6787"/>
            </a:avLst>
          </a:prstGeom>
          <a:solidFill>
            <a:srgbClr val="FBE9DC"/>
          </a:solidFill>
          <a:ln/>
        </p:spPr>
      </p:sp>
      <p:sp>
        <p:nvSpPr>
          <p:cNvPr id="18" name="Text 16"/>
          <p:cNvSpPr/>
          <p:nvPr/>
        </p:nvSpPr>
        <p:spPr>
          <a:xfrm>
            <a:off x="1066800" y="3947158"/>
            <a:ext cx="10360152"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8F3F12"/>
                </a:solidFill>
                <a:latin typeface="Noto Sans" pitchFamily="34" charset="0"/>
                <a:ea typeface="Noto Sans" pitchFamily="34" charset="-122"/>
                <a:cs typeface="Noto Sans" pitchFamily="34" charset="-120"/>
              </a:rPr>
              <a:t>Amaliy eslatma</a:t>
            </a:r>
            <a:endParaRPr lang="en-US" sz="1500" dirty="0"/>
          </a:p>
        </p:txBody>
      </p:sp>
      <p:sp>
        <p:nvSpPr>
          <p:cNvPr id="19" name="Text 17"/>
          <p:cNvSpPr/>
          <p:nvPr/>
        </p:nvSpPr>
        <p:spPr>
          <a:xfrm>
            <a:off x="1066800" y="4251958"/>
            <a:ext cx="10360152" cy="4876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433"/>
                </a:solidFill>
                <a:latin typeface="Noto Sans" pitchFamily="34" charset="0"/>
                <a:ea typeface="Noto Sans" pitchFamily="34" charset="-122"/>
                <a:cs typeface="Noto Sans" pitchFamily="34" charset="-120"/>
              </a:rPr>
              <a:t>Pt100 orqali ≈ 21,7 mA tok oqadi, odatda esa ≤ 1 mA tavsiya etiladi — aks holda oʻz-oʻzini qizdirish xatoligi katta. 13,3 V chiqish ±15 V taʼminotni talab qiladi; 0…3,3 V ADC uchun G ≈ 9,9 yetarli.</a:t>
            </a:r>
            <a:endParaRPr lang="en-US" sz="1300" dirty="0"/>
          </a:p>
        </p:txBody>
      </p:sp>
      <p:sp>
        <p:nvSpPr>
          <p:cNvPr id="20" name="Text 18"/>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Noto Sans" pitchFamily="34" charset="0"/>
                <a:ea typeface="Noto Sans" pitchFamily="34" charset="-122"/>
                <a:cs typeface="Noto Sans" pitchFamily="34" charset="-120"/>
              </a:rPr>
              <a:t>Amaliyot №6 · Optik va temperatura datchiklari · 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A"/>
                </a:solidFill>
                <a:latin typeface="Noto Sans" pitchFamily="34" charset="0"/>
                <a:ea typeface="Noto Sans" pitchFamily="34" charset="-122"/>
                <a:cs typeface="Noto Sans" pitchFamily="34" charset="-120"/>
              </a:rPr>
              <a:t>MASALA 2</a:t>
            </a:r>
            <a:endParaRPr lang="en-US" sz="1200" dirty="0"/>
          </a:p>
        </p:txBody>
      </p:sp>
      <p:sp>
        <p:nvSpPr>
          <p:cNvPr id="3" name="Text 1"/>
          <p:cNvSpPr/>
          <p:nvPr>
            <p:ph type="title"/>
          </p:nvPr>
        </p:nvSpPr>
        <p:spPr>
          <a:xfrm>
            <a:off x="812800" y="1102358"/>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33B"/>
                </a:solidFill>
                <a:latin typeface="Noto Sans" pitchFamily="34" charset="0"/>
                <a:ea typeface="Noto Sans" pitchFamily="34" charset="-122"/>
                <a:cs typeface="Noto Sans" pitchFamily="34" charset="-120"/>
              </a:rPr>
              <a:t>Termopara va sovuq tutashuv kompensatsiyasi</a:t>
            </a:r>
            <a:endParaRPr lang="en-US" sz="3200" dirty="0"/>
          </a:p>
        </p:txBody>
      </p:sp>
      <p:sp>
        <p:nvSpPr>
          <p:cNvPr id="4" name="Text 2"/>
          <p:cNvSpPr/>
          <p:nvPr/>
        </p:nvSpPr>
        <p:spPr>
          <a:xfrm>
            <a:off x="812800" y="2100579"/>
            <a:ext cx="6592824"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1D2433"/>
                </a:solidFill>
                <a:latin typeface="Noto Sans" pitchFamily="34" charset="0"/>
                <a:ea typeface="Noto Sans" pitchFamily="34" charset="-122"/>
                <a:cs typeface="Noto Sans" pitchFamily="34" charset="-120"/>
              </a:rPr>
              <a:t>K-tip, S = 41,2 µV/°C; T(hot) = 450 °C, T(cold) = 25 °C</a:t>
            </a:r>
            <a:endParaRPr lang="en-US" sz="1400" dirty="0"/>
          </a:p>
        </p:txBody>
      </p:sp>
      <p:sp>
        <p:nvSpPr>
          <p:cNvPr id="5" name="Text 3"/>
          <p:cNvSpPr/>
          <p:nvPr/>
        </p:nvSpPr>
        <p:spPr>
          <a:xfrm>
            <a:off x="812800" y="2501900"/>
            <a:ext cx="659282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D6CB0"/>
                </a:solidFill>
                <a:latin typeface="Noto Sans" pitchFamily="34" charset="0"/>
                <a:ea typeface="Noto Sans" pitchFamily="34" charset="-122"/>
                <a:cs typeface="Noto Sans" pitchFamily="34" charset="-120"/>
              </a:rPr>
              <a:t>Termoparadagi kuchlanish</a:t>
            </a:r>
            <a:endParaRPr lang="en-US" sz="1200" dirty="0"/>
          </a:p>
        </p:txBody>
      </p:sp>
      <p:sp>
        <p:nvSpPr>
          <p:cNvPr id="6" name="Text 4"/>
          <p:cNvSpPr/>
          <p:nvPr/>
        </p:nvSpPr>
        <p:spPr>
          <a:xfrm>
            <a:off x="812800" y="2766058"/>
            <a:ext cx="6592824" cy="34544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D2433"/>
                </a:solidFill>
                <a:latin typeface="Noto Sans" pitchFamily="34" charset="0"/>
                <a:ea typeface="Noto Sans" pitchFamily="34" charset="-122"/>
                <a:cs typeface="Noto Sans" pitchFamily="34" charset="-120"/>
              </a:rPr>
              <a:t>E(raw) = S · (T(hot) − T(cold))</a:t>
            </a:r>
            <a:endParaRPr lang="en-US" sz="1800" dirty="0"/>
          </a:p>
        </p:txBody>
      </p:sp>
      <p:sp>
        <p:nvSpPr>
          <p:cNvPr id="7" name="Text 5"/>
          <p:cNvSpPr/>
          <p:nvPr/>
        </p:nvSpPr>
        <p:spPr>
          <a:xfrm>
            <a:off x="812800" y="3238500"/>
            <a:ext cx="6592824"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D6CB0"/>
                </a:solidFill>
                <a:latin typeface="Noto Sans" pitchFamily="34" charset="0"/>
                <a:ea typeface="Noto Sans" pitchFamily="34" charset="-122"/>
                <a:cs typeface="Noto Sans" pitchFamily="34" charset="-120"/>
              </a:rPr>
              <a:t>Kompensatsiyadan keyin</a:t>
            </a:r>
            <a:endParaRPr lang="en-US" sz="1200" dirty="0"/>
          </a:p>
        </p:txBody>
      </p:sp>
      <p:sp>
        <p:nvSpPr>
          <p:cNvPr id="8" name="Text 6"/>
          <p:cNvSpPr/>
          <p:nvPr/>
        </p:nvSpPr>
        <p:spPr>
          <a:xfrm>
            <a:off x="812800" y="3502658"/>
            <a:ext cx="6592824" cy="345440"/>
          </a:xfrm>
          <a:prstGeom prst="rect">
            <a:avLst/>
          </a:prstGeom>
          <a:noFill/>
          <a:ln/>
        </p:spPr>
        <p:txBody>
          <a:bodyPr wrap="square" lIns="0" tIns="0" rIns="0" bIns="0" rtlCol="0" anchor="t">
            <a:normAutofit/>
          </a:bodyPr>
          <a:lstStyle/>
          <a:p>
            <a:pPr algn="l" indent="0" marL="0">
              <a:lnSpc>
                <a:spcPts val="2520"/>
              </a:lnSpc>
              <a:buNone/>
            </a:pPr>
            <a:r>
              <a:rPr lang="en-US" sz="1800" b="1" dirty="0">
                <a:solidFill>
                  <a:srgbClr val="1D2433"/>
                </a:solidFill>
                <a:latin typeface="Noto Sans" pitchFamily="34" charset="0"/>
                <a:ea typeface="Noto Sans" pitchFamily="34" charset="-122"/>
                <a:cs typeface="Noto Sans" pitchFamily="34" charset="-120"/>
              </a:rPr>
              <a:t>E(comp) = E(raw) + S · T(cold) = S · T(hot)</a:t>
            </a:r>
            <a:endParaRPr lang="en-US" sz="1800" dirty="0"/>
          </a:p>
        </p:txBody>
      </p:sp>
      <p:sp>
        <p:nvSpPr>
          <p:cNvPr id="9" name="Shape 7"/>
          <p:cNvSpPr/>
          <p:nvPr/>
        </p:nvSpPr>
        <p:spPr>
          <a:xfrm>
            <a:off x="7572375" y="1806575"/>
            <a:ext cx="3803650" cy="684530"/>
          </a:xfrm>
          <a:prstGeom prst="roundRect">
            <a:avLst>
              <a:gd name="adj" fmla="val 10668"/>
            </a:avLst>
          </a:prstGeom>
          <a:solidFill>
            <a:srgbClr val="FDFCF9"/>
          </a:solidFill>
          <a:ln w="6350">
            <a:solidFill>
              <a:srgbClr val="E2DED4"/>
            </a:solidFill>
            <a:prstDash val="solid"/>
          </a:ln>
        </p:spPr>
      </p:sp>
      <p:sp>
        <p:nvSpPr>
          <p:cNvPr id="10" name="Text 8"/>
          <p:cNvSpPr/>
          <p:nvPr/>
        </p:nvSpPr>
        <p:spPr>
          <a:xfrm>
            <a:off x="7752080" y="1935479"/>
            <a:ext cx="1701800" cy="45212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2D6CB0"/>
                </a:solidFill>
                <a:latin typeface="Noto Sans" pitchFamily="34" charset="0"/>
                <a:ea typeface="Noto Sans" pitchFamily="34" charset="-122"/>
                <a:cs typeface="Noto Sans" pitchFamily="34" charset="-120"/>
              </a:rPr>
              <a:t>17,51 mV</a:t>
            </a:r>
            <a:endParaRPr lang="en-US" sz="2400" dirty="0"/>
          </a:p>
        </p:txBody>
      </p:sp>
      <p:sp>
        <p:nvSpPr>
          <p:cNvPr id="11" name="Text 9"/>
          <p:cNvSpPr/>
          <p:nvPr/>
        </p:nvSpPr>
        <p:spPr>
          <a:xfrm>
            <a:off x="9555480" y="2042158"/>
            <a:ext cx="1691640"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2433"/>
                </a:solidFill>
                <a:latin typeface="Noto Sans" pitchFamily="34" charset="0"/>
                <a:ea typeface="Noto Sans" pitchFamily="34" charset="-122"/>
                <a:cs typeface="Noto Sans" pitchFamily="34" charset="-120"/>
              </a:rPr>
              <a:t>E(raw): 41,2 · 425</a:t>
            </a:r>
            <a:endParaRPr lang="en-US" sz="1200" dirty="0"/>
          </a:p>
        </p:txBody>
      </p:sp>
      <p:sp>
        <p:nvSpPr>
          <p:cNvPr id="12" name="Shape 10"/>
          <p:cNvSpPr/>
          <p:nvPr/>
        </p:nvSpPr>
        <p:spPr>
          <a:xfrm>
            <a:off x="7572375" y="2624454"/>
            <a:ext cx="3803650" cy="684530"/>
          </a:xfrm>
          <a:prstGeom prst="roundRect">
            <a:avLst>
              <a:gd name="adj" fmla="val 10668"/>
            </a:avLst>
          </a:prstGeom>
          <a:solidFill>
            <a:srgbClr val="FDFCF9"/>
          </a:solidFill>
          <a:ln w="6350">
            <a:solidFill>
              <a:srgbClr val="E2DED4"/>
            </a:solidFill>
            <a:prstDash val="solid"/>
          </a:ln>
        </p:spPr>
      </p:sp>
      <p:sp>
        <p:nvSpPr>
          <p:cNvPr id="13" name="Text 11"/>
          <p:cNvSpPr/>
          <p:nvPr/>
        </p:nvSpPr>
        <p:spPr>
          <a:xfrm>
            <a:off x="7752080" y="2753358"/>
            <a:ext cx="1701800" cy="45212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2D6CB0"/>
                </a:solidFill>
                <a:latin typeface="Noto Sans" pitchFamily="34" charset="0"/>
                <a:ea typeface="Noto Sans" pitchFamily="34" charset="-122"/>
                <a:cs typeface="Noto Sans" pitchFamily="34" charset="-120"/>
              </a:rPr>
              <a:t>1,03 mV</a:t>
            </a:r>
            <a:endParaRPr lang="en-US" sz="2400" dirty="0"/>
          </a:p>
        </p:txBody>
      </p:sp>
      <p:sp>
        <p:nvSpPr>
          <p:cNvPr id="14" name="Text 12"/>
          <p:cNvSpPr/>
          <p:nvPr/>
        </p:nvSpPr>
        <p:spPr>
          <a:xfrm>
            <a:off x="9555480" y="2753358"/>
            <a:ext cx="169164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D2433"/>
                </a:solidFill>
                <a:latin typeface="Noto Sans" pitchFamily="34" charset="0"/>
                <a:ea typeface="Noto Sans" pitchFamily="34" charset="-122"/>
                <a:cs typeface="Noto Sans" pitchFamily="34" charset="-120"/>
              </a:rPr>
              <a:t>kompensatsiya: 41,2 · 25</a:t>
            </a:r>
            <a:endParaRPr lang="en-US" sz="1200" dirty="0"/>
          </a:p>
        </p:txBody>
      </p:sp>
      <p:sp>
        <p:nvSpPr>
          <p:cNvPr id="15" name="Shape 13"/>
          <p:cNvSpPr/>
          <p:nvPr/>
        </p:nvSpPr>
        <p:spPr>
          <a:xfrm>
            <a:off x="7569200" y="3439158"/>
            <a:ext cx="3810000" cy="680720"/>
          </a:xfrm>
          <a:prstGeom prst="roundRect">
            <a:avLst>
              <a:gd name="adj" fmla="val 11194"/>
            </a:avLst>
          </a:prstGeom>
          <a:solidFill>
            <a:srgbClr val="16233B"/>
          </a:solidFill>
          <a:ln/>
        </p:spPr>
      </p:sp>
      <p:sp>
        <p:nvSpPr>
          <p:cNvPr id="16" name="Text 14"/>
          <p:cNvSpPr/>
          <p:nvPr/>
        </p:nvSpPr>
        <p:spPr>
          <a:xfrm>
            <a:off x="7747000" y="3566158"/>
            <a:ext cx="1701800" cy="452120"/>
          </a:xfrm>
          <a:prstGeom prst="rect">
            <a:avLst/>
          </a:prstGeom>
          <a:noFill/>
          <a:ln/>
        </p:spPr>
        <p:txBody>
          <a:bodyPr wrap="square" lIns="0" tIns="0" rIns="0" bIns="0" rtlCol="0" anchor="t">
            <a:normAutofit/>
          </a:bodyPr>
          <a:lstStyle/>
          <a:p>
            <a:pPr algn="l" indent="0" marL="0">
              <a:lnSpc>
                <a:spcPts val="3360"/>
              </a:lnSpc>
              <a:buNone/>
            </a:pPr>
            <a:r>
              <a:rPr lang="en-US" sz="2400" b="1" dirty="0">
                <a:solidFill>
                  <a:srgbClr val="F0A46E"/>
                </a:solidFill>
                <a:latin typeface="Noto Sans" pitchFamily="34" charset="0"/>
                <a:ea typeface="Noto Sans" pitchFamily="34" charset="-122"/>
                <a:cs typeface="Noto Sans" pitchFamily="34" charset="-120"/>
              </a:rPr>
              <a:t>18,54 mV</a:t>
            </a:r>
            <a:endParaRPr lang="en-US" sz="2400" dirty="0"/>
          </a:p>
        </p:txBody>
      </p:sp>
      <p:sp>
        <p:nvSpPr>
          <p:cNvPr id="17" name="Text 15"/>
          <p:cNvSpPr/>
          <p:nvPr/>
        </p:nvSpPr>
        <p:spPr>
          <a:xfrm>
            <a:off x="9550400" y="3566158"/>
            <a:ext cx="1701800" cy="4521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C9CFDB"/>
                </a:solidFill>
                <a:latin typeface="Noto Sans" pitchFamily="34" charset="0"/>
                <a:ea typeface="Noto Sans" pitchFamily="34" charset="-122"/>
                <a:cs typeface="Noto Sans" pitchFamily="34" charset="-120"/>
              </a:rPr>
              <a:t>E(comp) — 0 °C ga nisbatan</a:t>
            </a:r>
            <a:endParaRPr lang="en-US" sz="1200" dirty="0"/>
          </a:p>
        </p:txBody>
      </p:sp>
      <p:sp>
        <p:nvSpPr>
          <p:cNvPr id="18" name="Text 16"/>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Noto Sans" pitchFamily="34" charset="0"/>
                <a:ea typeface="Noto Sans" pitchFamily="34" charset="-122"/>
                <a:cs typeface="Noto Sans" pitchFamily="34" charset="-120"/>
              </a:rPr>
              <a:t>Amaliyot №6 · Optik va temperatura datchiklari · 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A"/>
                </a:solidFill>
                <a:latin typeface="Noto Sans" pitchFamily="34" charset="0"/>
                <a:ea typeface="Noto Sans" pitchFamily="34" charset="-122"/>
                <a:cs typeface="Noto Sans" pitchFamily="34" charset="-120"/>
              </a:rPr>
              <a:t>MASALA 3</a:t>
            </a:r>
            <a:endParaRPr lang="en-US" sz="1200" dirty="0"/>
          </a:p>
        </p:txBody>
      </p:sp>
      <p:sp>
        <p:nvSpPr>
          <p:cNvPr id="3" name="Text 1"/>
          <p:cNvSpPr/>
          <p:nvPr>
            <p:ph type="title"/>
          </p:nvPr>
        </p:nvSpPr>
        <p:spPr>
          <a:xfrm>
            <a:off x="812800" y="1102358"/>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33B"/>
                </a:solidFill>
                <a:latin typeface="Noto Sans" pitchFamily="34" charset="0"/>
                <a:ea typeface="Noto Sans" pitchFamily="34" charset="-122"/>
                <a:cs typeface="Noto Sans" pitchFamily="34" charset="-120"/>
              </a:rPr>
              <a:t>Fotodiod va TIA hisobi</a:t>
            </a:r>
            <a:endParaRPr lang="en-US" sz="3200" dirty="0"/>
          </a:p>
        </p:txBody>
      </p:sp>
      <p:sp>
        <p:nvSpPr>
          <p:cNvPr id="4" name="Text 2"/>
          <p:cNvSpPr/>
          <p:nvPr/>
        </p:nvSpPr>
        <p:spPr>
          <a:xfrm>
            <a:off x="812800" y="18288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1D2433"/>
                </a:solidFill>
                <a:latin typeface="Noto Sans" pitchFamily="34" charset="0"/>
                <a:ea typeface="Noto Sans" pitchFamily="34" charset="-122"/>
                <a:cs typeface="Noto Sans" pitchFamily="34" charset="-120"/>
              </a:rPr>
              <a:t>Sezgirlik R(photo) = 0,55 A/W, nurlanish quvvati P(opt) = 120 µW, qayta aloqa qarshiligi Rf = 22 kΩ</a:t>
            </a:r>
            <a:endParaRPr lang="en-US" sz="1500" dirty="0"/>
          </a:p>
        </p:txBody>
      </p:sp>
      <p:sp>
        <p:nvSpPr>
          <p:cNvPr id="5" name="Shape 3"/>
          <p:cNvSpPr/>
          <p:nvPr/>
        </p:nvSpPr>
        <p:spPr>
          <a:xfrm>
            <a:off x="815975" y="2378075"/>
            <a:ext cx="5180330" cy="1814830"/>
          </a:xfrm>
          <a:prstGeom prst="roundRect">
            <a:avLst>
              <a:gd name="adj" fmla="val 5423"/>
            </a:avLst>
          </a:prstGeom>
          <a:solidFill>
            <a:srgbClr val="FDFCF9"/>
          </a:solidFill>
          <a:ln w="6350">
            <a:solidFill>
              <a:srgbClr val="E2DED4"/>
            </a:solidFill>
            <a:prstDash val="solid"/>
          </a:ln>
        </p:spPr>
      </p:sp>
      <p:sp>
        <p:nvSpPr>
          <p:cNvPr id="6" name="Text 4"/>
          <p:cNvSpPr/>
          <p:nvPr/>
        </p:nvSpPr>
        <p:spPr>
          <a:xfrm>
            <a:off x="1071880" y="2633979"/>
            <a:ext cx="480857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D6CB0"/>
                </a:solidFill>
                <a:latin typeface="Noto Sans" pitchFamily="34" charset="0"/>
                <a:ea typeface="Noto Sans" pitchFamily="34" charset="-122"/>
                <a:cs typeface="Noto Sans" pitchFamily="34" charset="-120"/>
              </a:rPr>
              <a:t>FOTOTOK</a:t>
            </a:r>
            <a:endParaRPr lang="en-US" sz="1200" dirty="0"/>
          </a:p>
        </p:txBody>
      </p:sp>
      <p:sp>
        <p:nvSpPr>
          <p:cNvPr id="7" name="Text 5"/>
          <p:cNvSpPr/>
          <p:nvPr/>
        </p:nvSpPr>
        <p:spPr>
          <a:xfrm>
            <a:off x="1071880" y="2923542"/>
            <a:ext cx="4808576"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D2433"/>
                </a:solidFill>
                <a:latin typeface="Noto Sans" pitchFamily="34" charset="0"/>
                <a:ea typeface="Noto Sans" pitchFamily="34" charset="-122"/>
                <a:cs typeface="Noto Sans" pitchFamily="34" charset="-120"/>
              </a:rPr>
              <a:t>I(ph) = 0,55 · 120 · 10⁻⁶</a:t>
            </a:r>
            <a:endParaRPr lang="en-US" sz="1500" dirty="0"/>
          </a:p>
        </p:txBody>
      </p:sp>
      <p:sp>
        <p:nvSpPr>
          <p:cNvPr id="8" name="Text 6"/>
          <p:cNvSpPr/>
          <p:nvPr/>
        </p:nvSpPr>
        <p:spPr>
          <a:xfrm>
            <a:off x="1071880" y="3266442"/>
            <a:ext cx="4808576" cy="695960"/>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2D6CB0"/>
                </a:solidFill>
                <a:latin typeface="Noto Sans" pitchFamily="34" charset="0"/>
                <a:ea typeface="Noto Sans" pitchFamily="34" charset="-122"/>
                <a:cs typeface="Noto Sans" pitchFamily="34" charset="-120"/>
              </a:rPr>
              <a:t>66 µA</a:t>
            </a:r>
            <a:endParaRPr lang="en-US" sz="4800" dirty="0"/>
          </a:p>
        </p:txBody>
      </p:sp>
      <p:sp>
        <p:nvSpPr>
          <p:cNvPr id="9" name="Shape 7"/>
          <p:cNvSpPr/>
          <p:nvPr/>
        </p:nvSpPr>
        <p:spPr>
          <a:xfrm>
            <a:off x="6202680" y="2374900"/>
            <a:ext cx="5176520" cy="1821180"/>
          </a:xfrm>
          <a:prstGeom prst="roundRect">
            <a:avLst>
              <a:gd name="adj" fmla="val 5579"/>
            </a:avLst>
          </a:prstGeom>
          <a:solidFill>
            <a:srgbClr val="16233B"/>
          </a:solidFill>
          <a:ln/>
        </p:spPr>
      </p:sp>
      <p:sp>
        <p:nvSpPr>
          <p:cNvPr id="10" name="Text 8"/>
          <p:cNvSpPr/>
          <p:nvPr/>
        </p:nvSpPr>
        <p:spPr>
          <a:xfrm>
            <a:off x="6456680" y="2628900"/>
            <a:ext cx="4808576"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F0A46E"/>
                </a:solidFill>
                <a:latin typeface="Noto Sans" pitchFamily="34" charset="0"/>
                <a:ea typeface="Noto Sans" pitchFamily="34" charset="-122"/>
                <a:cs typeface="Noto Sans" pitchFamily="34" charset="-120"/>
              </a:rPr>
              <a:t>TIA CHIQISHI</a:t>
            </a:r>
            <a:endParaRPr lang="en-US" sz="1200" dirty="0"/>
          </a:p>
        </p:txBody>
      </p:sp>
      <p:sp>
        <p:nvSpPr>
          <p:cNvPr id="11" name="Text 9"/>
          <p:cNvSpPr/>
          <p:nvPr/>
        </p:nvSpPr>
        <p:spPr>
          <a:xfrm>
            <a:off x="6456680" y="2918458"/>
            <a:ext cx="4808576"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5F3EE"/>
                </a:solidFill>
                <a:latin typeface="Noto Sans" pitchFamily="34" charset="0"/>
                <a:ea typeface="Noto Sans" pitchFamily="34" charset="-122"/>
                <a:cs typeface="Noto Sans" pitchFamily="34" charset="-120"/>
              </a:rPr>
              <a:t>V(out) = 66 · 10⁻⁶ · 22 000</a:t>
            </a:r>
            <a:endParaRPr lang="en-US" sz="1500" dirty="0"/>
          </a:p>
        </p:txBody>
      </p:sp>
      <p:sp>
        <p:nvSpPr>
          <p:cNvPr id="12" name="Text 10"/>
          <p:cNvSpPr/>
          <p:nvPr/>
        </p:nvSpPr>
        <p:spPr>
          <a:xfrm>
            <a:off x="6456680" y="3261358"/>
            <a:ext cx="4808576" cy="695960"/>
          </a:xfrm>
          <a:prstGeom prst="rect">
            <a:avLst/>
          </a:prstGeom>
          <a:noFill/>
          <a:ln/>
        </p:spPr>
        <p:txBody>
          <a:bodyPr wrap="square" lIns="0" tIns="0" rIns="0" bIns="0" rtlCol="0" anchor="t">
            <a:normAutofit/>
          </a:bodyPr>
          <a:lstStyle/>
          <a:p>
            <a:pPr algn="l" indent="0" marL="0">
              <a:lnSpc>
                <a:spcPts val="5280"/>
              </a:lnSpc>
              <a:buNone/>
            </a:pPr>
            <a:r>
              <a:rPr lang="en-US" sz="4800" b="1" dirty="0">
                <a:solidFill>
                  <a:srgbClr val="F0A46E"/>
                </a:solidFill>
                <a:latin typeface="Noto Sans" pitchFamily="34" charset="0"/>
                <a:ea typeface="Noto Sans" pitchFamily="34" charset="-122"/>
                <a:cs typeface="Noto Sans" pitchFamily="34" charset="-120"/>
              </a:rPr>
              <a:t>1,452 V</a:t>
            </a:r>
            <a:endParaRPr lang="en-US" sz="4800" dirty="0"/>
          </a:p>
        </p:txBody>
      </p:sp>
      <p:sp>
        <p:nvSpPr>
          <p:cNvPr id="13" name="Text 11"/>
          <p:cNvSpPr/>
          <p:nvPr/>
        </p:nvSpPr>
        <p:spPr>
          <a:xfrm>
            <a:off x="812800" y="4475479"/>
            <a:ext cx="10883392"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4B5563"/>
                </a:solidFill>
                <a:latin typeface="Noto Sans" pitchFamily="34" charset="0"/>
                <a:ea typeface="Noto Sans" pitchFamily="34" charset="-122"/>
                <a:cs typeface="Noto Sans" pitchFamily="34" charset="-120"/>
              </a:rPr>
              <a:t>Natija 0…3,3 V ADC diapazoniga toʻgʻri keladi — qoʻshimcha kuchaytirish shart emas.</a:t>
            </a:r>
            <a:endParaRPr lang="en-US" sz="1400" dirty="0"/>
          </a:p>
        </p:txBody>
      </p:sp>
      <p:sp>
        <p:nvSpPr>
          <p:cNvPr id="14" name="Text 12"/>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Noto Sans" pitchFamily="34" charset="0"/>
                <a:ea typeface="Noto Sans" pitchFamily="34" charset="-122"/>
                <a:cs typeface="Noto Sans" pitchFamily="34" charset="-120"/>
              </a:rPr>
              <a:t>Amaliyot №6 · Optik va temperatura datchiklari · 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3EE"/>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B5521A"/>
                </a:solidFill>
                <a:latin typeface="Noto Sans" pitchFamily="34" charset="0"/>
                <a:ea typeface="Noto Sans" pitchFamily="34" charset="-122"/>
                <a:cs typeface="Noto Sans" pitchFamily="34" charset="-120"/>
              </a:rPr>
              <a:t>BAJARISH TARTIBI</a:t>
            </a:r>
            <a:endParaRPr lang="en-US" sz="1200" dirty="0"/>
          </a:p>
        </p:txBody>
      </p:sp>
      <p:sp>
        <p:nvSpPr>
          <p:cNvPr id="3" name="Text 1"/>
          <p:cNvSpPr/>
          <p:nvPr>
            <p:ph type="title"/>
          </p:nvPr>
        </p:nvSpPr>
        <p:spPr>
          <a:xfrm>
            <a:off x="812800" y="1102358"/>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6233B"/>
                </a:solidFill>
                <a:latin typeface="Noto Sans" pitchFamily="34" charset="0"/>
                <a:ea typeface="Noto Sans" pitchFamily="34" charset="-122"/>
                <a:cs typeface="Noto Sans" pitchFamily="34" charset="-120"/>
              </a:rPr>
              <a:t>Ishni bajarish bosqichlari</a:t>
            </a:r>
            <a:endParaRPr lang="en-US" sz="3200" dirty="0"/>
          </a:p>
        </p:txBody>
      </p:sp>
      <p:sp>
        <p:nvSpPr>
          <p:cNvPr id="4" name="Shape 2"/>
          <p:cNvSpPr/>
          <p:nvPr/>
        </p:nvSpPr>
        <p:spPr>
          <a:xfrm>
            <a:off x="815975" y="1806575"/>
            <a:ext cx="10560050" cy="674370"/>
          </a:xfrm>
          <a:custGeom>
            <a:avLst/>
            <a:gdLst/>
            <a:ahLst/>
            <a:cxnLst/>
            <a:rect l="l" t="t" r="r" b="b"/>
            <a:pathLst>
              <a:path w="10560050" h="674370">
                <a:moveTo>
                  <a:pt x="73025" y="0"/>
                </a:moveTo>
                <a:lnTo>
                  <a:pt x="10487025" y="0"/>
                </a:lnTo>
                <a:arcTo hR="73025" wR="73025" stAng="16200000" swAng="5400000"/>
                <a:lnTo>
                  <a:pt x="10560050" y="674370"/>
                </a:lnTo>
                <a:lnTo>
                  <a:pt x="0" y="674370"/>
                </a:lnTo>
                <a:lnTo>
                  <a:pt x="0" y="73025"/>
                </a:lnTo>
                <a:arcTo hR="73025" wR="73025" stAng="10800000" swAng="5400000"/>
                <a:close/>
              </a:path>
            </a:pathLst>
          </a:custGeom>
          <a:solidFill>
            <a:srgbClr val="FDFCF9"/>
          </a:solidFill>
          <a:ln w="6350">
            <a:solidFill>
              <a:srgbClr val="E2DED4"/>
            </a:solidFill>
            <a:prstDash val="solid"/>
          </a:ln>
        </p:spPr>
      </p:sp>
      <p:sp>
        <p:nvSpPr>
          <p:cNvPr id="5" name="Text 3"/>
          <p:cNvSpPr/>
          <p:nvPr/>
        </p:nvSpPr>
        <p:spPr>
          <a:xfrm>
            <a:off x="1021080" y="1948179"/>
            <a:ext cx="431800"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D9692B"/>
                </a:solidFill>
                <a:latin typeface="Noto Sans" pitchFamily="34" charset="0"/>
                <a:ea typeface="Noto Sans" pitchFamily="34" charset="-122"/>
                <a:cs typeface="Noto Sans" pitchFamily="34" charset="-120"/>
              </a:rPr>
              <a:t>1</a:t>
            </a:r>
            <a:endParaRPr lang="en-US" sz="2200" dirty="0"/>
          </a:p>
        </p:txBody>
      </p:sp>
      <p:sp>
        <p:nvSpPr>
          <p:cNvPr id="6" name="Text 4"/>
          <p:cNvSpPr/>
          <p:nvPr/>
        </p:nvSpPr>
        <p:spPr>
          <a:xfrm>
            <a:off x="1605280" y="2010408"/>
            <a:ext cx="340106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D2433"/>
                </a:solidFill>
                <a:latin typeface="Noto Sans" pitchFamily="34" charset="0"/>
                <a:ea typeface="Noto Sans" pitchFamily="34" charset="-122"/>
                <a:cs typeface="Noto Sans" pitchFamily="34" charset="-120"/>
              </a:rPr>
              <a:t>Datchiklarni oʻrganish</a:t>
            </a:r>
            <a:endParaRPr lang="en-US" sz="1500" dirty="0"/>
          </a:p>
        </p:txBody>
      </p:sp>
      <p:sp>
        <p:nvSpPr>
          <p:cNvPr id="7" name="Text 5"/>
          <p:cNvSpPr/>
          <p:nvPr/>
        </p:nvSpPr>
        <p:spPr>
          <a:xfrm>
            <a:off x="5110480" y="2028192"/>
            <a:ext cx="6242253"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433"/>
                </a:solidFill>
                <a:latin typeface="Noto Sans" pitchFamily="34" charset="0"/>
                <a:ea typeface="Noto Sans" pitchFamily="34" charset="-122"/>
                <a:cs typeface="Noto Sans" pitchFamily="34" charset="-120"/>
              </a:rPr>
              <a:t>Pt100, K-termopara, LM35, fotodiod va LDR kontaktlari va drayver modullari</a:t>
            </a:r>
            <a:endParaRPr lang="en-US" sz="1300" dirty="0"/>
          </a:p>
        </p:txBody>
      </p:sp>
      <p:sp>
        <p:nvSpPr>
          <p:cNvPr id="8" name="Shape 6"/>
          <p:cNvSpPr/>
          <p:nvPr/>
        </p:nvSpPr>
        <p:spPr>
          <a:xfrm>
            <a:off x="812800" y="2484121"/>
            <a:ext cx="10566400" cy="675640"/>
          </a:xfrm>
          <a:prstGeom prst="rect">
            <a:avLst/>
          </a:prstGeom>
          <a:solidFill>
            <a:srgbClr val="FDFCF9"/>
          </a:solidFill>
          <a:ln/>
        </p:spPr>
      </p:sp>
      <p:sp>
        <p:nvSpPr>
          <p:cNvPr id="9" name="Shape 7"/>
          <p:cNvSpPr/>
          <p:nvPr/>
        </p:nvSpPr>
        <p:spPr>
          <a:xfrm>
            <a:off x="11376025" y="2484121"/>
            <a:ext cx="0" cy="675640"/>
          </a:xfrm>
          <a:prstGeom prst="line">
            <a:avLst/>
          </a:prstGeom>
          <a:noFill/>
          <a:ln w="6350">
            <a:solidFill>
              <a:srgbClr val="E2DED4"/>
            </a:solidFill>
            <a:prstDash val="solid"/>
          </a:ln>
        </p:spPr>
      </p:sp>
      <p:sp>
        <p:nvSpPr>
          <p:cNvPr id="10" name="Shape 8"/>
          <p:cNvSpPr/>
          <p:nvPr/>
        </p:nvSpPr>
        <p:spPr>
          <a:xfrm>
            <a:off x="812800" y="3156586"/>
            <a:ext cx="10566400" cy="0"/>
          </a:xfrm>
          <a:prstGeom prst="line">
            <a:avLst/>
          </a:prstGeom>
          <a:noFill/>
          <a:ln w="6350">
            <a:solidFill>
              <a:srgbClr val="E2DED4"/>
            </a:solidFill>
            <a:prstDash val="solid"/>
          </a:ln>
        </p:spPr>
      </p:sp>
      <p:sp>
        <p:nvSpPr>
          <p:cNvPr id="11" name="Shape 9"/>
          <p:cNvSpPr/>
          <p:nvPr/>
        </p:nvSpPr>
        <p:spPr>
          <a:xfrm>
            <a:off x="815975" y="2484121"/>
            <a:ext cx="0" cy="675640"/>
          </a:xfrm>
          <a:prstGeom prst="line">
            <a:avLst/>
          </a:prstGeom>
          <a:noFill/>
          <a:ln w="6350">
            <a:solidFill>
              <a:srgbClr val="E2DED4"/>
            </a:solidFill>
            <a:prstDash val="solid"/>
          </a:ln>
        </p:spPr>
      </p:sp>
      <p:sp>
        <p:nvSpPr>
          <p:cNvPr id="12" name="Text 10"/>
          <p:cNvSpPr/>
          <p:nvPr/>
        </p:nvSpPr>
        <p:spPr>
          <a:xfrm>
            <a:off x="1021080" y="2623821"/>
            <a:ext cx="431800"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D9692B"/>
                </a:solidFill>
                <a:latin typeface="Noto Sans" pitchFamily="34" charset="0"/>
                <a:ea typeface="Noto Sans" pitchFamily="34" charset="-122"/>
                <a:cs typeface="Noto Sans" pitchFamily="34" charset="-120"/>
              </a:rPr>
              <a:t>2</a:t>
            </a:r>
            <a:endParaRPr lang="en-US" sz="2200" dirty="0"/>
          </a:p>
        </p:txBody>
      </p:sp>
      <p:sp>
        <p:nvSpPr>
          <p:cNvPr id="13" name="Text 11"/>
          <p:cNvSpPr/>
          <p:nvPr/>
        </p:nvSpPr>
        <p:spPr>
          <a:xfrm>
            <a:off x="1605280" y="2686050"/>
            <a:ext cx="340106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D2433"/>
                </a:solidFill>
                <a:latin typeface="Noto Sans" pitchFamily="34" charset="0"/>
                <a:ea typeface="Noto Sans" pitchFamily="34" charset="-122"/>
                <a:cs typeface="Noto Sans" pitchFamily="34" charset="-120"/>
              </a:rPr>
              <a:t>Optik tavsifni olish</a:t>
            </a:r>
            <a:endParaRPr lang="en-US" sz="1500" dirty="0"/>
          </a:p>
        </p:txBody>
      </p:sp>
      <p:sp>
        <p:nvSpPr>
          <p:cNvPr id="14" name="Text 12"/>
          <p:cNvSpPr/>
          <p:nvPr/>
        </p:nvSpPr>
        <p:spPr>
          <a:xfrm>
            <a:off x="5110480" y="2703829"/>
            <a:ext cx="6242253"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433"/>
                </a:solidFill>
                <a:latin typeface="Noto Sans" pitchFamily="34" charset="0"/>
                <a:ea typeface="Noto Sans" pitchFamily="34" charset="-122"/>
                <a:cs typeface="Noto Sans" pitchFamily="34" charset="-120"/>
              </a:rPr>
              <a:t>LED tokini oʻzgartirib, R(LDR) va I(ph) ning yoritilganlikka bogʻliqligi grafigi</a:t>
            </a:r>
            <a:endParaRPr lang="en-US" sz="1300" dirty="0"/>
          </a:p>
        </p:txBody>
      </p:sp>
      <p:sp>
        <p:nvSpPr>
          <p:cNvPr id="15" name="Shape 13"/>
          <p:cNvSpPr/>
          <p:nvPr/>
        </p:nvSpPr>
        <p:spPr>
          <a:xfrm>
            <a:off x="812800" y="3159758"/>
            <a:ext cx="10566400" cy="675640"/>
          </a:xfrm>
          <a:prstGeom prst="rect">
            <a:avLst/>
          </a:prstGeom>
          <a:solidFill>
            <a:srgbClr val="FDFCF9"/>
          </a:solidFill>
          <a:ln/>
        </p:spPr>
      </p:sp>
      <p:sp>
        <p:nvSpPr>
          <p:cNvPr id="16" name="Shape 14"/>
          <p:cNvSpPr/>
          <p:nvPr/>
        </p:nvSpPr>
        <p:spPr>
          <a:xfrm>
            <a:off x="11376025" y="3159758"/>
            <a:ext cx="0" cy="675640"/>
          </a:xfrm>
          <a:prstGeom prst="line">
            <a:avLst/>
          </a:prstGeom>
          <a:noFill/>
          <a:ln w="6350">
            <a:solidFill>
              <a:srgbClr val="E2DED4"/>
            </a:solidFill>
            <a:prstDash val="solid"/>
          </a:ln>
        </p:spPr>
      </p:sp>
      <p:sp>
        <p:nvSpPr>
          <p:cNvPr id="17" name="Shape 15"/>
          <p:cNvSpPr/>
          <p:nvPr/>
        </p:nvSpPr>
        <p:spPr>
          <a:xfrm>
            <a:off x="812800" y="3832222"/>
            <a:ext cx="10566400" cy="0"/>
          </a:xfrm>
          <a:prstGeom prst="line">
            <a:avLst/>
          </a:prstGeom>
          <a:noFill/>
          <a:ln w="6350">
            <a:solidFill>
              <a:srgbClr val="E2DED4"/>
            </a:solidFill>
            <a:prstDash val="solid"/>
          </a:ln>
        </p:spPr>
      </p:sp>
      <p:sp>
        <p:nvSpPr>
          <p:cNvPr id="18" name="Shape 16"/>
          <p:cNvSpPr/>
          <p:nvPr/>
        </p:nvSpPr>
        <p:spPr>
          <a:xfrm>
            <a:off x="815975" y="3159758"/>
            <a:ext cx="0" cy="675640"/>
          </a:xfrm>
          <a:prstGeom prst="line">
            <a:avLst/>
          </a:prstGeom>
          <a:noFill/>
          <a:ln w="6350">
            <a:solidFill>
              <a:srgbClr val="E2DED4"/>
            </a:solidFill>
            <a:prstDash val="solid"/>
          </a:ln>
        </p:spPr>
      </p:sp>
      <p:sp>
        <p:nvSpPr>
          <p:cNvPr id="19" name="Text 17"/>
          <p:cNvSpPr/>
          <p:nvPr/>
        </p:nvSpPr>
        <p:spPr>
          <a:xfrm>
            <a:off x="1021080" y="3299458"/>
            <a:ext cx="431800"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D9692B"/>
                </a:solidFill>
                <a:latin typeface="Noto Sans" pitchFamily="34" charset="0"/>
                <a:ea typeface="Noto Sans" pitchFamily="34" charset="-122"/>
                <a:cs typeface="Noto Sans" pitchFamily="34" charset="-120"/>
              </a:rPr>
              <a:t>3</a:t>
            </a:r>
            <a:endParaRPr lang="en-US" sz="2200" dirty="0"/>
          </a:p>
        </p:txBody>
      </p:sp>
      <p:sp>
        <p:nvSpPr>
          <p:cNvPr id="20" name="Text 18"/>
          <p:cNvSpPr/>
          <p:nvPr/>
        </p:nvSpPr>
        <p:spPr>
          <a:xfrm>
            <a:off x="1605280" y="3361692"/>
            <a:ext cx="340106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D2433"/>
                </a:solidFill>
                <a:latin typeface="Noto Sans" pitchFamily="34" charset="0"/>
                <a:ea typeface="Noto Sans" pitchFamily="34" charset="-122"/>
                <a:cs typeface="Noto Sans" pitchFamily="34" charset="-120"/>
              </a:rPr>
              <a:t>Harorat datchigini kalibrlash</a:t>
            </a:r>
            <a:endParaRPr lang="en-US" sz="1500" dirty="0"/>
          </a:p>
        </p:txBody>
      </p:sp>
      <p:sp>
        <p:nvSpPr>
          <p:cNvPr id="21" name="Text 19"/>
          <p:cNvSpPr/>
          <p:nvPr/>
        </p:nvSpPr>
        <p:spPr>
          <a:xfrm>
            <a:off x="5110480" y="3379471"/>
            <a:ext cx="6242253"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433"/>
                </a:solidFill>
                <a:latin typeface="Noto Sans" pitchFamily="34" charset="0"/>
                <a:ea typeface="Noto Sans" pitchFamily="34" charset="-122"/>
                <a:cs typeface="Noto Sans" pitchFamily="34" charset="-120"/>
              </a:rPr>
              <a:t>20…100 °C, 10 °C qadam bilan R(T) va termopara EYuK ni yozib olish</a:t>
            </a:r>
            <a:endParaRPr lang="en-US" sz="1300" dirty="0"/>
          </a:p>
        </p:txBody>
      </p:sp>
      <p:sp>
        <p:nvSpPr>
          <p:cNvPr id="22" name="Shape 20"/>
          <p:cNvSpPr/>
          <p:nvPr/>
        </p:nvSpPr>
        <p:spPr>
          <a:xfrm>
            <a:off x="812800" y="3835400"/>
            <a:ext cx="10566400" cy="675640"/>
          </a:xfrm>
          <a:prstGeom prst="rect">
            <a:avLst/>
          </a:prstGeom>
          <a:solidFill>
            <a:srgbClr val="FDFCF9"/>
          </a:solidFill>
          <a:ln/>
        </p:spPr>
      </p:sp>
      <p:sp>
        <p:nvSpPr>
          <p:cNvPr id="23" name="Shape 21"/>
          <p:cNvSpPr/>
          <p:nvPr/>
        </p:nvSpPr>
        <p:spPr>
          <a:xfrm>
            <a:off x="11376025" y="3835400"/>
            <a:ext cx="0" cy="675640"/>
          </a:xfrm>
          <a:prstGeom prst="line">
            <a:avLst/>
          </a:prstGeom>
          <a:noFill/>
          <a:ln w="6350">
            <a:solidFill>
              <a:srgbClr val="E2DED4"/>
            </a:solidFill>
            <a:prstDash val="solid"/>
          </a:ln>
        </p:spPr>
      </p:sp>
      <p:sp>
        <p:nvSpPr>
          <p:cNvPr id="24" name="Shape 22"/>
          <p:cNvSpPr/>
          <p:nvPr/>
        </p:nvSpPr>
        <p:spPr>
          <a:xfrm>
            <a:off x="812800" y="4507865"/>
            <a:ext cx="10566400" cy="0"/>
          </a:xfrm>
          <a:prstGeom prst="line">
            <a:avLst/>
          </a:prstGeom>
          <a:noFill/>
          <a:ln w="6350">
            <a:solidFill>
              <a:srgbClr val="E2DED4"/>
            </a:solidFill>
            <a:prstDash val="solid"/>
          </a:ln>
        </p:spPr>
      </p:sp>
      <p:sp>
        <p:nvSpPr>
          <p:cNvPr id="25" name="Shape 23"/>
          <p:cNvSpPr/>
          <p:nvPr/>
        </p:nvSpPr>
        <p:spPr>
          <a:xfrm>
            <a:off x="815975" y="3835400"/>
            <a:ext cx="0" cy="675640"/>
          </a:xfrm>
          <a:prstGeom prst="line">
            <a:avLst/>
          </a:prstGeom>
          <a:noFill/>
          <a:ln w="6350">
            <a:solidFill>
              <a:srgbClr val="E2DED4"/>
            </a:solidFill>
            <a:prstDash val="solid"/>
          </a:ln>
        </p:spPr>
      </p:sp>
      <p:sp>
        <p:nvSpPr>
          <p:cNvPr id="26" name="Text 24"/>
          <p:cNvSpPr/>
          <p:nvPr/>
        </p:nvSpPr>
        <p:spPr>
          <a:xfrm>
            <a:off x="1021080" y="3975100"/>
            <a:ext cx="431800"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D9692B"/>
                </a:solidFill>
                <a:latin typeface="Noto Sans" pitchFamily="34" charset="0"/>
                <a:ea typeface="Noto Sans" pitchFamily="34" charset="-122"/>
                <a:cs typeface="Noto Sans" pitchFamily="34" charset="-120"/>
              </a:rPr>
              <a:t>4</a:t>
            </a:r>
            <a:endParaRPr lang="en-US" sz="2200" dirty="0"/>
          </a:p>
        </p:txBody>
      </p:sp>
      <p:sp>
        <p:nvSpPr>
          <p:cNvPr id="27" name="Text 25"/>
          <p:cNvSpPr/>
          <p:nvPr/>
        </p:nvSpPr>
        <p:spPr>
          <a:xfrm>
            <a:off x="1605280" y="4037329"/>
            <a:ext cx="340106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D2433"/>
                </a:solidFill>
                <a:latin typeface="Noto Sans" pitchFamily="34" charset="0"/>
                <a:ea typeface="Noto Sans" pitchFamily="34" charset="-122"/>
                <a:cs typeface="Noto Sans" pitchFamily="34" charset="-120"/>
              </a:rPr>
              <a:t>Koʻprik va kuchaytirgich</a:t>
            </a:r>
            <a:endParaRPr lang="en-US" sz="1500" dirty="0"/>
          </a:p>
        </p:txBody>
      </p:sp>
      <p:sp>
        <p:nvSpPr>
          <p:cNvPr id="28" name="Text 26"/>
          <p:cNvSpPr/>
          <p:nvPr/>
        </p:nvSpPr>
        <p:spPr>
          <a:xfrm>
            <a:off x="5110480" y="4055108"/>
            <a:ext cx="6242253"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1D2433"/>
                </a:solidFill>
                <a:latin typeface="Noto Sans" pitchFamily="34" charset="0"/>
                <a:ea typeface="Noto Sans" pitchFamily="34" charset="-122"/>
                <a:cs typeface="Noto Sans" pitchFamily="34" charset="-120"/>
              </a:rPr>
              <a:t>Koʻprik va instrumental kuchaytirgich chiqishini ossillografda oʻlchash</a:t>
            </a:r>
            <a:endParaRPr lang="en-US" sz="1300" dirty="0"/>
          </a:p>
        </p:txBody>
      </p:sp>
      <p:sp>
        <p:nvSpPr>
          <p:cNvPr id="29" name="Shape 27"/>
          <p:cNvSpPr/>
          <p:nvPr/>
        </p:nvSpPr>
        <p:spPr>
          <a:xfrm>
            <a:off x="812800" y="4511042"/>
            <a:ext cx="10566400" cy="670560"/>
          </a:xfrm>
          <a:custGeom>
            <a:avLst/>
            <a:gdLst/>
            <a:ahLst/>
            <a:cxnLst/>
            <a:rect l="l" t="t" r="r" b="b"/>
            <a:pathLst>
              <a:path w="10566400" h="670560">
                <a:moveTo>
                  <a:pt x="0" y="0"/>
                </a:moveTo>
                <a:lnTo>
                  <a:pt x="10566400" y="0"/>
                </a:lnTo>
                <a:lnTo>
                  <a:pt x="10566400" y="594360"/>
                </a:lnTo>
                <a:arcTo hR="76200" wR="76200" stAng="0" swAng="5400000"/>
                <a:lnTo>
                  <a:pt x="76200" y="670560"/>
                </a:lnTo>
                <a:arcTo hR="76200" wR="76200" stAng="5400000" swAng="5400000"/>
                <a:lnTo>
                  <a:pt x="0" y="0"/>
                </a:lnTo>
                <a:close/>
              </a:path>
            </a:pathLst>
          </a:custGeom>
          <a:solidFill>
            <a:srgbClr val="16233B"/>
          </a:solidFill>
          <a:ln/>
        </p:spPr>
      </p:sp>
      <p:sp>
        <p:nvSpPr>
          <p:cNvPr id="30" name="Text 28"/>
          <p:cNvSpPr/>
          <p:nvPr/>
        </p:nvSpPr>
        <p:spPr>
          <a:xfrm>
            <a:off x="1016000" y="4650742"/>
            <a:ext cx="431800" cy="416560"/>
          </a:xfrm>
          <a:prstGeom prst="rect">
            <a:avLst/>
          </a:prstGeom>
          <a:noFill/>
          <a:ln/>
        </p:spPr>
        <p:txBody>
          <a:bodyPr wrap="square" lIns="0" tIns="0" rIns="0" bIns="0" rtlCol="0" anchor="t">
            <a:normAutofit/>
          </a:bodyPr>
          <a:lstStyle/>
          <a:p>
            <a:pPr algn="l" indent="0" marL="0">
              <a:lnSpc>
                <a:spcPts val="3080"/>
              </a:lnSpc>
              <a:buNone/>
            </a:pPr>
            <a:r>
              <a:rPr lang="en-US" sz="2200" b="1" dirty="0">
                <a:solidFill>
                  <a:srgbClr val="F0A46E"/>
                </a:solidFill>
                <a:latin typeface="Noto Sans" pitchFamily="34" charset="0"/>
                <a:ea typeface="Noto Sans" pitchFamily="34" charset="-122"/>
                <a:cs typeface="Noto Sans" pitchFamily="34" charset="-120"/>
              </a:rPr>
              <a:t>5</a:t>
            </a:r>
            <a:endParaRPr lang="en-US" sz="2200" dirty="0"/>
          </a:p>
        </p:txBody>
      </p:sp>
      <p:sp>
        <p:nvSpPr>
          <p:cNvPr id="31" name="Text 29"/>
          <p:cNvSpPr/>
          <p:nvPr/>
        </p:nvSpPr>
        <p:spPr>
          <a:xfrm>
            <a:off x="1600200" y="4712971"/>
            <a:ext cx="340106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F5F3EE"/>
                </a:solidFill>
                <a:latin typeface="Noto Sans" pitchFamily="34" charset="0"/>
                <a:ea typeface="Noto Sans" pitchFamily="34" charset="-122"/>
                <a:cs typeface="Noto Sans" pitchFamily="34" charset="-120"/>
              </a:rPr>
              <a:t>Tahlil va hisobot</a:t>
            </a:r>
            <a:endParaRPr lang="en-US" sz="1500" dirty="0"/>
          </a:p>
        </p:txBody>
      </p:sp>
      <p:sp>
        <p:nvSpPr>
          <p:cNvPr id="32" name="Text 30"/>
          <p:cNvSpPr/>
          <p:nvPr/>
        </p:nvSpPr>
        <p:spPr>
          <a:xfrm>
            <a:off x="5105400" y="4730750"/>
            <a:ext cx="6252718" cy="25654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C9CFDB"/>
                </a:solidFill>
                <a:latin typeface="Noto Sans" pitchFamily="34" charset="0"/>
                <a:ea typeface="Noto Sans" pitchFamily="34" charset="-122"/>
                <a:cs typeface="Noto Sans" pitchFamily="34" charset="-120"/>
              </a:rPr>
              <a:t>Nazariy va tajriba qiymatlarini solishtirish</a:t>
            </a:r>
            <a:endParaRPr lang="en-US" sz="1300" dirty="0"/>
          </a:p>
        </p:txBody>
      </p:sp>
      <p:sp>
        <p:nvSpPr>
          <p:cNvPr id="33" name="Text 31"/>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6B7280"/>
                </a:solidFill>
                <a:latin typeface="Noto Sans" pitchFamily="34" charset="0"/>
                <a:ea typeface="Noto Sans" pitchFamily="34" charset="-122"/>
                <a:cs typeface="Noto Sans" pitchFamily="34" charset="-120"/>
              </a:rPr>
              <a:t>Amaliyot №6 · Optik va temperatura datchiklari · 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233B"/>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0A46E"/>
                </a:solidFill>
                <a:latin typeface="Noto Sans" pitchFamily="34" charset="0"/>
                <a:ea typeface="Noto Sans" pitchFamily="34" charset="-122"/>
                <a:cs typeface="Noto Sans" pitchFamily="34" charset="-120"/>
              </a:rPr>
              <a:t>YAKUN</a:t>
            </a:r>
            <a:endParaRPr lang="en-US" sz="1200" dirty="0"/>
          </a:p>
        </p:txBody>
      </p:sp>
      <p:sp>
        <p:nvSpPr>
          <p:cNvPr id="3" name="Text 1"/>
          <p:cNvSpPr/>
          <p:nvPr>
            <p:ph type="title"/>
          </p:nvPr>
        </p:nvSpPr>
        <p:spPr>
          <a:xfrm>
            <a:off x="812800" y="1102358"/>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5F3EE"/>
                </a:solidFill>
                <a:latin typeface="Noto Sans" pitchFamily="34" charset="0"/>
                <a:ea typeface="Noto Sans" pitchFamily="34" charset="-122"/>
                <a:cs typeface="Noto Sans" pitchFamily="34" charset="-120"/>
              </a:rPr>
              <a:t>Nazorat va muhokama savollari</a:t>
            </a:r>
            <a:endParaRPr lang="en-US" sz="3200" dirty="0"/>
          </a:p>
        </p:txBody>
      </p:sp>
      <p:sp>
        <p:nvSpPr>
          <p:cNvPr id="4" name="Text 2"/>
          <p:cNvSpPr/>
          <p:nvPr/>
        </p:nvSpPr>
        <p:spPr>
          <a:xfrm>
            <a:off x="910590" y="1803400"/>
            <a:ext cx="5126228" cy="1412240"/>
          </a:xfrm>
          <a:prstGeom prst="rect">
            <a:avLst/>
          </a:prstGeom>
          <a:noFill/>
          <a:ln/>
        </p:spPr>
        <p:txBody>
          <a:bodyPr wrap="square" lIns="0" tIns="0" rIns="0" bIns="0" rtlCol="0" anchor="t">
            <a:normAutofit/>
          </a:bodyPr>
          <a:lstStyle/>
          <a:p>
            <a:pPr algn="l" marL="181610" indent="-181610">
              <a:lnSpc>
                <a:spcPts val="1820"/>
              </a:lnSpc>
              <a:buSzPct val="100000"/>
              <a:buFontTx/>
              <a:buAutoNum type="arabicPeriod" startAt="1"/>
            </a:pPr>
            <a:r>
              <a:rPr lang="en-US" sz="1300" dirty="0">
                <a:solidFill>
                  <a:srgbClr val="E6E9EF"/>
                </a:solidFill>
                <a:latin typeface="Noto Sans" pitchFamily="34" charset="0"/>
                <a:ea typeface="Noto Sans" pitchFamily="34" charset="-122"/>
                <a:cs typeface="Noto Sans" pitchFamily="34" charset="-120"/>
              </a:rPr>
              <a:t>Birlamchi va ikkilamchi oʻzgartirgichlar qanday farqlanadi?</a:t>
            </a:r>
            <a:endParaRPr lang="en-US" sz="1300" dirty="0"/>
          </a:p>
          <a:p>
            <a:pPr algn="l" marL="181610" indent="-181610">
              <a:lnSpc>
                <a:spcPts val="1820"/>
              </a:lnSpc>
              <a:buSzPct val="100000"/>
              <a:buFontTx/>
              <a:buAutoNum type="arabicPeriod" startAt="1"/>
            </a:pPr>
            <a:r>
              <a:rPr lang="en-US" sz="1300" dirty="0">
                <a:solidFill>
                  <a:srgbClr val="E6E9EF"/>
                </a:solidFill>
                <a:latin typeface="Noto Sans" pitchFamily="34" charset="0"/>
                <a:ea typeface="Noto Sans" pitchFamily="34" charset="-122"/>
                <a:cs typeface="Noto Sans" pitchFamily="34" charset="-120"/>
              </a:rPr>
              <a:t>Generatorli va parametrik datchiklarga misollar keltiring.</a:t>
            </a:r>
            <a:endParaRPr lang="en-US" sz="1300" dirty="0"/>
          </a:p>
          <a:p>
            <a:pPr algn="l" marL="181610" indent="-181610">
              <a:lnSpc>
                <a:spcPts val="1820"/>
              </a:lnSpc>
              <a:buSzPct val="100000"/>
              <a:buFontTx/>
              <a:buAutoNum type="arabicPeriod" startAt="1"/>
            </a:pPr>
            <a:r>
              <a:rPr lang="en-US" sz="1300" dirty="0">
                <a:solidFill>
                  <a:srgbClr val="E6E9EF"/>
                </a:solidFill>
                <a:latin typeface="Noto Sans" pitchFamily="34" charset="0"/>
                <a:ea typeface="Noto Sans" pitchFamily="34" charset="-122"/>
                <a:cs typeface="Noto Sans" pitchFamily="34" charset="-120"/>
              </a:rPr>
              <a:t>Fotorezistor va fotodiod qanday farqlanadi?</a:t>
            </a:r>
            <a:endParaRPr lang="en-US" sz="1300" dirty="0"/>
          </a:p>
          <a:p>
            <a:pPr algn="l" marL="181610" indent="-181610">
              <a:lnSpc>
                <a:spcPts val="1820"/>
              </a:lnSpc>
              <a:buSzPct val="100000"/>
              <a:buFontTx/>
              <a:buAutoNum type="arabicPeriod" startAt="1"/>
            </a:pPr>
            <a:r>
              <a:rPr lang="en-US" sz="1300" dirty="0">
                <a:solidFill>
                  <a:srgbClr val="E6E9EF"/>
                </a:solidFill>
                <a:latin typeface="Noto Sans" pitchFamily="34" charset="0"/>
                <a:ea typeface="Noto Sans" pitchFamily="34" charset="-122"/>
                <a:cs typeface="Noto Sans" pitchFamily="34" charset="-120"/>
              </a:rPr>
              <a:t>TIA optik zanjirlarda qanday vazifani bajaradi?</a:t>
            </a:r>
            <a:endParaRPr lang="en-US" sz="1300" dirty="0"/>
          </a:p>
          <a:p>
            <a:pPr algn="l" marL="181610" indent="-181610">
              <a:lnSpc>
                <a:spcPts val="1820"/>
              </a:lnSpc>
              <a:buSzPct val="100000"/>
              <a:buFontTx/>
              <a:buAutoNum type="arabicPeriod" startAt="1"/>
            </a:pPr>
            <a:r>
              <a:rPr lang="en-US" sz="1300" dirty="0">
                <a:solidFill>
                  <a:srgbClr val="E6E9EF"/>
                </a:solidFill>
                <a:latin typeface="Noto Sans" pitchFamily="34" charset="0"/>
                <a:ea typeface="Noto Sans" pitchFamily="34" charset="-122"/>
                <a:cs typeface="Noto Sans" pitchFamily="34" charset="-120"/>
              </a:rPr>
              <a:t>Seebeck effekti va sovuq tutashuv kompensatsiyasi nima?</a:t>
            </a:r>
            <a:endParaRPr lang="en-US" sz="1300" dirty="0"/>
          </a:p>
          <a:p>
            <a:pPr algn="l" marL="181610" indent="-181610">
              <a:lnSpc>
                <a:spcPts val="1820"/>
              </a:lnSpc>
              <a:buSzPct val="100000"/>
              <a:buFontTx/>
              <a:buAutoNum type="arabicPeriod" startAt="1"/>
            </a:pPr>
            <a:r>
              <a:rPr lang="en-US" sz="1300" dirty="0">
                <a:solidFill>
                  <a:srgbClr val="E6E9EF"/>
                </a:solidFill>
                <a:latin typeface="Noto Sans" pitchFamily="34" charset="0"/>
                <a:ea typeface="Noto Sans" pitchFamily="34" charset="-122"/>
                <a:cs typeface="Noto Sans" pitchFamily="34" charset="-120"/>
              </a:rPr>
              <a:t>Pt100 ning R₀ va α parametrlari nimani ifodalaydi?</a:t>
            </a:r>
            <a:endParaRPr lang="en-US" sz="1300" dirty="0"/>
          </a:p>
        </p:txBody>
      </p:sp>
      <p:sp>
        <p:nvSpPr>
          <p:cNvPr id="5" name="Text 3"/>
          <p:cNvSpPr/>
          <p:nvPr/>
        </p:nvSpPr>
        <p:spPr>
          <a:xfrm>
            <a:off x="6396990" y="1803400"/>
            <a:ext cx="5126228" cy="1412240"/>
          </a:xfrm>
          <a:prstGeom prst="rect">
            <a:avLst/>
          </a:prstGeom>
          <a:noFill/>
          <a:ln/>
        </p:spPr>
        <p:txBody>
          <a:bodyPr wrap="square" lIns="0" tIns="0" rIns="0" bIns="0" rtlCol="0" anchor="t">
            <a:normAutofit/>
          </a:bodyPr>
          <a:lstStyle/>
          <a:p>
            <a:pPr algn="l" marL="181610" indent="-181610">
              <a:lnSpc>
                <a:spcPts val="1820"/>
              </a:lnSpc>
              <a:buSzPct val="100000"/>
              <a:buFontTx/>
              <a:buAutoNum type="arabicPeriod" startAt="1"/>
            </a:pPr>
            <a:r>
              <a:rPr lang="en-US" sz="1300" dirty="0">
                <a:solidFill>
                  <a:srgbClr val="E6E9EF"/>
                </a:solidFill>
                <a:latin typeface="Noto Sans" pitchFamily="34" charset="0"/>
                <a:ea typeface="Noto Sans" pitchFamily="34" charset="-122"/>
                <a:cs typeface="Noto Sans" pitchFamily="34" charset="-120"/>
              </a:rPr>
              <a:t>Vitston koʻprigi nima uchun keng qoʻllanadi?</a:t>
            </a:r>
            <a:endParaRPr lang="en-US" sz="1300" dirty="0"/>
          </a:p>
          <a:p>
            <a:pPr algn="l" marL="181610" indent="-181610">
              <a:lnSpc>
                <a:spcPts val="1820"/>
              </a:lnSpc>
              <a:buSzPct val="100000"/>
              <a:buFontTx/>
              <a:buAutoNum type="arabicPeriod" startAt="1"/>
            </a:pPr>
            <a:r>
              <a:rPr lang="en-US" sz="1300" dirty="0">
                <a:solidFill>
                  <a:srgbClr val="E6E9EF"/>
                </a:solidFill>
                <a:latin typeface="Noto Sans" pitchFamily="34" charset="0"/>
                <a:ea typeface="Noto Sans" pitchFamily="34" charset="-122"/>
                <a:cs typeface="Noto Sans" pitchFamily="34" charset="-120"/>
              </a:rPr>
              <a:t>NTC va PTC termistorlar qanday farqlanadi?</a:t>
            </a:r>
            <a:endParaRPr lang="en-US" sz="1300" dirty="0"/>
          </a:p>
          <a:p>
            <a:pPr algn="l" marL="181610" indent="-181610">
              <a:lnSpc>
                <a:spcPts val="1820"/>
              </a:lnSpc>
              <a:buSzPct val="100000"/>
              <a:buFontTx/>
              <a:buAutoNum type="arabicPeriod" startAt="1"/>
            </a:pPr>
            <a:r>
              <a:rPr lang="en-US" sz="1300" dirty="0">
                <a:solidFill>
                  <a:srgbClr val="E6E9EF"/>
                </a:solidFill>
                <a:latin typeface="Noto Sans" pitchFamily="34" charset="0"/>
                <a:ea typeface="Noto Sans" pitchFamily="34" charset="-122"/>
                <a:cs typeface="Noto Sans" pitchFamily="34" charset="-120"/>
              </a:rPr>
              <a:t>Optopara galvanik ajratish uchun qanday ishlatiladi?</a:t>
            </a:r>
            <a:endParaRPr lang="en-US" sz="1300" dirty="0"/>
          </a:p>
          <a:p>
            <a:pPr algn="l" marL="181610" indent="-181610">
              <a:lnSpc>
                <a:spcPts val="1820"/>
              </a:lnSpc>
              <a:buSzPct val="100000"/>
              <a:buFontTx/>
              <a:buAutoNum type="arabicPeriod" startAt="1"/>
            </a:pPr>
            <a:r>
              <a:rPr lang="en-US" sz="1300" dirty="0">
                <a:solidFill>
                  <a:srgbClr val="E6E9EF"/>
                </a:solidFill>
                <a:latin typeface="Noto Sans" pitchFamily="34" charset="0"/>
                <a:ea typeface="Noto Sans" pitchFamily="34" charset="-122"/>
                <a:cs typeface="Noto Sans" pitchFamily="34" charset="-120"/>
              </a:rPr>
              <a:t>Inkremental va absolyut enkoderlar farqi nimada?</a:t>
            </a:r>
            <a:endParaRPr lang="en-US" sz="1300" dirty="0"/>
          </a:p>
          <a:p>
            <a:pPr algn="l" marL="181610" indent="-181610">
              <a:lnSpc>
                <a:spcPts val="1820"/>
              </a:lnSpc>
              <a:buSzPct val="100000"/>
              <a:buFontTx/>
              <a:buAutoNum type="arabicPeriod" startAt="1"/>
            </a:pPr>
            <a:r>
              <a:rPr lang="en-US" sz="1300" dirty="0">
                <a:solidFill>
                  <a:srgbClr val="E6E9EF"/>
                </a:solidFill>
                <a:latin typeface="Noto Sans" pitchFamily="34" charset="0"/>
                <a:ea typeface="Noto Sans" pitchFamily="34" charset="-122"/>
                <a:cs typeface="Noto Sans" pitchFamily="34" charset="-120"/>
              </a:rPr>
              <a:t>Termopara uchun nega instrumental kuchaytirgich kerak?</a:t>
            </a:r>
            <a:endParaRPr lang="en-US" sz="1300" dirty="0"/>
          </a:p>
          <a:p>
            <a:pPr algn="l" marL="181610" indent="-181610">
              <a:lnSpc>
                <a:spcPts val="1820"/>
              </a:lnSpc>
              <a:buSzPct val="100000"/>
              <a:buFontTx/>
              <a:buAutoNum type="arabicPeriod" startAt="1"/>
            </a:pPr>
            <a:r>
              <a:rPr lang="en-US" sz="1300" dirty="0">
                <a:solidFill>
                  <a:srgbClr val="E6E9EF"/>
                </a:solidFill>
                <a:latin typeface="Noto Sans" pitchFamily="34" charset="0"/>
                <a:ea typeface="Noto Sans" pitchFamily="34" charset="-122"/>
                <a:cs typeface="Noto Sans" pitchFamily="34" charset="-120"/>
              </a:rPr>
              <a:t>IC harorat datchiklarining afzalliklari nimada?</a:t>
            </a:r>
            <a:endParaRPr lang="en-US" sz="1300" dirty="0"/>
          </a:p>
        </p:txBody>
      </p:sp>
      <p:sp>
        <p:nvSpPr>
          <p:cNvPr id="6" name="Text 4"/>
          <p:cNvSpPr/>
          <p:nvPr/>
        </p:nvSpPr>
        <p:spPr>
          <a:xfrm>
            <a:off x="812800" y="6238242"/>
            <a:ext cx="10883392" cy="23876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9AA3B5"/>
                </a:solidFill>
                <a:latin typeface="Noto Sans" pitchFamily="34" charset="0"/>
                <a:ea typeface="Noto Sans" pitchFamily="34" charset="-122"/>
                <a:cs typeface="Noto Sans" pitchFamily="34" charset="-120"/>
              </a:rPr>
              <a:t>Amaliyot №6 · Optik va temperatura datchiklari · 16</a:t>
            </a:r>
            <a:endParaRPr lang="en-US" sz="1200" dirty="0"/>
          </a:p>
        </p:txBody>
      </p:sp>
    </p:spTree>
  </p:cSld>
  <p:clrMapOvr>
    <a:masterClrMapping/>
  </p:clrMapOvr>
</p:sld>
</file>

<file path=ppt/theme/theme1.xml><?xml version="1.0" encoding="utf-8"?>
<a:theme xmlns:a="http://schemas.openxmlformats.org/drawingml/2006/main" name="Amaliyot №6. Birlamchi oʻzgartirgichlar: optik va temperatura datchiklari">
  <a:themeElements>
    <a:clrScheme name="Amaliyot №6. Birlamchi oʻzgartirgichlar: optik va temperatura datchiklari">
      <a:dk1>
        <a:srgbClr val="16233B"/>
      </a:dk1>
      <a:lt1>
        <a:srgbClr val="F5F3EE"/>
      </a:lt1>
      <a:dk2>
        <a:srgbClr val="4E5768"/>
      </a:dk2>
      <a:lt2>
        <a:srgbClr val="DFDEDC"/>
      </a:lt2>
      <a:accent1>
        <a:srgbClr val="B5521A"/>
      </a:accent1>
      <a:accent2>
        <a:srgbClr val="2D6CB0"/>
      </a:accent2>
      <a:accent3>
        <a:srgbClr val="D9692B"/>
      </a:accent3>
      <a:accent4>
        <a:srgbClr val="F0A46E"/>
      </a:accent4>
      <a:accent5>
        <a:srgbClr val="8F3F12"/>
      </a:accent5>
      <a:accent6>
        <a:srgbClr val="6B7280"/>
      </a:accent6>
      <a:hlink>
        <a:srgbClr val="0563C1"/>
      </a:hlink>
      <a:folHlink>
        <a:srgbClr val="954F72"/>
      </a:folHlink>
    </a:clrScheme>
    <a:fontScheme name="Amaliyot №6. Birlamchi oʻzgartirgichlar: optik va temperatura datchiklari">
      <a:majorFont>
        <a:latin typeface="Noto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Noto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Amaliyot №6. Birlamchi oʻzgartirgichlar: optik va temperatura datchiklari</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Noto Sans
Copyright 2022 The Noto Project Authors (https://github.com/notofonts/latin-greek-cyrillic)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2026-10-26T09:10:31Z</dcterms:created>
  <dcterms:modified xsi:type="dcterms:W3CDTF">2026-10-26T09:10:31Z</dcterms:modified>
</cp:coreProperties>
</file>