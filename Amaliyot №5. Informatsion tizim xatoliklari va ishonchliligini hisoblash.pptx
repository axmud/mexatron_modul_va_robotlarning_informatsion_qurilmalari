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8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1600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Bugungi amaliy mashgʻulotda oʻlchash xatoliklarini statistik baholash va informatsion tizimlarning ishonchliligini, jumladan zaxiralangan tizimlarni hisoblashni oʻrganamiz.</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Oʻquv vazifalari: xatolik manbalarini (datchik, kuchaytirgich, filtr, ADC, algoritm) oʻrganish; oʻlchash natijalarini statistik qayta ishlash; ishonchlilik koʻrsatkichlarini oʻrganish; RBD sxemalarini tuzish va umumiy ishonchlilikni hisoblash; amaliy muhandislik masalalarini yechish.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Stend boʻlmasa, hisoblash qismini toʻliq Python yoki MATLAB muhitida bajarish mumkin: oʻlchov natijalari jadval sifatida beriladi, ishonchlilik grafiklari esa modellashtirish orqali olinadi.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Xatolik — oʻlchash natijasi va haqiqiy qiymat orasidagi farq. Xₒ — oʻlchangan, Xₕ — haqiqiy qiymat. Sistematik xatolik qayta oʻlchashlarda saqlanadi va tuzatish koeffitsienti bilan yoʻqotiladi. Tasodifiy xatolikni yoʻqotib boʻlmaydi, faqat statistik baholanadi. Qoʻpol xatoliklar natijalardan statistik mezon asosida chiqariladi.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Datchikda nochiziqlilik, gisterezis va harorat drifti; konditsiyalash sxemasida shovqin va ofset kuchlanishi; ADC da kvantlash xatosi (±0,5 LSB); mikrokontroller algoritmida yaxlitlash va approksimatsiya xatolari paydo boʻladi. Aniqlikni oshirish uchun eng katta ulush qoʻshayotgan bosqichni topish kerak.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Maxrajdagi N − 1 tanlanma standart ogʻishini siljishsiz baholash uchun olinadi. Oʻrtacha qiymat yakka oʻlchashdan √N marta aniqroq. Ishonch oraligʻi haqiqiy qiymat P ehtimollik bilan yotadigan oraliq; t — erkinlik darajasi f = N − 1 va ahamiyatlilik darajasi α uchun Student koeffitsienti, keyingi slayddagi jadvaldan olinadi.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Jadval ikki tomonlama Student koeffitsientlarini beradi: α = 0,10; 0,05; 0,01. f cheksizlikka intilganda Student taqsimoti normal taqsimotga aylanadi va t mos ravishda 1,645; 1,960; 2,576 ga teng boʻladi. Oʻlchashlar soni qancha kam boʻlsa, haqiqiy qiymat haqidagi noaniqlik shuncha katta.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F(t) — buzilishlar ehtimollik taqsimot funksiyasi. Eksponensial model λ oʻzgarmas boʻlgan normal ekspluatatsiya davri uchun toʻgʻri. MTBF integral 0 dan cheksizgacha olinadi va eksponensial modelda 1/λ ga teng. Tayyorlik koeffitsienti tizimning ixtiyoriy paytda ishchi holatda boʻlish ehtimoli; MTTR qancha kichik boʻlsa, Kₜ shuncha birga yaqin.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davrda ishlab chiqarish nuqsonlari tufayli buzilishlar koʻp, lekin tez kamayadi — shuning uchun elektron modullar oldindan sinovdan oʻtkaziladi (burn-in). II davrda buzilishlar tasodifiy va λ oʻzgarmas — aynan shu davr uchun P(t) = e^(−λt) va MTBF = 1/λ formulalari toʻgʻri. III davrda yeyilish va qarish tufayli λ ortadi, modulni almashtirish vaqti keladi.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Ketma-ket tizimda bir xil λ li n ta modul uchun P = e^(−nλt), MTBF = 1/(nλ) — tizim har doim eng zaif moduldan ham kam ishonchli. Parallel tizim faqat barcha modullar buzilganda ishdan chiqadi: P = 1 − (1 − e^(−λt))ⁿ. TMR da majoritar element ovoz berish mantiqi bilan kamida ikkita mos signalni tanlaydi; ovoz beruvchi elementning oʻzi ideal deb olinadi. TMR P &gt; 0,5 boʻlgandagina foyda beradi.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Jadvaldagi toʻrt qator namuna sifatida berilgan. Talabalar stenddagi LVDT, enkoder, MEMS IMU va tenzometr uchun xatolik manbalarini aniqlab, jadvalni davom ettiradilar. Har bir manba uchun xatolikning sistematik, tasodifiy yoki qoʻpol ekanini aniqlash va mos kompensatsiya usulini koʻrsatish kerak.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Hisob: e^(−0,05) ≈ 0,9512. TMR uchun 3 · 0,9048 − 2 · 0,8607 ≈ 0,9931. Nosozlik ehtimoli 4,88 % dan 0,69 % gacha kamayadi: 4,88 / 0,69 ≈ 7. Narxi — uchta IMU va majoritar blok, yaʼni koʻproq massa, energiya va xarajat. Dron uchun bu xavfsizlik nuqtai nazaridan oqlanadi.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Optik enkoder bilan robot boʻgʻinining burchagi 6 marta oʻlchangan. Ogʻishlar kvadratlari: 0,000177; 0,002181; 0,001109; 0,000279; 0,000045; 0,000543, yigʻindisi 0,004334. Dispersiya 0,0008668. Student koeffitsienti f = 5, P = 0,95 uchun 2,571. Talabalarga avval hisobni oʻzlari bajarishni topshiring, keyin natijani solishtiring.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Muhim kuzatish: MTBF 40 000 soat boʻlsa ham, 10 000 soatlik ekspluatatsiyada sensorning buzilmaslik ehtimoli atigi 77,88 %. MTBF — kafolatlangan ishlash muddati emas, balki oʻrtacha qiymat; t = MTBF boʻlganda P = e^(−1) ≈ 36,8 %. Tayyorlik koeffitsienti yuqori, chunki tiklash vaqti MTBF ga nisbatan juda kichik.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 2,8 ≈ 3,57. Topshiriq 2 bilan solishtiring: u yerda bitta datchik ishonchliligi yuqoriroq (95 %) boʻlgani uchun TMR samarasi kattaroq — 7 marta. TMR ning foydasi alohida datchik ishonchliligi qanchalik yuqori boʻlsa, shunchalik katta; P 0,5 dan kichik boʻlsa, TMR umuman foyda bermaydi. Qoʻshimcha savol: shu uchta lidar parallel ulansa P qancha boʻladi? Javob: 1 − 0,1³ = 0,999.</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4-bosqichda grafiklarni bitta oʻqda chizish tavsiya etiladi: ketma-ket tizim egri chizigʻi eng past, parallel tizimniki eng yuqori, TMR esa dastlab yakka modul ustida, P = 0,5 nuqtasidan keyin esa uning ostida boʻladi. Bu natijani talabalar bilan alohida muhokama qiling.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Savollar hisobot himoyasida ogʻzaki beriladi. Kritik robotlarga misollar: kosmik robotlar, avtonom transport, tibbiyot robotlari — ularda bitta datchik nosozligi halokatli oqibatga olib kelishi mumkin.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58"/>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6233B"/>
                </a:solidFill>
                <a:latin typeface="Noto Sans" pitchFamily="34" charset="0"/>
                <a:ea typeface="Noto Sans" pitchFamily="34" charset="-122"/>
                <a:cs typeface="Noto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97"/>
            <a:ext cx="10566400" cy="4191003"/>
          </a:xfrm>
          <a:prstGeom prst="rect">
            <a:avLst/>
          </a:prstGeom>
          <a:noFill/>
          <a:ln/>
        </p:spPr>
        <p:txBody>
          <a:bodyPr wrap="square" lIns="0" tIns="0" rIns="0" bIns="0" rtlCol="0" anchor="t"/>
          <a:lstStyle>
            <a:lvl1pPr marL="0" indent="0" algn="l">
              <a:lnSpc>
                <a:spcPct val="140000"/>
              </a:lnSpc>
              <a:buNone/>
              <a:defRPr lang="en-US" sz="1600" dirty="0">
                <a:solidFill>
                  <a:srgbClr val="16233B"/>
                </a:solidFill>
                <a:latin typeface="Noto Sans" pitchFamily="34" charset="0"/>
                <a:ea typeface="Noto Sans" pitchFamily="34" charset="-122"/>
                <a:cs typeface="No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58"/>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6233B"/>
                </a:solidFill>
                <a:latin typeface="Noto Sans" pitchFamily="34" charset="0"/>
                <a:ea typeface="Noto Sans" pitchFamily="34" charset="-122"/>
                <a:cs typeface="Noto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97"/>
            <a:ext cx="10566400" cy="4191003"/>
          </a:xfrm>
          <a:prstGeom prst="rect">
            <a:avLst/>
          </a:prstGeom>
          <a:noFill/>
          <a:ln/>
        </p:spPr>
        <p:txBody>
          <a:bodyPr wrap="square" lIns="0" tIns="0" rIns="0" bIns="0" rtlCol="0" anchor="t"/>
          <a:lstStyle>
            <a:lvl1pPr marL="0" indent="0" algn="l">
              <a:lnSpc>
                <a:spcPct val="140000"/>
              </a:lnSpc>
              <a:buNone/>
              <a:defRPr lang="en-US" sz="1600" dirty="0">
                <a:solidFill>
                  <a:srgbClr val="16233B"/>
                </a:solidFill>
                <a:latin typeface="Noto Sans" pitchFamily="34" charset="0"/>
                <a:ea typeface="Noto Sans" pitchFamily="34" charset="-122"/>
                <a:cs typeface="No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B"/>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D9692B"/>
          </a:solidFill>
          <a:ln/>
        </p:spPr>
        <p:txBody>
          <a:bodyPr/>
          <a:lstStyle/>
          <a:p>
            <a:endParaRPr lang="uz-Latn-UZ"/>
          </a:p>
        </p:txBody>
      </p:sp>
      <p:sp>
        <p:nvSpPr>
          <p:cNvPr id="3" name="Text 1"/>
          <p:cNvSpPr/>
          <p:nvPr/>
        </p:nvSpPr>
        <p:spPr>
          <a:xfrm>
            <a:off x="812800" y="209169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A46E"/>
                </a:solidFill>
                <a:latin typeface="Noto Sans" pitchFamily="34" charset="0"/>
                <a:ea typeface="Noto Sans" pitchFamily="34" charset="-122"/>
                <a:cs typeface="Noto Sans" pitchFamily="34" charset="-120"/>
              </a:rPr>
              <a:t>AMALIYOT MASHGʻULOTI №5</a:t>
            </a:r>
            <a:endParaRPr lang="en-US" sz="1400" dirty="0"/>
          </a:p>
        </p:txBody>
      </p:sp>
      <p:sp>
        <p:nvSpPr>
          <p:cNvPr id="4" name="Text 2"/>
          <p:cNvSpPr>
            <a:spLocks noGrp="1"/>
          </p:cNvSpPr>
          <p:nvPr>
            <p:ph type="title"/>
          </p:nvPr>
        </p:nvSpPr>
        <p:spPr>
          <a:xfrm>
            <a:off x="812800" y="2594610"/>
            <a:ext cx="9810750" cy="13665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5F3EE"/>
                </a:solidFill>
                <a:latin typeface="Noto Sans" pitchFamily="34" charset="0"/>
                <a:ea typeface="Noto Sans" pitchFamily="34" charset="-122"/>
                <a:cs typeface="Noto Sans" pitchFamily="34" charset="-120"/>
              </a:rPr>
              <a:t>Informatsion tizim xatoliklari va ishonchliligini hisoblash</a:t>
            </a:r>
            <a:endParaRPr lang="en-US" sz="4800" dirty="0"/>
          </a:p>
        </p:txBody>
      </p:sp>
      <p:sp>
        <p:nvSpPr>
          <p:cNvPr id="5" name="Shape 3"/>
          <p:cNvSpPr/>
          <p:nvPr/>
        </p:nvSpPr>
        <p:spPr>
          <a:xfrm>
            <a:off x="812800" y="4189730"/>
            <a:ext cx="1270000" cy="38100"/>
          </a:xfrm>
          <a:prstGeom prst="rect">
            <a:avLst/>
          </a:prstGeom>
          <a:solidFill>
            <a:srgbClr val="D9692B"/>
          </a:solidFill>
          <a:ln/>
        </p:spPr>
        <p:txBody>
          <a:bodyPr/>
          <a:lstStyle/>
          <a:p>
            <a:endParaRPr lang="uz-Latn-UZ"/>
          </a:p>
        </p:txBody>
      </p:sp>
      <p:sp>
        <p:nvSpPr>
          <p:cNvPr id="6" name="Text 4"/>
          <p:cNvSpPr/>
          <p:nvPr/>
        </p:nvSpPr>
        <p:spPr>
          <a:xfrm>
            <a:off x="812800" y="4481830"/>
            <a:ext cx="915670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CFDB"/>
                </a:solidFill>
                <a:latin typeface="Noto Sans" pitchFamily="34" charset="0"/>
                <a:ea typeface="Noto Sans" pitchFamily="34" charset="-122"/>
                <a:cs typeface="Noto Sans" pitchFamily="34" charset="-120"/>
              </a:rPr>
              <a:t>«Mexatron modul va robotlarning informatsion qurilmalari» fani</a:t>
            </a:r>
            <a:endParaRPr lang="en-US" sz="1600" dirty="0"/>
          </a:p>
        </p:txBody>
      </p:sp>
      <p:sp>
        <p:nvSpPr>
          <p:cNvPr id="7" name="Text 5"/>
          <p:cNvSpPr/>
          <p:nvPr/>
        </p:nvSpPr>
        <p:spPr>
          <a:xfrm>
            <a:off x="812800" y="623824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3B5"/>
                </a:solidFill>
                <a:latin typeface="Noto Sans" pitchFamily="34" charset="0"/>
                <a:ea typeface="Noto Sans" pitchFamily="34" charset="-122"/>
                <a:cs typeface="Noto Sans" pitchFamily="34" charset="-120"/>
              </a:rPr>
              <a:t>Kamolov Maxmud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KIRISH</a:t>
            </a:r>
            <a:endParaRPr lang="en-US" sz="1200" dirty="0"/>
          </a:p>
        </p:txBody>
      </p:sp>
      <p:sp>
        <p:nvSpPr>
          <p:cNvPr id="3" name="Text 1"/>
          <p:cNvSpPr>
            <a:spLocks noGrp="1"/>
          </p:cNvSpPr>
          <p:nvPr>
            <p:ph type="title"/>
          </p:nvPr>
        </p:nvSpPr>
        <p:spPr>
          <a:xfrm>
            <a:off x="812800" y="110236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Ishning maqsadi</a:t>
            </a:r>
            <a:endParaRPr lang="en-US" sz="3200" dirty="0"/>
          </a:p>
        </p:txBody>
      </p:sp>
      <p:sp>
        <p:nvSpPr>
          <p:cNvPr id="4" name="Text 2"/>
          <p:cNvSpPr/>
          <p:nvPr/>
        </p:nvSpPr>
        <p:spPr>
          <a:xfrm>
            <a:off x="812800" y="1828800"/>
            <a:ext cx="10464800"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D2433"/>
                </a:solidFill>
                <a:latin typeface="Noto Sans" pitchFamily="34" charset="0"/>
                <a:ea typeface="Noto Sans" pitchFamily="34" charset="-122"/>
                <a:cs typeface="Noto Sans" pitchFamily="34" charset="-120"/>
              </a:rPr>
              <a:t>Informatsion tizimlarning oʻlchash xatoliklarini statistik tahlil qilish, ishonchlilik koʻrsatkichlarini hamda zaxiralangan va koʻp kanalli tizimlarning ishonchliligini hisoblash koʻnikmasini shakllantirish.</a:t>
            </a:r>
            <a:endParaRPr lang="en-US" sz="1700" dirty="0"/>
          </a:p>
        </p:txBody>
      </p:sp>
      <p:sp>
        <p:nvSpPr>
          <p:cNvPr id="5" name="Shape 3"/>
          <p:cNvSpPr/>
          <p:nvPr/>
        </p:nvSpPr>
        <p:spPr>
          <a:xfrm>
            <a:off x="815975" y="2715895"/>
            <a:ext cx="2005330" cy="1484630"/>
          </a:xfrm>
          <a:prstGeom prst="roundRect">
            <a:avLst>
              <a:gd name="adj" fmla="val 4919"/>
            </a:avLst>
          </a:prstGeom>
          <a:solidFill>
            <a:srgbClr val="FDFCF9"/>
          </a:solidFill>
          <a:ln w="6350">
            <a:solidFill>
              <a:srgbClr val="E2DED4"/>
            </a:solidFill>
            <a:prstDash val="solid"/>
          </a:ln>
        </p:spPr>
        <p:txBody>
          <a:bodyPr/>
          <a:lstStyle/>
          <a:p>
            <a:endParaRPr lang="uz-Latn-UZ"/>
          </a:p>
        </p:txBody>
      </p:sp>
      <p:sp>
        <p:nvSpPr>
          <p:cNvPr id="6" name="Text 4"/>
          <p:cNvSpPr/>
          <p:nvPr/>
        </p:nvSpPr>
        <p:spPr>
          <a:xfrm>
            <a:off x="995680" y="2895600"/>
            <a:ext cx="16967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D9692B"/>
                </a:solidFill>
                <a:latin typeface="Noto Sans" pitchFamily="34" charset="0"/>
                <a:ea typeface="Noto Sans" pitchFamily="34" charset="-122"/>
                <a:cs typeface="Noto Sans" pitchFamily="34" charset="-120"/>
              </a:rPr>
              <a:t>1</a:t>
            </a:r>
            <a:endParaRPr lang="en-US" sz="2000" dirty="0"/>
          </a:p>
        </p:txBody>
      </p:sp>
      <p:sp>
        <p:nvSpPr>
          <p:cNvPr id="7" name="Text 5"/>
          <p:cNvSpPr/>
          <p:nvPr/>
        </p:nvSpPr>
        <p:spPr>
          <a:xfrm>
            <a:off x="995680" y="3327400"/>
            <a:ext cx="169672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Xatolik manbalari va ularning tasnifi</a:t>
            </a:r>
            <a:endParaRPr lang="en-US" sz="1300" dirty="0"/>
          </a:p>
        </p:txBody>
      </p:sp>
      <p:sp>
        <p:nvSpPr>
          <p:cNvPr id="8" name="Shape 6"/>
          <p:cNvSpPr/>
          <p:nvPr/>
        </p:nvSpPr>
        <p:spPr>
          <a:xfrm>
            <a:off x="2954655" y="2715895"/>
            <a:ext cx="2005330" cy="1484630"/>
          </a:xfrm>
          <a:prstGeom prst="roundRect">
            <a:avLst>
              <a:gd name="adj" fmla="val 4919"/>
            </a:avLst>
          </a:prstGeom>
          <a:solidFill>
            <a:srgbClr val="FDFCF9"/>
          </a:solidFill>
          <a:ln w="6350">
            <a:solidFill>
              <a:srgbClr val="E2DED4"/>
            </a:solidFill>
            <a:prstDash val="solid"/>
          </a:ln>
        </p:spPr>
        <p:txBody>
          <a:bodyPr/>
          <a:lstStyle/>
          <a:p>
            <a:endParaRPr lang="uz-Latn-UZ"/>
          </a:p>
        </p:txBody>
      </p:sp>
      <p:sp>
        <p:nvSpPr>
          <p:cNvPr id="9" name="Text 7"/>
          <p:cNvSpPr/>
          <p:nvPr/>
        </p:nvSpPr>
        <p:spPr>
          <a:xfrm>
            <a:off x="3134360" y="2895600"/>
            <a:ext cx="16967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D9692B"/>
                </a:solidFill>
                <a:latin typeface="Noto Sans" pitchFamily="34" charset="0"/>
                <a:ea typeface="Noto Sans" pitchFamily="34" charset="-122"/>
                <a:cs typeface="Noto Sans" pitchFamily="34" charset="-120"/>
              </a:rPr>
              <a:t>2</a:t>
            </a:r>
            <a:endParaRPr lang="en-US" sz="2000" dirty="0"/>
          </a:p>
        </p:txBody>
      </p:sp>
      <p:sp>
        <p:nvSpPr>
          <p:cNvPr id="10" name="Text 8"/>
          <p:cNvSpPr/>
          <p:nvPr/>
        </p:nvSpPr>
        <p:spPr>
          <a:xfrm>
            <a:off x="3134360" y="3327400"/>
            <a:ext cx="169672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Statistik tahlil: x̄, S, Student ishonch oraligʻi</a:t>
            </a:r>
            <a:endParaRPr lang="en-US" sz="1300" dirty="0"/>
          </a:p>
        </p:txBody>
      </p:sp>
      <p:sp>
        <p:nvSpPr>
          <p:cNvPr id="11" name="Shape 9"/>
          <p:cNvSpPr/>
          <p:nvPr/>
        </p:nvSpPr>
        <p:spPr>
          <a:xfrm>
            <a:off x="5093335" y="2715895"/>
            <a:ext cx="2005330" cy="1484630"/>
          </a:xfrm>
          <a:prstGeom prst="roundRect">
            <a:avLst>
              <a:gd name="adj" fmla="val 4919"/>
            </a:avLst>
          </a:prstGeom>
          <a:solidFill>
            <a:srgbClr val="FDFCF9"/>
          </a:solidFill>
          <a:ln w="6350">
            <a:solidFill>
              <a:srgbClr val="E2DED4"/>
            </a:solidFill>
            <a:prstDash val="solid"/>
          </a:ln>
        </p:spPr>
        <p:txBody>
          <a:bodyPr/>
          <a:lstStyle/>
          <a:p>
            <a:endParaRPr lang="uz-Latn-UZ"/>
          </a:p>
        </p:txBody>
      </p:sp>
      <p:sp>
        <p:nvSpPr>
          <p:cNvPr id="12" name="Text 10"/>
          <p:cNvSpPr/>
          <p:nvPr/>
        </p:nvSpPr>
        <p:spPr>
          <a:xfrm>
            <a:off x="5273040" y="2895600"/>
            <a:ext cx="16967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D9692B"/>
                </a:solidFill>
                <a:latin typeface="Noto Sans" pitchFamily="34" charset="0"/>
                <a:ea typeface="Noto Sans" pitchFamily="34" charset="-122"/>
                <a:cs typeface="Noto Sans" pitchFamily="34" charset="-120"/>
              </a:rPr>
              <a:t>3</a:t>
            </a:r>
            <a:endParaRPr lang="en-US" sz="2000" dirty="0"/>
          </a:p>
        </p:txBody>
      </p:sp>
      <p:sp>
        <p:nvSpPr>
          <p:cNvPr id="13" name="Text 11"/>
          <p:cNvSpPr/>
          <p:nvPr/>
        </p:nvSpPr>
        <p:spPr>
          <a:xfrm>
            <a:off x="5273040" y="3327400"/>
            <a:ext cx="169672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Ishonchlilik: λ, P(t), MTBF, MTTR, Kₜ</a:t>
            </a:r>
            <a:endParaRPr lang="en-US" sz="1300" dirty="0"/>
          </a:p>
        </p:txBody>
      </p:sp>
      <p:sp>
        <p:nvSpPr>
          <p:cNvPr id="14" name="Shape 12"/>
          <p:cNvSpPr/>
          <p:nvPr/>
        </p:nvSpPr>
        <p:spPr>
          <a:xfrm>
            <a:off x="7232015" y="2715895"/>
            <a:ext cx="2005330" cy="1484630"/>
          </a:xfrm>
          <a:prstGeom prst="roundRect">
            <a:avLst>
              <a:gd name="adj" fmla="val 4919"/>
            </a:avLst>
          </a:prstGeom>
          <a:solidFill>
            <a:srgbClr val="FDFCF9"/>
          </a:solidFill>
          <a:ln w="6350">
            <a:solidFill>
              <a:srgbClr val="E2DED4"/>
            </a:solidFill>
            <a:prstDash val="solid"/>
          </a:ln>
        </p:spPr>
        <p:txBody>
          <a:bodyPr/>
          <a:lstStyle/>
          <a:p>
            <a:endParaRPr lang="uz-Latn-UZ"/>
          </a:p>
        </p:txBody>
      </p:sp>
      <p:sp>
        <p:nvSpPr>
          <p:cNvPr id="15" name="Text 13"/>
          <p:cNvSpPr/>
          <p:nvPr/>
        </p:nvSpPr>
        <p:spPr>
          <a:xfrm>
            <a:off x="7411720" y="2895600"/>
            <a:ext cx="16967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D9692B"/>
                </a:solidFill>
                <a:latin typeface="Noto Sans" pitchFamily="34" charset="0"/>
                <a:ea typeface="Noto Sans" pitchFamily="34" charset="-122"/>
                <a:cs typeface="Noto Sans" pitchFamily="34" charset="-120"/>
              </a:rPr>
              <a:t>4</a:t>
            </a:r>
            <a:endParaRPr lang="en-US" sz="2000" dirty="0"/>
          </a:p>
        </p:txBody>
      </p:sp>
      <p:sp>
        <p:nvSpPr>
          <p:cNvPr id="16" name="Text 14"/>
          <p:cNvSpPr/>
          <p:nvPr/>
        </p:nvSpPr>
        <p:spPr>
          <a:xfrm>
            <a:off x="7411720" y="3327400"/>
            <a:ext cx="169672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Ketma-ket, parallel va TMR tuzilmalar (RBD)</a:t>
            </a:r>
            <a:endParaRPr lang="en-US" sz="1300" dirty="0"/>
          </a:p>
        </p:txBody>
      </p:sp>
      <p:sp>
        <p:nvSpPr>
          <p:cNvPr id="17" name="Shape 15"/>
          <p:cNvSpPr/>
          <p:nvPr/>
        </p:nvSpPr>
        <p:spPr>
          <a:xfrm>
            <a:off x="9370695" y="2715895"/>
            <a:ext cx="2005330" cy="1484630"/>
          </a:xfrm>
          <a:prstGeom prst="roundRect">
            <a:avLst>
              <a:gd name="adj" fmla="val 4919"/>
            </a:avLst>
          </a:prstGeom>
          <a:solidFill>
            <a:srgbClr val="FDFCF9"/>
          </a:solidFill>
          <a:ln w="6350">
            <a:solidFill>
              <a:srgbClr val="E2DED4"/>
            </a:solidFill>
            <a:prstDash val="solid"/>
          </a:ln>
        </p:spPr>
        <p:txBody>
          <a:bodyPr/>
          <a:lstStyle/>
          <a:p>
            <a:endParaRPr lang="uz-Latn-UZ"/>
          </a:p>
        </p:txBody>
      </p:sp>
      <p:sp>
        <p:nvSpPr>
          <p:cNvPr id="18" name="Text 16"/>
          <p:cNvSpPr/>
          <p:nvPr/>
        </p:nvSpPr>
        <p:spPr>
          <a:xfrm>
            <a:off x="9550400" y="2895600"/>
            <a:ext cx="169672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D9692B"/>
                </a:solidFill>
                <a:latin typeface="Noto Sans" pitchFamily="34" charset="0"/>
                <a:ea typeface="Noto Sans" pitchFamily="34" charset="-122"/>
                <a:cs typeface="Noto Sans" pitchFamily="34" charset="-120"/>
              </a:rPr>
              <a:t>5</a:t>
            </a:r>
            <a:endParaRPr lang="en-US" sz="2000" dirty="0"/>
          </a:p>
        </p:txBody>
      </p:sp>
      <p:sp>
        <p:nvSpPr>
          <p:cNvPr id="19" name="Text 17"/>
          <p:cNvSpPr/>
          <p:nvPr/>
        </p:nvSpPr>
        <p:spPr>
          <a:xfrm>
            <a:off x="9550400" y="3327400"/>
            <a:ext cx="1696720"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Datchiklar ishonchliligi boʻyicha masalalar</a:t>
            </a:r>
            <a:endParaRPr lang="en-US" sz="1300" dirty="0"/>
          </a:p>
        </p:txBody>
      </p:sp>
      <p:sp>
        <p:nvSpPr>
          <p:cNvPr id="20" name="Text 18"/>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№5 · Informatsion tizim xatoliklari va ishonchliligi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KIRISH</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Asbob-uskunalar va dasturiy taʼminot</a:t>
            </a:r>
            <a:endParaRPr lang="en-US" sz="3200" dirty="0"/>
          </a:p>
        </p:txBody>
      </p:sp>
      <p:sp>
        <p:nvSpPr>
          <p:cNvPr id="4" name="Shape 2"/>
          <p:cNvSpPr/>
          <p:nvPr/>
        </p:nvSpPr>
        <p:spPr>
          <a:xfrm>
            <a:off x="815975" y="1857375"/>
            <a:ext cx="3383704" cy="2467610"/>
          </a:xfrm>
          <a:prstGeom prst="roundRect">
            <a:avLst>
              <a:gd name="adj" fmla="val 3989"/>
            </a:avLst>
          </a:prstGeom>
          <a:solidFill>
            <a:srgbClr val="FDFCF9"/>
          </a:solidFill>
          <a:ln w="6350">
            <a:solidFill>
              <a:srgbClr val="E2DED4"/>
            </a:solidFill>
            <a:prstDash val="solid"/>
          </a:ln>
        </p:spPr>
        <p:txBody>
          <a:bodyPr/>
          <a:lstStyle/>
          <a:p>
            <a:endParaRPr lang="uz-Latn-UZ"/>
          </a:p>
        </p:txBody>
      </p:sp>
      <p:sp>
        <p:nvSpPr>
          <p:cNvPr id="5" name="Text 3"/>
          <p:cNvSpPr/>
          <p:nvPr/>
        </p:nvSpPr>
        <p:spPr>
          <a:xfrm>
            <a:off x="1071880" y="2113280"/>
            <a:ext cx="2958050" cy="284480"/>
          </a:xfrm>
          <a:prstGeom prst="rect">
            <a:avLst/>
          </a:prstGeom>
          <a:noFill/>
          <a:ln/>
        </p:spPr>
        <p:txBody>
          <a:bodyPr wrap="square" lIns="0" tIns="0" rIns="0" bIns="0" rtlCol="0" anchor="t">
            <a:normAutofit/>
          </a:bodyPr>
          <a:lstStyle/>
          <a:p>
            <a:pPr marL="0" indent="0" algn="l">
              <a:lnSpc>
                <a:spcPts val="2040"/>
              </a:lnSpc>
              <a:buNone/>
            </a:pPr>
            <a:r>
              <a:rPr lang="en-US" sz="1700" b="1" dirty="0" err="1">
                <a:solidFill>
                  <a:srgbClr val="1D2433"/>
                </a:solidFill>
                <a:latin typeface="Noto Sans" pitchFamily="34" charset="0"/>
                <a:ea typeface="Noto Sans" pitchFamily="34" charset="-122"/>
                <a:cs typeface="Noto Sans" pitchFamily="34" charset="-120"/>
              </a:rPr>
              <a:t>Oʻquv</a:t>
            </a:r>
            <a:r>
              <a:rPr lang="en-US" sz="1700" b="1" dirty="0">
                <a:solidFill>
                  <a:srgbClr val="1D2433"/>
                </a:solidFill>
                <a:latin typeface="Noto Sans" pitchFamily="34" charset="0"/>
                <a:ea typeface="Noto Sans" pitchFamily="34" charset="-122"/>
                <a:cs typeface="Noto Sans" pitchFamily="34" charset="-120"/>
              </a:rPr>
              <a:t> stendlari</a:t>
            </a:r>
            <a:endParaRPr lang="en-US" sz="1700" dirty="0"/>
          </a:p>
        </p:txBody>
      </p:sp>
      <p:sp>
        <p:nvSpPr>
          <p:cNvPr id="6" name="Text 4"/>
          <p:cNvSpPr/>
          <p:nvPr/>
        </p:nvSpPr>
        <p:spPr>
          <a:xfrm>
            <a:off x="1071880" y="2473961"/>
            <a:ext cx="295805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D2433"/>
                </a:solidFill>
                <a:latin typeface="Noto Sans" pitchFamily="34" charset="0"/>
                <a:ea typeface="Noto Sans" pitchFamily="34" charset="-122"/>
                <a:cs typeface="Noto Sans" pitchFamily="34" charset="-120"/>
              </a:rPr>
              <a:t>Xatolik va ishonchlilikni tadqiq qilish stendi</a:t>
            </a:r>
            <a:endParaRPr lang="en-US" sz="1400" dirty="0"/>
          </a:p>
        </p:txBody>
      </p:sp>
      <p:sp>
        <p:nvSpPr>
          <p:cNvPr id="7" name="Text 5"/>
          <p:cNvSpPr/>
          <p:nvPr/>
        </p:nvSpPr>
        <p:spPr>
          <a:xfrm>
            <a:off x="1071880" y="3073400"/>
            <a:ext cx="2958050"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D2433"/>
                </a:solidFill>
                <a:latin typeface="Noto Sans" pitchFamily="34" charset="0"/>
                <a:ea typeface="Noto Sans" pitchFamily="34" charset="-122"/>
                <a:cs typeface="Noto Sans" pitchFamily="34" charset="-120"/>
              </a:rPr>
              <a:t>Koʻp kanalli zaxiralangan datchiklar bloki: LVDT, optik enkoderlar, MEMS IMU, tenzometrlar</a:t>
            </a:r>
            <a:endParaRPr lang="en-US" sz="1400" dirty="0"/>
          </a:p>
        </p:txBody>
      </p:sp>
      <p:sp>
        <p:nvSpPr>
          <p:cNvPr id="8" name="Shape 6"/>
          <p:cNvSpPr/>
          <p:nvPr/>
        </p:nvSpPr>
        <p:spPr>
          <a:xfrm>
            <a:off x="4409229" y="1857375"/>
            <a:ext cx="3383704" cy="2467610"/>
          </a:xfrm>
          <a:prstGeom prst="roundRect">
            <a:avLst>
              <a:gd name="adj" fmla="val 3989"/>
            </a:avLst>
          </a:prstGeom>
          <a:solidFill>
            <a:srgbClr val="FDFCF9"/>
          </a:solidFill>
          <a:ln w="6350">
            <a:solidFill>
              <a:srgbClr val="E2DED4"/>
            </a:solidFill>
            <a:prstDash val="solid"/>
          </a:ln>
        </p:spPr>
        <p:txBody>
          <a:bodyPr/>
          <a:lstStyle/>
          <a:p>
            <a:endParaRPr lang="uz-Latn-UZ"/>
          </a:p>
        </p:txBody>
      </p:sp>
      <p:sp>
        <p:nvSpPr>
          <p:cNvPr id="9" name="Text 7"/>
          <p:cNvSpPr/>
          <p:nvPr/>
        </p:nvSpPr>
        <p:spPr>
          <a:xfrm>
            <a:off x="4665133" y="2113280"/>
            <a:ext cx="2958050"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D2433"/>
                </a:solidFill>
                <a:latin typeface="Noto Sans" pitchFamily="34" charset="0"/>
                <a:ea typeface="Noto Sans" pitchFamily="34" charset="-122"/>
                <a:cs typeface="Noto Sans" pitchFamily="34" charset="-120"/>
              </a:rPr>
              <a:t>Nazorat-oʻlchov vositalari</a:t>
            </a:r>
            <a:endParaRPr lang="en-US" sz="1700" dirty="0"/>
          </a:p>
        </p:txBody>
      </p:sp>
      <p:sp>
        <p:nvSpPr>
          <p:cNvPr id="10" name="Text 8"/>
          <p:cNvSpPr/>
          <p:nvPr/>
        </p:nvSpPr>
        <p:spPr>
          <a:xfrm>
            <a:off x="4665133" y="2473961"/>
            <a:ext cx="295805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D2433"/>
                </a:solidFill>
                <a:latin typeface="Noto Sans" pitchFamily="34" charset="0"/>
                <a:ea typeface="Noto Sans" pitchFamily="34" charset="-122"/>
                <a:cs typeface="Noto Sans" pitchFamily="34" charset="-120"/>
              </a:rPr>
              <a:t>Raqamli ossillograf, aniq multimetr, etalon generator</a:t>
            </a:r>
            <a:endParaRPr lang="en-US" sz="1400" dirty="0"/>
          </a:p>
        </p:txBody>
      </p:sp>
      <p:sp>
        <p:nvSpPr>
          <p:cNvPr id="11" name="Text 9"/>
          <p:cNvSpPr/>
          <p:nvPr/>
        </p:nvSpPr>
        <p:spPr>
          <a:xfrm>
            <a:off x="4665133" y="3073400"/>
            <a:ext cx="295805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D2433"/>
                </a:solidFill>
                <a:latin typeface="Noto Sans" pitchFamily="34" charset="0"/>
                <a:ea typeface="Noto Sans" pitchFamily="34" charset="-122"/>
                <a:cs typeface="Noto Sans" pitchFamily="34" charset="-120"/>
              </a:rPr>
              <a:t>Nosozliklarni simulyatsiya qilish bloki (Fault Injector Module)</a:t>
            </a:r>
            <a:endParaRPr lang="en-US" sz="1400" dirty="0"/>
          </a:p>
        </p:txBody>
      </p:sp>
      <p:sp>
        <p:nvSpPr>
          <p:cNvPr id="12" name="Shape 10"/>
          <p:cNvSpPr/>
          <p:nvPr/>
        </p:nvSpPr>
        <p:spPr>
          <a:xfrm>
            <a:off x="7999307" y="1854200"/>
            <a:ext cx="3379893" cy="2473960"/>
          </a:xfrm>
          <a:prstGeom prst="roundRect">
            <a:avLst>
              <a:gd name="adj" fmla="val 4107"/>
            </a:avLst>
          </a:prstGeom>
          <a:solidFill>
            <a:srgbClr val="16233B"/>
          </a:solidFill>
          <a:ln/>
        </p:spPr>
        <p:txBody>
          <a:bodyPr/>
          <a:lstStyle/>
          <a:p>
            <a:endParaRPr lang="uz-Latn-UZ"/>
          </a:p>
        </p:txBody>
      </p:sp>
      <p:sp>
        <p:nvSpPr>
          <p:cNvPr id="13" name="Shape 11"/>
          <p:cNvSpPr/>
          <p:nvPr/>
        </p:nvSpPr>
        <p:spPr>
          <a:xfrm>
            <a:off x="7999307" y="1854200"/>
            <a:ext cx="3379893" cy="2473960"/>
          </a:xfrm>
          <a:custGeom>
            <a:avLst/>
            <a:gdLst/>
            <a:ahLst/>
            <a:cxnLst/>
            <a:rect l="l" t="t" r="r" b="b"/>
            <a:pathLst>
              <a:path w="3379893" h="2473960">
                <a:moveTo>
                  <a:pt x="0" y="101600"/>
                </a:moveTo>
                <a:lnTo>
                  <a:pt x="0" y="101600"/>
                </a:lnTo>
                <a:arcTo wR="101600" hR="101600" stAng="10800000" swAng="5400000"/>
                <a:lnTo>
                  <a:pt x="3278293" y="0"/>
                </a:lnTo>
                <a:arcTo wR="101600" hR="101600" stAng="16200000" swAng="5400000"/>
                <a:lnTo>
                  <a:pt x="3379893" y="101600"/>
                </a:lnTo>
                <a:arcTo wR="101600" hR="50800" stAng="0" swAng="-5400000"/>
                <a:lnTo>
                  <a:pt x="101600" y="50800"/>
                </a:lnTo>
                <a:arcTo wR="101600" hR="50800" stAng="16200000" swAng="-5400000"/>
                <a:close/>
              </a:path>
            </a:pathLst>
          </a:custGeom>
          <a:solidFill>
            <a:srgbClr val="D9692B"/>
          </a:solidFill>
          <a:ln/>
        </p:spPr>
        <p:txBody>
          <a:bodyPr/>
          <a:lstStyle/>
          <a:p>
            <a:endParaRPr lang="uz-Latn-UZ"/>
          </a:p>
        </p:txBody>
      </p:sp>
      <p:sp>
        <p:nvSpPr>
          <p:cNvPr id="14" name="Text 12"/>
          <p:cNvSpPr/>
          <p:nvPr/>
        </p:nvSpPr>
        <p:spPr>
          <a:xfrm>
            <a:off x="8253307" y="2159000"/>
            <a:ext cx="2958050"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0A46E"/>
                </a:solidFill>
                <a:latin typeface="Noto Sans" pitchFamily="34" charset="0"/>
                <a:ea typeface="Noto Sans" pitchFamily="34" charset="-122"/>
                <a:cs typeface="Noto Sans" pitchFamily="34" charset="-120"/>
              </a:rPr>
              <a:t>Dasturiy muhit</a:t>
            </a:r>
            <a:endParaRPr lang="en-US" sz="1700" dirty="0"/>
          </a:p>
        </p:txBody>
      </p:sp>
      <p:sp>
        <p:nvSpPr>
          <p:cNvPr id="15" name="Text 13"/>
          <p:cNvSpPr/>
          <p:nvPr/>
        </p:nvSpPr>
        <p:spPr>
          <a:xfrm>
            <a:off x="8253307" y="2519680"/>
            <a:ext cx="295805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3EE"/>
                </a:solidFill>
                <a:latin typeface="Noto Sans" pitchFamily="34" charset="0"/>
                <a:ea typeface="Noto Sans" pitchFamily="34" charset="-122"/>
                <a:cs typeface="Noto Sans" pitchFamily="34" charset="-120"/>
              </a:rPr>
              <a:t>MATLAB / Simulink (Statistics and Machine Learning Toolbox)</a:t>
            </a:r>
            <a:endParaRPr lang="en-US" sz="1400" dirty="0"/>
          </a:p>
        </p:txBody>
      </p:sp>
      <p:sp>
        <p:nvSpPr>
          <p:cNvPr id="16" name="Text 14"/>
          <p:cNvSpPr/>
          <p:nvPr/>
        </p:nvSpPr>
        <p:spPr>
          <a:xfrm>
            <a:off x="8253307" y="3119120"/>
            <a:ext cx="295805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3EE"/>
                </a:solidFill>
                <a:latin typeface="Noto Sans" pitchFamily="34" charset="0"/>
                <a:ea typeface="Noto Sans" pitchFamily="34" charset="-122"/>
                <a:cs typeface="Noto Sans" pitchFamily="34" charset="-120"/>
              </a:rPr>
              <a:t>LabVIEW</a:t>
            </a:r>
            <a:endParaRPr lang="en-US" sz="1400" dirty="0"/>
          </a:p>
        </p:txBody>
      </p:sp>
      <p:sp>
        <p:nvSpPr>
          <p:cNvPr id="17" name="Text 15"/>
          <p:cNvSpPr/>
          <p:nvPr/>
        </p:nvSpPr>
        <p:spPr>
          <a:xfrm>
            <a:off x="8253307" y="3469639"/>
            <a:ext cx="295805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5F3EE"/>
                </a:solidFill>
                <a:latin typeface="Noto Sans" pitchFamily="34" charset="0"/>
                <a:ea typeface="Noto Sans" pitchFamily="34" charset="-122"/>
                <a:cs typeface="Noto Sans" pitchFamily="34" charset="-120"/>
              </a:rPr>
              <a:t>Python: NumPy, SciPy, Statsmodels</a:t>
            </a:r>
            <a:endParaRPr lang="en-US" sz="1400" dirty="0"/>
          </a:p>
        </p:txBody>
      </p:sp>
      <p:sp>
        <p:nvSpPr>
          <p:cNvPr id="18" name="Text 16"/>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№5 · Informatsion tizim xatoliklari va ishonchliligi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XATOLIKLAR</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Xatolik turlari va tasnifi</a:t>
            </a:r>
            <a:endParaRPr lang="en-US" sz="3200" dirty="0"/>
          </a:p>
        </p:txBody>
      </p:sp>
      <p:sp>
        <p:nvSpPr>
          <p:cNvPr id="4" name="Shape 2"/>
          <p:cNvSpPr/>
          <p:nvPr/>
        </p:nvSpPr>
        <p:spPr>
          <a:xfrm>
            <a:off x="815975" y="1806575"/>
            <a:ext cx="5124450" cy="862330"/>
          </a:xfrm>
          <a:custGeom>
            <a:avLst/>
            <a:gdLst/>
            <a:ahLst/>
            <a:cxnLst/>
            <a:rect l="l" t="t" r="r" b="b"/>
            <a:pathLst>
              <a:path w="5124450" h="862330">
                <a:moveTo>
                  <a:pt x="73025" y="0"/>
                </a:moveTo>
                <a:lnTo>
                  <a:pt x="5051425" y="0"/>
                </a:lnTo>
                <a:arcTo wR="73025" hR="73025" stAng="16200000" swAng="5400000"/>
                <a:lnTo>
                  <a:pt x="5124450" y="862330"/>
                </a:lnTo>
                <a:lnTo>
                  <a:pt x="0" y="862330"/>
                </a:lnTo>
                <a:lnTo>
                  <a:pt x="0" y="73025"/>
                </a:lnTo>
                <a:arcTo wR="73025" hR="73025" stAng="10800000" swAng="5400000"/>
                <a:close/>
              </a:path>
            </a:pathLst>
          </a:custGeom>
          <a:solidFill>
            <a:srgbClr val="FDFCF9"/>
          </a:solidFill>
          <a:ln w="6350">
            <a:solidFill>
              <a:srgbClr val="E2DED4"/>
            </a:solidFill>
            <a:prstDash val="solid"/>
          </a:ln>
        </p:spPr>
        <p:txBody>
          <a:bodyPr/>
          <a:lstStyle/>
          <a:p>
            <a:endParaRPr lang="uz-Latn-UZ"/>
          </a:p>
        </p:txBody>
      </p:sp>
      <p:sp>
        <p:nvSpPr>
          <p:cNvPr id="5" name="Text 3"/>
          <p:cNvSpPr/>
          <p:nvPr/>
        </p:nvSpPr>
        <p:spPr>
          <a:xfrm>
            <a:off x="1021080" y="1960880"/>
            <a:ext cx="485566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Absolyut</a:t>
            </a:r>
            <a:endParaRPr lang="en-US" sz="1200" dirty="0"/>
          </a:p>
        </p:txBody>
      </p:sp>
      <p:sp>
        <p:nvSpPr>
          <p:cNvPr id="6" name="Text 4"/>
          <p:cNvSpPr/>
          <p:nvPr/>
        </p:nvSpPr>
        <p:spPr>
          <a:xfrm>
            <a:off x="1021080" y="2212339"/>
            <a:ext cx="4855667"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D2433"/>
                </a:solidFill>
                <a:latin typeface="Noto Sans" pitchFamily="34" charset="0"/>
                <a:ea typeface="Noto Sans" pitchFamily="34" charset="-122"/>
                <a:cs typeface="Noto Sans" pitchFamily="34" charset="-120"/>
              </a:rPr>
              <a:t>ΔX = Xₒ − Xₕ</a:t>
            </a:r>
            <a:endParaRPr lang="en-US" sz="1700" dirty="0"/>
          </a:p>
        </p:txBody>
      </p:sp>
      <p:sp>
        <p:nvSpPr>
          <p:cNvPr id="7" name="Shape 5"/>
          <p:cNvSpPr/>
          <p:nvPr/>
        </p:nvSpPr>
        <p:spPr>
          <a:xfrm>
            <a:off x="812800" y="2672080"/>
            <a:ext cx="5130800" cy="863600"/>
          </a:xfrm>
          <a:prstGeom prst="rect">
            <a:avLst/>
          </a:prstGeom>
          <a:solidFill>
            <a:srgbClr val="FDFCF9"/>
          </a:solidFill>
          <a:ln/>
        </p:spPr>
        <p:txBody>
          <a:bodyPr/>
          <a:lstStyle/>
          <a:p>
            <a:endParaRPr lang="uz-Latn-UZ"/>
          </a:p>
        </p:txBody>
      </p:sp>
      <p:sp>
        <p:nvSpPr>
          <p:cNvPr id="8" name="Shape 6"/>
          <p:cNvSpPr/>
          <p:nvPr/>
        </p:nvSpPr>
        <p:spPr>
          <a:xfrm>
            <a:off x="5940425" y="2672080"/>
            <a:ext cx="0" cy="863600"/>
          </a:xfrm>
          <a:prstGeom prst="line">
            <a:avLst/>
          </a:prstGeom>
          <a:noFill/>
          <a:ln w="6350">
            <a:solidFill>
              <a:srgbClr val="E2DED4"/>
            </a:solidFill>
            <a:prstDash val="solid"/>
          </a:ln>
        </p:spPr>
        <p:txBody>
          <a:bodyPr/>
          <a:lstStyle/>
          <a:p>
            <a:endParaRPr lang="uz-Latn-UZ"/>
          </a:p>
        </p:txBody>
      </p:sp>
      <p:sp>
        <p:nvSpPr>
          <p:cNvPr id="9" name="Shape 7"/>
          <p:cNvSpPr/>
          <p:nvPr/>
        </p:nvSpPr>
        <p:spPr>
          <a:xfrm>
            <a:off x="812800" y="3532505"/>
            <a:ext cx="5130800" cy="0"/>
          </a:xfrm>
          <a:prstGeom prst="line">
            <a:avLst/>
          </a:prstGeom>
          <a:noFill/>
          <a:ln w="6350">
            <a:solidFill>
              <a:srgbClr val="E2DED4"/>
            </a:solidFill>
            <a:prstDash val="solid"/>
          </a:ln>
        </p:spPr>
        <p:txBody>
          <a:bodyPr/>
          <a:lstStyle/>
          <a:p>
            <a:endParaRPr lang="uz-Latn-UZ"/>
          </a:p>
        </p:txBody>
      </p:sp>
      <p:sp>
        <p:nvSpPr>
          <p:cNvPr id="10" name="Shape 8"/>
          <p:cNvSpPr/>
          <p:nvPr/>
        </p:nvSpPr>
        <p:spPr>
          <a:xfrm>
            <a:off x="815975" y="2672080"/>
            <a:ext cx="0" cy="863600"/>
          </a:xfrm>
          <a:prstGeom prst="line">
            <a:avLst/>
          </a:prstGeom>
          <a:noFill/>
          <a:ln w="6350">
            <a:solidFill>
              <a:srgbClr val="E2DED4"/>
            </a:solidFill>
            <a:prstDash val="solid"/>
          </a:ln>
        </p:spPr>
        <p:txBody>
          <a:bodyPr/>
          <a:lstStyle/>
          <a:p>
            <a:endParaRPr lang="uz-Latn-UZ"/>
          </a:p>
        </p:txBody>
      </p:sp>
      <p:sp>
        <p:nvSpPr>
          <p:cNvPr id="11" name="Text 9"/>
          <p:cNvSpPr/>
          <p:nvPr/>
        </p:nvSpPr>
        <p:spPr>
          <a:xfrm>
            <a:off x="1021080" y="2824480"/>
            <a:ext cx="485566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Nisbiy</a:t>
            </a:r>
            <a:endParaRPr lang="en-US" sz="1200" dirty="0"/>
          </a:p>
        </p:txBody>
      </p:sp>
      <p:sp>
        <p:nvSpPr>
          <p:cNvPr id="12" name="Text 10"/>
          <p:cNvSpPr/>
          <p:nvPr/>
        </p:nvSpPr>
        <p:spPr>
          <a:xfrm>
            <a:off x="1021080" y="3075939"/>
            <a:ext cx="4855667"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D2433"/>
                </a:solidFill>
                <a:latin typeface="Noto Sans" pitchFamily="34" charset="0"/>
                <a:ea typeface="Noto Sans" pitchFamily="34" charset="-122"/>
                <a:cs typeface="Noto Sans" pitchFamily="34" charset="-120"/>
              </a:rPr>
              <a:t>δ = ΔX / Xₕ · 100 %</a:t>
            </a:r>
            <a:endParaRPr lang="en-US" sz="1700" dirty="0"/>
          </a:p>
        </p:txBody>
      </p:sp>
      <p:sp>
        <p:nvSpPr>
          <p:cNvPr id="13" name="Shape 11"/>
          <p:cNvSpPr/>
          <p:nvPr/>
        </p:nvSpPr>
        <p:spPr>
          <a:xfrm>
            <a:off x="812800" y="3535680"/>
            <a:ext cx="5130800" cy="1115060"/>
          </a:xfrm>
          <a:custGeom>
            <a:avLst/>
            <a:gdLst/>
            <a:ahLst/>
            <a:cxnLst/>
            <a:rect l="l" t="t" r="r" b="b"/>
            <a:pathLst>
              <a:path w="5130800" h="1115060">
                <a:moveTo>
                  <a:pt x="0" y="0"/>
                </a:moveTo>
                <a:lnTo>
                  <a:pt x="5130800" y="0"/>
                </a:lnTo>
                <a:lnTo>
                  <a:pt x="5130800" y="1038860"/>
                </a:lnTo>
                <a:arcTo wR="76200" hR="76200" stAng="0" swAng="5400000"/>
                <a:lnTo>
                  <a:pt x="76200" y="1115060"/>
                </a:lnTo>
                <a:arcTo wR="76200" hR="76200" stAng="5400000" swAng="5400000"/>
                <a:lnTo>
                  <a:pt x="0" y="0"/>
                </a:lnTo>
                <a:close/>
              </a:path>
            </a:pathLst>
          </a:custGeom>
          <a:solidFill>
            <a:srgbClr val="FDFCF9"/>
          </a:solidFill>
          <a:ln/>
        </p:spPr>
        <p:txBody>
          <a:bodyPr/>
          <a:lstStyle/>
          <a:p>
            <a:endParaRPr lang="uz-Latn-UZ"/>
          </a:p>
        </p:txBody>
      </p:sp>
      <p:sp>
        <p:nvSpPr>
          <p:cNvPr id="14" name="Shape 12"/>
          <p:cNvSpPr/>
          <p:nvPr/>
        </p:nvSpPr>
        <p:spPr>
          <a:xfrm>
            <a:off x="812800" y="3535680"/>
            <a:ext cx="5130800" cy="1115060"/>
          </a:xfrm>
          <a:custGeom>
            <a:avLst/>
            <a:gdLst/>
            <a:ahLst/>
            <a:cxnLst/>
            <a:rect l="l" t="t" r="r" b="b"/>
            <a:pathLst>
              <a:path w="5130800" h="1115060">
                <a:moveTo>
                  <a:pt x="5124450" y="0"/>
                </a:moveTo>
                <a:lnTo>
                  <a:pt x="5130800" y="0"/>
                </a:lnTo>
                <a:lnTo>
                  <a:pt x="5130800" y="1038860"/>
                </a:lnTo>
                <a:arcTo wR="76200" hR="76200" stAng="0" swAng="5400000"/>
                <a:lnTo>
                  <a:pt x="76200" y="1115060"/>
                </a:lnTo>
                <a:arcTo wR="76200" hR="76200" stAng="5400000" swAng="5400000"/>
                <a:lnTo>
                  <a:pt x="0" y="0"/>
                </a:lnTo>
                <a:lnTo>
                  <a:pt x="6350" y="0"/>
                </a:lnTo>
                <a:lnTo>
                  <a:pt x="6350" y="1038860"/>
                </a:lnTo>
                <a:arcTo wR="69850" hR="69850" stAng="10800000" swAng="-5400000"/>
                <a:lnTo>
                  <a:pt x="5054600" y="1108710"/>
                </a:lnTo>
                <a:arcTo wR="69850" hR="69850" stAng="5400000" swAng="-5400000"/>
                <a:lnTo>
                  <a:pt x="5124450" y="0"/>
                </a:lnTo>
                <a:close/>
              </a:path>
            </a:pathLst>
          </a:custGeom>
          <a:solidFill>
            <a:srgbClr val="E2DED4"/>
          </a:solidFill>
          <a:ln/>
        </p:spPr>
        <p:txBody>
          <a:bodyPr/>
          <a:lstStyle/>
          <a:p>
            <a:endParaRPr lang="uz-Latn-UZ"/>
          </a:p>
        </p:txBody>
      </p:sp>
      <p:sp>
        <p:nvSpPr>
          <p:cNvPr id="15" name="Text 13"/>
          <p:cNvSpPr/>
          <p:nvPr/>
        </p:nvSpPr>
        <p:spPr>
          <a:xfrm>
            <a:off x="1021080" y="3688080"/>
            <a:ext cx="485566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Keltirilgan</a:t>
            </a:r>
            <a:endParaRPr lang="en-US" sz="1200" dirty="0"/>
          </a:p>
        </p:txBody>
      </p:sp>
      <p:sp>
        <p:nvSpPr>
          <p:cNvPr id="16" name="Text 14"/>
          <p:cNvSpPr/>
          <p:nvPr/>
        </p:nvSpPr>
        <p:spPr>
          <a:xfrm>
            <a:off x="1021080" y="3939539"/>
            <a:ext cx="4855667" cy="32766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D2433"/>
                </a:solidFill>
                <a:latin typeface="Noto Sans" pitchFamily="34" charset="0"/>
                <a:ea typeface="Noto Sans" pitchFamily="34" charset="-122"/>
                <a:cs typeface="Noto Sans" pitchFamily="34" charset="-120"/>
              </a:rPr>
              <a:t>γ = ΔXₘₐₓ / X(FS) · 100 %</a:t>
            </a:r>
            <a:endParaRPr lang="en-US" sz="1700" dirty="0"/>
          </a:p>
        </p:txBody>
      </p:sp>
      <p:sp>
        <p:nvSpPr>
          <p:cNvPr id="17" name="Text 15"/>
          <p:cNvSpPr/>
          <p:nvPr/>
        </p:nvSpPr>
        <p:spPr>
          <a:xfrm>
            <a:off x="1021080" y="4279900"/>
            <a:ext cx="485566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563"/>
                </a:solidFill>
                <a:latin typeface="Noto Sans" pitchFamily="34" charset="0"/>
                <a:ea typeface="Noto Sans" pitchFamily="34" charset="-122"/>
                <a:cs typeface="Noto Sans" pitchFamily="34" charset="-120"/>
              </a:rPr>
              <a:t>X(FS) — shkalaning toʻliq diapazoni (Full Scale)</a:t>
            </a:r>
            <a:endParaRPr lang="en-US" sz="1200" dirty="0"/>
          </a:p>
        </p:txBody>
      </p:sp>
      <p:sp>
        <p:nvSpPr>
          <p:cNvPr id="18" name="Shape 16"/>
          <p:cNvSpPr/>
          <p:nvPr/>
        </p:nvSpPr>
        <p:spPr>
          <a:xfrm>
            <a:off x="6248400" y="1803400"/>
            <a:ext cx="5130800" cy="995680"/>
          </a:xfrm>
          <a:prstGeom prst="roundRect">
            <a:avLst>
              <a:gd name="adj" fmla="val 5102"/>
            </a:avLst>
          </a:prstGeom>
          <a:solidFill>
            <a:srgbClr val="FDFCF9"/>
          </a:solidFill>
          <a:ln/>
        </p:spPr>
        <p:txBody>
          <a:bodyPr/>
          <a:lstStyle/>
          <a:p>
            <a:endParaRPr lang="uz-Latn-UZ"/>
          </a:p>
        </p:txBody>
      </p:sp>
      <p:sp>
        <p:nvSpPr>
          <p:cNvPr id="19" name="Shape 17"/>
          <p:cNvSpPr/>
          <p:nvPr/>
        </p:nvSpPr>
        <p:spPr>
          <a:xfrm>
            <a:off x="6248400" y="1803400"/>
            <a:ext cx="5130800" cy="995680"/>
          </a:xfrm>
          <a:custGeom>
            <a:avLst/>
            <a:gdLst/>
            <a:ahLst/>
            <a:cxnLst/>
            <a:rect l="l" t="t" r="r" b="b"/>
            <a:pathLst>
              <a:path w="5130800" h="995680">
                <a:moveTo>
                  <a:pt x="50800" y="995680"/>
                </a:moveTo>
                <a:lnTo>
                  <a:pt x="50800" y="995680"/>
                </a:lnTo>
                <a:arcTo wR="50800" hR="50800" stAng="5400000" swAng="5400000"/>
                <a:lnTo>
                  <a:pt x="0" y="50800"/>
                </a:lnTo>
                <a:arcTo wR="50800" hR="50800" stAng="10800000" swAng="5400000"/>
                <a:lnTo>
                  <a:pt x="50800" y="0"/>
                </a:lnTo>
                <a:lnTo>
                  <a:pt x="50800" y="995680"/>
                </a:lnTo>
                <a:close/>
              </a:path>
            </a:pathLst>
          </a:custGeom>
          <a:solidFill>
            <a:srgbClr val="2D6CB0"/>
          </a:solidFill>
          <a:ln/>
        </p:spPr>
        <p:txBody>
          <a:bodyPr/>
          <a:lstStyle/>
          <a:p>
            <a:endParaRPr lang="uz-Latn-UZ"/>
          </a:p>
        </p:txBody>
      </p:sp>
      <p:sp>
        <p:nvSpPr>
          <p:cNvPr id="20" name="Text 18"/>
          <p:cNvSpPr/>
          <p:nvPr/>
        </p:nvSpPr>
        <p:spPr>
          <a:xfrm>
            <a:off x="6477000" y="1930400"/>
            <a:ext cx="48661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D2433"/>
                </a:solidFill>
                <a:latin typeface="Noto Sans" pitchFamily="34" charset="0"/>
                <a:ea typeface="Noto Sans" pitchFamily="34" charset="-122"/>
                <a:cs typeface="Noto Sans" pitchFamily="34" charset="-120"/>
              </a:rPr>
              <a:t>Sistematik</a:t>
            </a:r>
            <a:endParaRPr lang="en-US" sz="1500" dirty="0"/>
          </a:p>
        </p:txBody>
      </p:sp>
      <p:sp>
        <p:nvSpPr>
          <p:cNvPr id="21" name="Text 19"/>
          <p:cNvSpPr/>
          <p:nvPr/>
        </p:nvSpPr>
        <p:spPr>
          <a:xfrm>
            <a:off x="6477000" y="2209800"/>
            <a:ext cx="486613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Oʻzgarmas yoki qonuniy: kalibrlash, harorat drifti. Tuzatish kiritiladi</a:t>
            </a:r>
            <a:endParaRPr lang="en-US" sz="1300" dirty="0"/>
          </a:p>
        </p:txBody>
      </p:sp>
      <p:sp>
        <p:nvSpPr>
          <p:cNvPr id="22" name="Shape 20"/>
          <p:cNvSpPr/>
          <p:nvPr/>
        </p:nvSpPr>
        <p:spPr>
          <a:xfrm>
            <a:off x="6248400" y="2926080"/>
            <a:ext cx="5130800" cy="995680"/>
          </a:xfrm>
          <a:prstGeom prst="roundRect">
            <a:avLst>
              <a:gd name="adj" fmla="val 5102"/>
            </a:avLst>
          </a:prstGeom>
          <a:solidFill>
            <a:srgbClr val="FDFCF9"/>
          </a:solidFill>
          <a:ln/>
        </p:spPr>
        <p:txBody>
          <a:bodyPr/>
          <a:lstStyle/>
          <a:p>
            <a:endParaRPr lang="uz-Latn-UZ"/>
          </a:p>
        </p:txBody>
      </p:sp>
      <p:sp>
        <p:nvSpPr>
          <p:cNvPr id="23" name="Shape 21"/>
          <p:cNvSpPr/>
          <p:nvPr/>
        </p:nvSpPr>
        <p:spPr>
          <a:xfrm>
            <a:off x="6248400" y="2926080"/>
            <a:ext cx="5130800" cy="995680"/>
          </a:xfrm>
          <a:custGeom>
            <a:avLst/>
            <a:gdLst/>
            <a:ahLst/>
            <a:cxnLst/>
            <a:rect l="l" t="t" r="r" b="b"/>
            <a:pathLst>
              <a:path w="5130800" h="995680">
                <a:moveTo>
                  <a:pt x="50800" y="995680"/>
                </a:moveTo>
                <a:lnTo>
                  <a:pt x="50800" y="995680"/>
                </a:lnTo>
                <a:arcTo wR="50800" hR="50800" stAng="5400000" swAng="5400000"/>
                <a:lnTo>
                  <a:pt x="0" y="50800"/>
                </a:lnTo>
                <a:arcTo wR="50800" hR="50800" stAng="10800000" swAng="5400000"/>
                <a:lnTo>
                  <a:pt x="50800" y="0"/>
                </a:lnTo>
                <a:lnTo>
                  <a:pt x="50800" y="995680"/>
                </a:lnTo>
                <a:close/>
              </a:path>
            </a:pathLst>
          </a:custGeom>
          <a:solidFill>
            <a:srgbClr val="D9692B"/>
          </a:solidFill>
          <a:ln/>
        </p:spPr>
        <p:txBody>
          <a:bodyPr/>
          <a:lstStyle/>
          <a:p>
            <a:endParaRPr lang="uz-Latn-UZ"/>
          </a:p>
        </p:txBody>
      </p:sp>
      <p:sp>
        <p:nvSpPr>
          <p:cNvPr id="24" name="Text 22"/>
          <p:cNvSpPr/>
          <p:nvPr/>
        </p:nvSpPr>
        <p:spPr>
          <a:xfrm>
            <a:off x="6477000" y="3053080"/>
            <a:ext cx="48661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D2433"/>
                </a:solidFill>
                <a:latin typeface="Noto Sans" pitchFamily="34" charset="0"/>
                <a:ea typeface="Noto Sans" pitchFamily="34" charset="-122"/>
                <a:cs typeface="Noto Sans" pitchFamily="34" charset="-120"/>
              </a:rPr>
              <a:t>Tasodifiy</a:t>
            </a:r>
            <a:endParaRPr lang="en-US" sz="1500" dirty="0"/>
          </a:p>
        </p:txBody>
      </p:sp>
      <p:sp>
        <p:nvSpPr>
          <p:cNvPr id="25" name="Text 23"/>
          <p:cNvSpPr/>
          <p:nvPr/>
        </p:nvSpPr>
        <p:spPr>
          <a:xfrm>
            <a:off x="6477000" y="3332480"/>
            <a:ext cx="486613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Shovqin, tebranish, fluktuatsiya. Gauss taqsimoti boʻyicha tahlil</a:t>
            </a:r>
            <a:endParaRPr lang="en-US" sz="1300" dirty="0"/>
          </a:p>
        </p:txBody>
      </p:sp>
      <p:sp>
        <p:nvSpPr>
          <p:cNvPr id="26" name="Shape 24"/>
          <p:cNvSpPr/>
          <p:nvPr/>
        </p:nvSpPr>
        <p:spPr>
          <a:xfrm>
            <a:off x="6248400" y="4048761"/>
            <a:ext cx="5130800" cy="995680"/>
          </a:xfrm>
          <a:prstGeom prst="roundRect">
            <a:avLst>
              <a:gd name="adj" fmla="val 5102"/>
            </a:avLst>
          </a:prstGeom>
          <a:solidFill>
            <a:srgbClr val="FDFCF9"/>
          </a:solidFill>
          <a:ln/>
        </p:spPr>
        <p:txBody>
          <a:bodyPr/>
          <a:lstStyle/>
          <a:p>
            <a:endParaRPr lang="uz-Latn-UZ"/>
          </a:p>
        </p:txBody>
      </p:sp>
      <p:sp>
        <p:nvSpPr>
          <p:cNvPr id="27" name="Shape 25"/>
          <p:cNvSpPr/>
          <p:nvPr/>
        </p:nvSpPr>
        <p:spPr>
          <a:xfrm>
            <a:off x="6248400" y="4048761"/>
            <a:ext cx="5130800" cy="995680"/>
          </a:xfrm>
          <a:custGeom>
            <a:avLst/>
            <a:gdLst/>
            <a:ahLst/>
            <a:cxnLst/>
            <a:rect l="l" t="t" r="r" b="b"/>
            <a:pathLst>
              <a:path w="5130800" h="995680">
                <a:moveTo>
                  <a:pt x="50800" y="995680"/>
                </a:moveTo>
                <a:lnTo>
                  <a:pt x="50800" y="995680"/>
                </a:lnTo>
                <a:arcTo wR="50800" hR="50800" stAng="5400000" swAng="5400000"/>
                <a:lnTo>
                  <a:pt x="0" y="50800"/>
                </a:lnTo>
                <a:arcTo wR="50800" hR="50800" stAng="10800000" swAng="5400000"/>
                <a:lnTo>
                  <a:pt x="50800" y="0"/>
                </a:lnTo>
                <a:lnTo>
                  <a:pt x="50800" y="995680"/>
                </a:lnTo>
                <a:close/>
              </a:path>
            </a:pathLst>
          </a:custGeom>
          <a:solidFill>
            <a:srgbClr val="16233B"/>
          </a:solidFill>
          <a:ln/>
        </p:spPr>
        <p:txBody>
          <a:bodyPr/>
          <a:lstStyle/>
          <a:p>
            <a:endParaRPr lang="uz-Latn-UZ"/>
          </a:p>
        </p:txBody>
      </p:sp>
      <p:sp>
        <p:nvSpPr>
          <p:cNvPr id="28" name="Text 26"/>
          <p:cNvSpPr/>
          <p:nvPr/>
        </p:nvSpPr>
        <p:spPr>
          <a:xfrm>
            <a:off x="6477000" y="4175761"/>
            <a:ext cx="486613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D2433"/>
                </a:solidFill>
                <a:latin typeface="Noto Sans" pitchFamily="34" charset="0"/>
                <a:ea typeface="Noto Sans" pitchFamily="34" charset="-122"/>
                <a:cs typeface="Noto Sans" pitchFamily="34" charset="-120"/>
              </a:rPr>
              <a:t>Qoʻpol</a:t>
            </a:r>
            <a:endParaRPr lang="en-US" sz="1500" dirty="0"/>
          </a:p>
        </p:txBody>
      </p:sp>
      <p:sp>
        <p:nvSpPr>
          <p:cNvPr id="29" name="Text 27"/>
          <p:cNvSpPr/>
          <p:nvPr/>
        </p:nvSpPr>
        <p:spPr>
          <a:xfrm>
            <a:off x="6477000" y="4455161"/>
            <a:ext cx="486613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Operator xatosi, keskin uzilish. 3σ qoidasi yoki Grubbs mezoni bilan olib tashlanadi</a:t>
            </a:r>
            <a:endParaRPr lang="en-US" sz="1300" dirty="0"/>
          </a:p>
        </p:txBody>
      </p:sp>
      <p:sp>
        <p:nvSpPr>
          <p:cNvPr id="30" name="Text 28"/>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№5 · Informatsion tizim xatoliklari va ishonchliligi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XATOLIKLAR</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Oʻlchov zanjiri boʻylab xatoliklarning yigʻilishi</a:t>
            </a:r>
            <a:endParaRPr lang="en-US" sz="3200" dirty="0"/>
          </a:p>
        </p:txBody>
      </p:sp>
      <p:pic>
        <p:nvPicPr>
          <p:cNvPr id="4" name="Image 0" descr="Datchik, signalni konditsiyalash, ADC, mikrokontroller algoritmi va chiqish natijasi bloklari; har biriga oʻz xatolik manbai qoʻshiladi"/>
          <p:cNvPicPr>
            <a:picLocks noChangeAspect="1"/>
          </p:cNvPicPr>
          <p:nvPr/>
        </p:nvPicPr>
        <p:blipFill>
          <a:blip r:embed="rId3"/>
          <a:srcRect t="-33" b="-33"/>
          <a:stretch/>
        </p:blipFill>
        <p:spPr>
          <a:xfrm>
            <a:off x="812800" y="1803400"/>
            <a:ext cx="10566400" cy="2374900"/>
          </a:xfrm>
          <a:prstGeom prst="rect">
            <a:avLst/>
          </a:prstGeom>
        </p:spPr>
      </p:pic>
      <p:sp>
        <p:nvSpPr>
          <p:cNvPr id="5" name="Text 2"/>
          <p:cNvSpPr/>
          <p:nvPr/>
        </p:nvSpPr>
        <p:spPr>
          <a:xfrm>
            <a:off x="812800" y="4432300"/>
            <a:ext cx="10566400" cy="589280"/>
          </a:xfrm>
          <a:prstGeom prst="roundRect">
            <a:avLst>
              <a:gd name="adj" fmla="val 12931"/>
            </a:avLst>
          </a:prstGeom>
          <a:solidFill>
            <a:srgbClr val="E8EEF6"/>
          </a:solidFill>
          <a:ln/>
        </p:spPr>
        <p:txBody>
          <a:bodyPr wrap="square" lIns="231682" tIns="130082" rIns="0" bIns="104682" rtlCol="0" anchor="t">
            <a:normAutofit/>
          </a:bodyPr>
          <a:lstStyle/>
          <a:p>
            <a:pPr marL="0" indent="0" algn="l">
              <a:lnSpc>
                <a:spcPts val="2240"/>
              </a:lnSpc>
              <a:buNone/>
            </a:pPr>
            <a:r>
              <a:rPr lang="en-US" sz="1600" b="1" dirty="0">
                <a:solidFill>
                  <a:srgbClr val="16233B"/>
                </a:solidFill>
                <a:latin typeface="Noto Sans" pitchFamily="34" charset="0"/>
                <a:ea typeface="Noto Sans" pitchFamily="34" charset="-122"/>
                <a:cs typeface="Noto Sans" pitchFamily="34" charset="-120"/>
              </a:rPr>
              <a:t>Har bir bosqich natijaga oʻz xatoligini qoʻshadi: yakuniy ΔX zanjirning barcha elementlariga bogʻliq.</a:t>
            </a:r>
            <a:endParaRPr lang="en-US" sz="1600" dirty="0"/>
          </a:p>
        </p:txBody>
      </p:sp>
      <p:sp>
        <p:nvSpPr>
          <p:cNvPr id="6" name="Text 3"/>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№5 · Informatsion tizim xatoliklari va ishonchliligi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STATISTIK TAHLIL</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Tasodifiy xatoliklarni baholash</a:t>
            </a:r>
            <a:endParaRPr lang="en-US" sz="3200" dirty="0"/>
          </a:p>
        </p:txBody>
      </p:sp>
      <p:sp>
        <p:nvSpPr>
          <p:cNvPr id="4" name="Text 2"/>
          <p:cNvSpPr/>
          <p:nvPr/>
        </p:nvSpPr>
        <p:spPr>
          <a:xfrm>
            <a:off x="812800" y="18034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D2433"/>
                </a:solidFill>
                <a:latin typeface="Noto Sans" pitchFamily="34" charset="0"/>
                <a:ea typeface="Noto Sans" pitchFamily="34" charset="-122"/>
                <a:cs typeface="Noto Sans" pitchFamily="34" charset="-120"/>
              </a:rPr>
              <a:t>Bir xil sharoitda N ta mustaqil oʻlchash: x₁, x₂, …, xₙ</a:t>
            </a:r>
            <a:endParaRPr lang="en-US" sz="1400" dirty="0"/>
          </a:p>
        </p:txBody>
      </p:sp>
      <p:sp>
        <p:nvSpPr>
          <p:cNvPr id="5" name="Shape 3"/>
          <p:cNvSpPr/>
          <p:nvPr/>
        </p:nvSpPr>
        <p:spPr>
          <a:xfrm>
            <a:off x="815975" y="2309496"/>
            <a:ext cx="5200650" cy="956310"/>
          </a:xfrm>
          <a:prstGeom prst="roundRect">
            <a:avLst>
              <a:gd name="adj" fmla="val 7636"/>
            </a:avLst>
          </a:prstGeom>
          <a:solidFill>
            <a:srgbClr val="FDFCF9"/>
          </a:solidFill>
          <a:ln w="6350">
            <a:solidFill>
              <a:srgbClr val="E2DED4"/>
            </a:solidFill>
            <a:prstDash val="solid"/>
          </a:ln>
        </p:spPr>
        <p:txBody>
          <a:bodyPr/>
          <a:lstStyle/>
          <a:p>
            <a:endParaRPr lang="uz-Latn-UZ"/>
          </a:p>
        </p:txBody>
      </p:sp>
      <p:sp>
        <p:nvSpPr>
          <p:cNvPr id="6" name="Text 4"/>
          <p:cNvSpPr/>
          <p:nvPr/>
        </p:nvSpPr>
        <p:spPr>
          <a:xfrm>
            <a:off x="1046480" y="2355491"/>
            <a:ext cx="488182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1. Oʻrtacha arifmetik qiymat</a:t>
            </a:r>
            <a:endParaRPr lang="en-US" sz="1200" dirty="0"/>
          </a:p>
        </p:txBody>
      </p:sp>
      <mc:AlternateContent xmlns:mc="http://schemas.openxmlformats.org/markup-compatibility/2006">
        <mc:Choice xmlns:a14="http://schemas.microsoft.com/office/drawing/2010/main" Requires="a14">
          <p:sp>
            <p:nvSpPr>
              <p:cNvPr id="7" name="Text 5"/>
              <p:cNvSpPr/>
              <p:nvPr/>
            </p:nvSpPr>
            <p:spPr>
              <a:xfrm>
                <a:off x="1037771" y="2766061"/>
                <a:ext cx="4881829" cy="345440"/>
              </a:xfrm>
              <a:prstGeom prst="rect">
                <a:avLst/>
              </a:prstGeom>
              <a:noFill/>
              <a:ln/>
            </p:spPr>
            <p:txBody>
              <a:bodyPr wrap="square" lIns="0" tIns="0" rIns="0" bIns="0" rtlCol="0" anchor="t">
                <a:normAutofit/>
              </a:bodyPr>
              <a:lstStyle/>
              <a:p>
                <a:pPr marL="0" indent="0" algn="l">
                  <a:lnSpc>
                    <a:spcPts val="2520"/>
                  </a:lnSpc>
                  <a:buNone/>
                </a:pPr>
                <a14:m>
                  <m:oMathPara xmlns:m="http://schemas.openxmlformats.org/officeDocument/2006/math">
                    <m:oMath>
                      <m:acc>
                        <m:accPr>
                          <m:chr m:val="̅"/>
                          <m:ctrlPr>
                            <a:rPr lang="en-US" sz="1800" b="1" i="1" smtClean="0">
                              <a:solidFill>
                                <a:srgbClr val="1D2433"/>
                              </a:solidFill>
                              <a:latin typeface="Cambria Math" panose="02040503050406030204" pitchFamily="18" charset="0"/>
                              <a:ea typeface="Noto Sans" pitchFamily="34" charset="-122"/>
                              <a:cs typeface="Noto Sans" pitchFamily="34" charset="-120"/>
                            </a:rPr>
                          </m:ctrlPr>
                        </m:accPr>
                        <m:e>
                          <m:r>
                            <a:rPr lang="en-US" sz="1800" b="1" i="1" smtClean="0">
                              <a:solidFill>
                                <a:srgbClr val="1D2433"/>
                              </a:solidFill>
                              <a:latin typeface="Cambria Math" panose="02040503050406030204" pitchFamily="18" charset="0"/>
                              <a:ea typeface="Noto Sans" pitchFamily="34" charset="-122"/>
                              <a:cs typeface="Noto Sans" pitchFamily="34" charset="-120"/>
                            </a:rPr>
                            <m:t>𝒙</m:t>
                          </m:r>
                        </m:e>
                      </m:acc>
                      <m:r>
                        <a:rPr lang="en-US" sz="1800" b="1" i="1" smtClean="0">
                          <a:solidFill>
                            <a:srgbClr val="1D2433"/>
                          </a:solidFill>
                          <a:latin typeface="Cambria Math" panose="02040503050406030204" pitchFamily="18" charset="0"/>
                          <a:ea typeface="Noto Sans" pitchFamily="34" charset="-122"/>
                          <a:cs typeface="Noto Sans" pitchFamily="34" charset="-120"/>
                        </a:rPr>
                        <m:t>=</m:t>
                      </m:r>
                      <m:f>
                        <m:fPr>
                          <m:ctrlPr>
                            <a:rPr lang="en-US" sz="1800" b="1" i="1" smtClean="0">
                              <a:solidFill>
                                <a:srgbClr val="1D2433"/>
                              </a:solidFill>
                              <a:latin typeface="Cambria Math" panose="02040503050406030204" pitchFamily="18" charset="0"/>
                              <a:ea typeface="Noto Sans" pitchFamily="34" charset="-122"/>
                              <a:cs typeface="Noto Sans" pitchFamily="34" charset="-120"/>
                            </a:rPr>
                          </m:ctrlPr>
                        </m:fPr>
                        <m:num>
                          <m:sSub>
                            <m:sSubPr>
                              <m:ctrlPr>
                                <a:rPr lang="en-US" sz="1800" b="1" i="1" smtClean="0">
                                  <a:solidFill>
                                    <a:srgbClr val="1D2433"/>
                                  </a:solidFill>
                                  <a:latin typeface="Cambria Math" panose="02040503050406030204" pitchFamily="18" charset="0"/>
                                  <a:ea typeface="Noto Sans" pitchFamily="34" charset="-122"/>
                                  <a:cs typeface="Noto Sans" pitchFamily="34" charset="-120"/>
                                </a:rPr>
                              </m:ctrlPr>
                            </m:sSubPr>
                            <m:e>
                              <m:r>
                                <a:rPr lang="en-US" sz="1800" b="1" i="1" smtClean="0">
                                  <a:solidFill>
                                    <a:srgbClr val="1D2433"/>
                                  </a:solidFill>
                                  <a:latin typeface="Cambria Math" panose="02040503050406030204" pitchFamily="18" charset="0"/>
                                  <a:ea typeface="Noto Sans" pitchFamily="34" charset="-122"/>
                                  <a:cs typeface="Noto Sans" pitchFamily="34" charset="-120"/>
                                </a:rPr>
                                <m:t>𝒙</m:t>
                              </m:r>
                            </m:e>
                            <m:sub>
                              <m:r>
                                <a:rPr lang="en-US" sz="1800" b="1" i="1" smtClean="0">
                                  <a:solidFill>
                                    <a:srgbClr val="1D2433"/>
                                  </a:solidFill>
                                  <a:latin typeface="Cambria Math" panose="02040503050406030204" pitchFamily="18" charset="0"/>
                                  <a:ea typeface="Noto Sans" pitchFamily="34" charset="-122"/>
                                  <a:cs typeface="Noto Sans" pitchFamily="34" charset="-120"/>
                                </a:rPr>
                                <m:t>𝟏</m:t>
                              </m:r>
                            </m:sub>
                          </m:sSub>
                          <m:r>
                            <a:rPr lang="en-US" sz="1800" b="1" i="1" smtClean="0">
                              <a:solidFill>
                                <a:srgbClr val="1D2433"/>
                              </a:solidFill>
                              <a:latin typeface="Cambria Math" panose="02040503050406030204" pitchFamily="18" charset="0"/>
                              <a:ea typeface="Noto Sans" pitchFamily="34" charset="-122"/>
                              <a:cs typeface="Noto Sans" pitchFamily="34" charset="-120"/>
                            </a:rPr>
                            <m:t>+</m:t>
                          </m:r>
                          <m:sSub>
                            <m:sSubPr>
                              <m:ctrlPr>
                                <a:rPr lang="en-US" sz="1800" b="1" i="1" smtClean="0">
                                  <a:solidFill>
                                    <a:srgbClr val="1D2433"/>
                                  </a:solidFill>
                                  <a:latin typeface="Cambria Math" panose="02040503050406030204" pitchFamily="18" charset="0"/>
                                  <a:ea typeface="Noto Sans" pitchFamily="34" charset="-122"/>
                                  <a:cs typeface="Noto Sans" pitchFamily="34" charset="-120"/>
                                </a:rPr>
                              </m:ctrlPr>
                            </m:sSubPr>
                            <m:e>
                              <m:r>
                                <a:rPr lang="en-US" sz="1800" b="1" i="1" smtClean="0">
                                  <a:solidFill>
                                    <a:srgbClr val="1D2433"/>
                                  </a:solidFill>
                                  <a:latin typeface="Cambria Math" panose="02040503050406030204" pitchFamily="18" charset="0"/>
                                  <a:ea typeface="Noto Sans" pitchFamily="34" charset="-122"/>
                                  <a:cs typeface="Noto Sans" pitchFamily="34" charset="-120"/>
                                </a:rPr>
                                <m:t>𝒙</m:t>
                              </m:r>
                            </m:e>
                            <m:sub>
                              <m:r>
                                <a:rPr lang="en-US" sz="1800" b="1" i="1" smtClean="0">
                                  <a:solidFill>
                                    <a:srgbClr val="1D2433"/>
                                  </a:solidFill>
                                  <a:latin typeface="Cambria Math" panose="02040503050406030204" pitchFamily="18" charset="0"/>
                                  <a:ea typeface="Noto Sans" pitchFamily="34" charset="-122"/>
                                  <a:cs typeface="Noto Sans" pitchFamily="34" charset="-120"/>
                                </a:rPr>
                                <m:t>𝟐</m:t>
                              </m:r>
                            </m:sub>
                          </m:sSub>
                          <m:r>
                            <a:rPr lang="en-US" sz="1800" b="1" i="1" smtClean="0">
                              <a:solidFill>
                                <a:srgbClr val="1D2433"/>
                              </a:solidFill>
                              <a:latin typeface="Cambria Math" panose="02040503050406030204" pitchFamily="18" charset="0"/>
                              <a:ea typeface="Noto Sans" pitchFamily="34" charset="-122"/>
                              <a:cs typeface="Noto Sans" pitchFamily="34" charset="-120"/>
                            </a:rPr>
                            <m:t>+</m:t>
                          </m:r>
                          <m:sSub>
                            <m:sSubPr>
                              <m:ctrlPr>
                                <a:rPr lang="en-US" sz="1800" b="1" i="1" smtClean="0">
                                  <a:solidFill>
                                    <a:srgbClr val="1D2433"/>
                                  </a:solidFill>
                                  <a:latin typeface="Cambria Math" panose="02040503050406030204" pitchFamily="18" charset="0"/>
                                  <a:ea typeface="Noto Sans" pitchFamily="34" charset="-122"/>
                                  <a:cs typeface="Noto Sans" pitchFamily="34" charset="-120"/>
                                </a:rPr>
                              </m:ctrlPr>
                            </m:sSubPr>
                            <m:e>
                              <m:r>
                                <a:rPr lang="en-US" sz="1800" b="1" i="1" smtClean="0">
                                  <a:solidFill>
                                    <a:srgbClr val="1D2433"/>
                                  </a:solidFill>
                                  <a:latin typeface="Cambria Math" panose="02040503050406030204" pitchFamily="18" charset="0"/>
                                  <a:ea typeface="Noto Sans" pitchFamily="34" charset="-122"/>
                                  <a:cs typeface="Noto Sans" pitchFamily="34" charset="-120"/>
                                </a:rPr>
                                <m:t>𝒙</m:t>
                              </m:r>
                            </m:e>
                            <m:sub>
                              <m:r>
                                <a:rPr lang="en-US" sz="1800" b="1" i="1" smtClean="0">
                                  <a:solidFill>
                                    <a:srgbClr val="1D2433"/>
                                  </a:solidFill>
                                  <a:latin typeface="Cambria Math" panose="02040503050406030204" pitchFamily="18" charset="0"/>
                                  <a:ea typeface="Noto Sans" pitchFamily="34" charset="-122"/>
                                  <a:cs typeface="Noto Sans" pitchFamily="34" charset="-120"/>
                                </a:rPr>
                                <m:t>𝟑</m:t>
                              </m:r>
                            </m:sub>
                          </m:sSub>
                          <m:r>
                            <a:rPr lang="en-US" sz="1800" b="1" i="1" smtClean="0">
                              <a:solidFill>
                                <a:srgbClr val="1D2433"/>
                              </a:solidFill>
                              <a:latin typeface="Cambria Math" panose="02040503050406030204" pitchFamily="18" charset="0"/>
                              <a:ea typeface="Noto Sans" pitchFamily="34" charset="-122"/>
                              <a:cs typeface="Noto Sans" pitchFamily="34" charset="-120"/>
                            </a:rPr>
                            <m:t>+…+</m:t>
                          </m:r>
                          <m:sSub>
                            <m:sSubPr>
                              <m:ctrlPr>
                                <a:rPr lang="en-US" sz="1800" b="1" i="1" smtClean="0">
                                  <a:solidFill>
                                    <a:srgbClr val="1D2433"/>
                                  </a:solidFill>
                                  <a:latin typeface="Cambria Math" panose="02040503050406030204" pitchFamily="18" charset="0"/>
                                  <a:ea typeface="Noto Sans" pitchFamily="34" charset="-122"/>
                                  <a:cs typeface="Noto Sans" pitchFamily="34" charset="-120"/>
                                </a:rPr>
                              </m:ctrlPr>
                            </m:sSubPr>
                            <m:e>
                              <m:r>
                                <a:rPr lang="en-US" sz="1800" b="1" i="1" smtClean="0">
                                  <a:solidFill>
                                    <a:srgbClr val="1D2433"/>
                                  </a:solidFill>
                                  <a:latin typeface="Cambria Math" panose="02040503050406030204" pitchFamily="18" charset="0"/>
                                  <a:ea typeface="Noto Sans" pitchFamily="34" charset="-122"/>
                                  <a:cs typeface="Noto Sans" pitchFamily="34" charset="-120"/>
                                </a:rPr>
                                <m:t>𝒙</m:t>
                              </m:r>
                            </m:e>
                            <m:sub>
                              <m:r>
                                <a:rPr lang="en-US" sz="1800" b="1" i="1" smtClean="0">
                                  <a:solidFill>
                                    <a:srgbClr val="1D2433"/>
                                  </a:solidFill>
                                  <a:latin typeface="Cambria Math" panose="02040503050406030204" pitchFamily="18" charset="0"/>
                                  <a:ea typeface="Noto Sans" pitchFamily="34" charset="-122"/>
                                  <a:cs typeface="Noto Sans" pitchFamily="34" charset="-120"/>
                                </a:rPr>
                                <m:t>𝒏</m:t>
                              </m:r>
                            </m:sub>
                          </m:sSub>
                        </m:num>
                        <m:den>
                          <m:r>
                            <a:rPr lang="en-US" sz="1800" b="1" i="1" smtClean="0">
                              <a:solidFill>
                                <a:srgbClr val="1D2433"/>
                              </a:solidFill>
                              <a:latin typeface="Cambria Math" panose="02040503050406030204" pitchFamily="18" charset="0"/>
                              <a:ea typeface="Noto Sans" pitchFamily="34" charset="-122"/>
                              <a:cs typeface="Noto Sans" pitchFamily="34" charset="-120"/>
                            </a:rPr>
                            <m:t>𝑵</m:t>
                          </m:r>
                        </m:den>
                      </m:f>
                    </m:oMath>
                  </m:oMathPara>
                </a14:m>
                <a:endParaRPr lang="en-US" sz="1800" dirty="0"/>
              </a:p>
            </p:txBody>
          </p:sp>
        </mc:Choice>
        <mc:Fallback>
          <p:sp>
            <p:nvSpPr>
              <p:cNvPr id="7" name="Text 5"/>
              <p:cNvSpPr>
                <a:spLocks noRot="1" noChangeAspect="1" noMove="1" noResize="1" noEditPoints="1" noAdjustHandles="1" noChangeArrowheads="1" noChangeShapeType="1" noTextEdit="1"/>
              </p:cNvSpPr>
              <p:nvPr/>
            </p:nvSpPr>
            <p:spPr>
              <a:xfrm>
                <a:off x="1037771" y="2766061"/>
                <a:ext cx="4881829" cy="345440"/>
              </a:xfrm>
              <a:prstGeom prst="rect">
                <a:avLst/>
              </a:prstGeom>
              <a:blipFill>
                <a:blip r:embed="rId3"/>
                <a:stretch>
                  <a:fillRect t="-44643" b="-28571"/>
                </a:stretch>
              </a:blipFill>
              <a:ln/>
            </p:spPr>
            <p:txBody>
              <a:bodyPr/>
              <a:lstStyle/>
              <a:p>
                <a:r>
                  <a:rPr lang="uz-Latn-UZ">
                    <a:noFill/>
                  </a:rPr>
                  <a:t> </a:t>
                </a:r>
              </a:p>
            </p:txBody>
          </p:sp>
        </mc:Fallback>
      </mc:AlternateContent>
      <p:sp>
        <p:nvSpPr>
          <p:cNvPr id="8" name="Shape 6"/>
          <p:cNvSpPr/>
          <p:nvPr/>
        </p:nvSpPr>
        <p:spPr>
          <a:xfrm>
            <a:off x="6178550" y="2309496"/>
            <a:ext cx="5200650" cy="956310"/>
          </a:xfrm>
          <a:prstGeom prst="roundRect">
            <a:avLst>
              <a:gd name="adj" fmla="val 7636"/>
            </a:avLst>
          </a:prstGeom>
          <a:solidFill>
            <a:srgbClr val="FDFCF9"/>
          </a:solidFill>
          <a:ln w="6350">
            <a:solidFill>
              <a:srgbClr val="E2DED4"/>
            </a:solidFill>
            <a:prstDash val="solid"/>
          </a:ln>
        </p:spPr>
        <p:txBody>
          <a:bodyPr/>
          <a:lstStyle/>
          <a:p>
            <a:endParaRPr lang="uz-Latn-UZ" dirty="0"/>
          </a:p>
        </p:txBody>
      </p:sp>
      <p:sp>
        <p:nvSpPr>
          <p:cNvPr id="9" name="Text 7"/>
          <p:cNvSpPr/>
          <p:nvPr/>
        </p:nvSpPr>
        <p:spPr>
          <a:xfrm>
            <a:off x="6254496" y="2322036"/>
            <a:ext cx="488182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2. Standart ogʻish</a:t>
            </a:r>
            <a:endParaRPr lang="en-US" sz="1200" dirty="0"/>
          </a:p>
        </p:txBody>
      </p:sp>
      <mc:AlternateContent xmlns:mc="http://schemas.openxmlformats.org/markup-compatibility/2006">
        <mc:Choice xmlns:a14="http://schemas.microsoft.com/office/drawing/2010/main" Requires="a14">
          <p:sp>
            <p:nvSpPr>
              <p:cNvPr id="10" name="Text 8"/>
              <p:cNvSpPr/>
              <p:nvPr/>
            </p:nvSpPr>
            <p:spPr>
              <a:xfrm>
                <a:off x="6700520" y="2805112"/>
                <a:ext cx="4881829" cy="383542"/>
              </a:xfrm>
              <a:prstGeom prst="rect">
                <a:avLst/>
              </a:prstGeom>
              <a:noFill/>
              <a:ln/>
            </p:spPr>
            <p:txBody>
              <a:bodyPr wrap="square" lIns="0" tIns="0" rIns="0" bIns="0" rtlCol="0" anchor="t">
                <a:normAutofit/>
              </a:bodyPr>
              <a:lstStyle/>
              <a:p>
                <a:pPr>
                  <a:lnSpc>
                    <a:spcPts val="2520"/>
                  </a:lnSpc>
                </a:pPr>
                <a14:m>
                  <m:oMathPara xmlns:m="http://schemas.openxmlformats.org/officeDocument/2006/math">
                    <m:oMathParaPr>
                      <m:jc m:val="center"/>
                    </m:oMathParaPr>
                    <m:oMath>
                      <m:sSub>
                        <m:sSubPr>
                          <m:ctrlPr>
                            <a:rPr lang="en-US" sz="1800" b="1" i="1" smtClean="0">
                              <a:solidFill>
                                <a:srgbClr val="1D2433"/>
                              </a:solidFill>
                              <a:latin typeface="Cambria Math" panose="02040503050406030204" pitchFamily="18" charset="0"/>
                              <a:ea typeface="Noto Sans" pitchFamily="34" charset="-122"/>
                              <a:cs typeface="Noto Sans" pitchFamily="34" charset="-120"/>
                            </a:rPr>
                          </m:ctrlPr>
                        </m:sSubPr>
                        <m:e>
                          <m:r>
                            <a:rPr lang="en-US" sz="1800" b="1" i="1" smtClean="0">
                              <a:solidFill>
                                <a:srgbClr val="1D2433"/>
                              </a:solidFill>
                              <a:latin typeface="Cambria Math" panose="02040503050406030204" pitchFamily="18" charset="0"/>
                              <a:ea typeface="Noto Sans" pitchFamily="34" charset="-122"/>
                              <a:cs typeface="Noto Sans" pitchFamily="34" charset="-120"/>
                            </a:rPr>
                            <m:t>𝑺</m:t>
                          </m:r>
                        </m:e>
                        <m:sub>
                          <m:r>
                            <a:rPr lang="en-US" sz="1800" b="1" i="1" smtClean="0">
                              <a:solidFill>
                                <a:srgbClr val="1D2433"/>
                              </a:solidFill>
                              <a:latin typeface="Cambria Math" panose="02040503050406030204" pitchFamily="18" charset="0"/>
                              <a:ea typeface="Noto Sans" pitchFamily="34" charset="-122"/>
                              <a:cs typeface="Noto Sans" pitchFamily="34" charset="-120"/>
                            </a:rPr>
                            <m:t>𝒙</m:t>
                          </m:r>
                        </m:sub>
                      </m:sSub>
                      <m:r>
                        <a:rPr lang="en-US" sz="1800" b="1" i="1" smtClean="0">
                          <a:solidFill>
                            <a:srgbClr val="1D2433"/>
                          </a:solidFill>
                          <a:latin typeface="Cambria Math" panose="02040503050406030204" pitchFamily="18" charset="0"/>
                          <a:ea typeface="Noto Sans" pitchFamily="34" charset="-122"/>
                          <a:cs typeface="Noto Sans" pitchFamily="34" charset="-120"/>
                        </a:rPr>
                        <m:t>=</m:t>
                      </m:r>
                      <m:rad>
                        <m:radPr>
                          <m:degHide m:val="on"/>
                          <m:ctrlPr>
                            <a:rPr lang="en-US" sz="1800" b="1" i="1" smtClean="0">
                              <a:solidFill>
                                <a:srgbClr val="1D2433"/>
                              </a:solidFill>
                              <a:latin typeface="Cambria Math" panose="02040503050406030204" pitchFamily="18" charset="0"/>
                              <a:ea typeface="Noto Sans" pitchFamily="34" charset="-122"/>
                              <a:cs typeface="Noto Sans" pitchFamily="34" charset="-120"/>
                            </a:rPr>
                          </m:ctrlPr>
                        </m:radPr>
                        <m:deg/>
                        <m:e>
                          <m:f>
                            <m:fPr>
                              <m:ctrlPr>
                                <a:rPr lang="en-US" sz="1800" b="1" i="1" smtClean="0">
                                  <a:solidFill>
                                    <a:srgbClr val="1D2433"/>
                                  </a:solidFill>
                                  <a:latin typeface="Cambria Math" panose="02040503050406030204" pitchFamily="18" charset="0"/>
                                  <a:ea typeface="Noto Sans" pitchFamily="34" charset="-122"/>
                                  <a:cs typeface="Noto Sans" pitchFamily="34" charset="-120"/>
                                </a:rPr>
                              </m:ctrlPr>
                            </m:fPr>
                            <m:num>
                              <m:sSup>
                                <m:sSupPr>
                                  <m:ctrlPr>
                                    <a:rPr lang="en-US" sz="1800" b="1" i="1" smtClean="0">
                                      <a:solidFill>
                                        <a:srgbClr val="1D2433"/>
                                      </a:solidFill>
                                      <a:latin typeface="Cambria Math" panose="02040503050406030204" pitchFamily="18" charset="0"/>
                                      <a:ea typeface="Noto Sans" pitchFamily="34" charset="-122"/>
                                      <a:cs typeface="Noto Sans" pitchFamily="34" charset="-120"/>
                                    </a:rPr>
                                  </m:ctrlPr>
                                </m:sSupPr>
                                <m:e>
                                  <m:d>
                                    <m:dPr>
                                      <m:ctrlPr>
                                        <a:rPr lang="en-US" b="1" i="1">
                                          <a:solidFill>
                                            <a:srgbClr val="1D2433"/>
                                          </a:solidFill>
                                          <a:latin typeface="Cambria Math" panose="02040503050406030204" pitchFamily="18" charset="0"/>
                                          <a:ea typeface="Noto Sans" pitchFamily="34" charset="-122"/>
                                          <a:cs typeface="Noto Sans" pitchFamily="34" charset="-120"/>
                                        </a:rPr>
                                      </m:ctrlPr>
                                    </m:dPr>
                                    <m:e>
                                      <m:sSub>
                                        <m:sSubPr>
                                          <m:ctrlPr>
                                            <a:rPr lang="en-US" b="1" i="1">
                                              <a:solidFill>
                                                <a:srgbClr val="1D2433"/>
                                              </a:solidFill>
                                              <a:latin typeface="Cambria Math" panose="02040503050406030204" pitchFamily="18" charset="0"/>
                                              <a:ea typeface="Noto Sans" pitchFamily="34" charset="-122"/>
                                              <a:cs typeface="Noto Sans" pitchFamily="34" charset="-120"/>
                                            </a:rPr>
                                          </m:ctrlPr>
                                        </m:sSubPr>
                                        <m:e>
                                          <m:r>
                                            <a:rPr lang="en-US" b="1" i="1">
                                              <a:solidFill>
                                                <a:srgbClr val="1D2433"/>
                                              </a:solidFill>
                                              <a:latin typeface="Cambria Math" panose="02040503050406030204" pitchFamily="18" charset="0"/>
                                              <a:ea typeface="Noto Sans" pitchFamily="34" charset="-122"/>
                                              <a:cs typeface="Noto Sans" pitchFamily="34" charset="-120"/>
                                            </a:rPr>
                                            <m:t>𝒙</m:t>
                                          </m:r>
                                        </m:e>
                                        <m:sub>
                                          <m:r>
                                            <a:rPr lang="en-US" b="1" i="1">
                                              <a:solidFill>
                                                <a:srgbClr val="1D2433"/>
                                              </a:solidFill>
                                              <a:latin typeface="Cambria Math" panose="02040503050406030204" pitchFamily="18" charset="0"/>
                                              <a:ea typeface="Noto Sans" pitchFamily="34" charset="-122"/>
                                              <a:cs typeface="Noto Sans" pitchFamily="34" charset="-120"/>
                                            </a:rPr>
                                            <m:t>𝟏</m:t>
                                          </m:r>
                                        </m:sub>
                                      </m:sSub>
                                      <m:r>
                                        <a:rPr lang="en-US" b="1" i="1">
                                          <a:solidFill>
                                            <a:srgbClr val="1D2433"/>
                                          </a:solidFill>
                                          <a:latin typeface="Cambria Math" panose="02040503050406030204" pitchFamily="18" charset="0"/>
                                          <a:ea typeface="Noto Sans" pitchFamily="34" charset="-122"/>
                                          <a:cs typeface="Noto Sans" pitchFamily="34" charset="-120"/>
                                        </a:rPr>
                                        <m:t>−</m:t>
                                      </m:r>
                                      <m:acc>
                                        <m:accPr>
                                          <m:chr m:val="̅"/>
                                          <m:ctrlPr>
                                            <a:rPr lang="en-US" b="1" i="1">
                                              <a:solidFill>
                                                <a:srgbClr val="1D2433"/>
                                              </a:solidFill>
                                              <a:latin typeface="Cambria Math" panose="02040503050406030204" pitchFamily="18" charset="0"/>
                                              <a:ea typeface="Noto Sans" pitchFamily="34" charset="-122"/>
                                              <a:cs typeface="Noto Sans" pitchFamily="34" charset="-120"/>
                                            </a:rPr>
                                          </m:ctrlPr>
                                        </m:accPr>
                                        <m:e>
                                          <m:r>
                                            <a:rPr lang="en-US" b="1" i="1">
                                              <a:solidFill>
                                                <a:srgbClr val="1D2433"/>
                                              </a:solidFill>
                                              <a:latin typeface="Cambria Math" panose="02040503050406030204" pitchFamily="18" charset="0"/>
                                              <a:ea typeface="Noto Sans" pitchFamily="34" charset="-122"/>
                                              <a:cs typeface="Noto Sans" pitchFamily="34" charset="-120"/>
                                            </a:rPr>
                                            <m:t>𝒙</m:t>
                                          </m:r>
                                        </m:e>
                                      </m:acc>
                                    </m:e>
                                  </m:d>
                                </m:e>
                                <m:sup>
                                  <m:r>
                                    <a:rPr lang="en-US" sz="1800" b="1" i="1" smtClean="0">
                                      <a:solidFill>
                                        <a:srgbClr val="1D2433"/>
                                      </a:solidFill>
                                      <a:latin typeface="Cambria Math" panose="02040503050406030204" pitchFamily="18" charset="0"/>
                                      <a:ea typeface="Noto Sans" pitchFamily="34" charset="-122"/>
                                      <a:cs typeface="Noto Sans" pitchFamily="34" charset="-120"/>
                                    </a:rPr>
                                    <m:t>𝟐</m:t>
                                  </m:r>
                                </m:sup>
                              </m:sSup>
                              <m:r>
                                <a:rPr lang="en-US" sz="1800" b="1" i="1" smtClean="0">
                                  <a:solidFill>
                                    <a:srgbClr val="1D2433"/>
                                  </a:solidFill>
                                  <a:latin typeface="Cambria Math" panose="02040503050406030204" pitchFamily="18" charset="0"/>
                                  <a:ea typeface="Noto Sans" pitchFamily="34" charset="-122"/>
                                  <a:cs typeface="Noto Sans" pitchFamily="34" charset="-120"/>
                                </a:rPr>
                                <m:t>+</m:t>
                              </m:r>
                              <m:sSup>
                                <m:sSupPr>
                                  <m:ctrlPr>
                                    <a:rPr lang="en-US" b="1" i="1">
                                      <a:solidFill>
                                        <a:srgbClr val="1D2433"/>
                                      </a:solidFill>
                                      <a:latin typeface="Cambria Math" panose="02040503050406030204" pitchFamily="18" charset="0"/>
                                      <a:ea typeface="Noto Sans" pitchFamily="34" charset="-122"/>
                                      <a:cs typeface="Noto Sans" pitchFamily="34" charset="-120"/>
                                    </a:rPr>
                                  </m:ctrlPr>
                                </m:sSupPr>
                                <m:e>
                                  <m:d>
                                    <m:dPr>
                                      <m:ctrlPr>
                                        <a:rPr lang="en-US" b="1" i="1">
                                          <a:solidFill>
                                            <a:srgbClr val="1D2433"/>
                                          </a:solidFill>
                                          <a:latin typeface="Cambria Math" panose="02040503050406030204" pitchFamily="18" charset="0"/>
                                          <a:ea typeface="Noto Sans" pitchFamily="34" charset="-122"/>
                                          <a:cs typeface="Noto Sans" pitchFamily="34" charset="-120"/>
                                        </a:rPr>
                                      </m:ctrlPr>
                                    </m:dPr>
                                    <m:e>
                                      <m:sSub>
                                        <m:sSubPr>
                                          <m:ctrlPr>
                                            <a:rPr lang="en-US" b="1" i="1">
                                              <a:solidFill>
                                                <a:srgbClr val="1D2433"/>
                                              </a:solidFill>
                                              <a:latin typeface="Cambria Math" panose="02040503050406030204" pitchFamily="18" charset="0"/>
                                              <a:ea typeface="Noto Sans" pitchFamily="34" charset="-122"/>
                                              <a:cs typeface="Noto Sans" pitchFamily="34" charset="-120"/>
                                            </a:rPr>
                                          </m:ctrlPr>
                                        </m:sSubPr>
                                        <m:e>
                                          <m:r>
                                            <a:rPr lang="en-US" b="1" i="1">
                                              <a:solidFill>
                                                <a:srgbClr val="1D2433"/>
                                              </a:solidFill>
                                              <a:latin typeface="Cambria Math" panose="02040503050406030204" pitchFamily="18" charset="0"/>
                                              <a:ea typeface="Noto Sans" pitchFamily="34" charset="-122"/>
                                              <a:cs typeface="Noto Sans" pitchFamily="34" charset="-120"/>
                                            </a:rPr>
                                            <m:t>𝒙</m:t>
                                          </m:r>
                                        </m:e>
                                        <m:sub>
                                          <m:r>
                                            <a:rPr lang="en-US" b="1" i="1" smtClean="0">
                                              <a:solidFill>
                                                <a:srgbClr val="1D2433"/>
                                              </a:solidFill>
                                              <a:latin typeface="Cambria Math" panose="02040503050406030204" pitchFamily="18" charset="0"/>
                                              <a:ea typeface="Noto Sans" pitchFamily="34" charset="-122"/>
                                              <a:cs typeface="Noto Sans" pitchFamily="34" charset="-120"/>
                                            </a:rPr>
                                            <m:t>𝟐</m:t>
                                          </m:r>
                                        </m:sub>
                                      </m:sSub>
                                      <m:r>
                                        <a:rPr lang="en-US" b="1" i="1">
                                          <a:solidFill>
                                            <a:srgbClr val="1D2433"/>
                                          </a:solidFill>
                                          <a:latin typeface="Cambria Math" panose="02040503050406030204" pitchFamily="18" charset="0"/>
                                          <a:ea typeface="Noto Sans" pitchFamily="34" charset="-122"/>
                                          <a:cs typeface="Noto Sans" pitchFamily="34" charset="-120"/>
                                        </a:rPr>
                                        <m:t>−</m:t>
                                      </m:r>
                                      <m:acc>
                                        <m:accPr>
                                          <m:chr m:val="̅"/>
                                          <m:ctrlPr>
                                            <a:rPr lang="en-US" b="1" i="1">
                                              <a:solidFill>
                                                <a:srgbClr val="1D2433"/>
                                              </a:solidFill>
                                              <a:latin typeface="Cambria Math" panose="02040503050406030204" pitchFamily="18" charset="0"/>
                                              <a:ea typeface="Noto Sans" pitchFamily="34" charset="-122"/>
                                              <a:cs typeface="Noto Sans" pitchFamily="34" charset="-120"/>
                                            </a:rPr>
                                          </m:ctrlPr>
                                        </m:accPr>
                                        <m:e>
                                          <m:r>
                                            <a:rPr lang="en-US" b="1" i="1">
                                              <a:solidFill>
                                                <a:srgbClr val="1D2433"/>
                                              </a:solidFill>
                                              <a:latin typeface="Cambria Math" panose="02040503050406030204" pitchFamily="18" charset="0"/>
                                              <a:ea typeface="Noto Sans" pitchFamily="34" charset="-122"/>
                                              <a:cs typeface="Noto Sans" pitchFamily="34" charset="-120"/>
                                            </a:rPr>
                                            <m:t>𝒙</m:t>
                                          </m:r>
                                        </m:e>
                                      </m:acc>
                                    </m:e>
                                  </m:d>
                                </m:e>
                                <m:sup>
                                  <m:r>
                                    <a:rPr lang="en-US" b="1" i="1">
                                      <a:solidFill>
                                        <a:srgbClr val="1D2433"/>
                                      </a:solidFill>
                                      <a:latin typeface="Cambria Math" panose="02040503050406030204" pitchFamily="18" charset="0"/>
                                      <a:ea typeface="Noto Sans" pitchFamily="34" charset="-122"/>
                                      <a:cs typeface="Noto Sans" pitchFamily="34" charset="-120"/>
                                    </a:rPr>
                                    <m:t>𝟐</m:t>
                                  </m:r>
                                </m:sup>
                              </m:sSup>
                              <m:r>
                                <a:rPr lang="en-US" b="1" i="1" smtClean="0">
                                  <a:solidFill>
                                    <a:srgbClr val="1D2433"/>
                                  </a:solidFill>
                                  <a:latin typeface="Cambria Math" panose="02040503050406030204" pitchFamily="18" charset="0"/>
                                  <a:ea typeface="Noto Sans" pitchFamily="34" charset="-122"/>
                                  <a:cs typeface="Noto Sans" pitchFamily="34" charset="-120"/>
                                </a:rPr>
                                <m:t>+…</m:t>
                              </m:r>
                              <m:sSup>
                                <m:sSupPr>
                                  <m:ctrlPr>
                                    <a:rPr lang="en-US" b="1" i="1">
                                      <a:solidFill>
                                        <a:srgbClr val="1D2433"/>
                                      </a:solidFill>
                                      <a:latin typeface="Cambria Math" panose="02040503050406030204" pitchFamily="18" charset="0"/>
                                      <a:ea typeface="Noto Sans" pitchFamily="34" charset="-122"/>
                                      <a:cs typeface="Noto Sans" pitchFamily="34" charset="-120"/>
                                    </a:rPr>
                                  </m:ctrlPr>
                                </m:sSupPr>
                                <m:e>
                                  <m:d>
                                    <m:dPr>
                                      <m:ctrlPr>
                                        <a:rPr lang="en-US" b="1" i="1">
                                          <a:solidFill>
                                            <a:srgbClr val="1D2433"/>
                                          </a:solidFill>
                                          <a:latin typeface="Cambria Math" panose="02040503050406030204" pitchFamily="18" charset="0"/>
                                          <a:ea typeface="Noto Sans" pitchFamily="34" charset="-122"/>
                                          <a:cs typeface="Noto Sans" pitchFamily="34" charset="-120"/>
                                        </a:rPr>
                                      </m:ctrlPr>
                                    </m:dPr>
                                    <m:e>
                                      <m:sSub>
                                        <m:sSubPr>
                                          <m:ctrlPr>
                                            <a:rPr lang="en-US" b="1" i="1">
                                              <a:solidFill>
                                                <a:srgbClr val="1D2433"/>
                                              </a:solidFill>
                                              <a:latin typeface="Cambria Math" panose="02040503050406030204" pitchFamily="18" charset="0"/>
                                              <a:ea typeface="Noto Sans" pitchFamily="34" charset="-122"/>
                                              <a:cs typeface="Noto Sans" pitchFamily="34" charset="-120"/>
                                            </a:rPr>
                                          </m:ctrlPr>
                                        </m:sSubPr>
                                        <m:e>
                                          <m:r>
                                            <a:rPr lang="en-US" b="1" i="1">
                                              <a:solidFill>
                                                <a:srgbClr val="1D2433"/>
                                              </a:solidFill>
                                              <a:latin typeface="Cambria Math" panose="02040503050406030204" pitchFamily="18" charset="0"/>
                                              <a:ea typeface="Noto Sans" pitchFamily="34" charset="-122"/>
                                              <a:cs typeface="Noto Sans" pitchFamily="34" charset="-120"/>
                                            </a:rPr>
                                            <m:t>𝒙</m:t>
                                          </m:r>
                                        </m:e>
                                        <m:sub>
                                          <m:r>
                                            <a:rPr lang="en-US" b="1" i="1" smtClean="0">
                                              <a:solidFill>
                                                <a:srgbClr val="1D2433"/>
                                              </a:solidFill>
                                              <a:latin typeface="Cambria Math" panose="02040503050406030204" pitchFamily="18" charset="0"/>
                                              <a:ea typeface="Noto Sans" pitchFamily="34" charset="-122"/>
                                              <a:cs typeface="Noto Sans" pitchFamily="34" charset="-120"/>
                                            </a:rPr>
                                            <m:t>𝒏</m:t>
                                          </m:r>
                                        </m:sub>
                                      </m:sSub>
                                      <m:r>
                                        <a:rPr lang="en-US" b="1" i="1">
                                          <a:solidFill>
                                            <a:srgbClr val="1D2433"/>
                                          </a:solidFill>
                                          <a:latin typeface="Cambria Math" panose="02040503050406030204" pitchFamily="18" charset="0"/>
                                          <a:ea typeface="Noto Sans" pitchFamily="34" charset="-122"/>
                                          <a:cs typeface="Noto Sans" pitchFamily="34" charset="-120"/>
                                        </a:rPr>
                                        <m:t>−</m:t>
                                      </m:r>
                                      <m:acc>
                                        <m:accPr>
                                          <m:chr m:val="̅"/>
                                          <m:ctrlPr>
                                            <a:rPr lang="en-US" b="1" i="1">
                                              <a:solidFill>
                                                <a:srgbClr val="1D2433"/>
                                              </a:solidFill>
                                              <a:latin typeface="Cambria Math" panose="02040503050406030204" pitchFamily="18" charset="0"/>
                                              <a:ea typeface="Noto Sans" pitchFamily="34" charset="-122"/>
                                              <a:cs typeface="Noto Sans" pitchFamily="34" charset="-120"/>
                                            </a:rPr>
                                          </m:ctrlPr>
                                        </m:accPr>
                                        <m:e>
                                          <m:r>
                                            <a:rPr lang="en-US" b="1" i="1">
                                              <a:solidFill>
                                                <a:srgbClr val="1D2433"/>
                                              </a:solidFill>
                                              <a:latin typeface="Cambria Math" panose="02040503050406030204" pitchFamily="18" charset="0"/>
                                              <a:ea typeface="Noto Sans" pitchFamily="34" charset="-122"/>
                                              <a:cs typeface="Noto Sans" pitchFamily="34" charset="-120"/>
                                            </a:rPr>
                                            <m:t>𝒙</m:t>
                                          </m:r>
                                        </m:e>
                                      </m:acc>
                                    </m:e>
                                  </m:d>
                                </m:e>
                                <m:sup>
                                  <m:r>
                                    <a:rPr lang="en-US" b="1" i="1">
                                      <a:solidFill>
                                        <a:srgbClr val="1D2433"/>
                                      </a:solidFill>
                                      <a:latin typeface="Cambria Math" panose="02040503050406030204" pitchFamily="18" charset="0"/>
                                      <a:ea typeface="Noto Sans" pitchFamily="34" charset="-122"/>
                                      <a:cs typeface="Noto Sans" pitchFamily="34" charset="-120"/>
                                    </a:rPr>
                                    <m:t>𝟐</m:t>
                                  </m:r>
                                </m:sup>
                              </m:sSup>
                            </m:num>
                            <m:den>
                              <m:r>
                                <a:rPr lang="en-US" sz="1800" b="1" i="1" smtClean="0">
                                  <a:solidFill>
                                    <a:srgbClr val="1D2433"/>
                                  </a:solidFill>
                                  <a:latin typeface="Cambria Math" panose="02040503050406030204" pitchFamily="18" charset="0"/>
                                  <a:ea typeface="Noto Sans" pitchFamily="34" charset="-122"/>
                                  <a:cs typeface="Noto Sans" pitchFamily="34" charset="-120"/>
                                </a:rPr>
                                <m:t>𝑵</m:t>
                              </m:r>
                              <m:r>
                                <a:rPr lang="en-US" sz="1800" b="1" i="1" smtClean="0">
                                  <a:solidFill>
                                    <a:srgbClr val="1D2433"/>
                                  </a:solidFill>
                                  <a:latin typeface="Cambria Math" panose="02040503050406030204" pitchFamily="18" charset="0"/>
                                  <a:ea typeface="Noto Sans" pitchFamily="34" charset="-122"/>
                                  <a:cs typeface="Noto Sans" pitchFamily="34" charset="-120"/>
                                </a:rPr>
                                <m:t>−</m:t>
                              </m:r>
                              <m:r>
                                <a:rPr lang="en-US" sz="1800" b="1" i="1" smtClean="0">
                                  <a:solidFill>
                                    <a:srgbClr val="1D2433"/>
                                  </a:solidFill>
                                  <a:latin typeface="Cambria Math" panose="02040503050406030204" pitchFamily="18" charset="0"/>
                                  <a:ea typeface="Noto Sans" pitchFamily="34" charset="-122"/>
                                  <a:cs typeface="Noto Sans" pitchFamily="34" charset="-120"/>
                                </a:rPr>
                                <m:t>𝟏</m:t>
                              </m:r>
                            </m:den>
                          </m:f>
                        </m:e>
                      </m:rad>
                    </m:oMath>
                  </m:oMathPara>
                </a14:m>
                <a:endParaRPr lang="en-US" sz="1800" dirty="0"/>
              </a:p>
            </p:txBody>
          </p:sp>
        </mc:Choice>
        <mc:Fallback>
          <p:sp>
            <p:nvSpPr>
              <p:cNvPr id="10" name="Text 8"/>
              <p:cNvSpPr>
                <a:spLocks noRot="1" noChangeAspect="1" noMove="1" noResize="1" noEditPoints="1" noAdjustHandles="1" noChangeArrowheads="1" noChangeShapeType="1" noTextEdit="1"/>
              </p:cNvSpPr>
              <p:nvPr/>
            </p:nvSpPr>
            <p:spPr>
              <a:xfrm>
                <a:off x="6700520" y="2805112"/>
                <a:ext cx="4881829" cy="383542"/>
              </a:xfrm>
              <a:prstGeom prst="rect">
                <a:avLst/>
              </a:prstGeom>
              <a:blipFill>
                <a:blip r:embed="rId4"/>
                <a:stretch>
                  <a:fillRect t="-84127" b="-19048"/>
                </a:stretch>
              </a:blipFill>
              <a:ln/>
            </p:spPr>
            <p:txBody>
              <a:bodyPr/>
              <a:lstStyle/>
              <a:p>
                <a:r>
                  <a:rPr lang="uz-Latn-UZ">
                    <a:noFill/>
                  </a:rPr>
                  <a:t> </a:t>
                </a:r>
              </a:p>
            </p:txBody>
          </p:sp>
        </mc:Fallback>
      </mc:AlternateContent>
      <p:sp>
        <p:nvSpPr>
          <p:cNvPr id="11" name="Shape 9"/>
          <p:cNvSpPr/>
          <p:nvPr/>
        </p:nvSpPr>
        <p:spPr>
          <a:xfrm>
            <a:off x="815975" y="3424554"/>
            <a:ext cx="5200650" cy="956310"/>
          </a:xfrm>
          <a:prstGeom prst="roundRect">
            <a:avLst>
              <a:gd name="adj" fmla="val 7636"/>
            </a:avLst>
          </a:prstGeom>
          <a:solidFill>
            <a:srgbClr val="FDFCF9"/>
          </a:solidFill>
          <a:ln w="6350">
            <a:solidFill>
              <a:srgbClr val="E2DED4"/>
            </a:solidFill>
            <a:prstDash val="solid"/>
          </a:ln>
        </p:spPr>
        <p:txBody>
          <a:bodyPr/>
          <a:lstStyle/>
          <a:p>
            <a:endParaRPr lang="uz-Latn-UZ"/>
          </a:p>
        </p:txBody>
      </p:sp>
      <p:sp>
        <p:nvSpPr>
          <p:cNvPr id="12" name="Text 10"/>
          <p:cNvSpPr/>
          <p:nvPr/>
        </p:nvSpPr>
        <p:spPr>
          <a:xfrm>
            <a:off x="1046480" y="3491047"/>
            <a:ext cx="4881829"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3. Oʻrtacha qiymatning standart ogʻishi</a:t>
            </a:r>
            <a:endParaRPr lang="en-US" sz="1200" dirty="0"/>
          </a:p>
        </p:txBody>
      </p:sp>
      <mc:AlternateContent xmlns:mc="http://schemas.openxmlformats.org/markup-compatibility/2006">
        <mc:Choice xmlns:a14="http://schemas.microsoft.com/office/drawing/2010/main" Requires="a14">
          <p:sp>
            <p:nvSpPr>
              <p:cNvPr id="13" name="Text 11"/>
              <p:cNvSpPr/>
              <p:nvPr/>
            </p:nvSpPr>
            <p:spPr>
              <a:xfrm>
                <a:off x="1046480" y="3881121"/>
                <a:ext cx="4881829" cy="345440"/>
              </a:xfrm>
              <a:prstGeom prst="rect">
                <a:avLst/>
              </a:prstGeom>
              <a:noFill/>
              <a:ln/>
            </p:spPr>
            <p:txBody>
              <a:bodyPr wrap="square" lIns="0" tIns="0" rIns="0" bIns="0" rtlCol="0" anchor="t">
                <a:normAutofit/>
              </a:bodyPr>
              <a:lstStyle/>
              <a:p>
                <a:pPr marL="0" indent="0" algn="l">
                  <a:lnSpc>
                    <a:spcPts val="2520"/>
                  </a:lnSpc>
                  <a:buNone/>
                </a:pPr>
                <a14:m>
                  <m:oMathPara xmlns:m="http://schemas.openxmlformats.org/officeDocument/2006/math">
                    <m:oMath>
                      <m:r>
                        <a:rPr lang="en-US" sz="1800" b="1" i="1" smtClean="0">
                          <a:solidFill>
                            <a:srgbClr val="1D2433"/>
                          </a:solidFill>
                          <a:latin typeface="Cambria Math" panose="02040503050406030204" pitchFamily="18" charset="0"/>
                          <a:ea typeface="Noto Sans" pitchFamily="34" charset="-122"/>
                          <a:cs typeface="Noto Sans" pitchFamily="34" charset="-120"/>
                        </a:rPr>
                        <m:t>𝑺</m:t>
                      </m:r>
                      <m:d>
                        <m:dPr>
                          <m:ctrlPr>
                            <a:rPr lang="en-US" sz="1800" b="1" i="1" smtClean="0">
                              <a:solidFill>
                                <a:srgbClr val="1D2433"/>
                              </a:solidFill>
                              <a:latin typeface="Cambria Math" panose="02040503050406030204" pitchFamily="18" charset="0"/>
                              <a:ea typeface="Noto Sans" pitchFamily="34" charset="-122"/>
                              <a:cs typeface="Noto Sans" pitchFamily="34" charset="-120"/>
                            </a:rPr>
                          </m:ctrlPr>
                        </m:dPr>
                        <m:e>
                          <m:acc>
                            <m:accPr>
                              <m:chr m:val="̅"/>
                              <m:ctrlPr>
                                <a:rPr lang="en-US" sz="1800" b="1" i="1" smtClean="0">
                                  <a:solidFill>
                                    <a:srgbClr val="1D2433"/>
                                  </a:solidFill>
                                  <a:latin typeface="Cambria Math" panose="02040503050406030204" pitchFamily="18" charset="0"/>
                                  <a:ea typeface="Noto Sans" pitchFamily="34" charset="-122"/>
                                  <a:cs typeface="Noto Sans" pitchFamily="34" charset="-120"/>
                                </a:rPr>
                              </m:ctrlPr>
                            </m:accPr>
                            <m:e>
                              <m:r>
                                <a:rPr lang="en-US" sz="1800" b="1" i="1" smtClean="0">
                                  <a:solidFill>
                                    <a:srgbClr val="1D2433"/>
                                  </a:solidFill>
                                  <a:latin typeface="Cambria Math" panose="02040503050406030204" pitchFamily="18" charset="0"/>
                                  <a:ea typeface="Noto Sans" pitchFamily="34" charset="-122"/>
                                  <a:cs typeface="Noto Sans" pitchFamily="34" charset="-120"/>
                                </a:rPr>
                                <m:t>𝒙</m:t>
                              </m:r>
                            </m:e>
                          </m:acc>
                        </m:e>
                      </m:d>
                      <m:r>
                        <a:rPr lang="en-US" sz="1800" b="1" i="1" smtClean="0">
                          <a:solidFill>
                            <a:srgbClr val="1D2433"/>
                          </a:solidFill>
                          <a:latin typeface="Cambria Math" panose="02040503050406030204" pitchFamily="18" charset="0"/>
                          <a:ea typeface="Noto Sans" pitchFamily="34" charset="-122"/>
                          <a:cs typeface="Noto Sans" pitchFamily="34" charset="-120"/>
                        </a:rPr>
                        <m:t>=</m:t>
                      </m:r>
                      <m:f>
                        <m:fPr>
                          <m:ctrlPr>
                            <a:rPr lang="en-US" sz="1800" b="1" i="1" smtClean="0">
                              <a:solidFill>
                                <a:srgbClr val="1D2433"/>
                              </a:solidFill>
                              <a:latin typeface="Cambria Math" panose="02040503050406030204" pitchFamily="18" charset="0"/>
                              <a:ea typeface="Noto Sans" pitchFamily="34" charset="-122"/>
                              <a:cs typeface="Noto Sans" pitchFamily="34" charset="-120"/>
                            </a:rPr>
                          </m:ctrlPr>
                        </m:fPr>
                        <m:num>
                          <m:sSub>
                            <m:sSubPr>
                              <m:ctrlPr>
                                <a:rPr lang="en-US" sz="1800" b="1" i="1" smtClean="0">
                                  <a:solidFill>
                                    <a:srgbClr val="1D2433"/>
                                  </a:solidFill>
                                  <a:latin typeface="Cambria Math" panose="02040503050406030204" pitchFamily="18" charset="0"/>
                                  <a:ea typeface="Noto Sans" pitchFamily="34" charset="-122"/>
                                  <a:cs typeface="Noto Sans" pitchFamily="34" charset="-120"/>
                                </a:rPr>
                              </m:ctrlPr>
                            </m:sSubPr>
                            <m:e>
                              <m:r>
                                <a:rPr lang="en-US" sz="1800" b="1" i="1" smtClean="0">
                                  <a:solidFill>
                                    <a:srgbClr val="1D2433"/>
                                  </a:solidFill>
                                  <a:latin typeface="Cambria Math" panose="02040503050406030204" pitchFamily="18" charset="0"/>
                                  <a:ea typeface="Noto Sans" pitchFamily="34" charset="-122"/>
                                  <a:cs typeface="Noto Sans" pitchFamily="34" charset="-120"/>
                                </a:rPr>
                                <m:t>𝑺</m:t>
                              </m:r>
                            </m:e>
                            <m:sub>
                              <m:r>
                                <a:rPr lang="en-US" sz="1800" b="1" i="1" smtClean="0">
                                  <a:solidFill>
                                    <a:srgbClr val="1D2433"/>
                                  </a:solidFill>
                                  <a:latin typeface="Cambria Math" panose="02040503050406030204" pitchFamily="18" charset="0"/>
                                  <a:ea typeface="Noto Sans" pitchFamily="34" charset="-122"/>
                                  <a:cs typeface="Noto Sans" pitchFamily="34" charset="-120"/>
                                </a:rPr>
                                <m:t>𝒙</m:t>
                              </m:r>
                            </m:sub>
                          </m:sSub>
                        </m:num>
                        <m:den>
                          <m:rad>
                            <m:radPr>
                              <m:degHide m:val="on"/>
                              <m:ctrlPr>
                                <a:rPr lang="en-US" sz="1800" b="1" i="1" smtClean="0">
                                  <a:solidFill>
                                    <a:srgbClr val="1D2433"/>
                                  </a:solidFill>
                                  <a:latin typeface="Cambria Math" panose="02040503050406030204" pitchFamily="18" charset="0"/>
                                  <a:ea typeface="Noto Sans" pitchFamily="34" charset="-122"/>
                                  <a:cs typeface="Noto Sans" pitchFamily="34" charset="-120"/>
                                </a:rPr>
                              </m:ctrlPr>
                            </m:radPr>
                            <m:deg/>
                            <m:e>
                              <m:r>
                                <a:rPr lang="en-US" sz="1800" b="1" i="1" smtClean="0">
                                  <a:solidFill>
                                    <a:srgbClr val="1D2433"/>
                                  </a:solidFill>
                                  <a:latin typeface="Cambria Math" panose="02040503050406030204" pitchFamily="18" charset="0"/>
                                  <a:ea typeface="Noto Sans" pitchFamily="34" charset="-122"/>
                                  <a:cs typeface="Noto Sans" pitchFamily="34" charset="-120"/>
                                </a:rPr>
                                <m:t>𝑵</m:t>
                              </m:r>
                            </m:e>
                          </m:rad>
                        </m:den>
                      </m:f>
                    </m:oMath>
                  </m:oMathPara>
                </a14:m>
                <a:endParaRPr lang="en-US" sz="1800" dirty="0"/>
              </a:p>
            </p:txBody>
          </p:sp>
        </mc:Choice>
        <mc:Fallback>
          <p:sp>
            <p:nvSpPr>
              <p:cNvPr id="13" name="Text 11"/>
              <p:cNvSpPr>
                <a:spLocks noRot="1" noChangeAspect="1" noMove="1" noResize="1" noEditPoints="1" noAdjustHandles="1" noChangeArrowheads="1" noChangeShapeType="1" noTextEdit="1"/>
              </p:cNvSpPr>
              <p:nvPr/>
            </p:nvSpPr>
            <p:spPr>
              <a:xfrm>
                <a:off x="1046480" y="3881121"/>
                <a:ext cx="4881829" cy="345440"/>
              </a:xfrm>
              <a:prstGeom prst="rect">
                <a:avLst/>
              </a:prstGeom>
              <a:blipFill>
                <a:blip r:embed="rId5"/>
                <a:stretch>
                  <a:fillRect t="-58929" b="-28571"/>
                </a:stretch>
              </a:blipFill>
              <a:ln/>
            </p:spPr>
            <p:txBody>
              <a:bodyPr/>
              <a:lstStyle/>
              <a:p>
                <a:r>
                  <a:rPr lang="uz-Latn-UZ">
                    <a:noFill/>
                  </a:rPr>
                  <a:t> </a:t>
                </a:r>
              </a:p>
            </p:txBody>
          </p:sp>
        </mc:Fallback>
      </mc:AlternateContent>
      <p:sp>
        <p:nvSpPr>
          <p:cNvPr id="14" name="Shape 12"/>
          <p:cNvSpPr/>
          <p:nvPr/>
        </p:nvSpPr>
        <p:spPr>
          <a:xfrm>
            <a:off x="6172200" y="3421379"/>
            <a:ext cx="5207000" cy="962660"/>
          </a:xfrm>
          <a:prstGeom prst="roundRect">
            <a:avLst>
              <a:gd name="adj" fmla="val 7916"/>
            </a:avLst>
          </a:prstGeom>
          <a:solidFill>
            <a:srgbClr val="FBE9DC"/>
          </a:solidFill>
          <a:ln/>
        </p:spPr>
        <p:txBody>
          <a:bodyPr/>
          <a:lstStyle/>
          <a:p>
            <a:endParaRPr lang="uz-Latn-UZ"/>
          </a:p>
        </p:txBody>
      </p:sp>
      <p:sp>
        <p:nvSpPr>
          <p:cNvPr id="15" name="Text 13"/>
          <p:cNvSpPr/>
          <p:nvPr/>
        </p:nvSpPr>
        <p:spPr>
          <a:xfrm>
            <a:off x="6400800" y="3599179"/>
            <a:ext cx="489229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F3F12"/>
                </a:solidFill>
                <a:latin typeface="Noto Sans" pitchFamily="34" charset="0"/>
                <a:ea typeface="Noto Sans" pitchFamily="34" charset="-122"/>
                <a:cs typeface="Noto Sans" pitchFamily="34" charset="-120"/>
              </a:rPr>
              <a:t>4. Ishonch oraligʻi (P = 1 − α)</a:t>
            </a:r>
            <a:endParaRPr lang="en-US" sz="1200" dirty="0"/>
          </a:p>
        </p:txBody>
      </p:sp>
      <mc:AlternateContent xmlns:mc="http://schemas.openxmlformats.org/markup-compatibility/2006">
        <mc:Choice xmlns:a14="http://schemas.microsoft.com/office/drawing/2010/main" Requires="a14">
          <p:sp>
            <p:nvSpPr>
              <p:cNvPr id="16" name="Text 14"/>
              <p:cNvSpPr/>
              <p:nvPr/>
            </p:nvSpPr>
            <p:spPr>
              <a:xfrm>
                <a:off x="6400800" y="3876039"/>
                <a:ext cx="4892294" cy="345440"/>
              </a:xfrm>
              <a:prstGeom prst="rect">
                <a:avLst/>
              </a:prstGeom>
              <a:noFill/>
              <a:ln/>
            </p:spPr>
            <p:txBody>
              <a:bodyPr wrap="square" lIns="0" tIns="0" rIns="0" bIns="0" rtlCol="0" anchor="t">
                <a:normAutofit/>
              </a:bodyPr>
              <a:lstStyle/>
              <a:p>
                <a:pPr marL="0" indent="0" algn="l">
                  <a:lnSpc>
                    <a:spcPts val="2520"/>
                  </a:lnSpc>
                  <a:buNone/>
                </a:pPr>
                <a14:m>
                  <m:oMathPara xmlns:m="http://schemas.openxmlformats.org/officeDocument/2006/math">
                    <m:oMath>
                      <m:sSub>
                        <m:sSubPr>
                          <m:ctrlPr>
                            <a:rPr lang="en-US" sz="1800" b="1" i="1" smtClean="0">
                              <a:solidFill>
                                <a:srgbClr val="1D2433"/>
                              </a:solidFill>
                              <a:latin typeface="Cambria Math" panose="02040503050406030204" pitchFamily="18" charset="0"/>
                              <a:ea typeface="Noto Sans" pitchFamily="34" charset="-122"/>
                              <a:cs typeface="Noto Sans" pitchFamily="34" charset="-120"/>
                            </a:rPr>
                          </m:ctrlPr>
                        </m:sSubPr>
                        <m:e>
                          <m:r>
                            <a:rPr lang="en-US" sz="1800" b="1" i="1" smtClean="0">
                              <a:solidFill>
                                <a:srgbClr val="1D2433"/>
                              </a:solidFill>
                              <a:latin typeface="Cambria Math" panose="02040503050406030204" pitchFamily="18" charset="0"/>
                              <a:ea typeface="Noto Sans" pitchFamily="34" charset="-122"/>
                              <a:cs typeface="Noto Sans" pitchFamily="34" charset="-120"/>
                            </a:rPr>
                            <m:t>𝒙</m:t>
                          </m:r>
                        </m:e>
                        <m:sub>
                          <m:r>
                            <a:rPr lang="en-US" sz="1800" b="1" i="1" smtClean="0">
                              <a:solidFill>
                                <a:srgbClr val="1D2433"/>
                              </a:solidFill>
                              <a:latin typeface="Cambria Math" panose="02040503050406030204" pitchFamily="18" charset="0"/>
                              <a:ea typeface="Noto Sans" pitchFamily="34" charset="-122"/>
                              <a:cs typeface="Noto Sans" pitchFamily="34" charset="-120"/>
                            </a:rPr>
                            <m:t>𝒉</m:t>
                          </m:r>
                        </m:sub>
                      </m:sSub>
                      <m:r>
                        <a:rPr lang="en-US" sz="1800" b="1" i="1" smtClean="0">
                          <a:solidFill>
                            <a:srgbClr val="1D2433"/>
                          </a:solidFill>
                          <a:latin typeface="Cambria Math" panose="02040503050406030204" pitchFamily="18" charset="0"/>
                          <a:ea typeface="Noto Sans" pitchFamily="34" charset="-122"/>
                          <a:cs typeface="Noto Sans" pitchFamily="34" charset="-120"/>
                        </a:rPr>
                        <m:t>=</m:t>
                      </m:r>
                      <m:acc>
                        <m:accPr>
                          <m:chr m:val="̅"/>
                          <m:ctrlPr>
                            <a:rPr lang="en-US" sz="1800" b="1" i="1" smtClean="0">
                              <a:solidFill>
                                <a:srgbClr val="1D2433"/>
                              </a:solidFill>
                              <a:latin typeface="Cambria Math" panose="02040503050406030204" pitchFamily="18" charset="0"/>
                              <a:ea typeface="Noto Sans" pitchFamily="34" charset="-122"/>
                              <a:cs typeface="Noto Sans" pitchFamily="34" charset="-120"/>
                            </a:rPr>
                          </m:ctrlPr>
                        </m:accPr>
                        <m:e>
                          <m:r>
                            <a:rPr lang="en-US" sz="1800" b="1" i="1" smtClean="0">
                              <a:solidFill>
                                <a:srgbClr val="1D2433"/>
                              </a:solidFill>
                              <a:latin typeface="Cambria Math" panose="02040503050406030204" pitchFamily="18" charset="0"/>
                              <a:ea typeface="Noto Sans" pitchFamily="34" charset="-122"/>
                              <a:cs typeface="Noto Sans" pitchFamily="34" charset="-120"/>
                            </a:rPr>
                            <m:t>𝒙</m:t>
                          </m:r>
                        </m:e>
                      </m:acc>
                      <m:r>
                        <a:rPr lang="en-US" sz="1800" b="1" i="1" smtClean="0">
                          <a:solidFill>
                            <a:srgbClr val="1D2433"/>
                          </a:solidFill>
                          <a:latin typeface="Cambria Math" panose="02040503050406030204" pitchFamily="18" charset="0"/>
                          <a:ea typeface="Cambria Math" panose="02040503050406030204" pitchFamily="18" charset="0"/>
                          <a:cs typeface="Noto Sans" pitchFamily="34" charset="-120"/>
                        </a:rPr>
                        <m:t>±</m:t>
                      </m:r>
                      <m:r>
                        <a:rPr lang="en-US" sz="1800" b="1" i="1" smtClean="0">
                          <a:solidFill>
                            <a:srgbClr val="1D2433"/>
                          </a:solidFill>
                          <a:latin typeface="Cambria Math" panose="02040503050406030204" pitchFamily="18" charset="0"/>
                          <a:ea typeface="Cambria Math" panose="02040503050406030204" pitchFamily="18" charset="0"/>
                          <a:cs typeface="Noto Sans" pitchFamily="34" charset="-120"/>
                        </a:rPr>
                        <m:t>𝒕</m:t>
                      </m:r>
                      <m:d>
                        <m:dPr>
                          <m:ctrlPr>
                            <a:rPr lang="en-US" sz="1800" b="1" i="1" smtClean="0">
                              <a:solidFill>
                                <a:srgbClr val="1D2433"/>
                              </a:solidFill>
                              <a:latin typeface="Cambria Math" panose="02040503050406030204" pitchFamily="18" charset="0"/>
                              <a:ea typeface="Cambria Math" panose="02040503050406030204" pitchFamily="18" charset="0"/>
                              <a:cs typeface="Noto Sans" pitchFamily="34" charset="-120"/>
                            </a:rPr>
                          </m:ctrlPr>
                        </m:dPr>
                        <m:e>
                          <m:r>
                            <a:rPr lang="en-US" sz="1800" b="1" i="1" smtClean="0">
                              <a:solidFill>
                                <a:srgbClr val="1D2433"/>
                              </a:solidFill>
                              <a:latin typeface="Cambria Math" panose="02040503050406030204" pitchFamily="18" charset="0"/>
                              <a:ea typeface="Cambria Math" panose="02040503050406030204" pitchFamily="18" charset="0"/>
                              <a:cs typeface="Noto Sans" pitchFamily="34" charset="-120"/>
                            </a:rPr>
                            <m:t>𝜶</m:t>
                          </m:r>
                          <m:r>
                            <a:rPr lang="en-US" sz="1800" b="1" i="1" smtClean="0">
                              <a:solidFill>
                                <a:srgbClr val="1D2433"/>
                              </a:solidFill>
                              <a:latin typeface="Cambria Math" panose="02040503050406030204" pitchFamily="18" charset="0"/>
                              <a:ea typeface="Cambria Math" panose="02040503050406030204" pitchFamily="18" charset="0"/>
                              <a:cs typeface="Noto Sans" pitchFamily="34" charset="-120"/>
                            </a:rPr>
                            <m:t>, </m:t>
                          </m:r>
                          <m:r>
                            <a:rPr lang="en-US" sz="1800" b="1" i="1" smtClean="0">
                              <a:solidFill>
                                <a:srgbClr val="1D2433"/>
                              </a:solidFill>
                              <a:latin typeface="Cambria Math" panose="02040503050406030204" pitchFamily="18" charset="0"/>
                              <a:ea typeface="Cambria Math" panose="02040503050406030204" pitchFamily="18" charset="0"/>
                              <a:cs typeface="Noto Sans" pitchFamily="34" charset="-120"/>
                            </a:rPr>
                            <m:t>𝑵</m:t>
                          </m:r>
                          <m:r>
                            <a:rPr lang="en-US" sz="1800" b="1" i="1" smtClean="0">
                              <a:solidFill>
                                <a:srgbClr val="1D2433"/>
                              </a:solidFill>
                              <a:latin typeface="Cambria Math" panose="02040503050406030204" pitchFamily="18" charset="0"/>
                              <a:ea typeface="Cambria Math" panose="02040503050406030204" pitchFamily="18" charset="0"/>
                              <a:cs typeface="Noto Sans" pitchFamily="34" charset="-120"/>
                            </a:rPr>
                            <m:t>−</m:t>
                          </m:r>
                          <m:r>
                            <a:rPr lang="en-US" sz="1800" b="1" i="1" smtClean="0">
                              <a:solidFill>
                                <a:srgbClr val="1D2433"/>
                              </a:solidFill>
                              <a:latin typeface="Cambria Math" panose="02040503050406030204" pitchFamily="18" charset="0"/>
                              <a:ea typeface="Cambria Math" panose="02040503050406030204" pitchFamily="18" charset="0"/>
                              <a:cs typeface="Noto Sans" pitchFamily="34" charset="-120"/>
                            </a:rPr>
                            <m:t>𝟏</m:t>
                          </m:r>
                        </m:e>
                      </m:d>
                      <m:r>
                        <a:rPr lang="en-US" sz="1800" b="1" i="1" smtClean="0">
                          <a:solidFill>
                            <a:srgbClr val="1D2433"/>
                          </a:solidFill>
                          <a:latin typeface="Cambria Math" panose="02040503050406030204" pitchFamily="18" charset="0"/>
                          <a:ea typeface="Cambria Math" panose="02040503050406030204" pitchFamily="18" charset="0"/>
                          <a:cs typeface="Noto Sans" pitchFamily="34" charset="-120"/>
                        </a:rPr>
                        <m:t>∙</m:t>
                      </m:r>
                      <m:r>
                        <a:rPr lang="en-US" sz="1800" b="1" i="1" smtClean="0">
                          <a:solidFill>
                            <a:srgbClr val="1D2433"/>
                          </a:solidFill>
                          <a:latin typeface="Cambria Math" panose="02040503050406030204" pitchFamily="18" charset="0"/>
                          <a:ea typeface="Cambria Math" panose="02040503050406030204" pitchFamily="18" charset="0"/>
                          <a:cs typeface="Noto Sans" pitchFamily="34" charset="-120"/>
                        </a:rPr>
                        <m:t>𝑺</m:t>
                      </m:r>
                      <m:d>
                        <m:dPr>
                          <m:ctrlPr>
                            <a:rPr lang="en-US" sz="1800" b="1" i="1" smtClean="0">
                              <a:solidFill>
                                <a:srgbClr val="1D2433"/>
                              </a:solidFill>
                              <a:latin typeface="Cambria Math" panose="02040503050406030204" pitchFamily="18" charset="0"/>
                              <a:ea typeface="Cambria Math" panose="02040503050406030204" pitchFamily="18" charset="0"/>
                              <a:cs typeface="Noto Sans" pitchFamily="34" charset="-120"/>
                            </a:rPr>
                          </m:ctrlPr>
                        </m:dPr>
                        <m:e>
                          <m:acc>
                            <m:accPr>
                              <m:chr m:val="̅"/>
                              <m:ctrlPr>
                                <a:rPr lang="en-US" sz="1800" b="1" i="1" smtClean="0">
                                  <a:solidFill>
                                    <a:srgbClr val="1D2433"/>
                                  </a:solidFill>
                                  <a:latin typeface="Cambria Math" panose="02040503050406030204" pitchFamily="18" charset="0"/>
                                  <a:ea typeface="Cambria Math" panose="02040503050406030204" pitchFamily="18" charset="0"/>
                                  <a:cs typeface="Noto Sans" pitchFamily="34" charset="-120"/>
                                </a:rPr>
                              </m:ctrlPr>
                            </m:accPr>
                            <m:e>
                              <m:r>
                                <a:rPr lang="en-US" sz="1800" b="1" i="1" smtClean="0">
                                  <a:solidFill>
                                    <a:srgbClr val="1D2433"/>
                                  </a:solidFill>
                                  <a:latin typeface="Cambria Math" panose="02040503050406030204" pitchFamily="18" charset="0"/>
                                  <a:ea typeface="Cambria Math" panose="02040503050406030204" pitchFamily="18" charset="0"/>
                                  <a:cs typeface="Noto Sans" pitchFamily="34" charset="-120"/>
                                </a:rPr>
                                <m:t>𝒙</m:t>
                              </m:r>
                            </m:e>
                          </m:acc>
                        </m:e>
                      </m:d>
                    </m:oMath>
                  </m:oMathPara>
                </a14:m>
                <a:endParaRPr lang="en-US" sz="1800" dirty="0"/>
              </a:p>
            </p:txBody>
          </p:sp>
        </mc:Choice>
        <mc:Fallback>
          <p:sp>
            <p:nvSpPr>
              <p:cNvPr id="16" name="Text 14"/>
              <p:cNvSpPr>
                <a:spLocks noRot="1" noChangeAspect="1" noMove="1" noResize="1" noEditPoints="1" noAdjustHandles="1" noChangeArrowheads="1" noChangeShapeType="1" noTextEdit="1"/>
              </p:cNvSpPr>
              <p:nvPr/>
            </p:nvSpPr>
            <p:spPr>
              <a:xfrm>
                <a:off x="6400800" y="3876039"/>
                <a:ext cx="4892294" cy="345440"/>
              </a:xfrm>
              <a:prstGeom prst="rect">
                <a:avLst/>
              </a:prstGeom>
              <a:blipFill>
                <a:blip r:embed="rId6"/>
                <a:stretch>
                  <a:fillRect b="-1786"/>
                </a:stretch>
              </a:blipFill>
              <a:ln/>
            </p:spPr>
            <p:txBody>
              <a:bodyPr/>
              <a:lstStyle/>
              <a:p>
                <a:r>
                  <a:rPr lang="uz-Latn-UZ">
                    <a:noFill/>
                  </a:rPr>
                  <a:t> </a:t>
                </a:r>
              </a:p>
            </p:txBody>
          </p:sp>
        </mc:Fallback>
      </mc:AlternateContent>
      <p:sp>
        <p:nvSpPr>
          <p:cNvPr id="17" name="Text 15"/>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№5 · Informatsion tizim xatoliklari va ishonchliligi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STATISTIK TAHLIL</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Student koeffitsientlari t(α, f)</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6339840" cy="2693670"/>
        </p:xfrm>
        <a:graphic>
          <a:graphicData uri="http://schemas.openxmlformats.org/drawingml/2006/table">
            <a:tbl>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tblGrid>
              <a:tr h="384810">
                <a:tc>
                  <a:txBody>
                    <a:bodyPr/>
                    <a:lstStyle/>
                    <a:p>
                      <a:pPr marL="0" indent="0">
                        <a:lnSpc>
                          <a:spcPts val="2100"/>
                        </a:lnSpc>
                        <a:buNone/>
                      </a:pPr>
                      <a:r>
                        <a:rPr lang="en-US" sz="1500" b="1" dirty="0">
                          <a:solidFill>
                            <a:srgbClr val="F5F3EE"/>
                          </a:solidFill>
                          <a:latin typeface="Noto Sans" pitchFamily="34" charset="0"/>
                          <a:ea typeface="Noto Sans" pitchFamily="34" charset="-122"/>
                          <a:cs typeface="Noto Sans" pitchFamily="34" charset="-120"/>
                        </a:rPr>
                        <a:t>f = N − 1</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2100"/>
                        </a:lnSpc>
                        <a:buNone/>
                      </a:pPr>
                      <a:r>
                        <a:rPr lang="en-US" sz="1500" b="1" dirty="0">
                          <a:solidFill>
                            <a:srgbClr val="F5F3EE"/>
                          </a:solidFill>
                          <a:latin typeface="Noto Sans" pitchFamily="34" charset="0"/>
                          <a:ea typeface="Noto Sans" pitchFamily="34" charset="-122"/>
                          <a:cs typeface="Noto Sans" pitchFamily="34" charset="-120"/>
                        </a:rPr>
                        <a:t>P = 90 %</a:t>
                      </a:r>
                      <a:endParaRPr lang="en-US" sz="1500" dirty="0">
                        <a:latin typeface="Noto Sans" charset="0"/>
                        <a:ea typeface="Noto Sans" charset="0"/>
                        <a:cs typeface="Noto Sans" charset="0"/>
                      </a:endParaRPr>
                    </a:p>
                  </a:txBody>
                  <a:tcPr marL="127000" marR="127000" marT="63500" marB="635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2100"/>
                        </a:lnSpc>
                        <a:buNone/>
                      </a:pPr>
                      <a:r>
                        <a:rPr lang="en-US" sz="1500" b="1" dirty="0">
                          <a:solidFill>
                            <a:srgbClr val="F5F3EE"/>
                          </a:solidFill>
                          <a:latin typeface="Noto Sans" pitchFamily="34" charset="0"/>
                          <a:ea typeface="Noto Sans" pitchFamily="34" charset="-122"/>
                          <a:cs typeface="Noto Sans" pitchFamily="34" charset="-120"/>
                        </a:rPr>
                        <a:t>P = 95 %</a:t>
                      </a:r>
                      <a:endParaRPr lang="en-US" sz="1500" dirty="0">
                        <a:latin typeface="Noto Sans" charset="0"/>
                        <a:ea typeface="Noto Sans" charset="0"/>
                        <a:cs typeface="Noto Sans" charset="0"/>
                      </a:endParaRPr>
                    </a:p>
                  </a:txBody>
                  <a:tcPr marL="127000" marR="127000" marT="63500" marB="635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2100"/>
                        </a:lnSpc>
                        <a:buNone/>
                      </a:pPr>
                      <a:r>
                        <a:rPr lang="en-US" sz="1500" b="1" dirty="0">
                          <a:solidFill>
                            <a:srgbClr val="F5F3EE"/>
                          </a:solidFill>
                          <a:latin typeface="Noto Sans" pitchFamily="34" charset="0"/>
                          <a:ea typeface="Noto Sans" pitchFamily="34" charset="-122"/>
                          <a:cs typeface="Noto Sans" pitchFamily="34" charset="-120"/>
                        </a:rPr>
                        <a:t>P = 99 %</a:t>
                      </a:r>
                      <a:endParaRPr lang="en-US" sz="1500" dirty="0">
                        <a:latin typeface="Noto Sans" charset="0"/>
                        <a:ea typeface="Noto Sans" charset="0"/>
                        <a:cs typeface="Noto Sans" charset="0"/>
                      </a:endParaRPr>
                    </a:p>
                  </a:txBody>
                  <a:tcPr marL="127000" marR="127000" marT="63500" marB="635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extLst>
                  <a:ext uri="{0D108BD9-81ED-4DB2-BD59-A6C34878D82A}">
                    <a16:rowId xmlns:a16="http://schemas.microsoft.com/office/drawing/2014/main" val="10000"/>
                  </a:ext>
                </a:extLst>
              </a:tr>
              <a:tr h="384810">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3</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2,353</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3,182</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5,841</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384810">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4</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2,132</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2,776</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4,604</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384810">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5</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2,015</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8F3F12"/>
                          </a:solidFill>
                          <a:latin typeface="Noto Sans" pitchFamily="34" charset="0"/>
                          <a:ea typeface="Noto Sans" pitchFamily="34" charset="-122"/>
                          <a:cs typeface="Noto Sans" pitchFamily="34" charset="-120"/>
                        </a:rPr>
                        <a:t>2,571</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4,032</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384810">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9</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1,833</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2,262</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3,250</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r h="384810">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19</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1,729</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2,093</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2,861</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5"/>
                  </a:ext>
                </a:extLst>
              </a:tr>
              <a:tr h="384810">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1,645</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1,960</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D2433"/>
                          </a:solidFill>
                          <a:latin typeface="Noto Sans" pitchFamily="34" charset="0"/>
                          <a:ea typeface="Noto Sans" pitchFamily="34" charset="-122"/>
                          <a:cs typeface="Noto Sans" pitchFamily="34" charset="-120"/>
                        </a:rPr>
                        <a:t>2,576</a:t>
                      </a:r>
                      <a:endParaRPr lang="en-US" sz="15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Shape 2"/>
          <p:cNvSpPr/>
          <p:nvPr/>
        </p:nvSpPr>
        <p:spPr>
          <a:xfrm>
            <a:off x="7521575" y="1806575"/>
            <a:ext cx="3854450" cy="963930"/>
          </a:xfrm>
          <a:prstGeom prst="roundRect">
            <a:avLst>
              <a:gd name="adj" fmla="val 7576"/>
            </a:avLst>
          </a:prstGeom>
          <a:solidFill>
            <a:srgbClr val="FDFCF9"/>
          </a:solidFill>
          <a:ln w="6350">
            <a:solidFill>
              <a:srgbClr val="E2DED4"/>
            </a:solidFill>
            <a:prstDash val="solid"/>
          </a:ln>
        </p:spPr>
        <p:txBody>
          <a:bodyPr/>
          <a:lstStyle/>
          <a:p>
            <a:endParaRPr lang="uz-Latn-UZ"/>
          </a:p>
        </p:txBody>
      </p:sp>
      <p:sp>
        <p:nvSpPr>
          <p:cNvPr id="6" name="Text 3"/>
          <p:cNvSpPr/>
          <p:nvPr/>
        </p:nvSpPr>
        <p:spPr>
          <a:xfrm>
            <a:off x="7726680" y="2011679"/>
            <a:ext cx="354756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5521A"/>
                </a:solidFill>
                <a:latin typeface="Noto Sans" pitchFamily="34" charset="0"/>
                <a:ea typeface="Noto Sans" pitchFamily="34" charset="-122"/>
                <a:cs typeface="Noto Sans" pitchFamily="34" charset="-120"/>
              </a:rPr>
              <a:t>Masala 1 uchun</a:t>
            </a:r>
            <a:endParaRPr lang="en-US" sz="1500" dirty="0"/>
          </a:p>
        </p:txBody>
      </p:sp>
      <p:sp>
        <p:nvSpPr>
          <p:cNvPr id="7" name="Text 4"/>
          <p:cNvSpPr/>
          <p:nvPr/>
        </p:nvSpPr>
        <p:spPr>
          <a:xfrm>
            <a:off x="7726680" y="2316479"/>
            <a:ext cx="354756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D2433"/>
                </a:solidFill>
                <a:latin typeface="Noto Sans" pitchFamily="34" charset="0"/>
                <a:ea typeface="Noto Sans" pitchFamily="34" charset="-122"/>
                <a:cs typeface="Noto Sans" pitchFamily="34" charset="-120"/>
              </a:rPr>
              <a:t>N = 6 → f = 5, P = 95 % → t = 2,571</a:t>
            </a:r>
            <a:endParaRPr lang="en-US" sz="1400" dirty="0"/>
          </a:p>
        </p:txBody>
      </p:sp>
      <p:sp>
        <p:nvSpPr>
          <p:cNvPr id="8" name="Text 5"/>
          <p:cNvSpPr/>
          <p:nvPr/>
        </p:nvSpPr>
        <p:spPr>
          <a:xfrm>
            <a:off x="7518400" y="2926079"/>
            <a:ext cx="3976624"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D2433"/>
                </a:solidFill>
                <a:latin typeface="Noto Sans" pitchFamily="34" charset="0"/>
                <a:ea typeface="Noto Sans" pitchFamily="34" charset="-122"/>
                <a:cs typeface="Noto Sans" pitchFamily="34" charset="-120"/>
              </a:rPr>
              <a:t>Kichik tanlanmada (N &lt; 30) t koeffitsienti normal taqsimotdagi 1,96 dan katta: ishonch oraligʻi kengroq boʻladi.</a:t>
            </a:r>
            <a:endParaRPr lang="en-US" sz="1400" dirty="0"/>
          </a:p>
        </p:txBody>
      </p:sp>
      <p:sp>
        <p:nvSpPr>
          <p:cNvPr id="9" name="Text 6"/>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№5 · Informatsion tizim xatoliklari va ishonchliligi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ISHONCHLILIK</a:t>
            </a:r>
            <a:endParaRPr lang="en-US" sz="1200" dirty="0"/>
          </a:p>
        </p:txBody>
      </p:sp>
      <p:sp>
        <p:nvSpPr>
          <p:cNvPr id="3" name="Text 1"/>
          <p:cNvSpPr>
            <a:spLocks noGrp="1"/>
          </p:cNvSpPr>
          <p:nvPr>
            <p:ph type="title"/>
          </p:nvPr>
        </p:nvSpPr>
        <p:spPr>
          <a:xfrm>
            <a:off x="812800" y="11023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Asosiy ishonchlilik koʻrsatkichlari</a:t>
            </a:r>
            <a:endParaRPr lang="en-US" sz="3200" dirty="0"/>
          </a:p>
        </p:txBody>
      </p:sp>
      <p:sp>
        <p:nvSpPr>
          <p:cNvPr id="4" name="Shape 2"/>
          <p:cNvSpPr/>
          <p:nvPr/>
        </p:nvSpPr>
        <p:spPr>
          <a:xfrm>
            <a:off x="812800" y="1803400"/>
            <a:ext cx="3420533" cy="1404620"/>
          </a:xfrm>
          <a:prstGeom prst="roundRect">
            <a:avLst>
              <a:gd name="adj" fmla="val 5425"/>
            </a:avLst>
          </a:prstGeom>
          <a:solidFill>
            <a:srgbClr val="16233B"/>
          </a:solidFill>
          <a:ln/>
        </p:spPr>
        <p:txBody>
          <a:bodyPr/>
          <a:lstStyle/>
          <a:p>
            <a:endParaRPr lang="uz-Latn-UZ"/>
          </a:p>
        </p:txBody>
      </p:sp>
      <p:sp>
        <p:nvSpPr>
          <p:cNvPr id="5" name="Text 3"/>
          <p:cNvSpPr/>
          <p:nvPr/>
        </p:nvSpPr>
        <p:spPr>
          <a:xfrm>
            <a:off x="1016000" y="2006600"/>
            <a:ext cx="310455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0A46E"/>
                </a:solidFill>
                <a:latin typeface="Noto Sans" pitchFamily="34" charset="0"/>
                <a:ea typeface="Noto Sans" pitchFamily="34" charset="-122"/>
                <a:cs typeface="Noto Sans" pitchFamily="34" charset="-120"/>
              </a:rPr>
              <a:t>Ishonchlilik</a:t>
            </a:r>
            <a:endParaRPr lang="en-US" sz="1500" dirty="0"/>
          </a:p>
        </p:txBody>
      </p:sp>
      <p:sp>
        <p:nvSpPr>
          <p:cNvPr id="6" name="Text 4"/>
          <p:cNvSpPr/>
          <p:nvPr/>
        </p:nvSpPr>
        <p:spPr>
          <a:xfrm>
            <a:off x="1016000" y="2311400"/>
            <a:ext cx="3104557"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5F3EE"/>
                </a:solidFill>
                <a:latin typeface="Noto Sans" pitchFamily="34" charset="0"/>
                <a:ea typeface="Noto Sans" pitchFamily="34" charset="-122"/>
                <a:cs typeface="Noto Sans" pitchFamily="34" charset="-120"/>
              </a:rPr>
              <a:t>Berilgan vaqt va sharoitda funksiyani talab qilingan koʻrsatkichlar bilan bajarish qobiliyati</a:t>
            </a:r>
            <a:endParaRPr lang="en-US" sz="1300" dirty="0"/>
          </a:p>
        </p:txBody>
      </p:sp>
      <p:sp>
        <p:nvSpPr>
          <p:cNvPr id="7" name="Shape 5"/>
          <p:cNvSpPr/>
          <p:nvPr/>
        </p:nvSpPr>
        <p:spPr>
          <a:xfrm>
            <a:off x="4388908" y="1806575"/>
            <a:ext cx="3414183" cy="1398270"/>
          </a:xfrm>
          <a:prstGeom prst="roundRect">
            <a:avLst>
              <a:gd name="adj" fmla="val 5223"/>
            </a:avLst>
          </a:prstGeom>
          <a:solidFill>
            <a:srgbClr val="FDFCF9"/>
          </a:solidFill>
          <a:ln w="6350">
            <a:solidFill>
              <a:srgbClr val="E2DED4"/>
            </a:solidFill>
            <a:prstDash val="solid"/>
          </a:ln>
        </p:spPr>
        <p:txBody>
          <a:bodyPr/>
          <a:lstStyle/>
          <a:p>
            <a:endParaRPr lang="uz-Latn-UZ"/>
          </a:p>
        </p:txBody>
      </p:sp>
      <p:sp>
        <p:nvSpPr>
          <p:cNvPr id="8" name="Text 6"/>
          <p:cNvSpPr/>
          <p:nvPr/>
        </p:nvSpPr>
        <p:spPr>
          <a:xfrm>
            <a:off x="4594013" y="2011679"/>
            <a:ext cx="309409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Toʻxtovsiz ishlash ehtimoli</a:t>
            </a:r>
            <a:endParaRPr lang="en-US" sz="1200" dirty="0"/>
          </a:p>
        </p:txBody>
      </p:sp>
      <p:sp>
        <p:nvSpPr>
          <p:cNvPr id="9" name="Text 7"/>
          <p:cNvSpPr/>
          <p:nvPr/>
        </p:nvSpPr>
        <p:spPr>
          <a:xfrm>
            <a:off x="4594013" y="2301239"/>
            <a:ext cx="3094093"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D2433"/>
                </a:solidFill>
                <a:latin typeface="Noto Sans" pitchFamily="34" charset="0"/>
                <a:ea typeface="Noto Sans" pitchFamily="34" charset="-122"/>
                <a:cs typeface="Noto Sans" pitchFamily="34" charset="-120"/>
              </a:rPr>
              <a:t>P(t) = 1 − F(t)</a:t>
            </a:r>
            <a:endParaRPr lang="en-US" sz="1600" dirty="0"/>
          </a:p>
        </p:txBody>
      </p:sp>
      <p:sp>
        <p:nvSpPr>
          <p:cNvPr id="10" name="Text 8"/>
          <p:cNvSpPr/>
          <p:nvPr/>
        </p:nvSpPr>
        <p:spPr>
          <a:xfrm>
            <a:off x="4594013" y="2661921"/>
            <a:ext cx="30940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563"/>
                </a:solidFill>
                <a:latin typeface="Noto Sans" pitchFamily="34" charset="0"/>
                <a:ea typeface="Noto Sans" pitchFamily="34" charset="-122"/>
                <a:cs typeface="Noto Sans" pitchFamily="34" charset="-120"/>
              </a:rPr>
              <a:t>0 dan t gacha buzilishsiz ishlash ehtimoli</a:t>
            </a:r>
            <a:endParaRPr lang="en-US" sz="1200" dirty="0"/>
          </a:p>
        </p:txBody>
      </p:sp>
      <p:sp>
        <p:nvSpPr>
          <p:cNvPr id="11" name="Shape 9"/>
          <p:cNvSpPr/>
          <p:nvPr/>
        </p:nvSpPr>
        <p:spPr>
          <a:xfrm>
            <a:off x="7961842" y="1806575"/>
            <a:ext cx="3414183" cy="1398270"/>
          </a:xfrm>
          <a:prstGeom prst="roundRect">
            <a:avLst>
              <a:gd name="adj" fmla="val 5223"/>
            </a:avLst>
          </a:prstGeom>
          <a:solidFill>
            <a:srgbClr val="FDFCF9"/>
          </a:solidFill>
          <a:ln w="6350">
            <a:solidFill>
              <a:srgbClr val="E2DED4"/>
            </a:solidFill>
            <a:prstDash val="solid"/>
          </a:ln>
        </p:spPr>
        <p:txBody>
          <a:bodyPr/>
          <a:lstStyle/>
          <a:p>
            <a:endParaRPr lang="uz-Latn-UZ"/>
          </a:p>
        </p:txBody>
      </p:sp>
      <p:sp>
        <p:nvSpPr>
          <p:cNvPr id="12" name="Text 10"/>
          <p:cNvSpPr/>
          <p:nvPr/>
        </p:nvSpPr>
        <p:spPr>
          <a:xfrm>
            <a:off x="8166946" y="2011679"/>
            <a:ext cx="30940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Eksponensial model, λ = const</a:t>
            </a:r>
            <a:endParaRPr lang="en-US" sz="1200" dirty="0"/>
          </a:p>
        </p:txBody>
      </p:sp>
      <p:sp>
        <p:nvSpPr>
          <p:cNvPr id="13" name="Text 11"/>
          <p:cNvSpPr/>
          <p:nvPr/>
        </p:nvSpPr>
        <p:spPr>
          <a:xfrm>
            <a:off x="8166946" y="2301239"/>
            <a:ext cx="309409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D2433"/>
                </a:solidFill>
                <a:latin typeface="Noto Sans" pitchFamily="34" charset="0"/>
                <a:ea typeface="Noto Sans" pitchFamily="34" charset="-122"/>
                <a:cs typeface="Noto Sans" pitchFamily="34" charset="-120"/>
              </a:rPr>
              <a:t>P(t) = e^(−λt)</a:t>
            </a:r>
            <a:endParaRPr lang="en-US" sz="1600" dirty="0"/>
          </a:p>
        </p:txBody>
      </p:sp>
      <p:sp>
        <p:nvSpPr>
          <p:cNvPr id="14" name="Text 12"/>
          <p:cNvSpPr/>
          <p:nvPr/>
        </p:nvSpPr>
        <p:spPr>
          <a:xfrm>
            <a:off x="8166946" y="2661921"/>
            <a:ext cx="30940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563"/>
                </a:solidFill>
                <a:latin typeface="Noto Sans" pitchFamily="34" charset="0"/>
                <a:ea typeface="Noto Sans" pitchFamily="34" charset="-122"/>
                <a:cs typeface="Noto Sans" pitchFamily="34" charset="-120"/>
              </a:rPr>
              <a:t>λ — buzilishlar intensivligi</a:t>
            </a:r>
            <a:endParaRPr lang="en-US" sz="1200" dirty="0"/>
          </a:p>
        </p:txBody>
      </p:sp>
      <p:sp>
        <p:nvSpPr>
          <p:cNvPr id="15" name="Shape 13"/>
          <p:cNvSpPr/>
          <p:nvPr/>
        </p:nvSpPr>
        <p:spPr>
          <a:xfrm>
            <a:off x="815975" y="3363596"/>
            <a:ext cx="3414183" cy="1487170"/>
          </a:xfrm>
          <a:prstGeom prst="roundRect">
            <a:avLst>
              <a:gd name="adj" fmla="val 4910"/>
            </a:avLst>
          </a:prstGeom>
          <a:solidFill>
            <a:srgbClr val="FDFCF9"/>
          </a:solidFill>
          <a:ln w="6350">
            <a:solidFill>
              <a:srgbClr val="E2DED4"/>
            </a:solidFill>
            <a:prstDash val="solid"/>
          </a:ln>
        </p:spPr>
        <p:txBody>
          <a:bodyPr/>
          <a:lstStyle/>
          <a:p>
            <a:endParaRPr lang="uz-Latn-UZ"/>
          </a:p>
        </p:txBody>
      </p:sp>
      <p:sp>
        <p:nvSpPr>
          <p:cNvPr id="16" name="Text 14"/>
          <p:cNvSpPr/>
          <p:nvPr/>
        </p:nvSpPr>
        <p:spPr>
          <a:xfrm>
            <a:off x="1021080" y="3568700"/>
            <a:ext cx="30940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Buzilishlar orasidagi oʻrtacha vaqt</a:t>
            </a:r>
            <a:endParaRPr lang="en-US" sz="1200" dirty="0"/>
          </a:p>
        </p:txBody>
      </p:sp>
      <p:sp>
        <p:nvSpPr>
          <p:cNvPr id="17" name="Text 15"/>
          <p:cNvSpPr/>
          <p:nvPr/>
        </p:nvSpPr>
        <p:spPr>
          <a:xfrm>
            <a:off x="1021080" y="3858261"/>
            <a:ext cx="309409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D2433"/>
                </a:solidFill>
                <a:latin typeface="Noto Sans" pitchFamily="34" charset="0"/>
                <a:ea typeface="Noto Sans" pitchFamily="34" charset="-122"/>
                <a:cs typeface="Noto Sans" pitchFamily="34" charset="-120"/>
              </a:rPr>
              <a:t>MTBF = ∫ P(t) dt = 1 / λ</a:t>
            </a:r>
            <a:endParaRPr lang="en-US" sz="1600" dirty="0"/>
          </a:p>
        </p:txBody>
      </p:sp>
      <p:sp>
        <p:nvSpPr>
          <p:cNvPr id="18" name="Shape 16"/>
          <p:cNvSpPr/>
          <p:nvPr/>
        </p:nvSpPr>
        <p:spPr>
          <a:xfrm>
            <a:off x="4388908" y="3363596"/>
            <a:ext cx="3414183" cy="1487170"/>
          </a:xfrm>
          <a:prstGeom prst="roundRect">
            <a:avLst>
              <a:gd name="adj" fmla="val 4910"/>
            </a:avLst>
          </a:prstGeom>
          <a:solidFill>
            <a:srgbClr val="FDFCF9"/>
          </a:solidFill>
          <a:ln w="6350">
            <a:solidFill>
              <a:srgbClr val="E2DED4"/>
            </a:solidFill>
            <a:prstDash val="solid"/>
          </a:ln>
        </p:spPr>
        <p:txBody>
          <a:bodyPr/>
          <a:lstStyle/>
          <a:p>
            <a:endParaRPr lang="uz-Latn-UZ"/>
          </a:p>
        </p:txBody>
      </p:sp>
      <p:sp>
        <p:nvSpPr>
          <p:cNvPr id="19" name="Text 17"/>
          <p:cNvSpPr/>
          <p:nvPr/>
        </p:nvSpPr>
        <p:spPr>
          <a:xfrm>
            <a:off x="4594013" y="3568700"/>
            <a:ext cx="309409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D6CB0"/>
                </a:solidFill>
                <a:latin typeface="Noto Sans" pitchFamily="34" charset="0"/>
                <a:ea typeface="Noto Sans" pitchFamily="34" charset="-122"/>
                <a:cs typeface="Noto Sans" pitchFamily="34" charset="-120"/>
              </a:rPr>
              <a:t>Oʻrtacha tiklanish vaqti</a:t>
            </a:r>
            <a:endParaRPr lang="en-US" sz="1200" dirty="0"/>
          </a:p>
        </p:txBody>
      </p:sp>
      <p:sp>
        <p:nvSpPr>
          <p:cNvPr id="20" name="Text 18"/>
          <p:cNvSpPr/>
          <p:nvPr/>
        </p:nvSpPr>
        <p:spPr>
          <a:xfrm>
            <a:off x="4594013" y="3858261"/>
            <a:ext cx="3094093"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D2433"/>
                </a:solidFill>
                <a:latin typeface="Noto Sans" pitchFamily="34" charset="0"/>
                <a:ea typeface="Noto Sans" pitchFamily="34" charset="-122"/>
                <a:cs typeface="Noto Sans" pitchFamily="34" charset="-120"/>
              </a:rPr>
              <a:t>MTTR</a:t>
            </a:r>
            <a:endParaRPr lang="en-US" sz="1600" dirty="0"/>
          </a:p>
        </p:txBody>
      </p:sp>
      <p:sp>
        <p:nvSpPr>
          <p:cNvPr id="21" name="Text 19"/>
          <p:cNvSpPr/>
          <p:nvPr/>
        </p:nvSpPr>
        <p:spPr>
          <a:xfrm>
            <a:off x="4594013" y="4218942"/>
            <a:ext cx="309409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563"/>
                </a:solidFill>
                <a:latin typeface="Noto Sans" pitchFamily="34" charset="0"/>
                <a:ea typeface="Noto Sans" pitchFamily="34" charset="-122"/>
                <a:cs typeface="Noto Sans" pitchFamily="34" charset="-120"/>
              </a:rPr>
              <a:t>Nosozlikni bartaraf etib, qayta ishga tushirish vaqti</a:t>
            </a:r>
            <a:endParaRPr lang="en-US" sz="1200" dirty="0"/>
          </a:p>
        </p:txBody>
      </p:sp>
      <p:sp>
        <p:nvSpPr>
          <p:cNvPr id="22" name="Shape 20"/>
          <p:cNvSpPr/>
          <p:nvPr/>
        </p:nvSpPr>
        <p:spPr>
          <a:xfrm>
            <a:off x="7958667" y="3360421"/>
            <a:ext cx="3420533" cy="1493520"/>
          </a:xfrm>
          <a:prstGeom prst="roundRect">
            <a:avLst>
              <a:gd name="adj" fmla="val 5102"/>
            </a:avLst>
          </a:prstGeom>
          <a:solidFill>
            <a:srgbClr val="FBE9DC"/>
          </a:solidFill>
          <a:ln/>
        </p:spPr>
        <p:txBody>
          <a:bodyPr/>
          <a:lstStyle/>
          <a:p>
            <a:endParaRPr lang="uz-Latn-UZ"/>
          </a:p>
        </p:txBody>
      </p:sp>
      <p:sp>
        <p:nvSpPr>
          <p:cNvPr id="23" name="Text 21"/>
          <p:cNvSpPr/>
          <p:nvPr/>
        </p:nvSpPr>
        <p:spPr>
          <a:xfrm>
            <a:off x="8161867" y="3563621"/>
            <a:ext cx="3104557"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F3F12"/>
                </a:solidFill>
                <a:latin typeface="Noto Sans" pitchFamily="34" charset="0"/>
                <a:ea typeface="Noto Sans" pitchFamily="34" charset="-122"/>
                <a:cs typeface="Noto Sans" pitchFamily="34" charset="-120"/>
              </a:rPr>
              <a:t>Tayyorlik koeffitsienti</a:t>
            </a:r>
            <a:endParaRPr lang="en-US" sz="1200" dirty="0"/>
          </a:p>
        </p:txBody>
      </p:sp>
      <p:sp>
        <p:nvSpPr>
          <p:cNvPr id="24" name="Text 22"/>
          <p:cNvSpPr/>
          <p:nvPr/>
        </p:nvSpPr>
        <p:spPr>
          <a:xfrm>
            <a:off x="8161867" y="3853179"/>
            <a:ext cx="310455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433"/>
                </a:solidFill>
                <a:latin typeface="Noto Sans" pitchFamily="34" charset="0"/>
                <a:ea typeface="Noto Sans" pitchFamily="34" charset="-122"/>
                <a:cs typeface="Noto Sans" pitchFamily="34" charset="-120"/>
              </a:rPr>
              <a:t>Kₜ = MTBF / (MTBF + MTTR)</a:t>
            </a:r>
            <a:endParaRPr lang="en-US" sz="1500" dirty="0"/>
          </a:p>
        </p:txBody>
      </p:sp>
      <p:sp>
        <p:nvSpPr>
          <p:cNvPr id="25" name="Text 2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№5 · Informatsion tizim xatoliklari va ishonchliligi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ISHONCHLILIK</a:t>
            </a:r>
            <a:endParaRPr lang="en-US" sz="1200" dirty="0"/>
          </a:p>
        </p:txBody>
      </p:sp>
      <p:sp>
        <p:nvSpPr>
          <p:cNvPr id="3" name="Text 1"/>
          <p:cNvSpPr>
            <a:spLocks noGrp="1"/>
          </p:cNvSpPr>
          <p:nvPr>
            <p:ph type="title"/>
          </p:nvPr>
        </p:nvSpPr>
        <p:spPr>
          <a:xfrm>
            <a:off x="812800" y="11023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«Vannasimon» buzilishlar intensivligi egri chizigʻi</a:t>
            </a:r>
            <a:endParaRPr lang="en-US" sz="3200" dirty="0"/>
          </a:p>
        </p:txBody>
      </p:sp>
      <p:pic>
        <p:nvPicPr>
          <p:cNvPr id="4" name="Image 0" descr="Buzilishlar intensivligining vaqtga bogʻliqligi: ishga tushirish davrida kamayadi, normal ekspluatatsiyada oʻzgarmas, yeyilish davrida ortadi"/>
          <p:cNvPicPr>
            <a:picLocks noChangeAspect="1"/>
          </p:cNvPicPr>
          <p:nvPr/>
        </p:nvPicPr>
        <p:blipFill>
          <a:blip r:embed="rId3"/>
          <a:srcRect/>
          <a:stretch/>
        </p:blipFill>
        <p:spPr>
          <a:xfrm>
            <a:off x="812800" y="1803400"/>
            <a:ext cx="10566400" cy="3302000"/>
          </a:xfrm>
          <a:prstGeom prst="rect">
            <a:avLst/>
          </a:prstGeom>
        </p:spPr>
      </p:pic>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№5 · Informatsion tizim xatoliklari va ishonchliligi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ISHONCHLILIK</a:t>
            </a:r>
            <a:endParaRPr lang="en-US" sz="1200" dirty="0"/>
          </a:p>
        </p:txBody>
      </p:sp>
      <p:sp>
        <p:nvSpPr>
          <p:cNvPr id="3" name="Text 1"/>
          <p:cNvSpPr>
            <a:spLocks noGrp="1"/>
          </p:cNvSpPr>
          <p:nvPr>
            <p:ph type="title"/>
          </p:nvPr>
        </p:nvSpPr>
        <p:spPr>
          <a:xfrm>
            <a:off x="812800" y="11023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Strukturaviy modellar (RBD) va zaxiralash</a:t>
            </a:r>
            <a:endParaRPr lang="en-US" sz="3200" dirty="0"/>
          </a:p>
        </p:txBody>
      </p:sp>
      <p:sp>
        <p:nvSpPr>
          <p:cNvPr id="4" name="Text 2"/>
          <p:cNvSpPr/>
          <p:nvPr/>
        </p:nvSpPr>
        <p:spPr>
          <a:xfrm>
            <a:off x="812800" y="1752600"/>
            <a:ext cx="340978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4F85"/>
                </a:solidFill>
                <a:latin typeface="Noto Sans" pitchFamily="34" charset="0"/>
                <a:ea typeface="Noto Sans" pitchFamily="34" charset="-122"/>
                <a:cs typeface="Noto Sans" pitchFamily="34" charset="-120"/>
              </a:rPr>
              <a:t>a) Ketma-ket</a:t>
            </a:r>
            <a:endParaRPr lang="en-US" sz="1600" dirty="0"/>
          </a:p>
        </p:txBody>
      </p:sp>
      <p:sp>
        <p:nvSpPr>
          <p:cNvPr id="5" name="Text 3"/>
          <p:cNvSpPr/>
          <p:nvPr/>
        </p:nvSpPr>
        <p:spPr>
          <a:xfrm>
            <a:off x="4440767" y="1752600"/>
            <a:ext cx="340978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4F85"/>
                </a:solidFill>
                <a:latin typeface="Noto Sans" pitchFamily="34" charset="0"/>
                <a:ea typeface="Noto Sans" pitchFamily="34" charset="-122"/>
                <a:cs typeface="Noto Sans" pitchFamily="34" charset="-120"/>
              </a:rPr>
              <a:t>b) Parallel</a:t>
            </a:r>
            <a:endParaRPr lang="en-US" sz="1600" dirty="0"/>
          </a:p>
        </p:txBody>
      </p:sp>
      <p:sp>
        <p:nvSpPr>
          <p:cNvPr id="6" name="Text 4"/>
          <p:cNvSpPr/>
          <p:nvPr/>
        </p:nvSpPr>
        <p:spPr>
          <a:xfrm>
            <a:off x="8068733" y="1752600"/>
            <a:ext cx="3409781"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F3F12"/>
                </a:solidFill>
                <a:latin typeface="Noto Sans" pitchFamily="34" charset="0"/>
                <a:ea typeface="Noto Sans" pitchFamily="34" charset="-122"/>
                <a:cs typeface="Noto Sans" pitchFamily="34" charset="-120"/>
              </a:rPr>
              <a:t>c) TMR (2 dan 3)</a:t>
            </a:r>
            <a:endParaRPr lang="en-US" sz="1600" dirty="0"/>
          </a:p>
        </p:txBody>
      </p:sp>
      <p:pic>
        <p:nvPicPr>
          <p:cNvPr id="7" name="Image 0" descr="Uchta ishonchlilik sxemasi: uchta modul ketma-ket; ikkita sensor parallel; uchta sensor va majoritar element"/>
          <p:cNvPicPr>
            <a:picLocks noChangeAspect="1"/>
          </p:cNvPicPr>
          <p:nvPr/>
        </p:nvPicPr>
        <p:blipFill>
          <a:blip r:embed="rId3"/>
          <a:srcRect t="-18" b="-18"/>
          <a:stretch/>
        </p:blipFill>
        <p:spPr>
          <a:xfrm>
            <a:off x="812800" y="2199642"/>
            <a:ext cx="10566400" cy="2178050"/>
          </a:xfrm>
          <a:prstGeom prst="rect">
            <a:avLst/>
          </a:prstGeom>
        </p:spPr>
      </p:pic>
      <p:sp>
        <p:nvSpPr>
          <p:cNvPr id="8" name="Text 5"/>
          <p:cNvSpPr/>
          <p:nvPr/>
        </p:nvSpPr>
        <p:spPr>
          <a:xfrm>
            <a:off x="812800" y="4580892"/>
            <a:ext cx="340978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433"/>
                </a:solidFill>
                <a:latin typeface="Noto Sans" pitchFamily="34" charset="0"/>
                <a:ea typeface="Noto Sans" pitchFamily="34" charset="-122"/>
                <a:cs typeface="Noto Sans" pitchFamily="34" charset="-120"/>
              </a:rPr>
              <a:t>P = P₁ · P₂ · … · Pₙ</a:t>
            </a:r>
            <a:endParaRPr lang="en-US" sz="1500" dirty="0"/>
          </a:p>
        </p:txBody>
      </p:sp>
      <p:sp>
        <p:nvSpPr>
          <p:cNvPr id="9" name="Text 6"/>
          <p:cNvSpPr/>
          <p:nvPr/>
        </p:nvSpPr>
        <p:spPr>
          <a:xfrm>
            <a:off x="812800" y="4898392"/>
            <a:ext cx="34097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563"/>
                </a:solidFill>
                <a:latin typeface="Noto Sans" pitchFamily="34" charset="0"/>
                <a:ea typeface="Noto Sans" pitchFamily="34" charset="-122"/>
                <a:cs typeface="Noto Sans" pitchFamily="34" charset="-120"/>
              </a:rPr>
              <a:t>Bitta modul buzilsa, tizim ishdan chiqadi</a:t>
            </a:r>
            <a:endParaRPr lang="en-US" sz="1200" dirty="0"/>
          </a:p>
        </p:txBody>
      </p:sp>
      <p:sp>
        <p:nvSpPr>
          <p:cNvPr id="10" name="Text 7"/>
          <p:cNvSpPr/>
          <p:nvPr/>
        </p:nvSpPr>
        <p:spPr>
          <a:xfrm>
            <a:off x="4440767" y="4580892"/>
            <a:ext cx="340978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433"/>
                </a:solidFill>
                <a:latin typeface="Noto Sans" pitchFamily="34" charset="0"/>
                <a:ea typeface="Noto Sans" pitchFamily="34" charset="-122"/>
                <a:cs typeface="Noto Sans" pitchFamily="34" charset="-120"/>
              </a:rPr>
              <a:t>P = 1 − ∏ (1 − Pᵢ)</a:t>
            </a:r>
            <a:endParaRPr lang="en-US" sz="1500" dirty="0"/>
          </a:p>
        </p:txBody>
      </p:sp>
      <p:sp>
        <p:nvSpPr>
          <p:cNvPr id="11" name="Text 8"/>
          <p:cNvSpPr/>
          <p:nvPr/>
        </p:nvSpPr>
        <p:spPr>
          <a:xfrm>
            <a:off x="4440767" y="4898392"/>
            <a:ext cx="34097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563"/>
                </a:solidFill>
                <a:latin typeface="Noto Sans" pitchFamily="34" charset="0"/>
                <a:ea typeface="Noto Sans" pitchFamily="34" charset="-122"/>
                <a:cs typeface="Noto Sans" pitchFamily="34" charset="-120"/>
              </a:rPr>
              <a:t>Kamida bitta modul soz boʻlsa yetarli</a:t>
            </a:r>
            <a:endParaRPr lang="en-US" sz="1200" dirty="0"/>
          </a:p>
        </p:txBody>
      </p:sp>
      <p:sp>
        <p:nvSpPr>
          <p:cNvPr id="12" name="Text 9"/>
          <p:cNvSpPr/>
          <p:nvPr/>
        </p:nvSpPr>
        <p:spPr>
          <a:xfrm>
            <a:off x="8068733" y="4580892"/>
            <a:ext cx="340978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8F3F12"/>
                </a:solidFill>
                <a:latin typeface="Noto Sans" pitchFamily="34" charset="0"/>
                <a:ea typeface="Noto Sans" pitchFamily="34" charset="-122"/>
                <a:cs typeface="Noto Sans" pitchFamily="34" charset="-120"/>
              </a:rPr>
              <a:t>P = 3P² − 2P³</a:t>
            </a:r>
            <a:endParaRPr lang="en-US" sz="1500" dirty="0"/>
          </a:p>
        </p:txBody>
      </p:sp>
      <p:sp>
        <p:nvSpPr>
          <p:cNvPr id="13" name="Text 10"/>
          <p:cNvSpPr/>
          <p:nvPr/>
        </p:nvSpPr>
        <p:spPr>
          <a:xfrm>
            <a:off x="8068733" y="4898392"/>
            <a:ext cx="3409781"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563"/>
                </a:solidFill>
                <a:latin typeface="Noto Sans" pitchFamily="34" charset="0"/>
                <a:ea typeface="Noto Sans" pitchFamily="34" charset="-122"/>
                <a:cs typeface="Noto Sans" pitchFamily="34" charset="-120"/>
              </a:rPr>
              <a:t>Kamida 2 ta mos signal toʻgʻri deb qabul qilinadi</a:t>
            </a:r>
            <a:endParaRPr lang="en-US" sz="1200" dirty="0"/>
          </a:p>
        </p:txBody>
      </p:sp>
      <p:sp>
        <p:nvSpPr>
          <p:cNvPr id="14" name="Text 11"/>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№5 · Informatsion tizim xatoliklari va ishonchliligi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TOPSHIRIQ 1</a:t>
            </a:r>
            <a:endParaRPr lang="en-US" sz="1200" dirty="0"/>
          </a:p>
        </p:txBody>
      </p:sp>
      <p:sp>
        <p:nvSpPr>
          <p:cNvPr id="3" name="Text 1"/>
          <p:cNvSpPr>
            <a:spLocks noGrp="1"/>
          </p:cNvSpPr>
          <p:nvPr>
            <p:ph type="title"/>
          </p:nvPr>
        </p:nvSpPr>
        <p:spPr>
          <a:xfrm>
            <a:off x="812800" y="11023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Xatolik manbalari va ularni kamaytirish usullari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3168650"/>
        </p:xfrm>
        <a:graphic>
          <a:graphicData uri="http://schemas.openxmlformats.org/drawingml/2006/table">
            <a:tbl>
              <a:tblPr/>
              <a:tblGrid>
                <a:gridCol w="2639060">
                  <a:extLst>
                    <a:ext uri="{9D8B030D-6E8A-4147-A177-3AD203B41FA5}">
                      <a16:colId xmlns:a16="http://schemas.microsoft.com/office/drawing/2014/main" val="20000"/>
                    </a:ext>
                  </a:extLst>
                </a:gridCol>
                <a:gridCol w="2639060">
                  <a:extLst>
                    <a:ext uri="{9D8B030D-6E8A-4147-A177-3AD203B41FA5}">
                      <a16:colId xmlns:a16="http://schemas.microsoft.com/office/drawing/2014/main" val="20001"/>
                    </a:ext>
                  </a:extLst>
                </a:gridCol>
                <a:gridCol w="2639060">
                  <a:extLst>
                    <a:ext uri="{9D8B030D-6E8A-4147-A177-3AD203B41FA5}">
                      <a16:colId xmlns:a16="http://schemas.microsoft.com/office/drawing/2014/main" val="20002"/>
                    </a:ext>
                  </a:extLst>
                </a:gridCol>
                <a:gridCol w="2639060">
                  <a:extLst>
                    <a:ext uri="{9D8B030D-6E8A-4147-A177-3AD203B41FA5}">
                      <a16:colId xmlns:a16="http://schemas.microsoft.com/office/drawing/2014/main" val="20003"/>
                    </a:ext>
                  </a:extLst>
                </a:gridCol>
              </a:tblGrid>
              <a:tr h="410845">
                <a:tc>
                  <a:txBody>
                    <a:bodyPr/>
                    <a:lstStyle/>
                    <a:p>
                      <a:pPr marL="0" indent="0">
                        <a:lnSpc>
                          <a:spcPts val="1820"/>
                        </a:lnSpc>
                        <a:buNone/>
                      </a:pPr>
                      <a:r>
                        <a:rPr lang="en-US" sz="1300" b="1" dirty="0">
                          <a:solidFill>
                            <a:srgbClr val="F5F3EE"/>
                          </a:solidFill>
                          <a:latin typeface="Noto Sans" pitchFamily="34" charset="0"/>
                          <a:ea typeface="Noto Sans" pitchFamily="34" charset="-122"/>
                          <a:cs typeface="Noto Sans" pitchFamily="34" charset="-120"/>
                        </a:rPr>
                        <a:t>№</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820"/>
                        </a:lnSpc>
                        <a:buNone/>
                      </a:pPr>
                      <a:r>
                        <a:rPr lang="en-US" sz="1300" b="1" dirty="0">
                          <a:solidFill>
                            <a:srgbClr val="F5F3EE"/>
                          </a:solidFill>
                          <a:latin typeface="Noto Sans" pitchFamily="34" charset="0"/>
                          <a:ea typeface="Noto Sans" pitchFamily="34" charset="-122"/>
                          <a:cs typeface="Noto Sans" pitchFamily="34" charset="-120"/>
                        </a:rPr>
                        <a:t>Xatolik manbai</a:t>
                      </a:r>
                      <a:endParaRPr lang="en-US" sz="1300" dirty="0">
                        <a:latin typeface="Noto Sans" charset="0"/>
                        <a:ea typeface="Noto Sans" charset="0"/>
                        <a:cs typeface="Noto Sans" charset="0"/>
                      </a:endParaRPr>
                    </a:p>
                  </a:txBody>
                  <a:tcPr marL="127000" marR="127000" marT="88900" marB="889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820"/>
                        </a:lnSpc>
                        <a:buNone/>
                      </a:pPr>
                      <a:r>
                        <a:rPr lang="en-US" sz="1300" b="1" dirty="0">
                          <a:solidFill>
                            <a:srgbClr val="F5F3EE"/>
                          </a:solidFill>
                          <a:latin typeface="Noto Sans" pitchFamily="34" charset="0"/>
                          <a:ea typeface="Noto Sans" pitchFamily="34" charset="-122"/>
                          <a:cs typeface="Noto Sans" pitchFamily="34" charset="-120"/>
                        </a:rPr>
                        <a:t>Xatolik shakli</a:t>
                      </a:r>
                      <a:endParaRPr lang="en-US" sz="1300" dirty="0">
                        <a:latin typeface="Noto Sans" charset="0"/>
                        <a:ea typeface="Noto Sans" charset="0"/>
                        <a:cs typeface="Noto Sans" charset="0"/>
                      </a:endParaRPr>
                    </a:p>
                  </a:txBody>
                  <a:tcPr marL="127000" marR="127000" marT="88900" marB="889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820"/>
                        </a:lnSpc>
                        <a:buNone/>
                      </a:pPr>
                      <a:r>
                        <a:rPr lang="en-US" sz="1300" b="1" dirty="0">
                          <a:solidFill>
                            <a:srgbClr val="F5F3EE"/>
                          </a:solidFill>
                          <a:latin typeface="Noto Sans" pitchFamily="34" charset="0"/>
                          <a:ea typeface="Noto Sans" pitchFamily="34" charset="-122"/>
                          <a:cs typeface="Noto Sans" pitchFamily="34" charset="-120"/>
                        </a:rPr>
                        <a:t>Kompensatsiya usuli</a:t>
                      </a:r>
                      <a:endParaRPr lang="en-US" sz="1300" dirty="0">
                        <a:latin typeface="Noto Sans" charset="0"/>
                        <a:ea typeface="Noto Sans" charset="0"/>
                        <a:cs typeface="Noto Sans" charset="0"/>
                      </a:endParaRPr>
                    </a:p>
                  </a:txBody>
                  <a:tcPr marL="127000" marR="127000" marT="88900" marB="889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extLst>
                  <a:ext uri="{0D108BD9-81ED-4DB2-BD59-A6C34878D82A}">
                    <a16:rowId xmlns:a16="http://schemas.microsoft.com/office/drawing/2014/main" val="10000"/>
                  </a:ext>
                </a:extLst>
              </a:tr>
              <a:tr h="856615">
                <a:tc>
                  <a:txBody>
                    <a:bodyPr/>
                    <a:lstStyle/>
                    <a:p>
                      <a:pPr marL="0" indent="0">
                        <a:lnSpc>
                          <a:spcPts val="1820"/>
                        </a:lnSpc>
                        <a:buNone/>
                      </a:pPr>
                      <a:r>
                        <a:rPr lang="en-US" sz="1300" dirty="0">
                          <a:solidFill>
                            <a:srgbClr val="B5521A"/>
                          </a:solidFill>
                          <a:latin typeface="Noto Sans" pitchFamily="34" charset="0"/>
                          <a:ea typeface="Noto Sans" pitchFamily="34" charset="-122"/>
                          <a:cs typeface="Noto Sans" pitchFamily="34" charset="-120"/>
                        </a:rPr>
                        <a:t>1</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Datchik harorat drifti</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Sistematik: nol siljishi, sezgirlik oʻzgarishi</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Dasturiy harorat kompensatsiyasi, termostatlash</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633730">
                <a:tc>
                  <a:txBody>
                    <a:bodyPr/>
                    <a:lstStyle/>
                    <a:p>
                      <a:pPr marL="0" indent="0">
                        <a:lnSpc>
                          <a:spcPts val="1820"/>
                        </a:lnSpc>
                        <a:buNone/>
                      </a:pPr>
                      <a:r>
                        <a:rPr lang="en-US" sz="1300" dirty="0">
                          <a:solidFill>
                            <a:srgbClr val="B5521A"/>
                          </a:solidFill>
                          <a:latin typeface="Noto Sans" pitchFamily="34" charset="0"/>
                          <a:ea typeface="Noto Sans" pitchFamily="34" charset="-122"/>
                          <a:cs typeface="Noto Sans" pitchFamily="34" charset="-120"/>
                        </a:rPr>
                        <a:t>2</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Elektromagnit shovqinlar</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Tasodifiy fluktuatsiyalar</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Ekranlangan kabel, median va Kalman filtrlari</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633730">
                <a:tc>
                  <a:txBody>
                    <a:bodyPr/>
                    <a:lstStyle/>
                    <a:p>
                      <a:pPr marL="0" indent="0">
                        <a:lnSpc>
                          <a:spcPts val="1820"/>
                        </a:lnSpc>
                        <a:buNone/>
                      </a:pPr>
                      <a:r>
                        <a:rPr lang="en-US" sz="1300" dirty="0">
                          <a:solidFill>
                            <a:srgbClr val="B5521A"/>
                          </a:solidFill>
                          <a:latin typeface="Noto Sans" pitchFamily="34" charset="0"/>
                          <a:ea typeface="Noto Sans" pitchFamily="34" charset="-122"/>
                          <a:cs typeface="Noto Sans" pitchFamily="34" charset="-120"/>
                        </a:rPr>
                        <a:t>3</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ADC kvantlash xatosi</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Chekli ajratish qobiliyati, ± 0,5 LSB</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Bitlar sonini oshirish (12 → 16 bit), oversampling</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633730">
                <a:tc>
                  <a:txBody>
                    <a:bodyPr/>
                    <a:lstStyle/>
                    <a:p>
                      <a:pPr marL="0" indent="0">
                        <a:lnSpc>
                          <a:spcPts val="1820"/>
                        </a:lnSpc>
                        <a:buNone/>
                      </a:pPr>
                      <a:r>
                        <a:rPr lang="en-US" sz="1300" dirty="0">
                          <a:solidFill>
                            <a:srgbClr val="B5521A"/>
                          </a:solidFill>
                          <a:latin typeface="Noto Sans" pitchFamily="34" charset="0"/>
                          <a:ea typeface="Noto Sans" pitchFamily="34" charset="-122"/>
                          <a:cs typeface="Noto Sans" pitchFamily="34" charset="-120"/>
                        </a:rPr>
                        <a:t>4</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Operator xatosi, tarmoq uzilishi</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Qoʻpol: keskin sakrashlar</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Grubbs mezoni va 3σ qoidasi boʻyicha filtrlash</a:t>
                      </a:r>
                      <a:endParaRPr lang="en-US" sz="1300" dirty="0">
                        <a:latin typeface="Noto Sans" charset="0"/>
                        <a:ea typeface="Noto Sans" charset="0"/>
                        <a:cs typeface="Noto Sans" charset="0"/>
                      </a:endParaRPr>
                    </a:p>
                  </a:txBody>
                  <a:tcPr marL="127000" marR="127000" marT="88900" marB="889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5236208"/>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563"/>
                </a:solidFill>
                <a:latin typeface="Noto Sans" pitchFamily="34" charset="0"/>
                <a:ea typeface="Noto Sans" pitchFamily="34" charset="-122"/>
                <a:cs typeface="Noto Sans" pitchFamily="34" charset="-120"/>
              </a:rPr>
              <a:t>Topshiriq: jadvalni oʻz stendingizdagi datchiklar uchun davom ettiring.</a:t>
            </a:r>
            <a:endParaRPr lang="en-US" sz="1400" dirty="0"/>
          </a:p>
        </p:txBody>
      </p:sp>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№5 · Informatsion tizim xatoliklari va ishonchliligi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TOPSHIRIQ 2</a:t>
            </a:r>
            <a:endParaRPr lang="en-US" sz="1200" dirty="0"/>
          </a:p>
        </p:txBody>
      </p:sp>
      <p:sp>
        <p:nvSpPr>
          <p:cNvPr id="3" name="Text 1"/>
          <p:cNvSpPr>
            <a:spLocks noGrp="1"/>
          </p:cNvSpPr>
          <p:nvPr>
            <p:ph type="title"/>
          </p:nvPr>
        </p:nvSpPr>
        <p:spPr>
          <a:xfrm>
            <a:off x="812800" y="11023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Dron navigatsiyasi uchun zaxiralashni tanlash</a:t>
            </a:r>
            <a:endParaRPr lang="en-US" sz="3200" dirty="0"/>
          </a:p>
        </p:txBody>
      </p:sp>
      <p:sp>
        <p:nvSpPr>
          <p:cNvPr id="4" name="Text 2"/>
          <p:cNvSpPr/>
          <p:nvPr/>
        </p:nvSpPr>
        <p:spPr>
          <a:xfrm>
            <a:off x="812800" y="18034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D2433"/>
                </a:solidFill>
                <a:latin typeface="Noto Sans" pitchFamily="34" charset="0"/>
                <a:ea typeface="Noto Sans" pitchFamily="34" charset="-122"/>
                <a:cs typeface="Noto Sans" pitchFamily="34" charset="-120"/>
              </a:rPr>
              <a:t>MEMS IMU: λ = 10⁻⁴ 1/soat, parvoz vaqti t = 500 soat → </a:t>
            </a:r>
            <a:r>
              <a:rPr lang="en-US" sz="1500" b="1" dirty="0">
                <a:solidFill>
                  <a:srgbClr val="1D2433"/>
                </a:solidFill>
                <a:latin typeface="Noto Sans" pitchFamily="34" charset="0"/>
                <a:ea typeface="Noto Sans" pitchFamily="34" charset="-122"/>
                <a:cs typeface="Noto Sans" pitchFamily="34" charset="-120"/>
              </a:rPr>
              <a:t>λt = 0,05</a:t>
            </a:r>
            <a:endParaRPr lang="en-US" sz="1500" dirty="0"/>
          </a:p>
        </p:txBody>
      </p:sp>
      <p:sp>
        <p:nvSpPr>
          <p:cNvPr id="5" name="Shape 3"/>
          <p:cNvSpPr/>
          <p:nvPr/>
        </p:nvSpPr>
        <p:spPr>
          <a:xfrm>
            <a:off x="815975" y="2327275"/>
            <a:ext cx="5180330" cy="2162810"/>
          </a:xfrm>
          <a:prstGeom prst="roundRect">
            <a:avLst>
              <a:gd name="adj" fmla="val 4551"/>
            </a:avLst>
          </a:prstGeom>
          <a:solidFill>
            <a:srgbClr val="FDFCF9"/>
          </a:solidFill>
          <a:ln w="6350">
            <a:solidFill>
              <a:srgbClr val="E2DED4"/>
            </a:solidFill>
            <a:prstDash val="solid"/>
          </a:ln>
        </p:spPr>
        <p:txBody>
          <a:bodyPr/>
          <a:lstStyle/>
          <a:p>
            <a:endParaRPr lang="uz-Latn-UZ"/>
          </a:p>
        </p:txBody>
      </p:sp>
      <p:sp>
        <p:nvSpPr>
          <p:cNvPr id="6" name="Text 4"/>
          <p:cNvSpPr/>
          <p:nvPr/>
        </p:nvSpPr>
        <p:spPr>
          <a:xfrm>
            <a:off x="1071880" y="2583179"/>
            <a:ext cx="480857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B7280"/>
                </a:solidFill>
                <a:latin typeface="Noto Sans" pitchFamily="34" charset="0"/>
                <a:ea typeface="Noto Sans" pitchFamily="34" charset="-122"/>
                <a:cs typeface="Noto Sans" pitchFamily="34" charset="-120"/>
              </a:rPr>
              <a:t>VARIANT A · 1 TA IMU</a:t>
            </a:r>
            <a:endParaRPr lang="en-US" sz="1200" dirty="0"/>
          </a:p>
        </p:txBody>
      </p:sp>
      <p:sp>
        <p:nvSpPr>
          <p:cNvPr id="7" name="Text 5"/>
          <p:cNvSpPr/>
          <p:nvPr/>
        </p:nvSpPr>
        <p:spPr>
          <a:xfrm>
            <a:off x="1071880" y="2872742"/>
            <a:ext cx="480857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433"/>
                </a:solidFill>
                <a:latin typeface="Noto Sans" pitchFamily="34" charset="0"/>
                <a:ea typeface="Noto Sans" pitchFamily="34" charset="-122"/>
                <a:cs typeface="Noto Sans" pitchFamily="34" charset="-120"/>
              </a:rPr>
              <a:t>P = e^(−0,05)</a:t>
            </a:r>
            <a:endParaRPr lang="en-US" sz="1500" dirty="0"/>
          </a:p>
        </p:txBody>
      </p:sp>
      <p:sp>
        <p:nvSpPr>
          <p:cNvPr id="8" name="Text 6"/>
          <p:cNvSpPr/>
          <p:nvPr/>
        </p:nvSpPr>
        <p:spPr>
          <a:xfrm>
            <a:off x="1071880" y="3215642"/>
            <a:ext cx="4808576"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D2433"/>
                </a:solidFill>
                <a:latin typeface="Noto Sans" pitchFamily="34" charset="0"/>
                <a:ea typeface="Noto Sans" pitchFamily="34" charset="-122"/>
                <a:cs typeface="Noto Sans" pitchFamily="34" charset="-120"/>
              </a:rPr>
              <a:t>95,12 %</a:t>
            </a:r>
            <a:endParaRPr lang="en-US" sz="4800" dirty="0"/>
          </a:p>
        </p:txBody>
      </p:sp>
      <p:sp>
        <p:nvSpPr>
          <p:cNvPr id="9" name="Text 7"/>
          <p:cNvSpPr/>
          <p:nvPr/>
        </p:nvSpPr>
        <p:spPr>
          <a:xfrm>
            <a:off x="1071880" y="3962400"/>
            <a:ext cx="480857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563"/>
                </a:solidFill>
                <a:latin typeface="Noto Sans" pitchFamily="34" charset="0"/>
                <a:ea typeface="Noto Sans" pitchFamily="34" charset="-122"/>
                <a:cs typeface="Noto Sans" pitchFamily="34" charset="-120"/>
              </a:rPr>
              <a:t>nosozlik ehtimoli 4,88 %</a:t>
            </a:r>
            <a:endParaRPr lang="en-US" sz="1300" dirty="0"/>
          </a:p>
        </p:txBody>
      </p:sp>
      <p:sp>
        <p:nvSpPr>
          <p:cNvPr id="10" name="Shape 8"/>
          <p:cNvSpPr/>
          <p:nvPr/>
        </p:nvSpPr>
        <p:spPr>
          <a:xfrm>
            <a:off x="6202680" y="2324100"/>
            <a:ext cx="5176520" cy="2169160"/>
          </a:xfrm>
          <a:prstGeom prst="roundRect">
            <a:avLst>
              <a:gd name="adj" fmla="val 4684"/>
            </a:avLst>
          </a:prstGeom>
          <a:solidFill>
            <a:srgbClr val="16233B"/>
          </a:solidFill>
          <a:ln/>
        </p:spPr>
        <p:txBody>
          <a:bodyPr/>
          <a:lstStyle/>
          <a:p>
            <a:endParaRPr lang="uz-Latn-UZ"/>
          </a:p>
        </p:txBody>
      </p:sp>
      <p:sp>
        <p:nvSpPr>
          <p:cNvPr id="11" name="Shape 9"/>
          <p:cNvSpPr/>
          <p:nvPr/>
        </p:nvSpPr>
        <p:spPr>
          <a:xfrm>
            <a:off x="6202680" y="2324100"/>
            <a:ext cx="5176520" cy="2169160"/>
          </a:xfrm>
          <a:custGeom>
            <a:avLst/>
            <a:gdLst/>
            <a:ahLst/>
            <a:cxnLst/>
            <a:rect l="l" t="t" r="r" b="b"/>
            <a:pathLst>
              <a:path w="5176520" h="2169160">
                <a:moveTo>
                  <a:pt x="0" y="101600"/>
                </a:moveTo>
                <a:lnTo>
                  <a:pt x="0" y="101600"/>
                </a:lnTo>
                <a:arcTo wR="101600" hR="101600" stAng="10800000" swAng="5400000"/>
                <a:lnTo>
                  <a:pt x="5074920" y="0"/>
                </a:lnTo>
                <a:arcTo wR="101600" hR="101600" stAng="16200000" swAng="5400000"/>
                <a:lnTo>
                  <a:pt x="5176520" y="101600"/>
                </a:lnTo>
                <a:arcTo wR="101600" hR="50800" stAng="0" swAng="-5400000"/>
                <a:lnTo>
                  <a:pt x="101600" y="50800"/>
                </a:lnTo>
                <a:arcTo wR="101600" hR="50800" stAng="16200000" swAng="-5400000"/>
                <a:close/>
              </a:path>
            </a:pathLst>
          </a:custGeom>
          <a:solidFill>
            <a:srgbClr val="D9692B"/>
          </a:solidFill>
          <a:ln/>
        </p:spPr>
        <p:txBody>
          <a:bodyPr/>
          <a:lstStyle/>
          <a:p>
            <a:endParaRPr lang="uz-Latn-UZ"/>
          </a:p>
        </p:txBody>
      </p:sp>
      <p:sp>
        <p:nvSpPr>
          <p:cNvPr id="12" name="Text 10"/>
          <p:cNvSpPr/>
          <p:nvPr/>
        </p:nvSpPr>
        <p:spPr>
          <a:xfrm>
            <a:off x="6456680" y="2628900"/>
            <a:ext cx="4808576"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A46E"/>
                </a:solidFill>
                <a:latin typeface="Noto Sans" pitchFamily="34" charset="0"/>
                <a:ea typeface="Noto Sans" pitchFamily="34" charset="-122"/>
                <a:cs typeface="Noto Sans" pitchFamily="34" charset="-120"/>
              </a:rPr>
              <a:t>VARIANT B · TMR, 3 TA IMU</a:t>
            </a:r>
            <a:endParaRPr lang="en-US" sz="1200" dirty="0"/>
          </a:p>
        </p:txBody>
      </p:sp>
      <p:sp>
        <p:nvSpPr>
          <p:cNvPr id="13" name="Text 11"/>
          <p:cNvSpPr/>
          <p:nvPr/>
        </p:nvSpPr>
        <p:spPr>
          <a:xfrm>
            <a:off x="6456680" y="2918458"/>
            <a:ext cx="480857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5F3EE"/>
                </a:solidFill>
                <a:latin typeface="Noto Sans" pitchFamily="34" charset="0"/>
                <a:ea typeface="Noto Sans" pitchFamily="34" charset="-122"/>
                <a:cs typeface="Noto Sans" pitchFamily="34" charset="-120"/>
              </a:rPr>
              <a:t>P = 3e^(−0,10) − 2e^(−0,15)</a:t>
            </a:r>
            <a:endParaRPr lang="en-US" sz="1500" dirty="0"/>
          </a:p>
        </p:txBody>
      </p:sp>
      <p:sp>
        <p:nvSpPr>
          <p:cNvPr id="14" name="Text 12"/>
          <p:cNvSpPr/>
          <p:nvPr/>
        </p:nvSpPr>
        <p:spPr>
          <a:xfrm>
            <a:off x="6456680" y="3261358"/>
            <a:ext cx="4808576"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0A46E"/>
                </a:solidFill>
                <a:latin typeface="Noto Sans" pitchFamily="34" charset="0"/>
                <a:ea typeface="Noto Sans" pitchFamily="34" charset="-122"/>
                <a:cs typeface="Noto Sans" pitchFamily="34" charset="-120"/>
              </a:rPr>
              <a:t>99,31 %</a:t>
            </a:r>
            <a:endParaRPr lang="en-US" sz="4800" dirty="0"/>
          </a:p>
        </p:txBody>
      </p:sp>
      <p:sp>
        <p:nvSpPr>
          <p:cNvPr id="15" name="Text 13"/>
          <p:cNvSpPr/>
          <p:nvPr/>
        </p:nvSpPr>
        <p:spPr>
          <a:xfrm>
            <a:off x="6456680" y="4008121"/>
            <a:ext cx="480857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CFDB"/>
                </a:solidFill>
                <a:latin typeface="Noto Sans" pitchFamily="34" charset="0"/>
                <a:ea typeface="Noto Sans" pitchFamily="34" charset="-122"/>
                <a:cs typeface="Noto Sans" pitchFamily="34" charset="-120"/>
              </a:rPr>
              <a:t>nosozlik ehtimoli 0,69 %</a:t>
            </a:r>
            <a:endParaRPr lang="en-US" sz="1300" dirty="0"/>
          </a:p>
        </p:txBody>
      </p:sp>
      <p:sp>
        <p:nvSpPr>
          <p:cNvPr id="16" name="Text 14"/>
          <p:cNvSpPr/>
          <p:nvPr/>
        </p:nvSpPr>
        <p:spPr>
          <a:xfrm>
            <a:off x="812800" y="4747258"/>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6233B"/>
                </a:solidFill>
                <a:latin typeface="Noto Sans" pitchFamily="34" charset="0"/>
                <a:ea typeface="Noto Sans" pitchFamily="34" charset="-122"/>
                <a:cs typeface="Noto Sans" pitchFamily="34" charset="-120"/>
              </a:rPr>
              <a:t>TMR nosozlik ehtimolini taxminan 7 marta kamaytiradi.</a:t>
            </a:r>
            <a:endParaRPr lang="en-US" sz="1600" dirty="0"/>
          </a:p>
        </p:txBody>
      </p:sp>
      <p:sp>
        <p:nvSpPr>
          <p:cNvPr id="17" name="Text 15"/>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№5 · Informatsion tizim xatoliklari va ishonchliligi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MASALA 1</a:t>
            </a:r>
            <a:endParaRPr lang="en-US" sz="1200" dirty="0"/>
          </a:p>
        </p:txBody>
      </p:sp>
      <p:sp>
        <p:nvSpPr>
          <p:cNvPr id="3" name="Text 1"/>
          <p:cNvSpPr>
            <a:spLocks noGrp="1"/>
          </p:cNvSpPr>
          <p:nvPr>
            <p:ph type="title"/>
          </p:nvPr>
        </p:nvSpPr>
        <p:spPr>
          <a:xfrm>
            <a:off x="812800" y="11023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Enkoder oʻlchovlarining statistik tahlili</a:t>
            </a:r>
            <a:endParaRPr lang="en-US" sz="3200" dirty="0"/>
          </a:p>
        </p:txBody>
      </p:sp>
      <p:sp>
        <p:nvSpPr>
          <p:cNvPr id="4" name="Text 2"/>
          <p:cNvSpPr/>
          <p:nvPr/>
        </p:nvSpPr>
        <p:spPr>
          <a:xfrm>
            <a:off x="812800" y="1778000"/>
            <a:ext cx="1701800" cy="4216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B5563"/>
                </a:solidFill>
                <a:latin typeface="Noto Sans" pitchFamily="34" charset="0"/>
                <a:ea typeface="Noto Sans" pitchFamily="34" charset="-122"/>
                <a:cs typeface="Noto Sans" pitchFamily="34" charset="-120"/>
              </a:rPr>
              <a:t>N = 6, gradus:</a:t>
            </a:r>
            <a:endParaRPr lang="en-US" sz="1300" dirty="0"/>
          </a:p>
        </p:txBody>
      </p:sp>
      <p:sp>
        <p:nvSpPr>
          <p:cNvPr id="5" name="Text 3"/>
          <p:cNvSpPr/>
          <p:nvPr/>
        </p:nvSpPr>
        <p:spPr>
          <a:xfrm>
            <a:off x="2568575" y="1781175"/>
            <a:ext cx="1377950" cy="389890"/>
          </a:xfrm>
          <a:prstGeom prst="roundRect">
            <a:avLst>
              <a:gd name="adj" fmla="val 12215"/>
            </a:avLst>
          </a:prstGeom>
          <a:solidFill>
            <a:srgbClr val="FDFCF9"/>
          </a:solidFill>
          <a:ln w="6350">
            <a:solidFill>
              <a:srgbClr val="E2DED4"/>
            </a:solidFill>
            <a:prstDash val="solid"/>
          </a:ln>
        </p:spPr>
        <p:txBody>
          <a:bodyPr wrap="square" lIns="64156" tIns="38756" rIns="64156" bIns="13356" rtlCol="0" anchor="t">
            <a:normAutofit/>
          </a:bodyPr>
          <a:lstStyle/>
          <a:p>
            <a:pPr marL="0" indent="0" algn="ctr">
              <a:lnSpc>
                <a:spcPts val="2240"/>
              </a:lnSpc>
              <a:buNone/>
            </a:pPr>
            <a:r>
              <a:rPr lang="en-US" sz="1600" b="1" dirty="0">
                <a:solidFill>
                  <a:srgbClr val="1D2433"/>
                </a:solidFill>
                <a:latin typeface="Noto Sans" pitchFamily="34" charset="0"/>
                <a:ea typeface="Noto Sans" pitchFamily="34" charset="-122"/>
                <a:cs typeface="Noto Sans" pitchFamily="34" charset="-120"/>
              </a:rPr>
              <a:t>45,12</a:t>
            </a:r>
            <a:endParaRPr lang="en-US" sz="1600" dirty="0"/>
          </a:p>
        </p:txBody>
      </p:sp>
      <p:sp>
        <p:nvSpPr>
          <p:cNvPr id="6" name="Text 4"/>
          <p:cNvSpPr/>
          <p:nvPr/>
        </p:nvSpPr>
        <p:spPr>
          <a:xfrm>
            <a:off x="4054475" y="1781175"/>
            <a:ext cx="1377950" cy="389890"/>
          </a:xfrm>
          <a:prstGeom prst="roundRect">
            <a:avLst>
              <a:gd name="adj" fmla="val 12215"/>
            </a:avLst>
          </a:prstGeom>
          <a:solidFill>
            <a:srgbClr val="FDFCF9"/>
          </a:solidFill>
          <a:ln w="6350">
            <a:solidFill>
              <a:srgbClr val="E2DED4"/>
            </a:solidFill>
            <a:prstDash val="solid"/>
          </a:ln>
        </p:spPr>
        <p:txBody>
          <a:bodyPr wrap="square" lIns="64156" tIns="38756" rIns="64156" bIns="13356" rtlCol="0" anchor="t">
            <a:normAutofit/>
          </a:bodyPr>
          <a:lstStyle/>
          <a:p>
            <a:pPr marL="0" indent="0" algn="ctr">
              <a:lnSpc>
                <a:spcPts val="2240"/>
              </a:lnSpc>
              <a:buNone/>
            </a:pPr>
            <a:r>
              <a:rPr lang="en-US" sz="1600" b="1" dirty="0">
                <a:solidFill>
                  <a:srgbClr val="1D2433"/>
                </a:solidFill>
                <a:latin typeface="Noto Sans" pitchFamily="34" charset="0"/>
                <a:ea typeface="Noto Sans" pitchFamily="34" charset="-122"/>
                <a:cs typeface="Noto Sans" pitchFamily="34" charset="-120"/>
              </a:rPr>
              <a:t>45,18</a:t>
            </a:r>
            <a:endParaRPr lang="en-US" sz="1600" dirty="0"/>
          </a:p>
        </p:txBody>
      </p:sp>
      <p:sp>
        <p:nvSpPr>
          <p:cNvPr id="7" name="Text 5"/>
          <p:cNvSpPr/>
          <p:nvPr/>
        </p:nvSpPr>
        <p:spPr>
          <a:xfrm>
            <a:off x="5540375" y="1781175"/>
            <a:ext cx="1377950" cy="389890"/>
          </a:xfrm>
          <a:prstGeom prst="roundRect">
            <a:avLst>
              <a:gd name="adj" fmla="val 12215"/>
            </a:avLst>
          </a:prstGeom>
          <a:solidFill>
            <a:srgbClr val="FDFCF9"/>
          </a:solidFill>
          <a:ln w="6350">
            <a:solidFill>
              <a:srgbClr val="E2DED4"/>
            </a:solidFill>
            <a:prstDash val="solid"/>
          </a:ln>
        </p:spPr>
        <p:txBody>
          <a:bodyPr wrap="square" lIns="64156" tIns="38756" rIns="64156" bIns="13356" rtlCol="0" anchor="t">
            <a:normAutofit/>
          </a:bodyPr>
          <a:lstStyle/>
          <a:p>
            <a:pPr marL="0" indent="0" algn="ctr">
              <a:lnSpc>
                <a:spcPts val="2240"/>
              </a:lnSpc>
              <a:buNone/>
            </a:pPr>
            <a:r>
              <a:rPr lang="en-US" sz="1600" b="1" dirty="0">
                <a:solidFill>
                  <a:srgbClr val="1D2433"/>
                </a:solidFill>
                <a:latin typeface="Noto Sans" pitchFamily="34" charset="0"/>
                <a:ea typeface="Noto Sans" pitchFamily="34" charset="-122"/>
                <a:cs typeface="Noto Sans" pitchFamily="34" charset="-120"/>
              </a:rPr>
              <a:t>45,10</a:t>
            </a:r>
            <a:endParaRPr lang="en-US" sz="1600" dirty="0"/>
          </a:p>
        </p:txBody>
      </p:sp>
      <p:sp>
        <p:nvSpPr>
          <p:cNvPr id="8" name="Text 6"/>
          <p:cNvSpPr/>
          <p:nvPr/>
        </p:nvSpPr>
        <p:spPr>
          <a:xfrm>
            <a:off x="7026275" y="1781175"/>
            <a:ext cx="1377950" cy="389890"/>
          </a:xfrm>
          <a:prstGeom prst="roundRect">
            <a:avLst>
              <a:gd name="adj" fmla="val 12215"/>
            </a:avLst>
          </a:prstGeom>
          <a:solidFill>
            <a:srgbClr val="FDFCF9"/>
          </a:solidFill>
          <a:ln w="6350">
            <a:solidFill>
              <a:srgbClr val="E2DED4"/>
            </a:solidFill>
            <a:prstDash val="solid"/>
          </a:ln>
        </p:spPr>
        <p:txBody>
          <a:bodyPr wrap="square" lIns="64156" tIns="38756" rIns="64156" bIns="13356" rtlCol="0" anchor="t">
            <a:normAutofit/>
          </a:bodyPr>
          <a:lstStyle/>
          <a:p>
            <a:pPr marL="0" indent="0" algn="ctr">
              <a:lnSpc>
                <a:spcPts val="2240"/>
              </a:lnSpc>
              <a:buNone/>
            </a:pPr>
            <a:r>
              <a:rPr lang="en-US" sz="1600" b="1" dirty="0">
                <a:solidFill>
                  <a:srgbClr val="1D2433"/>
                </a:solidFill>
                <a:latin typeface="Noto Sans" pitchFamily="34" charset="0"/>
                <a:ea typeface="Noto Sans" pitchFamily="34" charset="-122"/>
                <a:cs typeface="Noto Sans" pitchFamily="34" charset="-120"/>
              </a:rPr>
              <a:t>45,15</a:t>
            </a:r>
            <a:endParaRPr lang="en-US" sz="1600" dirty="0"/>
          </a:p>
        </p:txBody>
      </p:sp>
      <p:sp>
        <p:nvSpPr>
          <p:cNvPr id="9" name="Text 7"/>
          <p:cNvSpPr/>
          <p:nvPr/>
        </p:nvSpPr>
        <p:spPr>
          <a:xfrm>
            <a:off x="8512175" y="1781175"/>
            <a:ext cx="1377950" cy="389890"/>
          </a:xfrm>
          <a:prstGeom prst="roundRect">
            <a:avLst>
              <a:gd name="adj" fmla="val 12215"/>
            </a:avLst>
          </a:prstGeom>
          <a:solidFill>
            <a:srgbClr val="FDFCF9"/>
          </a:solidFill>
          <a:ln w="6350">
            <a:solidFill>
              <a:srgbClr val="E2DED4"/>
            </a:solidFill>
            <a:prstDash val="solid"/>
          </a:ln>
        </p:spPr>
        <p:txBody>
          <a:bodyPr wrap="square" lIns="64156" tIns="38756" rIns="64156" bIns="13356" rtlCol="0" anchor="t">
            <a:normAutofit/>
          </a:bodyPr>
          <a:lstStyle/>
          <a:p>
            <a:pPr marL="0" indent="0" algn="ctr">
              <a:lnSpc>
                <a:spcPts val="2240"/>
              </a:lnSpc>
              <a:buNone/>
            </a:pPr>
            <a:r>
              <a:rPr lang="en-US" sz="1600" b="1" dirty="0">
                <a:solidFill>
                  <a:srgbClr val="1D2433"/>
                </a:solidFill>
                <a:latin typeface="Noto Sans" pitchFamily="34" charset="0"/>
                <a:ea typeface="Noto Sans" pitchFamily="34" charset="-122"/>
                <a:cs typeface="Noto Sans" pitchFamily="34" charset="-120"/>
              </a:rPr>
              <a:t>45,14</a:t>
            </a:r>
            <a:endParaRPr lang="en-US" sz="1600" dirty="0"/>
          </a:p>
        </p:txBody>
      </p:sp>
      <p:sp>
        <p:nvSpPr>
          <p:cNvPr id="10" name="Text 8"/>
          <p:cNvSpPr/>
          <p:nvPr/>
        </p:nvSpPr>
        <p:spPr>
          <a:xfrm>
            <a:off x="9998075" y="1781175"/>
            <a:ext cx="1377950" cy="389890"/>
          </a:xfrm>
          <a:prstGeom prst="roundRect">
            <a:avLst>
              <a:gd name="adj" fmla="val 12215"/>
            </a:avLst>
          </a:prstGeom>
          <a:solidFill>
            <a:srgbClr val="FDFCF9"/>
          </a:solidFill>
          <a:ln w="6350">
            <a:solidFill>
              <a:srgbClr val="E2DED4"/>
            </a:solidFill>
            <a:prstDash val="solid"/>
          </a:ln>
        </p:spPr>
        <p:txBody>
          <a:bodyPr wrap="square" lIns="64156" tIns="38756" rIns="64156" bIns="13356" rtlCol="0" anchor="t">
            <a:normAutofit/>
          </a:bodyPr>
          <a:lstStyle/>
          <a:p>
            <a:pPr marL="0" indent="0" algn="ctr">
              <a:lnSpc>
                <a:spcPts val="2240"/>
              </a:lnSpc>
              <a:buNone/>
            </a:pPr>
            <a:r>
              <a:rPr lang="en-US" sz="1600" b="1" dirty="0">
                <a:solidFill>
                  <a:srgbClr val="1D2433"/>
                </a:solidFill>
                <a:latin typeface="Noto Sans" pitchFamily="34" charset="0"/>
                <a:ea typeface="Noto Sans" pitchFamily="34" charset="-122"/>
                <a:cs typeface="Noto Sans" pitchFamily="34" charset="-120"/>
              </a:rPr>
              <a:t>45,11</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2960" y="2413002"/>
          <a:ext cx="6441441" cy="2110740"/>
        </p:xfrm>
        <a:graphic>
          <a:graphicData uri="http://schemas.openxmlformats.org/drawingml/2006/table">
            <a:tbl>
              <a:tblPr/>
              <a:tblGrid>
                <a:gridCol w="2147147">
                  <a:extLst>
                    <a:ext uri="{9D8B030D-6E8A-4147-A177-3AD203B41FA5}">
                      <a16:colId xmlns:a16="http://schemas.microsoft.com/office/drawing/2014/main" val="20000"/>
                    </a:ext>
                  </a:extLst>
                </a:gridCol>
                <a:gridCol w="2147147">
                  <a:extLst>
                    <a:ext uri="{9D8B030D-6E8A-4147-A177-3AD203B41FA5}">
                      <a16:colId xmlns:a16="http://schemas.microsoft.com/office/drawing/2014/main" val="20001"/>
                    </a:ext>
                  </a:extLst>
                </a:gridCol>
                <a:gridCol w="2147147">
                  <a:extLst>
                    <a:ext uri="{9D8B030D-6E8A-4147-A177-3AD203B41FA5}">
                      <a16:colId xmlns:a16="http://schemas.microsoft.com/office/drawing/2014/main" val="20002"/>
                    </a:ext>
                  </a:extLst>
                </a:gridCol>
              </a:tblGrid>
              <a:tr h="351790">
                <a:tc>
                  <a:txBody>
                    <a:bodyPr/>
                    <a:lstStyle/>
                    <a:p>
                      <a:pPr marL="0" indent="0">
                        <a:lnSpc>
                          <a:spcPts val="1820"/>
                        </a:lnSpc>
                        <a:buNone/>
                      </a:pPr>
                      <a:r>
                        <a:rPr lang="en-US" sz="1300" b="1" dirty="0">
                          <a:solidFill>
                            <a:srgbClr val="F5F3EE"/>
                          </a:solidFill>
                          <a:latin typeface="Noto Sans" pitchFamily="34" charset="0"/>
                          <a:ea typeface="Noto Sans" pitchFamily="34" charset="-122"/>
                          <a:cs typeface="Noto Sans" pitchFamily="34" charset="-120"/>
                        </a:rPr>
                        <a:t>Kattalik</a:t>
                      </a:r>
                      <a:endParaRPr lang="en-US" sz="13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820"/>
                        </a:lnSpc>
                        <a:buNone/>
                      </a:pPr>
                      <a:r>
                        <a:rPr lang="en-US" sz="1300" b="1" dirty="0">
                          <a:solidFill>
                            <a:srgbClr val="F5F3EE"/>
                          </a:solidFill>
                          <a:latin typeface="Noto Sans" pitchFamily="34" charset="0"/>
                          <a:ea typeface="Noto Sans" pitchFamily="34" charset="-122"/>
                          <a:cs typeface="Noto Sans" pitchFamily="34" charset="-120"/>
                        </a:rPr>
                        <a:t>Hisob</a:t>
                      </a:r>
                      <a:endParaRPr lang="en-US" sz="1300" dirty="0">
                        <a:latin typeface="Noto Sans" charset="0"/>
                        <a:ea typeface="Noto Sans" charset="0"/>
                        <a:cs typeface="Noto Sans" charset="0"/>
                      </a:endParaRPr>
                    </a:p>
                  </a:txBody>
                  <a:tcPr marL="127000" marR="127000" marT="63500" marB="635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gn="r">
                        <a:lnSpc>
                          <a:spcPts val="1820"/>
                        </a:lnSpc>
                        <a:buNone/>
                      </a:pPr>
                      <a:r>
                        <a:rPr lang="en-US" sz="1300" b="1" dirty="0">
                          <a:solidFill>
                            <a:srgbClr val="F5F3EE"/>
                          </a:solidFill>
                          <a:latin typeface="Noto Sans" pitchFamily="34" charset="0"/>
                          <a:ea typeface="Noto Sans" pitchFamily="34" charset="-122"/>
                          <a:cs typeface="Noto Sans" pitchFamily="34" charset="-120"/>
                        </a:rPr>
                        <a:t>Natija</a:t>
                      </a:r>
                      <a:endParaRPr lang="en-US" sz="1300" dirty="0">
                        <a:latin typeface="Noto Sans" charset="0"/>
                        <a:ea typeface="Noto Sans" charset="0"/>
                        <a:cs typeface="Noto Sans" charset="0"/>
                      </a:endParaRPr>
                    </a:p>
                  </a:txBody>
                  <a:tcPr marL="127000" marR="127000" marT="63500" marB="6350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extLst>
                  <a:ext uri="{0D108BD9-81ED-4DB2-BD59-A6C34878D82A}">
                    <a16:rowId xmlns:a16="http://schemas.microsoft.com/office/drawing/2014/main" val="10000"/>
                  </a:ext>
                </a:extLst>
              </a:tr>
              <a:tr h="351790">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x̄</a:t>
                      </a:r>
                      <a:endParaRPr lang="en-US" sz="13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270,80 / 6</a:t>
                      </a:r>
                      <a:endParaRPr lang="en-US" sz="13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gn="r">
                        <a:lnSpc>
                          <a:spcPts val="1820"/>
                        </a:lnSpc>
                        <a:buNone/>
                      </a:pPr>
                      <a:r>
                        <a:rPr lang="en-US" sz="1300" dirty="0">
                          <a:solidFill>
                            <a:srgbClr val="1D2433"/>
                          </a:solidFill>
                          <a:latin typeface="Noto Sans" pitchFamily="34" charset="0"/>
                          <a:ea typeface="Noto Sans" pitchFamily="34" charset="-122"/>
                          <a:cs typeface="Noto Sans" pitchFamily="34" charset="-120"/>
                        </a:rPr>
                        <a:t>45,1333°</a:t>
                      </a:r>
                      <a:endParaRPr lang="en-US" sz="13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351790">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Σ(xᵢ − x̄)²</a:t>
                      </a:r>
                      <a:endParaRPr lang="en-US" sz="13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6 ta kvadrat yigʻindisi</a:t>
                      </a:r>
                      <a:endParaRPr lang="en-US" sz="13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gn="r">
                        <a:lnSpc>
                          <a:spcPts val="1820"/>
                        </a:lnSpc>
                        <a:buNone/>
                      </a:pPr>
                      <a:r>
                        <a:rPr lang="en-US" sz="1300" dirty="0">
                          <a:solidFill>
                            <a:srgbClr val="1D2433"/>
                          </a:solidFill>
                          <a:latin typeface="Noto Sans" pitchFamily="34" charset="0"/>
                          <a:ea typeface="Noto Sans" pitchFamily="34" charset="-122"/>
                          <a:cs typeface="Noto Sans" pitchFamily="34" charset="-120"/>
                        </a:rPr>
                        <a:t>0,004334</a:t>
                      </a:r>
                      <a:endParaRPr lang="en-US" sz="13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351790">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Sₓ</a:t>
                      </a:r>
                      <a:endParaRPr lang="en-US" sz="13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√(0,004334 / 5)</a:t>
                      </a:r>
                      <a:endParaRPr lang="en-US" sz="13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gn="r">
                        <a:lnSpc>
                          <a:spcPts val="1820"/>
                        </a:lnSpc>
                        <a:buNone/>
                      </a:pPr>
                      <a:r>
                        <a:rPr lang="en-US" sz="1300" dirty="0">
                          <a:solidFill>
                            <a:srgbClr val="1D2433"/>
                          </a:solidFill>
                          <a:latin typeface="Noto Sans" pitchFamily="34" charset="0"/>
                          <a:ea typeface="Noto Sans" pitchFamily="34" charset="-122"/>
                          <a:cs typeface="Noto Sans" pitchFamily="34" charset="-120"/>
                        </a:rPr>
                        <a:t>0,02944°</a:t>
                      </a:r>
                      <a:endParaRPr lang="en-US" sz="13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351790">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S(x̄)</a:t>
                      </a:r>
                      <a:endParaRPr lang="en-US" sz="13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0,02944 / √6</a:t>
                      </a:r>
                      <a:endParaRPr lang="en-US" sz="13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gn="r">
                        <a:lnSpc>
                          <a:spcPts val="1820"/>
                        </a:lnSpc>
                        <a:buNone/>
                      </a:pPr>
                      <a:r>
                        <a:rPr lang="en-US" sz="1300" dirty="0">
                          <a:solidFill>
                            <a:srgbClr val="1D2433"/>
                          </a:solidFill>
                          <a:latin typeface="Noto Sans" pitchFamily="34" charset="0"/>
                          <a:ea typeface="Noto Sans" pitchFamily="34" charset="-122"/>
                          <a:cs typeface="Noto Sans" pitchFamily="34" charset="-120"/>
                        </a:rPr>
                        <a:t>0,01202°</a:t>
                      </a:r>
                      <a:endParaRPr lang="en-US" sz="13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r h="351790">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Δ</a:t>
                      </a:r>
                      <a:endParaRPr lang="en-US" sz="13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D2433"/>
                          </a:solidFill>
                          <a:latin typeface="Noto Sans" pitchFamily="34" charset="0"/>
                          <a:ea typeface="Noto Sans" pitchFamily="34" charset="-122"/>
                          <a:cs typeface="Noto Sans" pitchFamily="34" charset="-120"/>
                        </a:rPr>
                        <a:t>2,571 · 0,01202</a:t>
                      </a:r>
                      <a:endParaRPr lang="en-US" sz="13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gn="r">
                        <a:lnSpc>
                          <a:spcPts val="1820"/>
                        </a:lnSpc>
                        <a:buNone/>
                      </a:pPr>
                      <a:r>
                        <a:rPr lang="en-US" sz="1300" dirty="0">
                          <a:solidFill>
                            <a:srgbClr val="1D2433"/>
                          </a:solidFill>
                          <a:latin typeface="Noto Sans" pitchFamily="34" charset="0"/>
                          <a:ea typeface="Noto Sans" pitchFamily="34" charset="-122"/>
                          <a:cs typeface="Noto Sans" pitchFamily="34" charset="-120"/>
                        </a:rPr>
                        <a:t>0,0309°</a:t>
                      </a:r>
                      <a:endParaRPr lang="en-US" sz="1300" dirty="0">
                        <a:latin typeface="Noto Sans" charset="0"/>
                        <a:ea typeface="Noto Sans" charset="0"/>
                        <a:cs typeface="Noto Sans" charset="0"/>
                      </a:endParaRPr>
                    </a:p>
                  </a:txBody>
                  <a:tcPr marL="127000" marR="127000" marT="63500" marB="6350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2" name="Shape 9"/>
          <p:cNvSpPr/>
          <p:nvPr/>
        </p:nvSpPr>
        <p:spPr>
          <a:xfrm>
            <a:off x="7569200" y="2402842"/>
            <a:ext cx="3810000" cy="2120900"/>
          </a:xfrm>
          <a:prstGeom prst="roundRect">
            <a:avLst>
              <a:gd name="adj" fmla="val 4790"/>
            </a:avLst>
          </a:prstGeom>
          <a:solidFill>
            <a:srgbClr val="16233B"/>
          </a:solidFill>
          <a:ln/>
        </p:spPr>
        <p:txBody>
          <a:bodyPr/>
          <a:lstStyle/>
          <a:p>
            <a:endParaRPr lang="uz-Latn-UZ"/>
          </a:p>
        </p:txBody>
      </p:sp>
      <p:sp>
        <p:nvSpPr>
          <p:cNvPr id="13" name="Text 10"/>
          <p:cNvSpPr/>
          <p:nvPr/>
        </p:nvSpPr>
        <p:spPr>
          <a:xfrm>
            <a:off x="7823200" y="2697479"/>
            <a:ext cx="340106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A46E"/>
                </a:solidFill>
                <a:latin typeface="Noto Sans" pitchFamily="34" charset="0"/>
                <a:ea typeface="Noto Sans" pitchFamily="34" charset="-122"/>
                <a:cs typeface="Noto Sans" pitchFamily="34" charset="-120"/>
              </a:rPr>
              <a:t>NATIJA, P = 95 %</a:t>
            </a:r>
            <a:endParaRPr lang="en-US" sz="1200" dirty="0"/>
          </a:p>
        </p:txBody>
      </p:sp>
      <p:sp>
        <p:nvSpPr>
          <p:cNvPr id="14" name="Text 11"/>
          <p:cNvSpPr/>
          <p:nvPr/>
        </p:nvSpPr>
        <p:spPr>
          <a:xfrm>
            <a:off x="7823200" y="2987042"/>
            <a:ext cx="3401060" cy="96012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F0A46E"/>
                </a:solidFill>
                <a:latin typeface="Noto Sans" pitchFamily="34" charset="0"/>
                <a:ea typeface="Noto Sans" pitchFamily="34" charset="-122"/>
                <a:cs typeface="Noto Sans" pitchFamily="34" charset="-120"/>
              </a:rPr>
              <a:t>45,1333° ± 0,0309°</a:t>
            </a:r>
            <a:endParaRPr lang="en-US" sz="3200" dirty="0"/>
          </a:p>
        </p:txBody>
      </p:sp>
      <p:sp>
        <p:nvSpPr>
          <p:cNvPr id="15" name="Text 12"/>
          <p:cNvSpPr/>
          <p:nvPr/>
        </p:nvSpPr>
        <p:spPr>
          <a:xfrm>
            <a:off x="7823200" y="3997958"/>
            <a:ext cx="340106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CFDB"/>
                </a:solidFill>
                <a:latin typeface="Noto Sans" pitchFamily="34" charset="0"/>
                <a:ea typeface="Noto Sans" pitchFamily="34" charset="-122"/>
                <a:cs typeface="Noto Sans" pitchFamily="34" charset="-120"/>
              </a:rPr>
              <a:t>45,1024° ≤ Xₕ ≤ 45,1642°</a:t>
            </a:r>
            <a:endParaRPr lang="en-US" sz="1300" dirty="0"/>
          </a:p>
        </p:txBody>
      </p:sp>
      <p:sp>
        <p:nvSpPr>
          <p:cNvPr id="16" name="Text 1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№5 · Informatsion tizim xatoliklari va ishonchliligi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MASALA 2</a:t>
            </a:r>
            <a:endParaRPr lang="en-US" sz="1200" dirty="0"/>
          </a:p>
        </p:txBody>
      </p:sp>
      <p:sp>
        <p:nvSpPr>
          <p:cNvPr id="3" name="Text 1"/>
          <p:cNvSpPr>
            <a:spLocks noGrp="1"/>
          </p:cNvSpPr>
          <p:nvPr>
            <p:ph type="title"/>
          </p:nvPr>
        </p:nvSpPr>
        <p:spPr>
          <a:xfrm>
            <a:off x="812800" y="11023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Tok sensorining P(t), MTBF va Kₜ koʻrsatkichlari</a:t>
            </a:r>
            <a:endParaRPr lang="en-US" sz="3200" dirty="0"/>
          </a:p>
        </p:txBody>
      </p:sp>
      <p:sp>
        <p:nvSpPr>
          <p:cNvPr id="4" name="Text 2"/>
          <p:cNvSpPr/>
          <p:nvPr/>
        </p:nvSpPr>
        <p:spPr>
          <a:xfrm>
            <a:off x="812800" y="17780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D2433"/>
                </a:solidFill>
                <a:latin typeface="Noto Sans" pitchFamily="34" charset="0"/>
                <a:ea typeface="Noto Sans" pitchFamily="34" charset="-122"/>
                <a:cs typeface="Noto Sans" pitchFamily="34" charset="-120"/>
              </a:rPr>
              <a:t>λ = 2,5 · 10⁻⁵ 1/soat, MTTR = 5 soat</a:t>
            </a:r>
            <a:endParaRPr lang="en-US" sz="1500" dirty="0"/>
          </a:p>
        </p:txBody>
      </p:sp>
      <p:sp>
        <p:nvSpPr>
          <p:cNvPr id="5" name="Shape 3"/>
          <p:cNvSpPr/>
          <p:nvPr/>
        </p:nvSpPr>
        <p:spPr>
          <a:xfrm>
            <a:off x="812800" y="2273300"/>
            <a:ext cx="5207000" cy="1455420"/>
          </a:xfrm>
          <a:prstGeom prst="roundRect">
            <a:avLst>
              <a:gd name="adj" fmla="val 6981"/>
            </a:avLst>
          </a:prstGeom>
          <a:solidFill>
            <a:srgbClr val="16233B"/>
          </a:solidFill>
          <a:ln/>
        </p:spPr>
        <p:txBody>
          <a:bodyPr/>
          <a:lstStyle/>
          <a:p>
            <a:endParaRPr lang="uz-Latn-UZ"/>
          </a:p>
        </p:txBody>
      </p:sp>
      <p:sp>
        <p:nvSpPr>
          <p:cNvPr id="6" name="Text 4"/>
          <p:cNvSpPr/>
          <p:nvPr/>
        </p:nvSpPr>
        <p:spPr>
          <a:xfrm>
            <a:off x="1066800" y="2476500"/>
            <a:ext cx="483997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A46E"/>
                </a:solidFill>
                <a:latin typeface="Noto Sans" pitchFamily="34" charset="0"/>
                <a:ea typeface="Noto Sans" pitchFamily="34" charset="-122"/>
                <a:cs typeface="Noto Sans" pitchFamily="34" charset="-120"/>
              </a:rPr>
              <a:t>MTBF = 1 / λ</a:t>
            </a:r>
            <a:endParaRPr lang="en-US" sz="1200" dirty="0"/>
          </a:p>
        </p:txBody>
      </p:sp>
      <p:sp>
        <p:nvSpPr>
          <p:cNvPr id="7" name="Text 5"/>
          <p:cNvSpPr/>
          <p:nvPr/>
        </p:nvSpPr>
        <p:spPr>
          <a:xfrm>
            <a:off x="1066800" y="2740658"/>
            <a:ext cx="4839970"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0A46E"/>
                </a:solidFill>
                <a:latin typeface="Noto Sans" pitchFamily="34" charset="0"/>
                <a:ea typeface="Noto Sans" pitchFamily="34" charset="-122"/>
                <a:cs typeface="Noto Sans" pitchFamily="34" charset="-120"/>
              </a:rPr>
              <a:t>40 000 soat</a:t>
            </a:r>
            <a:endParaRPr lang="en-US" sz="3600" dirty="0"/>
          </a:p>
        </p:txBody>
      </p:sp>
      <p:sp>
        <p:nvSpPr>
          <p:cNvPr id="8" name="Text 6"/>
          <p:cNvSpPr/>
          <p:nvPr/>
        </p:nvSpPr>
        <p:spPr>
          <a:xfrm>
            <a:off x="1066800" y="3294379"/>
            <a:ext cx="483997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CFDB"/>
                </a:solidFill>
                <a:latin typeface="Noto Sans" pitchFamily="34" charset="0"/>
                <a:ea typeface="Noto Sans" pitchFamily="34" charset="-122"/>
                <a:cs typeface="Noto Sans" pitchFamily="34" charset="-120"/>
              </a:rPr>
              <a:t>≈ 4,57 yil (1 yil ≈ 8760 soat)</a:t>
            </a:r>
            <a:endParaRPr lang="en-US" sz="1300" dirty="0"/>
          </a:p>
        </p:txBody>
      </p:sp>
      <p:sp>
        <p:nvSpPr>
          <p:cNvPr id="9" name="Shape 7"/>
          <p:cNvSpPr/>
          <p:nvPr/>
        </p:nvSpPr>
        <p:spPr>
          <a:xfrm>
            <a:off x="6172200" y="2273300"/>
            <a:ext cx="5207000" cy="1455420"/>
          </a:xfrm>
          <a:prstGeom prst="roundRect">
            <a:avLst>
              <a:gd name="adj" fmla="val 6981"/>
            </a:avLst>
          </a:prstGeom>
          <a:solidFill>
            <a:srgbClr val="FBE9DC"/>
          </a:solidFill>
          <a:ln/>
        </p:spPr>
        <p:txBody>
          <a:bodyPr/>
          <a:lstStyle/>
          <a:p>
            <a:endParaRPr lang="uz-Latn-UZ"/>
          </a:p>
        </p:txBody>
      </p:sp>
      <p:sp>
        <p:nvSpPr>
          <p:cNvPr id="10" name="Text 8"/>
          <p:cNvSpPr/>
          <p:nvPr/>
        </p:nvSpPr>
        <p:spPr>
          <a:xfrm>
            <a:off x="6426200" y="2476500"/>
            <a:ext cx="483997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F3F12"/>
                </a:solidFill>
                <a:latin typeface="Noto Sans" pitchFamily="34" charset="0"/>
                <a:ea typeface="Noto Sans" pitchFamily="34" charset="-122"/>
                <a:cs typeface="Noto Sans" pitchFamily="34" charset="-120"/>
              </a:rPr>
              <a:t>Kₜ = 40 000 / 40 005</a:t>
            </a:r>
            <a:endParaRPr lang="en-US" sz="1200" dirty="0"/>
          </a:p>
        </p:txBody>
      </p:sp>
      <p:sp>
        <p:nvSpPr>
          <p:cNvPr id="11" name="Text 9"/>
          <p:cNvSpPr/>
          <p:nvPr/>
        </p:nvSpPr>
        <p:spPr>
          <a:xfrm>
            <a:off x="6426200" y="2740658"/>
            <a:ext cx="4839970"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33B"/>
                </a:solidFill>
                <a:latin typeface="Noto Sans" pitchFamily="34" charset="0"/>
                <a:ea typeface="Noto Sans" pitchFamily="34" charset="-122"/>
                <a:cs typeface="Noto Sans" pitchFamily="34" charset="-120"/>
              </a:rPr>
              <a:t>99,9875 %</a:t>
            </a:r>
            <a:endParaRPr lang="en-US" sz="3600" dirty="0"/>
          </a:p>
        </p:txBody>
      </p:sp>
      <p:sp>
        <p:nvSpPr>
          <p:cNvPr id="12" name="Text 10"/>
          <p:cNvSpPr/>
          <p:nvPr/>
        </p:nvSpPr>
        <p:spPr>
          <a:xfrm>
            <a:off x="6426200" y="3294379"/>
            <a:ext cx="483997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563"/>
                </a:solidFill>
                <a:latin typeface="Noto Sans" pitchFamily="34" charset="0"/>
                <a:ea typeface="Noto Sans" pitchFamily="34" charset="-122"/>
                <a:cs typeface="Noto Sans" pitchFamily="34" charset="-120"/>
              </a:rPr>
              <a:t>tayyorlik koeffitsienti</a:t>
            </a:r>
            <a:endParaRPr lang="en-US" sz="1300" dirty="0"/>
          </a:p>
        </p:txBody>
      </p:sp>
      <p:sp>
        <p:nvSpPr>
          <p:cNvPr id="13" name="Shape 11"/>
          <p:cNvSpPr/>
          <p:nvPr/>
        </p:nvSpPr>
        <p:spPr>
          <a:xfrm>
            <a:off x="815975" y="3960496"/>
            <a:ext cx="3414183" cy="1004570"/>
          </a:xfrm>
          <a:prstGeom prst="roundRect">
            <a:avLst>
              <a:gd name="adj" fmla="val 7269"/>
            </a:avLst>
          </a:prstGeom>
          <a:solidFill>
            <a:srgbClr val="FDFCF9"/>
          </a:solidFill>
          <a:ln w="6350">
            <a:solidFill>
              <a:srgbClr val="E2DED4"/>
            </a:solidFill>
            <a:prstDash val="solid"/>
          </a:ln>
        </p:spPr>
        <p:txBody>
          <a:bodyPr/>
          <a:lstStyle/>
          <a:p>
            <a:endParaRPr lang="uz-Latn-UZ"/>
          </a:p>
        </p:txBody>
      </p:sp>
      <p:sp>
        <p:nvSpPr>
          <p:cNvPr id="14" name="Text 12"/>
          <p:cNvSpPr/>
          <p:nvPr/>
        </p:nvSpPr>
        <p:spPr>
          <a:xfrm>
            <a:off x="1021080" y="4114800"/>
            <a:ext cx="30940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563"/>
                </a:solidFill>
                <a:latin typeface="Noto Sans" pitchFamily="34" charset="0"/>
                <a:ea typeface="Noto Sans" pitchFamily="34" charset="-122"/>
                <a:cs typeface="Noto Sans" pitchFamily="34" charset="-120"/>
              </a:rPr>
              <a:t>t = 1000 soat · e^(−0,025)</a:t>
            </a:r>
            <a:endParaRPr lang="en-US" sz="1300" dirty="0"/>
          </a:p>
        </p:txBody>
      </p:sp>
      <p:sp>
        <p:nvSpPr>
          <p:cNvPr id="15" name="Text 13"/>
          <p:cNvSpPr/>
          <p:nvPr/>
        </p:nvSpPr>
        <p:spPr>
          <a:xfrm>
            <a:off x="1021080" y="4384042"/>
            <a:ext cx="3094092"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2D6CB0"/>
                </a:solidFill>
                <a:latin typeface="Noto Sans" pitchFamily="34" charset="0"/>
                <a:ea typeface="Noto Sans" pitchFamily="34" charset="-122"/>
                <a:cs typeface="Noto Sans" pitchFamily="34" charset="-120"/>
              </a:rPr>
              <a:t>97,53 %</a:t>
            </a:r>
            <a:endParaRPr lang="en-US" sz="2400" dirty="0"/>
          </a:p>
        </p:txBody>
      </p:sp>
      <p:sp>
        <p:nvSpPr>
          <p:cNvPr id="16" name="Shape 14"/>
          <p:cNvSpPr/>
          <p:nvPr/>
        </p:nvSpPr>
        <p:spPr>
          <a:xfrm>
            <a:off x="4388908" y="3960496"/>
            <a:ext cx="3414183" cy="1004570"/>
          </a:xfrm>
          <a:prstGeom prst="roundRect">
            <a:avLst>
              <a:gd name="adj" fmla="val 7269"/>
            </a:avLst>
          </a:prstGeom>
          <a:solidFill>
            <a:srgbClr val="FDFCF9"/>
          </a:solidFill>
          <a:ln w="6350">
            <a:solidFill>
              <a:srgbClr val="E2DED4"/>
            </a:solidFill>
            <a:prstDash val="solid"/>
          </a:ln>
        </p:spPr>
        <p:txBody>
          <a:bodyPr/>
          <a:lstStyle/>
          <a:p>
            <a:endParaRPr lang="uz-Latn-UZ"/>
          </a:p>
        </p:txBody>
      </p:sp>
      <p:sp>
        <p:nvSpPr>
          <p:cNvPr id="17" name="Text 15"/>
          <p:cNvSpPr/>
          <p:nvPr/>
        </p:nvSpPr>
        <p:spPr>
          <a:xfrm>
            <a:off x="4594013" y="4114800"/>
            <a:ext cx="309409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563"/>
                </a:solidFill>
                <a:latin typeface="Noto Sans" pitchFamily="34" charset="0"/>
                <a:ea typeface="Noto Sans" pitchFamily="34" charset="-122"/>
                <a:cs typeface="Noto Sans" pitchFamily="34" charset="-120"/>
              </a:rPr>
              <a:t>t = 5000 soat · e^(−0,125)</a:t>
            </a:r>
            <a:endParaRPr lang="en-US" sz="1300" dirty="0"/>
          </a:p>
        </p:txBody>
      </p:sp>
      <p:sp>
        <p:nvSpPr>
          <p:cNvPr id="18" name="Text 16"/>
          <p:cNvSpPr/>
          <p:nvPr/>
        </p:nvSpPr>
        <p:spPr>
          <a:xfrm>
            <a:off x="4594013" y="4384042"/>
            <a:ext cx="3094093"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2D6CB0"/>
                </a:solidFill>
                <a:latin typeface="Noto Sans" pitchFamily="34" charset="0"/>
                <a:ea typeface="Noto Sans" pitchFamily="34" charset="-122"/>
                <a:cs typeface="Noto Sans" pitchFamily="34" charset="-120"/>
              </a:rPr>
              <a:t>88,25 %</a:t>
            </a:r>
            <a:endParaRPr lang="en-US" sz="2400" dirty="0"/>
          </a:p>
        </p:txBody>
      </p:sp>
      <p:sp>
        <p:nvSpPr>
          <p:cNvPr id="19" name="Shape 17"/>
          <p:cNvSpPr/>
          <p:nvPr/>
        </p:nvSpPr>
        <p:spPr>
          <a:xfrm>
            <a:off x="7961842" y="3960496"/>
            <a:ext cx="3414183" cy="1004570"/>
          </a:xfrm>
          <a:prstGeom prst="roundRect">
            <a:avLst>
              <a:gd name="adj" fmla="val 7269"/>
            </a:avLst>
          </a:prstGeom>
          <a:solidFill>
            <a:srgbClr val="FDFCF9"/>
          </a:solidFill>
          <a:ln w="6350">
            <a:solidFill>
              <a:srgbClr val="E2DED4"/>
            </a:solidFill>
            <a:prstDash val="solid"/>
          </a:ln>
        </p:spPr>
        <p:txBody>
          <a:bodyPr/>
          <a:lstStyle/>
          <a:p>
            <a:endParaRPr lang="uz-Latn-UZ"/>
          </a:p>
        </p:txBody>
      </p:sp>
      <p:sp>
        <p:nvSpPr>
          <p:cNvPr id="20" name="Text 18"/>
          <p:cNvSpPr/>
          <p:nvPr/>
        </p:nvSpPr>
        <p:spPr>
          <a:xfrm>
            <a:off x="8166946" y="4114800"/>
            <a:ext cx="30940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563"/>
                </a:solidFill>
                <a:latin typeface="Noto Sans" pitchFamily="34" charset="0"/>
                <a:ea typeface="Noto Sans" pitchFamily="34" charset="-122"/>
                <a:cs typeface="Noto Sans" pitchFamily="34" charset="-120"/>
              </a:rPr>
              <a:t>t = 10 000 soat · e^(−0,25)</a:t>
            </a:r>
            <a:endParaRPr lang="en-US" sz="1300" dirty="0"/>
          </a:p>
        </p:txBody>
      </p:sp>
      <p:sp>
        <p:nvSpPr>
          <p:cNvPr id="21" name="Text 19"/>
          <p:cNvSpPr/>
          <p:nvPr/>
        </p:nvSpPr>
        <p:spPr>
          <a:xfrm>
            <a:off x="8166946" y="4384042"/>
            <a:ext cx="3094092" cy="45212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5521A"/>
                </a:solidFill>
                <a:latin typeface="Noto Sans" pitchFamily="34" charset="0"/>
                <a:ea typeface="Noto Sans" pitchFamily="34" charset="-122"/>
                <a:cs typeface="Noto Sans" pitchFamily="34" charset="-120"/>
              </a:rPr>
              <a:t>77,88 %</a:t>
            </a:r>
            <a:endParaRPr lang="en-US" sz="2400" dirty="0"/>
          </a:p>
        </p:txBody>
      </p:sp>
      <p:sp>
        <p:nvSpPr>
          <p:cNvPr id="22" name="Text 20"/>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№5 · Informatsion tizim xatoliklari va ishonchliligi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MASALA 3</a:t>
            </a:r>
            <a:endParaRPr lang="en-US" sz="1200" dirty="0"/>
          </a:p>
        </p:txBody>
      </p:sp>
      <p:sp>
        <p:nvSpPr>
          <p:cNvPr id="3" name="Text 1"/>
          <p:cNvSpPr>
            <a:spLocks noGrp="1"/>
          </p:cNvSpPr>
          <p:nvPr>
            <p:ph type="title"/>
          </p:nvPr>
        </p:nvSpPr>
        <p:spPr>
          <a:xfrm>
            <a:off x="812800" y="11023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Mobil robot lidarlarini TMR bilan zaxiralash</a:t>
            </a:r>
            <a:endParaRPr lang="en-US" sz="3200" dirty="0"/>
          </a:p>
        </p:txBody>
      </p:sp>
      <p:sp>
        <p:nvSpPr>
          <p:cNvPr id="4" name="Text 2"/>
          <p:cNvSpPr/>
          <p:nvPr/>
        </p:nvSpPr>
        <p:spPr>
          <a:xfrm>
            <a:off x="812800" y="1803400"/>
            <a:ext cx="559866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D2433"/>
                </a:solidFill>
                <a:latin typeface="Noto Sans" pitchFamily="34" charset="0"/>
                <a:ea typeface="Noto Sans" pitchFamily="34" charset="-122"/>
                <a:cs typeface="Noto Sans" pitchFamily="34" charset="-120"/>
              </a:rPr>
              <a:t>3 ta bir xil lidar, t = 2000 soatda har birining P = 0,90</a:t>
            </a:r>
            <a:endParaRPr lang="en-US" sz="1400" dirty="0"/>
          </a:p>
        </p:txBody>
      </p:sp>
      <p:sp>
        <p:nvSpPr>
          <p:cNvPr id="5" name="Text 3"/>
          <p:cNvSpPr/>
          <p:nvPr/>
        </p:nvSpPr>
        <p:spPr>
          <a:xfrm>
            <a:off x="812800" y="2179321"/>
            <a:ext cx="559866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D2433"/>
                </a:solidFill>
                <a:latin typeface="Noto Sans" pitchFamily="34" charset="0"/>
                <a:ea typeface="Noto Sans" pitchFamily="34" charset="-122"/>
                <a:cs typeface="Noto Sans" pitchFamily="34" charset="-120"/>
              </a:rPr>
              <a:t>P(TMR) = 3P² − 2P³</a:t>
            </a:r>
            <a:endParaRPr lang="en-US" sz="2000" dirty="0"/>
          </a:p>
        </p:txBody>
      </p:sp>
      <p:sp>
        <p:nvSpPr>
          <p:cNvPr id="6" name="Text 4"/>
          <p:cNvSpPr/>
          <p:nvPr/>
        </p:nvSpPr>
        <p:spPr>
          <a:xfrm>
            <a:off x="812800" y="2661921"/>
            <a:ext cx="5598668"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D2433"/>
                </a:solidFill>
                <a:latin typeface="Noto Sans" pitchFamily="34" charset="0"/>
                <a:ea typeface="Noto Sans" pitchFamily="34" charset="-122"/>
                <a:cs typeface="Noto Sans" pitchFamily="34" charset="-120"/>
              </a:rPr>
              <a:t>= 3 · 0,81 − 2 · 0,729</a:t>
            </a:r>
            <a:endParaRPr lang="en-US" sz="1700" dirty="0"/>
          </a:p>
        </p:txBody>
      </p:sp>
      <p:sp>
        <p:nvSpPr>
          <p:cNvPr id="7" name="Text 5"/>
          <p:cNvSpPr/>
          <p:nvPr/>
        </p:nvSpPr>
        <p:spPr>
          <a:xfrm>
            <a:off x="812800" y="3091179"/>
            <a:ext cx="5598668" cy="32766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D2433"/>
                </a:solidFill>
                <a:latin typeface="Noto Sans" pitchFamily="34" charset="0"/>
                <a:ea typeface="Noto Sans" pitchFamily="34" charset="-122"/>
                <a:cs typeface="Noto Sans" pitchFamily="34" charset="-120"/>
              </a:rPr>
              <a:t>= 2,43 − 1,458 = </a:t>
            </a:r>
            <a:r>
              <a:rPr lang="en-US" sz="1700" b="1" dirty="0">
                <a:solidFill>
                  <a:srgbClr val="B5521A"/>
                </a:solidFill>
                <a:latin typeface="Noto Sans" pitchFamily="34" charset="0"/>
                <a:ea typeface="Noto Sans" pitchFamily="34" charset="-122"/>
                <a:cs typeface="Noto Sans" pitchFamily="34" charset="-120"/>
              </a:rPr>
              <a:t>0,972</a:t>
            </a:r>
            <a:endParaRPr lang="en-US" sz="1700" dirty="0"/>
          </a:p>
        </p:txBody>
      </p:sp>
      <p:sp>
        <p:nvSpPr>
          <p:cNvPr id="8" name="Shape 6"/>
          <p:cNvSpPr/>
          <p:nvPr/>
        </p:nvSpPr>
        <p:spPr>
          <a:xfrm>
            <a:off x="6556375" y="1840867"/>
            <a:ext cx="2335530" cy="1515110"/>
          </a:xfrm>
          <a:prstGeom prst="roundRect">
            <a:avLst>
              <a:gd name="adj" fmla="val 6496"/>
            </a:avLst>
          </a:prstGeom>
          <a:solidFill>
            <a:srgbClr val="FDFCF9"/>
          </a:solidFill>
          <a:ln w="6350">
            <a:solidFill>
              <a:srgbClr val="E2DED4"/>
            </a:solidFill>
            <a:prstDash val="solid"/>
          </a:ln>
        </p:spPr>
        <p:txBody>
          <a:bodyPr/>
          <a:lstStyle/>
          <a:p>
            <a:endParaRPr lang="uz-Latn-UZ"/>
          </a:p>
        </p:txBody>
      </p:sp>
      <p:sp>
        <p:nvSpPr>
          <p:cNvPr id="9" name="Text 7"/>
          <p:cNvSpPr/>
          <p:nvPr/>
        </p:nvSpPr>
        <p:spPr>
          <a:xfrm>
            <a:off x="6761480" y="2045971"/>
            <a:ext cx="198308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B7280"/>
                </a:solidFill>
                <a:latin typeface="Noto Sans" pitchFamily="34" charset="0"/>
                <a:ea typeface="Noto Sans" pitchFamily="34" charset="-122"/>
                <a:cs typeface="Noto Sans" pitchFamily="34" charset="-120"/>
              </a:rPr>
              <a:t>BITTA LIDAR</a:t>
            </a:r>
            <a:endParaRPr lang="en-US" sz="1200" dirty="0"/>
          </a:p>
        </p:txBody>
      </p:sp>
      <p:sp>
        <p:nvSpPr>
          <p:cNvPr id="10" name="Text 8"/>
          <p:cNvSpPr/>
          <p:nvPr/>
        </p:nvSpPr>
        <p:spPr>
          <a:xfrm>
            <a:off x="6761480" y="2310129"/>
            <a:ext cx="1983080"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1D2433"/>
                </a:solidFill>
                <a:latin typeface="Noto Sans" pitchFamily="34" charset="0"/>
                <a:ea typeface="Noto Sans" pitchFamily="34" charset="-122"/>
                <a:cs typeface="Noto Sans" pitchFamily="34" charset="-120"/>
              </a:rPr>
              <a:t>90,0 %</a:t>
            </a:r>
            <a:endParaRPr lang="en-US" sz="4000" dirty="0"/>
          </a:p>
        </p:txBody>
      </p:sp>
      <p:sp>
        <p:nvSpPr>
          <p:cNvPr id="11" name="Text 9"/>
          <p:cNvSpPr/>
          <p:nvPr/>
        </p:nvSpPr>
        <p:spPr>
          <a:xfrm>
            <a:off x="6761480" y="2919729"/>
            <a:ext cx="198308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563"/>
                </a:solidFill>
                <a:latin typeface="Noto Sans" pitchFamily="34" charset="0"/>
                <a:ea typeface="Noto Sans" pitchFamily="34" charset="-122"/>
                <a:cs typeface="Noto Sans" pitchFamily="34" charset="-120"/>
              </a:rPr>
              <a:t>nosozlik 10 %</a:t>
            </a:r>
            <a:endParaRPr lang="en-US" sz="1300" dirty="0"/>
          </a:p>
        </p:txBody>
      </p:sp>
      <p:sp>
        <p:nvSpPr>
          <p:cNvPr id="12" name="Shape 10"/>
          <p:cNvSpPr/>
          <p:nvPr/>
        </p:nvSpPr>
        <p:spPr>
          <a:xfrm>
            <a:off x="9047480" y="1837692"/>
            <a:ext cx="2331720" cy="1521460"/>
          </a:xfrm>
          <a:prstGeom prst="roundRect">
            <a:avLst>
              <a:gd name="adj" fmla="val 6678"/>
            </a:avLst>
          </a:prstGeom>
          <a:solidFill>
            <a:srgbClr val="16233B"/>
          </a:solidFill>
          <a:ln/>
        </p:spPr>
        <p:txBody>
          <a:bodyPr/>
          <a:lstStyle/>
          <a:p>
            <a:endParaRPr lang="uz-Latn-UZ"/>
          </a:p>
        </p:txBody>
      </p:sp>
      <p:sp>
        <p:nvSpPr>
          <p:cNvPr id="13" name="Text 11"/>
          <p:cNvSpPr/>
          <p:nvPr/>
        </p:nvSpPr>
        <p:spPr>
          <a:xfrm>
            <a:off x="9250680" y="2040892"/>
            <a:ext cx="198308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A46E"/>
                </a:solidFill>
                <a:latin typeface="Noto Sans" pitchFamily="34" charset="0"/>
                <a:ea typeface="Noto Sans" pitchFamily="34" charset="-122"/>
                <a:cs typeface="Noto Sans" pitchFamily="34" charset="-120"/>
              </a:rPr>
              <a:t>TMR (2 DAN 3)</a:t>
            </a:r>
            <a:endParaRPr lang="en-US" sz="1200" dirty="0"/>
          </a:p>
        </p:txBody>
      </p:sp>
      <p:sp>
        <p:nvSpPr>
          <p:cNvPr id="14" name="Text 12"/>
          <p:cNvSpPr/>
          <p:nvPr/>
        </p:nvSpPr>
        <p:spPr>
          <a:xfrm>
            <a:off x="9250680" y="2305050"/>
            <a:ext cx="1983080" cy="584200"/>
          </a:xfrm>
          <a:prstGeom prst="rect">
            <a:avLst/>
          </a:prstGeom>
          <a:noFill/>
          <a:ln/>
        </p:spPr>
        <p:txBody>
          <a:bodyPr wrap="square" lIns="0" tIns="0" rIns="0" bIns="0" rtlCol="0" anchor="t">
            <a:normAutofit/>
          </a:bodyPr>
          <a:lstStyle/>
          <a:p>
            <a:pPr marL="0" indent="0" algn="l">
              <a:lnSpc>
                <a:spcPts val="4400"/>
              </a:lnSpc>
              <a:buNone/>
            </a:pPr>
            <a:r>
              <a:rPr lang="en-US" sz="4000" b="1" dirty="0">
                <a:solidFill>
                  <a:srgbClr val="F0A46E"/>
                </a:solidFill>
                <a:latin typeface="Noto Sans" pitchFamily="34" charset="0"/>
                <a:ea typeface="Noto Sans" pitchFamily="34" charset="-122"/>
                <a:cs typeface="Noto Sans" pitchFamily="34" charset="-120"/>
              </a:rPr>
              <a:t>97,2 %</a:t>
            </a:r>
            <a:endParaRPr lang="en-US" sz="4000" dirty="0"/>
          </a:p>
        </p:txBody>
      </p:sp>
      <p:sp>
        <p:nvSpPr>
          <p:cNvPr id="15" name="Text 13"/>
          <p:cNvSpPr/>
          <p:nvPr/>
        </p:nvSpPr>
        <p:spPr>
          <a:xfrm>
            <a:off x="9250680" y="2914650"/>
            <a:ext cx="198308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CFDB"/>
                </a:solidFill>
                <a:latin typeface="Noto Sans" pitchFamily="34" charset="0"/>
                <a:ea typeface="Noto Sans" pitchFamily="34" charset="-122"/>
                <a:cs typeface="Noto Sans" pitchFamily="34" charset="-120"/>
              </a:rPr>
              <a:t>nosozlik 2,8 %</a:t>
            </a:r>
            <a:endParaRPr lang="en-US" sz="1300" dirty="0"/>
          </a:p>
        </p:txBody>
      </p:sp>
      <p:sp>
        <p:nvSpPr>
          <p:cNvPr id="16" name="Text 14"/>
          <p:cNvSpPr/>
          <p:nvPr/>
        </p:nvSpPr>
        <p:spPr>
          <a:xfrm>
            <a:off x="812800" y="3647442"/>
            <a:ext cx="10566400" cy="589280"/>
          </a:xfrm>
          <a:prstGeom prst="roundRect">
            <a:avLst>
              <a:gd name="adj" fmla="val 12931"/>
            </a:avLst>
          </a:prstGeom>
          <a:solidFill>
            <a:srgbClr val="FBE9DC"/>
          </a:solidFill>
          <a:ln/>
        </p:spPr>
        <p:txBody>
          <a:bodyPr wrap="square" lIns="231682" tIns="130082" rIns="0" bIns="104682" rtlCol="0" anchor="t">
            <a:normAutofit/>
          </a:bodyPr>
          <a:lstStyle/>
          <a:p>
            <a:pPr marL="0" indent="0" algn="l">
              <a:lnSpc>
                <a:spcPts val="2240"/>
              </a:lnSpc>
              <a:buNone/>
            </a:pPr>
            <a:r>
              <a:rPr lang="en-US" sz="1600" b="1" dirty="0">
                <a:solidFill>
                  <a:srgbClr val="16233B"/>
                </a:solidFill>
                <a:latin typeface="Noto Sans" pitchFamily="34" charset="0"/>
                <a:ea typeface="Noto Sans" pitchFamily="34" charset="-122"/>
                <a:cs typeface="Noto Sans" pitchFamily="34" charset="-120"/>
              </a:rPr>
              <a:t>Nosozlik ehtimoli 3,57 marta kamaydi.</a:t>
            </a:r>
            <a:endParaRPr lang="en-US" sz="1600" dirty="0"/>
          </a:p>
        </p:txBody>
      </p:sp>
      <p:sp>
        <p:nvSpPr>
          <p:cNvPr id="17" name="Text 15"/>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№5 · Informatsion tizim xatoliklari va ishonchliligi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521A"/>
                </a:solidFill>
                <a:latin typeface="Noto Sans" pitchFamily="34" charset="0"/>
                <a:ea typeface="Noto Sans" pitchFamily="34" charset="-122"/>
                <a:cs typeface="Noto Sans" pitchFamily="34" charset="-120"/>
              </a:rPr>
              <a:t>BAJARISH TARTIBI</a:t>
            </a:r>
            <a:endParaRPr lang="en-US" sz="1200" dirty="0"/>
          </a:p>
        </p:txBody>
      </p:sp>
      <p:sp>
        <p:nvSpPr>
          <p:cNvPr id="3" name="Text 1"/>
          <p:cNvSpPr>
            <a:spLocks noGrp="1"/>
          </p:cNvSpPr>
          <p:nvPr>
            <p:ph type="title"/>
          </p:nvPr>
        </p:nvSpPr>
        <p:spPr>
          <a:xfrm>
            <a:off x="812800" y="11023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33B"/>
                </a:solidFill>
                <a:latin typeface="Noto Sans" pitchFamily="34" charset="0"/>
                <a:ea typeface="Noto Sans" pitchFamily="34" charset="-122"/>
                <a:cs typeface="Noto Sans" pitchFamily="34" charset="-120"/>
              </a:rPr>
              <a:t>Ishni bajarish bosqichlari</a:t>
            </a:r>
            <a:endParaRPr lang="en-US" sz="3200" dirty="0"/>
          </a:p>
        </p:txBody>
      </p:sp>
      <p:sp>
        <p:nvSpPr>
          <p:cNvPr id="4" name="Shape 2"/>
          <p:cNvSpPr/>
          <p:nvPr/>
        </p:nvSpPr>
        <p:spPr>
          <a:xfrm>
            <a:off x="815975" y="1806575"/>
            <a:ext cx="10560050" cy="745490"/>
          </a:xfrm>
          <a:custGeom>
            <a:avLst/>
            <a:gdLst/>
            <a:ahLst/>
            <a:cxnLst/>
            <a:rect l="l" t="t" r="r" b="b"/>
            <a:pathLst>
              <a:path w="10560050" h="745490">
                <a:moveTo>
                  <a:pt x="73025" y="0"/>
                </a:moveTo>
                <a:lnTo>
                  <a:pt x="10487025" y="0"/>
                </a:lnTo>
                <a:arcTo wR="73025" hR="73025" stAng="16200000" swAng="5400000"/>
                <a:lnTo>
                  <a:pt x="10560050" y="745490"/>
                </a:lnTo>
                <a:lnTo>
                  <a:pt x="0" y="745490"/>
                </a:lnTo>
                <a:lnTo>
                  <a:pt x="0" y="73025"/>
                </a:lnTo>
                <a:arcTo wR="73025" hR="73025" stAng="10800000" swAng="5400000"/>
                <a:close/>
              </a:path>
            </a:pathLst>
          </a:custGeom>
          <a:solidFill>
            <a:srgbClr val="FDFCF9"/>
          </a:solidFill>
          <a:ln w="6350">
            <a:solidFill>
              <a:srgbClr val="E2DED4"/>
            </a:solidFill>
            <a:prstDash val="solid"/>
          </a:ln>
        </p:spPr>
        <p:txBody>
          <a:bodyPr/>
          <a:lstStyle/>
          <a:p>
            <a:endParaRPr lang="uz-Latn-UZ"/>
          </a:p>
        </p:txBody>
      </p:sp>
      <p:sp>
        <p:nvSpPr>
          <p:cNvPr id="5" name="Text 3"/>
          <p:cNvSpPr/>
          <p:nvPr/>
        </p:nvSpPr>
        <p:spPr>
          <a:xfrm>
            <a:off x="1021080" y="1983742"/>
            <a:ext cx="431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9692B"/>
                </a:solidFill>
                <a:latin typeface="Noto Sans" pitchFamily="34" charset="0"/>
                <a:ea typeface="Noto Sans" pitchFamily="34" charset="-122"/>
                <a:cs typeface="Noto Sans" pitchFamily="34" charset="-120"/>
              </a:rPr>
              <a:t>1</a:t>
            </a:r>
            <a:endParaRPr lang="en-US" sz="2200" dirty="0"/>
          </a:p>
        </p:txBody>
      </p:sp>
      <p:sp>
        <p:nvSpPr>
          <p:cNvPr id="6" name="Text 4"/>
          <p:cNvSpPr/>
          <p:nvPr/>
        </p:nvSpPr>
        <p:spPr>
          <a:xfrm>
            <a:off x="1605280" y="2045965"/>
            <a:ext cx="34010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433"/>
                </a:solidFill>
                <a:latin typeface="Noto Sans" pitchFamily="34" charset="0"/>
                <a:ea typeface="Noto Sans" pitchFamily="34" charset="-122"/>
                <a:cs typeface="Noto Sans" pitchFamily="34" charset="-120"/>
              </a:rPr>
              <a:t>Natijalarni toʻplash</a:t>
            </a:r>
            <a:endParaRPr lang="en-US" sz="1500" dirty="0"/>
          </a:p>
        </p:txBody>
      </p:sp>
      <p:sp>
        <p:nvSpPr>
          <p:cNvPr id="7" name="Text 5"/>
          <p:cNvSpPr/>
          <p:nvPr/>
        </p:nvSpPr>
        <p:spPr>
          <a:xfrm>
            <a:off x="5110480" y="1948185"/>
            <a:ext cx="624225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Datchik koʻrsatkichlarini N = 6…10 marta yozish; qoʻpol xatolarni Grubbs yoki 3σ bilan chiqarish</a:t>
            </a:r>
            <a:endParaRPr lang="en-US" sz="1300" dirty="0"/>
          </a:p>
        </p:txBody>
      </p:sp>
      <p:sp>
        <p:nvSpPr>
          <p:cNvPr id="8" name="Shape 6"/>
          <p:cNvSpPr/>
          <p:nvPr/>
        </p:nvSpPr>
        <p:spPr>
          <a:xfrm>
            <a:off x="812800" y="2555242"/>
            <a:ext cx="10566400" cy="675640"/>
          </a:xfrm>
          <a:prstGeom prst="rect">
            <a:avLst/>
          </a:prstGeom>
          <a:solidFill>
            <a:srgbClr val="FDFCF9"/>
          </a:solidFill>
          <a:ln/>
        </p:spPr>
        <p:txBody>
          <a:bodyPr/>
          <a:lstStyle/>
          <a:p>
            <a:endParaRPr lang="uz-Latn-UZ"/>
          </a:p>
        </p:txBody>
      </p:sp>
      <p:sp>
        <p:nvSpPr>
          <p:cNvPr id="9" name="Shape 7"/>
          <p:cNvSpPr/>
          <p:nvPr/>
        </p:nvSpPr>
        <p:spPr>
          <a:xfrm>
            <a:off x="11376025" y="2555242"/>
            <a:ext cx="0" cy="675640"/>
          </a:xfrm>
          <a:prstGeom prst="line">
            <a:avLst/>
          </a:prstGeom>
          <a:noFill/>
          <a:ln w="6350">
            <a:solidFill>
              <a:srgbClr val="E2DED4"/>
            </a:solidFill>
            <a:prstDash val="solid"/>
          </a:ln>
        </p:spPr>
        <p:txBody>
          <a:bodyPr/>
          <a:lstStyle/>
          <a:p>
            <a:endParaRPr lang="uz-Latn-UZ"/>
          </a:p>
        </p:txBody>
      </p:sp>
      <p:sp>
        <p:nvSpPr>
          <p:cNvPr id="10" name="Shape 8"/>
          <p:cNvSpPr/>
          <p:nvPr/>
        </p:nvSpPr>
        <p:spPr>
          <a:xfrm>
            <a:off x="812800" y="3227708"/>
            <a:ext cx="10566400" cy="0"/>
          </a:xfrm>
          <a:prstGeom prst="line">
            <a:avLst/>
          </a:prstGeom>
          <a:noFill/>
          <a:ln w="6350">
            <a:solidFill>
              <a:srgbClr val="E2DED4"/>
            </a:solidFill>
            <a:prstDash val="solid"/>
          </a:ln>
        </p:spPr>
        <p:txBody>
          <a:bodyPr/>
          <a:lstStyle/>
          <a:p>
            <a:endParaRPr lang="uz-Latn-UZ"/>
          </a:p>
        </p:txBody>
      </p:sp>
      <p:sp>
        <p:nvSpPr>
          <p:cNvPr id="11" name="Shape 9"/>
          <p:cNvSpPr/>
          <p:nvPr/>
        </p:nvSpPr>
        <p:spPr>
          <a:xfrm>
            <a:off x="815975" y="2555242"/>
            <a:ext cx="0" cy="675640"/>
          </a:xfrm>
          <a:prstGeom prst="line">
            <a:avLst/>
          </a:prstGeom>
          <a:noFill/>
          <a:ln w="6350">
            <a:solidFill>
              <a:srgbClr val="E2DED4"/>
            </a:solidFill>
            <a:prstDash val="solid"/>
          </a:ln>
        </p:spPr>
        <p:txBody>
          <a:bodyPr/>
          <a:lstStyle/>
          <a:p>
            <a:endParaRPr lang="uz-Latn-UZ"/>
          </a:p>
        </p:txBody>
      </p:sp>
      <p:sp>
        <p:nvSpPr>
          <p:cNvPr id="12" name="Text 10"/>
          <p:cNvSpPr/>
          <p:nvPr/>
        </p:nvSpPr>
        <p:spPr>
          <a:xfrm>
            <a:off x="1021080" y="2694942"/>
            <a:ext cx="431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9692B"/>
                </a:solidFill>
                <a:latin typeface="Noto Sans" pitchFamily="34" charset="0"/>
                <a:ea typeface="Noto Sans" pitchFamily="34" charset="-122"/>
                <a:cs typeface="Noto Sans" pitchFamily="34" charset="-120"/>
              </a:rPr>
              <a:t>2</a:t>
            </a:r>
            <a:endParaRPr lang="en-US" sz="2200" dirty="0"/>
          </a:p>
        </p:txBody>
      </p:sp>
      <p:sp>
        <p:nvSpPr>
          <p:cNvPr id="13" name="Text 11"/>
          <p:cNvSpPr/>
          <p:nvPr/>
        </p:nvSpPr>
        <p:spPr>
          <a:xfrm>
            <a:off x="1605280" y="2757165"/>
            <a:ext cx="34010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433"/>
                </a:solidFill>
                <a:latin typeface="Noto Sans" pitchFamily="34" charset="0"/>
                <a:ea typeface="Noto Sans" pitchFamily="34" charset="-122"/>
                <a:cs typeface="Noto Sans" pitchFamily="34" charset="-120"/>
              </a:rPr>
              <a:t>Statistik koʻrsatkichlar</a:t>
            </a:r>
            <a:endParaRPr lang="en-US" sz="1500" dirty="0"/>
          </a:p>
        </p:txBody>
      </p:sp>
      <p:sp>
        <p:nvSpPr>
          <p:cNvPr id="14" name="Text 12"/>
          <p:cNvSpPr/>
          <p:nvPr/>
        </p:nvSpPr>
        <p:spPr>
          <a:xfrm>
            <a:off x="5110480" y="2774950"/>
            <a:ext cx="624225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x̄, Sₓ, S(x̄) va 95 % ishonch oraligʻini hisoblash</a:t>
            </a:r>
            <a:endParaRPr lang="en-US" sz="1300" dirty="0"/>
          </a:p>
        </p:txBody>
      </p:sp>
      <p:sp>
        <p:nvSpPr>
          <p:cNvPr id="15" name="Shape 13"/>
          <p:cNvSpPr/>
          <p:nvPr/>
        </p:nvSpPr>
        <p:spPr>
          <a:xfrm>
            <a:off x="812800" y="3230885"/>
            <a:ext cx="10566400" cy="675640"/>
          </a:xfrm>
          <a:prstGeom prst="rect">
            <a:avLst/>
          </a:prstGeom>
          <a:solidFill>
            <a:srgbClr val="FDFCF9"/>
          </a:solidFill>
          <a:ln/>
        </p:spPr>
        <p:txBody>
          <a:bodyPr/>
          <a:lstStyle/>
          <a:p>
            <a:endParaRPr lang="uz-Latn-UZ"/>
          </a:p>
        </p:txBody>
      </p:sp>
      <p:sp>
        <p:nvSpPr>
          <p:cNvPr id="16" name="Shape 14"/>
          <p:cNvSpPr/>
          <p:nvPr/>
        </p:nvSpPr>
        <p:spPr>
          <a:xfrm>
            <a:off x="11376025" y="3230885"/>
            <a:ext cx="0" cy="675640"/>
          </a:xfrm>
          <a:prstGeom prst="line">
            <a:avLst/>
          </a:prstGeom>
          <a:noFill/>
          <a:ln w="6350">
            <a:solidFill>
              <a:srgbClr val="E2DED4"/>
            </a:solidFill>
            <a:prstDash val="solid"/>
          </a:ln>
        </p:spPr>
        <p:txBody>
          <a:bodyPr/>
          <a:lstStyle/>
          <a:p>
            <a:endParaRPr lang="uz-Latn-UZ"/>
          </a:p>
        </p:txBody>
      </p:sp>
      <p:sp>
        <p:nvSpPr>
          <p:cNvPr id="17" name="Shape 15"/>
          <p:cNvSpPr/>
          <p:nvPr/>
        </p:nvSpPr>
        <p:spPr>
          <a:xfrm>
            <a:off x="812800" y="3903350"/>
            <a:ext cx="10566400" cy="0"/>
          </a:xfrm>
          <a:prstGeom prst="line">
            <a:avLst/>
          </a:prstGeom>
          <a:noFill/>
          <a:ln w="6350">
            <a:solidFill>
              <a:srgbClr val="E2DED4"/>
            </a:solidFill>
            <a:prstDash val="solid"/>
          </a:ln>
        </p:spPr>
        <p:txBody>
          <a:bodyPr/>
          <a:lstStyle/>
          <a:p>
            <a:endParaRPr lang="uz-Latn-UZ"/>
          </a:p>
        </p:txBody>
      </p:sp>
      <p:sp>
        <p:nvSpPr>
          <p:cNvPr id="18" name="Shape 16"/>
          <p:cNvSpPr/>
          <p:nvPr/>
        </p:nvSpPr>
        <p:spPr>
          <a:xfrm>
            <a:off x="815975" y="3230885"/>
            <a:ext cx="0" cy="675640"/>
          </a:xfrm>
          <a:prstGeom prst="line">
            <a:avLst/>
          </a:prstGeom>
          <a:noFill/>
          <a:ln w="6350">
            <a:solidFill>
              <a:srgbClr val="E2DED4"/>
            </a:solidFill>
            <a:prstDash val="solid"/>
          </a:ln>
        </p:spPr>
        <p:txBody>
          <a:bodyPr/>
          <a:lstStyle/>
          <a:p>
            <a:endParaRPr lang="uz-Latn-UZ"/>
          </a:p>
        </p:txBody>
      </p:sp>
      <p:sp>
        <p:nvSpPr>
          <p:cNvPr id="19" name="Text 17"/>
          <p:cNvSpPr/>
          <p:nvPr/>
        </p:nvSpPr>
        <p:spPr>
          <a:xfrm>
            <a:off x="1021080" y="3370585"/>
            <a:ext cx="431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9692B"/>
                </a:solidFill>
                <a:latin typeface="Noto Sans" pitchFamily="34" charset="0"/>
                <a:ea typeface="Noto Sans" pitchFamily="34" charset="-122"/>
                <a:cs typeface="Noto Sans" pitchFamily="34" charset="-120"/>
              </a:rPr>
              <a:t>3</a:t>
            </a:r>
            <a:endParaRPr lang="en-US" sz="2200" dirty="0"/>
          </a:p>
        </p:txBody>
      </p:sp>
      <p:sp>
        <p:nvSpPr>
          <p:cNvPr id="20" name="Text 18"/>
          <p:cNvSpPr/>
          <p:nvPr/>
        </p:nvSpPr>
        <p:spPr>
          <a:xfrm>
            <a:off x="1605280" y="3432808"/>
            <a:ext cx="34010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433"/>
                </a:solidFill>
                <a:latin typeface="Noto Sans" pitchFamily="34" charset="0"/>
                <a:ea typeface="Noto Sans" pitchFamily="34" charset="-122"/>
                <a:cs typeface="Noto Sans" pitchFamily="34" charset="-120"/>
              </a:rPr>
              <a:t>Ishonchlilikni modellashtirish</a:t>
            </a:r>
            <a:endParaRPr lang="en-US" sz="1500" dirty="0"/>
          </a:p>
        </p:txBody>
      </p:sp>
      <p:sp>
        <p:nvSpPr>
          <p:cNvPr id="21" name="Text 19"/>
          <p:cNvSpPr/>
          <p:nvPr/>
        </p:nvSpPr>
        <p:spPr>
          <a:xfrm>
            <a:off x="5110480" y="3450592"/>
            <a:ext cx="624225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MATLAB yoki Python da turli λ uchun P(t) = e^(−λt) grafiklari</a:t>
            </a:r>
            <a:endParaRPr lang="en-US" sz="1300" dirty="0"/>
          </a:p>
        </p:txBody>
      </p:sp>
      <p:sp>
        <p:nvSpPr>
          <p:cNvPr id="22" name="Shape 20"/>
          <p:cNvSpPr/>
          <p:nvPr/>
        </p:nvSpPr>
        <p:spPr>
          <a:xfrm>
            <a:off x="812800" y="3906515"/>
            <a:ext cx="10566400" cy="675640"/>
          </a:xfrm>
          <a:prstGeom prst="rect">
            <a:avLst/>
          </a:prstGeom>
          <a:solidFill>
            <a:srgbClr val="FDFCF9"/>
          </a:solidFill>
          <a:ln/>
        </p:spPr>
        <p:txBody>
          <a:bodyPr/>
          <a:lstStyle/>
          <a:p>
            <a:endParaRPr lang="uz-Latn-UZ"/>
          </a:p>
        </p:txBody>
      </p:sp>
      <p:sp>
        <p:nvSpPr>
          <p:cNvPr id="23" name="Shape 21"/>
          <p:cNvSpPr/>
          <p:nvPr/>
        </p:nvSpPr>
        <p:spPr>
          <a:xfrm>
            <a:off x="11376025" y="3906515"/>
            <a:ext cx="0" cy="675640"/>
          </a:xfrm>
          <a:prstGeom prst="line">
            <a:avLst/>
          </a:prstGeom>
          <a:noFill/>
          <a:ln w="6350">
            <a:solidFill>
              <a:srgbClr val="E2DED4"/>
            </a:solidFill>
            <a:prstDash val="solid"/>
          </a:ln>
        </p:spPr>
        <p:txBody>
          <a:bodyPr/>
          <a:lstStyle/>
          <a:p>
            <a:endParaRPr lang="uz-Latn-UZ"/>
          </a:p>
        </p:txBody>
      </p:sp>
      <p:sp>
        <p:nvSpPr>
          <p:cNvPr id="24" name="Shape 22"/>
          <p:cNvSpPr/>
          <p:nvPr/>
        </p:nvSpPr>
        <p:spPr>
          <a:xfrm>
            <a:off x="812800" y="4578980"/>
            <a:ext cx="10566400" cy="0"/>
          </a:xfrm>
          <a:prstGeom prst="line">
            <a:avLst/>
          </a:prstGeom>
          <a:noFill/>
          <a:ln w="6350">
            <a:solidFill>
              <a:srgbClr val="E2DED4"/>
            </a:solidFill>
            <a:prstDash val="solid"/>
          </a:ln>
        </p:spPr>
        <p:txBody>
          <a:bodyPr/>
          <a:lstStyle/>
          <a:p>
            <a:endParaRPr lang="uz-Latn-UZ"/>
          </a:p>
        </p:txBody>
      </p:sp>
      <p:sp>
        <p:nvSpPr>
          <p:cNvPr id="25" name="Shape 23"/>
          <p:cNvSpPr/>
          <p:nvPr/>
        </p:nvSpPr>
        <p:spPr>
          <a:xfrm>
            <a:off x="815975" y="3906515"/>
            <a:ext cx="0" cy="675640"/>
          </a:xfrm>
          <a:prstGeom prst="line">
            <a:avLst/>
          </a:prstGeom>
          <a:noFill/>
          <a:ln w="6350">
            <a:solidFill>
              <a:srgbClr val="E2DED4"/>
            </a:solidFill>
            <a:prstDash val="solid"/>
          </a:ln>
        </p:spPr>
        <p:txBody>
          <a:bodyPr/>
          <a:lstStyle/>
          <a:p>
            <a:endParaRPr lang="uz-Latn-UZ"/>
          </a:p>
        </p:txBody>
      </p:sp>
      <p:sp>
        <p:nvSpPr>
          <p:cNvPr id="26" name="Text 24"/>
          <p:cNvSpPr/>
          <p:nvPr/>
        </p:nvSpPr>
        <p:spPr>
          <a:xfrm>
            <a:off x="1021080" y="4046215"/>
            <a:ext cx="431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9692B"/>
                </a:solidFill>
                <a:latin typeface="Noto Sans" pitchFamily="34" charset="0"/>
                <a:ea typeface="Noto Sans" pitchFamily="34" charset="-122"/>
                <a:cs typeface="Noto Sans" pitchFamily="34" charset="-120"/>
              </a:rPr>
              <a:t>4</a:t>
            </a:r>
            <a:endParaRPr lang="en-US" sz="2200" dirty="0"/>
          </a:p>
        </p:txBody>
      </p:sp>
      <p:sp>
        <p:nvSpPr>
          <p:cNvPr id="27" name="Text 25"/>
          <p:cNvSpPr/>
          <p:nvPr/>
        </p:nvSpPr>
        <p:spPr>
          <a:xfrm>
            <a:off x="1605280" y="4108450"/>
            <a:ext cx="34010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D2433"/>
                </a:solidFill>
                <a:latin typeface="Noto Sans" pitchFamily="34" charset="0"/>
                <a:ea typeface="Noto Sans" pitchFamily="34" charset="-122"/>
                <a:cs typeface="Noto Sans" pitchFamily="34" charset="-120"/>
              </a:rPr>
              <a:t>Zaxiralashni simulyatsiya qilish</a:t>
            </a:r>
            <a:endParaRPr lang="en-US" sz="1500" dirty="0"/>
          </a:p>
        </p:txBody>
      </p:sp>
      <p:sp>
        <p:nvSpPr>
          <p:cNvPr id="28" name="Text 26"/>
          <p:cNvSpPr/>
          <p:nvPr/>
        </p:nvSpPr>
        <p:spPr>
          <a:xfrm>
            <a:off x="5110480" y="4126235"/>
            <a:ext cx="624225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D2433"/>
                </a:solidFill>
                <a:latin typeface="Noto Sans" pitchFamily="34" charset="0"/>
                <a:ea typeface="Noto Sans" pitchFamily="34" charset="-122"/>
                <a:cs typeface="Noto Sans" pitchFamily="34" charset="-120"/>
              </a:rPr>
              <a:t>Ketma-ket, parallel va TMR uchun P(t) grafiklarini taqqoslash</a:t>
            </a:r>
            <a:endParaRPr lang="en-US" sz="1300" dirty="0"/>
          </a:p>
        </p:txBody>
      </p:sp>
      <p:sp>
        <p:nvSpPr>
          <p:cNvPr id="29" name="Shape 27"/>
          <p:cNvSpPr/>
          <p:nvPr/>
        </p:nvSpPr>
        <p:spPr>
          <a:xfrm>
            <a:off x="812800" y="4582158"/>
            <a:ext cx="10566400" cy="670560"/>
          </a:xfrm>
          <a:custGeom>
            <a:avLst/>
            <a:gdLst/>
            <a:ahLst/>
            <a:cxnLst/>
            <a:rect l="l" t="t" r="r" b="b"/>
            <a:pathLst>
              <a:path w="10566400" h="670560">
                <a:moveTo>
                  <a:pt x="0" y="0"/>
                </a:moveTo>
                <a:lnTo>
                  <a:pt x="10566400" y="0"/>
                </a:lnTo>
                <a:lnTo>
                  <a:pt x="10566400" y="594360"/>
                </a:lnTo>
                <a:arcTo wR="76200" hR="76200" stAng="0" swAng="5400000"/>
                <a:lnTo>
                  <a:pt x="76200" y="670560"/>
                </a:lnTo>
                <a:arcTo wR="76200" hR="76200" stAng="5400000" swAng="5400000"/>
                <a:lnTo>
                  <a:pt x="0" y="0"/>
                </a:lnTo>
                <a:close/>
              </a:path>
            </a:pathLst>
          </a:custGeom>
          <a:solidFill>
            <a:srgbClr val="16233B"/>
          </a:solidFill>
          <a:ln/>
        </p:spPr>
        <p:txBody>
          <a:bodyPr/>
          <a:lstStyle/>
          <a:p>
            <a:endParaRPr lang="uz-Latn-UZ"/>
          </a:p>
        </p:txBody>
      </p:sp>
      <p:sp>
        <p:nvSpPr>
          <p:cNvPr id="30" name="Text 28"/>
          <p:cNvSpPr/>
          <p:nvPr/>
        </p:nvSpPr>
        <p:spPr>
          <a:xfrm>
            <a:off x="1016000" y="4721858"/>
            <a:ext cx="43180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0A46E"/>
                </a:solidFill>
                <a:latin typeface="Noto Sans" pitchFamily="34" charset="0"/>
                <a:ea typeface="Noto Sans" pitchFamily="34" charset="-122"/>
                <a:cs typeface="Noto Sans" pitchFamily="34" charset="-120"/>
              </a:rPr>
              <a:t>5</a:t>
            </a:r>
            <a:endParaRPr lang="en-US" sz="2200" dirty="0"/>
          </a:p>
        </p:txBody>
      </p:sp>
      <p:sp>
        <p:nvSpPr>
          <p:cNvPr id="31" name="Text 29"/>
          <p:cNvSpPr/>
          <p:nvPr/>
        </p:nvSpPr>
        <p:spPr>
          <a:xfrm>
            <a:off x="1600200" y="4784092"/>
            <a:ext cx="34010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5F3EE"/>
                </a:solidFill>
                <a:latin typeface="Noto Sans" pitchFamily="34" charset="0"/>
                <a:ea typeface="Noto Sans" pitchFamily="34" charset="-122"/>
                <a:cs typeface="Noto Sans" pitchFamily="34" charset="-120"/>
              </a:rPr>
              <a:t>Hisobot va xulosalar</a:t>
            </a:r>
            <a:endParaRPr lang="en-US" sz="1500" dirty="0"/>
          </a:p>
        </p:txBody>
      </p:sp>
      <p:sp>
        <p:nvSpPr>
          <p:cNvPr id="32" name="Text 30"/>
          <p:cNvSpPr/>
          <p:nvPr/>
        </p:nvSpPr>
        <p:spPr>
          <a:xfrm>
            <a:off x="5105400" y="4801865"/>
            <a:ext cx="625271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9CFDB"/>
                </a:solidFill>
                <a:latin typeface="Noto Sans" pitchFamily="34" charset="0"/>
                <a:ea typeface="Noto Sans" pitchFamily="34" charset="-122"/>
                <a:cs typeface="Noto Sans" pitchFamily="34" charset="-120"/>
              </a:rPr>
              <a:t>Natijalarni tahlil qilib, hisobotni rasmiylashtirish</a:t>
            </a:r>
            <a:endParaRPr lang="en-US" sz="1300" dirty="0"/>
          </a:p>
        </p:txBody>
      </p:sp>
      <p:sp>
        <p:nvSpPr>
          <p:cNvPr id="33" name="Text 31"/>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Noto Sans" pitchFamily="34" charset="0"/>
                <a:ea typeface="Noto Sans" pitchFamily="34" charset="-122"/>
                <a:cs typeface="Noto Sans" pitchFamily="34" charset="-120"/>
              </a:rPr>
              <a:t>Amaliyot №5 · Informatsion tizim xatoliklari va ishonchliligi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33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46E"/>
                </a:solidFill>
                <a:latin typeface="Noto Sans" pitchFamily="34" charset="0"/>
                <a:ea typeface="Noto Sans" pitchFamily="34" charset="-122"/>
                <a:cs typeface="Noto Sans" pitchFamily="34" charset="-120"/>
              </a:rPr>
              <a:t>YAKUN</a:t>
            </a:r>
            <a:endParaRPr lang="en-US" sz="1200" dirty="0"/>
          </a:p>
        </p:txBody>
      </p:sp>
      <p:sp>
        <p:nvSpPr>
          <p:cNvPr id="3" name="Text 1"/>
          <p:cNvSpPr>
            <a:spLocks noGrp="1"/>
          </p:cNvSpPr>
          <p:nvPr>
            <p:ph type="title"/>
          </p:nvPr>
        </p:nvSpPr>
        <p:spPr>
          <a:xfrm>
            <a:off x="812800" y="1102358"/>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5F3EE"/>
                </a:solidFill>
                <a:latin typeface="Noto Sans" pitchFamily="34" charset="0"/>
                <a:ea typeface="Noto Sans" pitchFamily="34" charset="-122"/>
                <a:cs typeface="Noto Sans" pitchFamily="34" charset="-120"/>
              </a:rPr>
              <a:t>Nazorat va muhokama savollari</a:t>
            </a:r>
            <a:endParaRPr lang="en-US" sz="3200" dirty="0"/>
          </a:p>
        </p:txBody>
      </p:sp>
      <p:sp>
        <p:nvSpPr>
          <p:cNvPr id="4" name="Text 2"/>
          <p:cNvSpPr/>
          <p:nvPr/>
        </p:nvSpPr>
        <p:spPr>
          <a:xfrm>
            <a:off x="910590" y="1803400"/>
            <a:ext cx="5126228" cy="1412240"/>
          </a:xfrm>
          <a:prstGeom prst="rect">
            <a:avLst/>
          </a:prstGeom>
          <a:noFill/>
          <a:ln/>
        </p:spPr>
        <p:txBody>
          <a:bodyPr wrap="square" lIns="0" tIns="0" rIns="0" bIns="0" rtlCol="0" anchor="t">
            <a:normAutofit/>
          </a:bodyPr>
          <a:lstStyle/>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Absolyut, nisbiy va keltirilgan xatoliklar qanday farqlanadi?</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Sistematik va tasodifiy xatoliklar qanday kamaytiriladi?</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Kichik tanlanmada (N &lt; 30) Student taqsimoti nega kerak?</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P(t) va λ oʻrtasidagi bogʻliqlikni izohlang.</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«Vannasimon» grafikning 3 davrini tavsiflang.</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MTBF va MTTR nimani anglatadi?</a:t>
            </a:r>
            <a:endParaRPr lang="en-US" sz="1300" dirty="0"/>
          </a:p>
        </p:txBody>
      </p:sp>
      <p:sp>
        <p:nvSpPr>
          <p:cNvPr id="5" name="Text 3"/>
          <p:cNvSpPr/>
          <p:nvPr/>
        </p:nvSpPr>
        <p:spPr>
          <a:xfrm>
            <a:off x="6396990" y="1803400"/>
            <a:ext cx="5126228" cy="1412240"/>
          </a:xfrm>
          <a:prstGeom prst="rect">
            <a:avLst/>
          </a:prstGeom>
          <a:noFill/>
          <a:ln/>
        </p:spPr>
        <p:txBody>
          <a:bodyPr wrap="square" lIns="0" tIns="0" rIns="0" bIns="0" rtlCol="0" anchor="t">
            <a:normAutofit/>
          </a:bodyPr>
          <a:lstStyle/>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Kₜ qanday hisoblanadi, unga MTTR qanday taʼsir qiladi?</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Ketma-ket tizim nega har bir moduldan kam ishonchli?</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Parallel va TMR zaxiralashning afzallik va kamchiliklari?</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Kritik robotlarda TMR nima uchun qoʻllanadi?</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ADC kvantlash xatosi qanday nazorat qilinadi?</a:t>
            </a:r>
            <a:endParaRPr lang="en-US" sz="1300" dirty="0"/>
          </a:p>
          <a:p>
            <a:pPr marL="181610" indent="-181610" algn="l">
              <a:lnSpc>
                <a:spcPts val="1820"/>
              </a:lnSpc>
              <a:buSzPct val="100000"/>
              <a:buFontTx/>
              <a:buAutoNum type="arabicPeriod"/>
            </a:pPr>
            <a:r>
              <a:rPr lang="en-US" sz="1300" dirty="0">
                <a:solidFill>
                  <a:srgbClr val="E6E9EF"/>
                </a:solidFill>
                <a:latin typeface="Noto Sans" pitchFamily="34" charset="0"/>
                <a:ea typeface="Noto Sans" pitchFamily="34" charset="-122"/>
                <a:cs typeface="Noto Sans" pitchFamily="34" charset="-120"/>
              </a:rPr>
              <a:t>Kalman va median filtrlari qanday vazifani bajaradi?</a:t>
            </a:r>
            <a:endParaRPr lang="en-US" sz="1300" dirty="0"/>
          </a:p>
        </p:txBody>
      </p:sp>
      <p:sp>
        <p:nvSpPr>
          <p:cNvPr id="6" name="Text 4"/>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3B5"/>
                </a:solidFill>
                <a:latin typeface="Noto Sans" pitchFamily="34" charset="0"/>
                <a:ea typeface="Noto Sans" pitchFamily="34" charset="-122"/>
                <a:cs typeface="Noto Sans" pitchFamily="34" charset="-120"/>
              </a:rPr>
              <a:t>Amaliyot №5 · Informatsion tizim xatoliklari va ishonchliligi · 17</a:t>
            </a:r>
            <a:endParaRPr lang="en-US" sz="1200" dirty="0"/>
          </a:p>
        </p:txBody>
      </p:sp>
    </p:spTree>
  </p:cSld>
  <p:clrMapOvr>
    <a:masterClrMapping/>
  </p:clrMapOvr>
</p:sld>
</file>

<file path=ppt/theme/theme1.xml><?xml version="1.0" encoding="utf-8"?>
<a:theme xmlns:a="http://schemas.openxmlformats.org/drawingml/2006/main" name="Amaliyot №5. Informatsion tizim xatoliklari va ishonchliligini hisoblash">
  <a:themeElements>
    <a:clrScheme name="Amaliyot №5. Informatsion tizim xatoliklari va ishonchliligini hisoblash">
      <a:dk1>
        <a:srgbClr val="16233B"/>
      </a:dk1>
      <a:lt1>
        <a:srgbClr val="F5F3EE"/>
      </a:lt1>
      <a:dk2>
        <a:srgbClr val="4E5768"/>
      </a:dk2>
      <a:lt2>
        <a:srgbClr val="DFDEDC"/>
      </a:lt2>
      <a:accent1>
        <a:srgbClr val="B5521A"/>
      </a:accent1>
      <a:accent2>
        <a:srgbClr val="F0A46E"/>
      </a:accent2>
      <a:accent3>
        <a:srgbClr val="2D6CB0"/>
      </a:accent3>
      <a:accent4>
        <a:srgbClr val="D9692B"/>
      </a:accent4>
      <a:accent5>
        <a:srgbClr val="8F3F12"/>
      </a:accent5>
      <a:accent6>
        <a:srgbClr val="1F4F85"/>
      </a:accent6>
      <a:hlink>
        <a:srgbClr val="0563C1"/>
      </a:hlink>
      <a:folHlink>
        <a:srgbClr val="954F72"/>
      </a:folHlink>
    </a:clrScheme>
    <a:fontScheme name="Amaliyot №5. Informatsion tizim xatoliklari va ishonchliligini hisoblash">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TotalTime>
  <Words>2269</Words>
  <Application>Microsoft Office PowerPoint</Application>
  <PresentationFormat>Widescreen</PresentationFormat>
  <Paragraphs>295</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Cambria Math</vt:lpstr>
      <vt:lpstr>Noto Sans</vt:lpstr>
      <vt:lpstr>Amaliyot №5. Informatsion tizim xatoliklari va ishonchliligini hisoblash</vt:lpstr>
      <vt:lpstr>Informatsion tizim xatoliklari va ishonchliligini hisoblash</vt:lpstr>
      <vt:lpstr>Ishning maqsadi</vt:lpstr>
      <vt:lpstr>Asbob-uskunalar va dasturiy taʼminot</vt:lpstr>
      <vt:lpstr>Xatolik turlari va tasnifi</vt:lpstr>
      <vt:lpstr>Oʻlchov zanjiri boʻylab xatoliklarning yigʻilishi</vt:lpstr>
      <vt:lpstr>Tasodifiy xatoliklarni baholash</vt:lpstr>
      <vt:lpstr>Student koeffitsientlari t(α, f)</vt:lpstr>
      <vt:lpstr>Asosiy ishonchlilik koʻrsatkichlari</vt:lpstr>
      <vt:lpstr>«Vannasimon» buzilishlar intensivligi egri chizigʻi</vt:lpstr>
      <vt:lpstr>Strukturaviy modellar (RBD) va zaxiralash</vt:lpstr>
      <vt:lpstr>Xatolik manbalari va ularni kamaytirish usullari</vt:lpstr>
      <vt:lpstr>Dron navigatsiyasi uchun zaxiralashni tanlash</vt:lpstr>
      <vt:lpstr>Enkoder oʻlchovlarining statistik tahlili</vt:lpstr>
      <vt:lpstr>Tok sensorining P(t), MTBF va Kₜ koʻrsatkichlari</vt:lpstr>
      <vt:lpstr>Mobil robot lidarlarini TMR bilan zaxiralash</vt:lpstr>
      <vt:lpstr>Ishni bajarish bosqichlari</vt:lpstr>
      <vt:lpstr>Nazorat va muhokama savollari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Amaliyot №5. Informatsion tizim xatoliklari va ishonchliligini hisoblash</dc:title>
  <dc:subject/>
  <dc:creator/>
  <cp:lastModifiedBy>Maxmud Kamolov</cp:lastModifiedBy>
  <cp:revision>2</cp:revision>
  <dcterms:created xsi:type="dcterms:W3CDTF">2026-10-19T14:19:35Z</dcterms:created>
  <dcterms:modified xsi:type="dcterms:W3CDTF">2026-10-19T16:59:02Z</dcterms:modified>
</cp:coreProperties>
</file>