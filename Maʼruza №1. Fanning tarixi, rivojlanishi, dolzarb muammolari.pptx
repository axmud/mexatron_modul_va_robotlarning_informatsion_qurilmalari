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Kirish maʼruzasi. Bugun fan nimani oʻrganishini, asosiy tushunchalarni, robototexnika va datchiklar texnikasining tarixini hamda bugungi dolzarb muammolarni koʻrib chiqamiz.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Maʼruza yetti savoldan iborat. Tayanch iboralar: robot, mexatronika, mexatron modul, informatsion qurilma, datchik, oʻlchash oʻzgartkichi, qayta aloqa, robotlar avlodlari, bionika, proprioseptiv va eksteroseptiv datchiklar, MEMS, sensorlar kompleksirovaniyasi.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oʻzining ichki holatini va atrof-muhitni sezishi, maʼlumotni qayta ishlashi va harakatini oʻzgartirishi kerak. Bu vazifani informatsion qurilmalar bajaradi: datchiklar, oʻlchash oʻzgartkichlari, signalga ishlov berish sxemalari. Ularning sifati robotning aniqligi, tezkorligi, xavfsizligi va aqlliligini belgilaydi.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 oʻlchash va metrologiya, elektronika, avtomatik boshqarish nazariyasi va robototexnika asoslariga tayanadi. Eng katta hajmni uchinchi boʻlim — datchiklar va informatsion tizimlar elementlari egallaydi. Fan mexatron tizimlarni loyihalash va bitiruv malakaviy ishi uchun asos boʻladi.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Bolton taʼrificha, robot operator boshqaradigan oddiy qurilmadan farqli ravishda kompyuter tomonidan boshqariladi va keyingi harakat haqidagi qarorni muhitdan olingan signallar asosida oʻzi qabul qiladi. Mexatron tizimni oʻrganish beshta yoʻnalishga boʻlinadi: fizik tizimlarni modellashtirish, datchiklar va ijro qurilmalari, signallar va tizimlar, kompyuter va mantiqiy tizimlar, dasturiy taʼminot va maʼlumotlarni yigʻish. Mexatron modul misoli: dvigatel, reduktor, enkoder, tormoz va drayverdan iborat servoyuritma.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Regtien va Dertien boʻyicha kirishi noelektrik, chiqishi elektrik boʻlgan oʻzgartkich sensor, aksincha boʻlgani aktuator deyiladi. Xalqaro metrologik lugʻat (VIM) boʻyicha sensor — oʻlchash tizimining oʻlchanayotgan kattalik bevosita taʼsir qiladigan elementi. Zamonaviy datchiklar signalga ishlov berishni ham oʻz ichiga olgani uchun amaliyotda datchik va oʻzgartkich chegarasi yoʻqolib bormoqda.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Informatsion qurilmalar ikki axborot oqimini shakllantiradi: mexanizmning ichki holati (boʻgʻinlar burchaklari, tezliklari, dvigatel toklari) va tashqi muhit (obyektlar, toʻsiqlar, kontakt kuchlari) haqidagi axborot. Bu axborot qayta ishlanib, boshqaruv tizimiga qayta aloqa sifatida beriladi.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 datchikning chiqishi faqat oʻlchanayotgan kattalikka bogʻliq. Real datchikda esa harorat, taʼminot kuchlanishi va boshqa omillar ham taʼsir qiladi, signalga shovqin qoʻshiladi. Bu masalalar keyingi maʼruzalarda — datchik tavsiflari va xatoliklarini kompensatsiya qilish mavzusida batafsil koʻriladi.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«Avtomatlashtirish» atamasi 1940-yillarda Ford kompaniyasida keng tarqalgan, lekin avtomatik qurilmalar ancha oldin mavjud boʻlgan. Barcha misollarda qalqovich yoki sharli mexanizm — bu datchik vazifasini bajaruvchi informatsion element. Uatt rostlagichi val tezligini oʻlchab, bugʻ klapanini boshqargan.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Pyesa 1920-yilda yozilgan va 1921-yilda sahnalashtirilgan (Bolton kitobida 1922-yil koʻrsatilgan). Azimov qonunlari badiiy gʻoya, lekin bugungi kunda robot xavfsizligi — himoya toʻsiqlari, yaqinlik va kuch datchiklari, xavfsizlik standartlari — aynan informatsion qurilmalar orqali hal qilinadi.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1961-yilda Devolga «Programmed Article Transfer» patenti berilgan, birinchi Unimate quyma detallarni taxlash uchun oʻrnatilgan. Dastlabki robotlar gidravlik yuritmali boʻlib, dasturni koʻr-koʻrona bajargan. 1970-yillarda mikroprotsessorlar va elektr yuritmalar tarqalgach, robotga koʻproq datchik oʻrnatish va signallarni real vaqtda qayta ishlash imkoniyati paydo boʻldi. Shakey haqidagi qator Bolton jadvalida yoʻq, u umumiy maʼlumotlardan qoʻshilgan.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Dastlab mexatronika hisoblash qismisiz elektromexanik tizimlarni anglatgan: avtomatik eshiklar, savdo avtomatlari. Avtomobil misoli: 1960-yillargacha yagona elektron qurilma radio boʻlgan; 1970-yillar oxirida Xoll datchigi va mikrokontrollerli elektron oʻt oldirish tizimi hamda gʻildirak tezligi datchiklariga asoslangan ABS paydo boʻlgan. Bugungi avtonom avtomobil koʻp jihatdan gʻildirakli robotdir.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Koʻplab datchiklarning fizik prinsiplari XIX asrda kashf etilgan, lekin ularning keng qoʻllanilishi yarimoʻtkazgichlar va mikroelektronika rivoji bilan bogʻliq. 2005-yilgi DARPA Grand Challenge musobaqasida avtonom avtomobil datchiklar majmuasi yordamida choʻl yoʻlini toʻliq bosib oʻtgan — bu avtonom transport davrining boshlanishi boʻldi.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Avlodlar almashinuvi asosan informatsion imkoniyatlarning kengayishi bilan bogʻliq. Hozirgi sanoat robotlarining katta qismi hali ham I avlodga yaqin, ammo kollaborativ robotlar, avtonom mobil robotlar va avtonom transport II va III avlod xususiyatlariga ega. Bunday tizimlarda informatsion qurilmalar qiymati koʻpincha mexanik qismdan ustun keladi.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Bionika — texnik tizimlarni yaratishda tirik organizmlarni namuna sifatida olish. Inson axborotni bir nechta sezgi kanali orqali oladi, miyada birlashtiradi va harakatni boshqaradi; robotda datchiklar sezgi organlari, kontroller miya vazifasini bajaradi. Inson axborotning katta qismini koʻrish orqali oladi, shuning uchun texnik koʻrish eng murakkab va jadal rivojlanayotgan yoʻnalish. Informatsion yondashuv: robot harakatining sifati olingan axborotning hajmi, aniqligi va oʻz vaqtida kelishi bilan belgilanadi.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Proprioseptiv datchiklar robotning oʻz holatini, eksteroseptiv datchiklar atrof-muhitni oʻlchaydi. Passiv datchik obyekt energiyasidan foydalanadi, aktiv datchik muhitga oʻzi signal yuboradi. Regtien va Dertien fizik prinsip boʻyicha tasniflashni tavsiya etadi, chunki datchik tavsiflari asosan fizik prinsip bilan belgilanadi: pozitsiya datchigini rezistiv, sigʻim, induktiv, akustik yoki optik usulda qurish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Regtien maʼlumotiga koʻra, ommaviy ishlab chiqarish tufayli datchik narxi yakka nusxalar uchun bir necha oʻn ming yevrodan yuz millionlab partiyalar uchun bir necha yevrosentgacha tushadi. Intellektual datchik kalibrlangan, haroratga kompensatsiya qilingan natijani beradi va oʻzini diagnostika qiladi. Yana bir tendensiya — Sanoat 4.0 va raqamli egizaklar: datchiklar tarmoqqa ulanib, uskuna holatini uzluksiz kuzatadi va nosozlikni oldindan bashorat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 σ² = 4 · 1 / (4 + 1) = 0,8 mm², σ ≈ 0,89 mm. Natija eng aniq datchik B dan ham yaxshiroq. Aniqroq datchik katta vaznga ega boʻladi: bu yerda B ning vazni 4/5, A ning vazni 1/5. Amaliyotda bu tamoyil IMU bilan GPS, kamera bilan LiDAR, enkoder bilan giroskop maʼlumotlarini birlashtirishda qoʻllanadi.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qanday oʻlchash xatolikka ega, shuning uchun ehtimollik usullari, filtrlash va kompleksirovaniya zarur. Harorat oʻzgarishi nol siljishi va sezgirlik oʻzgarishiga olib keladi; turli fizik prinsipdagi datchiklarni birga qoʻllash muammoni qisman hal qiladi. Ekspluatatsiya davomida kalibrlash parametrlari oʻzgaradi, shuning uchun avtomatik kalibrlash dolzarb. Datchik nosozligi robot yoki avtonom avtomobilning xavfli harakatiga olib kelishi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Kollaborativ robot insonga tegish ehtimolini oldindan sezishi va kontakt kuchini cheklashi kerak, buning uchun tez va ishonchli yaqinlik, kuch-moment va koʻrish datchiklari talab qilinadi. Neyron tarmoqlar oʻqitish maʼlumotlarida uchramagan vaziyatlarda xato qilishi mumkin. LiDAR, kuch-moment datchiklari va aniq enkoderlar robot narxining katta qismini tashkil qiladi. Bu muammolarning har biri fanning keyingi boʻlimlari bilan bogʻliq.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Informatsion qurilmalar qadimgi qalqovichli rostlagichlardan zamonaviy intellektual datchiklar va texnik koʻrish tizimlarigacha uzoq yoʻlni bosib oʻtdi. Robotlar avlodlarining almashinuvi informatsion imkoniyatlarning kengayishi bilan bogʻliq. Shu sababli informatsion qurilmalarni chuqur bilish mexatronika va robototexnika mutaxassisi uchun zarur.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Asosiy adabiyotlar: Bolton W. Mechatronics, 6th ed., 2015; Regtien P., Dertien E. Sensors for Mechatronics, 2nd ed., 2018; Bishop R. H. (ed.) The Mechatronics Handbook, 2nd ed., 2008; Craig J. J. Introduction to Robotics, 3rd ed., 2005; Воротников С. А. Информационные устройства робототехнических систем, 2005.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92B"/>
          </a:solidFill>
          <a:ln/>
        </p:spPr>
      </p:sp>
      <p:sp>
        <p:nvSpPr>
          <p:cNvPr id="3" name="Text 1"/>
          <p:cNvSpPr/>
          <p:nvPr/>
        </p:nvSpPr>
        <p:spPr>
          <a:xfrm>
            <a:off x="812800" y="209169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46E"/>
                </a:solidFill>
                <a:latin typeface="Noto Sans" pitchFamily="34" charset="0"/>
                <a:ea typeface="Noto Sans" pitchFamily="34" charset="-122"/>
                <a:cs typeface="Noto Sans" pitchFamily="34" charset="-120"/>
              </a:rPr>
              <a:t>MAʼRUZA №1</a:t>
            </a:r>
            <a:endParaRPr lang="en-US" sz="1400" dirty="0"/>
          </a:p>
        </p:txBody>
      </p:sp>
      <p:sp>
        <p:nvSpPr>
          <p:cNvPr id="4" name="Text 2"/>
          <p:cNvSpPr/>
          <p:nvPr>
            <p:ph type="title"/>
          </p:nvPr>
        </p:nvSpPr>
        <p:spPr>
          <a:xfrm>
            <a:off x="812800" y="2594610"/>
            <a:ext cx="9810750"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3EE"/>
                </a:solidFill>
                <a:latin typeface="Noto Sans" pitchFamily="34" charset="0"/>
                <a:ea typeface="Noto Sans" pitchFamily="34" charset="-122"/>
                <a:cs typeface="Noto Sans" pitchFamily="34" charset="-120"/>
              </a:rPr>
              <a:t>Fanning tarixi, rivojlanishi, dolzarb muammolari</a:t>
            </a:r>
            <a:endParaRPr lang="en-US" sz="4800" dirty="0"/>
          </a:p>
        </p:txBody>
      </p:sp>
      <p:sp>
        <p:nvSpPr>
          <p:cNvPr id="5" name="Shape 3"/>
          <p:cNvSpPr/>
          <p:nvPr/>
        </p:nvSpPr>
        <p:spPr>
          <a:xfrm>
            <a:off x="812800" y="4189730"/>
            <a:ext cx="1270000" cy="38100"/>
          </a:xfrm>
          <a:prstGeom prst="rect">
            <a:avLst/>
          </a:prstGeom>
          <a:solidFill>
            <a:srgbClr val="D9692B"/>
          </a:solidFill>
          <a:ln/>
        </p:spPr>
      </p:sp>
      <p:sp>
        <p:nvSpPr>
          <p:cNvPr id="6" name="Text 4"/>
          <p:cNvSpPr/>
          <p:nvPr/>
        </p:nvSpPr>
        <p:spPr>
          <a:xfrm>
            <a:off x="812800" y="4481830"/>
            <a:ext cx="91567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FDB"/>
                </a:solidFill>
                <a:latin typeface="Noto Sans" pitchFamily="34" charset="0"/>
                <a:ea typeface="Noto Sans" pitchFamily="34" charset="-122"/>
                <a:cs typeface="Noto Sans" pitchFamily="34" charset="-120"/>
              </a:rPr>
              <a:t>«Mexatron modul va robotlarning informatsion qurilmalari» fanidan kirish maʼruzasi</a:t>
            </a:r>
            <a:endParaRPr lang="en-US" sz="16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[Oʻqituvchi F.I.Sh.]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Maʼruza rejasi</a:t>
            </a:r>
            <a:endParaRPr lang="en-US" sz="3200" dirty="0"/>
          </a:p>
        </p:txBody>
      </p:sp>
      <p:sp>
        <p:nvSpPr>
          <p:cNvPr id="4" name="Text 2"/>
          <p:cNvSpPr/>
          <p:nvPr/>
        </p:nvSpPr>
        <p:spPr>
          <a:xfrm>
            <a:off x="894080" y="1905000"/>
            <a:ext cx="5141976" cy="1549400"/>
          </a:xfrm>
          <a:prstGeom prst="rect">
            <a:avLst/>
          </a:prstGeom>
          <a:noFill/>
          <a:ln/>
        </p:spPr>
        <p:txBody>
          <a:bodyPr wrap="square" lIns="0" tIns="0" rIns="0" bIns="0" rtlCol="0" anchor="t">
            <a:normAutofit/>
          </a:bodyPr>
          <a:lstStyle/>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Fanning maqsadi, vazifalari va tuzilishi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Asosiy tushunchalar: robot, mexatronika, mexatron modul, informatsion qurilma</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Avtomatika, robototexnika va mexatronika tarixi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Datchiklar texnikasi va robotlar avlodlari</a:t>
            </a:r>
            <a:endParaRPr lang="en-US" sz="1600" dirty="0"/>
          </a:p>
        </p:txBody>
      </p:sp>
      <p:sp>
        <p:nvSpPr>
          <p:cNvPr id="5" name="Text 3"/>
          <p:cNvSpPr/>
          <p:nvPr/>
        </p:nvSpPr>
        <p:spPr>
          <a:xfrm>
            <a:off x="6380480" y="1905000"/>
            <a:ext cx="5141976" cy="1549400"/>
          </a:xfrm>
          <a:prstGeom prst="rect">
            <a:avLst/>
          </a:prstGeom>
          <a:noFill/>
          <a:ln/>
        </p:spPr>
        <p:txBody>
          <a:bodyPr wrap="square" lIns="0" tIns="0" rIns="0" bIns="0" rtlCol="0" anchor="t">
            <a:normAutofit/>
          </a:bodyPr>
          <a:lstStyle/>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Informatsion tizimlarning bionik jihatlari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Informatsion qurilmalarning tasnifi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Rivojlanish tendensiyalari va dolzarb muammolar</a:t>
            </a:r>
            <a:endParaRPr lang="en-US" sz="1600" dirty="0"/>
          </a:p>
        </p:txBody>
      </p:sp>
      <p:sp>
        <p:nvSpPr>
          <p:cNvPr id="6" name="Text 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Fanning maqsadi va vazifalari</a:t>
            </a:r>
            <a:endParaRPr lang="en-US" sz="3200" dirty="0"/>
          </a:p>
        </p:txBody>
      </p:sp>
      <p:sp>
        <p:nvSpPr>
          <p:cNvPr id="4" name="Text 2"/>
          <p:cNvSpPr/>
          <p:nvPr/>
        </p:nvSpPr>
        <p:spPr>
          <a:xfrm>
            <a:off x="812800" y="1803400"/>
            <a:ext cx="1020318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D2433"/>
                </a:solidFill>
                <a:latin typeface="Noto Sans" pitchFamily="34" charset="0"/>
                <a:ea typeface="Noto Sans" pitchFamily="34" charset="-122"/>
                <a:cs typeface="Noto Sans" pitchFamily="34" charset="-120"/>
              </a:rPr>
              <a:t>Robototexnik va mexatron tizimlarning informatsion-oʻlchash qurilmalari: ularning qurilishi, ishlash prinsiplari, axborotni olish va qayta ishlash usullari.</a:t>
            </a:r>
            <a:endParaRPr lang="en-US" sz="1800" dirty="0"/>
          </a:p>
        </p:txBody>
      </p:sp>
      <p:sp>
        <p:nvSpPr>
          <p:cNvPr id="5" name="Shape 3"/>
          <p:cNvSpPr/>
          <p:nvPr/>
        </p:nvSpPr>
        <p:spPr>
          <a:xfrm>
            <a:off x="815975" y="2700655"/>
            <a:ext cx="3414183" cy="908050"/>
          </a:xfrm>
          <a:prstGeom prst="roundRect">
            <a:avLst>
              <a:gd name="adj" fmla="val 10839"/>
            </a:avLst>
          </a:prstGeom>
          <a:solidFill>
            <a:srgbClr val="FDFCF9"/>
          </a:solidFill>
          <a:ln w="6350">
            <a:solidFill>
              <a:srgbClr val="E2DED4"/>
            </a:solidFill>
            <a:prstDash val="solid"/>
          </a:ln>
        </p:spPr>
      </p:sp>
      <p:sp>
        <p:nvSpPr>
          <p:cNvPr id="6" name="Text 4"/>
          <p:cNvSpPr/>
          <p:nvPr/>
        </p:nvSpPr>
        <p:spPr>
          <a:xfrm>
            <a:off x="1021080" y="2905761"/>
            <a:ext cx="13398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1</a:t>
            </a:r>
            <a:endParaRPr lang="en-US" sz="1800" dirty="0"/>
          </a:p>
        </p:txBody>
      </p:sp>
      <p:sp>
        <p:nvSpPr>
          <p:cNvPr id="7" name="Text 5"/>
          <p:cNvSpPr/>
          <p:nvPr/>
        </p:nvSpPr>
        <p:spPr>
          <a:xfrm>
            <a:off x="1231265" y="2905761"/>
            <a:ext cx="287760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Datchiklarning fizik prinsiplari, tavsiflari va xatoliklari</a:t>
            </a:r>
            <a:endParaRPr lang="en-US" sz="1400" dirty="0"/>
          </a:p>
        </p:txBody>
      </p:sp>
      <p:sp>
        <p:nvSpPr>
          <p:cNvPr id="8" name="Shape 6"/>
          <p:cNvSpPr/>
          <p:nvPr/>
        </p:nvSpPr>
        <p:spPr>
          <a:xfrm>
            <a:off x="4388908" y="2700655"/>
            <a:ext cx="3414183" cy="908050"/>
          </a:xfrm>
          <a:prstGeom prst="roundRect">
            <a:avLst>
              <a:gd name="adj" fmla="val 10839"/>
            </a:avLst>
          </a:prstGeom>
          <a:solidFill>
            <a:srgbClr val="FDFCF9"/>
          </a:solidFill>
          <a:ln w="6350">
            <a:solidFill>
              <a:srgbClr val="E2DED4"/>
            </a:solidFill>
            <a:prstDash val="solid"/>
          </a:ln>
        </p:spPr>
      </p:sp>
      <p:sp>
        <p:nvSpPr>
          <p:cNvPr id="9" name="Text 7"/>
          <p:cNvSpPr/>
          <p:nvPr/>
        </p:nvSpPr>
        <p:spPr>
          <a:xfrm>
            <a:off x="4594013" y="2905761"/>
            <a:ext cx="14827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2</a:t>
            </a:r>
            <a:endParaRPr lang="en-US" sz="1800" dirty="0"/>
          </a:p>
        </p:txBody>
      </p:sp>
      <p:sp>
        <p:nvSpPr>
          <p:cNvPr id="10" name="Text 8"/>
          <p:cNvSpPr/>
          <p:nvPr/>
        </p:nvSpPr>
        <p:spPr>
          <a:xfrm>
            <a:off x="4818486" y="2905761"/>
            <a:ext cx="2862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Kinestetik, lokatsion, taktil va koʻrish tizimlari</a:t>
            </a:r>
            <a:endParaRPr lang="en-US" sz="1400" dirty="0"/>
          </a:p>
        </p:txBody>
      </p:sp>
      <p:sp>
        <p:nvSpPr>
          <p:cNvPr id="11" name="Shape 9"/>
          <p:cNvSpPr/>
          <p:nvPr/>
        </p:nvSpPr>
        <p:spPr>
          <a:xfrm>
            <a:off x="7961842" y="2700655"/>
            <a:ext cx="3414183" cy="908050"/>
          </a:xfrm>
          <a:prstGeom prst="roundRect">
            <a:avLst>
              <a:gd name="adj" fmla="val 10839"/>
            </a:avLst>
          </a:prstGeom>
          <a:solidFill>
            <a:srgbClr val="FDFCF9"/>
          </a:solidFill>
          <a:ln w="6350">
            <a:solidFill>
              <a:srgbClr val="E2DED4"/>
            </a:solidFill>
            <a:prstDash val="solid"/>
          </a:ln>
        </p:spPr>
      </p:sp>
      <p:sp>
        <p:nvSpPr>
          <p:cNvPr id="12" name="Text 10"/>
          <p:cNvSpPr/>
          <p:nvPr/>
        </p:nvSpPr>
        <p:spPr>
          <a:xfrm>
            <a:off x="8166946" y="2905761"/>
            <a:ext cx="13303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3</a:t>
            </a:r>
            <a:endParaRPr lang="en-US" sz="1800" dirty="0"/>
          </a:p>
        </p:txBody>
      </p:sp>
      <p:sp>
        <p:nvSpPr>
          <p:cNvPr id="13" name="Text 11"/>
          <p:cNvSpPr/>
          <p:nvPr/>
        </p:nvSpPr>
        <p:spPr>
          <a:xfrm>
            <a:off x="8376179" y="2905761"/>
            <a:ext cx="28785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Oʻlchash sxemalari va signalga dastlabki ishlov berish</a:t>
            </a:r>
            <a:endParaRPr lang="en-US" sz="1400" dirty="0"/>
          </a:p>
        </p:txBody>
      </p:sp>
      <p:sp>
        <p:nvSpPr>
          <p:cNvPr id="14" name="Shape 12"/>
          <p:cNvSpPr/>
          <p:nvPr/>
        </p:nvSpPr>
        <p:spPr>
          <a:xfrm>
            <a:off x="815975" y="3767455"/>
            <a:ext cx="3414183" cy="908050"/>
          </a:xfrm>
          <a:prstGeom prst="roundRect">
            <a:avLst>
              <a:gd name="adj" fmla="val 10839"/>
            </a:avLst>
          </a:prstGeom>
          <a:solidFill>
            <a:srgbClr val="FDFCF9"/>
          </a:solidFill>
          <a:ln w="6350">
            <a:solidFill>
              <a:srgbClr val="E2DED4"/>
            </a:solidFill>
            <a:prstDash val="solid"/>
          </a:ln>
        </p:spPr>
      </p:sp>
      <p:sp>
        <p:nvSpPr>
          <p:cNvPr id="15" name="Text 13"/>
          <p:cNvSpPr/>
          <p:nvPr/>
        </p:nvSpPr>
        <p:spPr>
          <a:xfrm>
            <a:off x="1021080" y="3972561"/>
            <a:ext cx="16562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4</a:t>
            </a:r>
            <a:endParaRPr lang="en-US" sz="1800" dirty="0"/>
          </a:p>
        </p:txBody>
      </p:sp>
      <p:sp>
        <p:nvSpPr>
          <p:cNvPr id="16" name="Text 14"/>
          <p:cNvSpPr/>
          <p:nvPr/>
        </p:nvSpPr>
        <p:spPr>
          <a:xfrm>
            <a:off x="1262909" y="3972561"/>
            <a:ext cx="284500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Datchiklar maʼlumotlarini birlashtirish</a:t>
            </a:r>
            <a:endParaRPr lang="en-US" sz="1400" dirty="0"/>
          </a:p>
        </p:txBody>
      </p:sp>
      <p:sp>
        <p:nvSpPr>
          <p:cNvPr id="17" name="Shape 15"/>
          <p:cNvSpPr/>
          <p:nvPr/>
        </p:nvSpPr>
        <p:spPr>
          <a:xfrm>
            <a:off x="4388908" y="3767455"/>
            <a:ext cx="3414183" cy="908050"/>
          </a:xfrm>
          <a:prstGeom prst="roundRect">
            <a:avLst>
              <a:gd name="adj" fmla="val 10839"/>
            </a:avLst>
          </a:prstGeom>
          <a:solidFill>
            <a:srgbClr val="FDFCF9"/>
          </a:solidFill>
          <a:ln w="6350">
            <a:solidFill>
              <a:srgbClr val="E2DED4"/>
            </a:solidFill>
            <a:prstDash val="solid"/>
          </a:ln>
        </p:spPr>
      </p:sp>
      <p:sp>
        <p:nvSpPr>
          <p:cNvPr id="18" name="Text 16"/>
          <p:cNvSpPr/>
          <p:nvPr/>
        </p:nvSpPr>
        <p:spPr>
          <a:xfrm>
            <a:off x="4594013" y="3972561"/>
            <a:ext cx="163407"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5</a:t>
            </a:r>
            <a:endParaRPr lang="en-US" sz="1800" dirty="0"/>
          </a:p>
        </p:txBody>
      </p:sp>
      <p:sp>
        <p:nvSpPr>
          <p:cNvPr id="19" name="Text 17"/>
          <p:cNvSpPr/>
          <p:nvPr/>
        </p:nvSpPr>
        <p:spPr>
          <a:xfrm>
            <a:off x="4833620" y="3972561"/>
            <a:ext cx="284729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Sunʼiy intellekt usullarining qoʻllanilishi</a:t>
            </a:r>
            <a:endParaRPr lang="en-US" sz="1400" dirty="0"/>
          </a:p>
        </p:txBody>
      </p:sp>
      <p:sp>
        <p:nvSpPr>
          <p:cNvPr id="20" name="Shape 18"/>
          <p:cNvSpPr/>
          <p:nvPr/>
        </p:nvSpPr>
        <p:spPr>
          <a:xfrm>
            <a:off x="7961842" y="3767455"/>
            <a:ext cx="3414183" cy="908050"/>
          </a:xfrm>
          <a:prstGeom prst="roundRect">
            <a:avLst>
              <a:gd name="adj" fmla="val 10839"/>
            </a:avLst>
          </a:prstGeom>
          <a:solidFill>
            <a:srgbClr val="FDFCF9"/>
          </a:solidFill>
          <a:ln w="6350">
            <a:solidFill>
              <a:srgbClr val="E2DED4"/>
            </a:solidFill>
            <a:prstDash val="solid"/>
          </a:ln>
        </p:spPr>
      </p:sp>
      <p:sp>
        <p:nvSpPr>
          <p:cNvPr id="21" name="Text 19"/>
          <p:cNvSpPr/>
          <p:nvPr/>
        </p:nvSpPr>
        <p:spPr>
          <a:xfrm>
            <a:off x="8166946" y="3972561"/>
            <a:ext cx="174731"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6</a:t>
            </a:r>
            <a:endParaRPr lang="en-US" sz="1800" dirty="0"/>
          </a:p>
        </p:txBody>
      </p:sp>
      <p:sp>
        <p:nvSpPr>
          <p:cNvPr id="22" name="Text 20"/>
          <p:cNvSpPr/>
          <p:nvPr/>
        </p:nvSpPr>
        <p:spPr>
          <a:xfrm>
            <a:off x="8417878" y="3972561"/>
            <a:ext cx="283563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Inson va robot oʻrtasidagi interfeys</a:t>
            </a:r>
            <a:endParaRPr lang="en-US" sz="1400" dirty="0"/>
          </a:p>
        </p:txBody>
      </p:sp>
      <p:sp>
        <p:nvSpPr>
          <p:cNvPr id="23" name="Text 2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061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B5521A"/>
                </a:solidFill>
                <a:latin typeface="Noto Sans" pitchFamily="34" charset="0"/>
                <a:ea typeface="Noto Sans" pitchFamily="34" charset="-122"/>
                <a:cs typeface="Noto Sans" pitchFamily="34" charset="-120"/>
              </a:rPr>
              <a:t>KIRISH</a:t>
            </a:r>
            <a:endParaRPr lang="en-US" sz="1159" dirty="0"/>
          </a:p>
        </p:txBody>
      </p:sp>
      <p:sp>
        <p:nvSpPr>
          <p:cNvPr id="3" name="Text 1"/>
          <p:cNvSpPr/>
          <p:nvPr>
            <p:ph type="title"/>
          </p:nvPr>
        </p:nvSpPr>
        <p:spPr>
          <a:xfrm>
            <a:off x="812800" y="1094211"/>
            <a:ext cx="10883392" cy="455295"/>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6233B"/>
                </a:solidFill>
                <a:latin typeface="Noto Sans" pitchFamily="34" charset="0"/>
                <a:ea typeface="Noto Sans" pitchFamily="34" charset="-122"/>
                <a:cs typeface="Noto Sans" pitchFamily="34" charset="-120"/>
              </a:rPr>
              <a:t>Fanning tuzilishi</a:t>
            </a:r>
            <a:endParaRPr lang="en-US" sz="311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8265"/>
          <a:ext cx="10556240" cy="4053734"/>
        </p:xfrm>
        <a:graphic>
          <a:graphicData uri="http://schemas.openxmlformats.org/drawingml/2006/table">
            <a:tbl>
              <a:tblPr/>
              <a:tblGrid>
                <a:gridCol w="3518747"/>
                <a:gridCol w="3518747"/>
                <a:gridCol w="3518747"/>
              </a:tblGrid>
              <a:tr h="396028">
                <a:tc>
                  <a:txBody>
                    <a:bodyPr/>
                    <a:lstStyle/>
                    <a:p>
                      <a:pPr indent="0" marL="0">
                        <a:lnSpc>
                          <a:spcPts val="1809"/>
                        </a:lnSpc>
                        <a:buNone/>
                      </a:pPr>
                      <a:r>
                        <a:rPr lang="en-US" sz="1292" b="1" dirty="0">
                          <a:solidFill>
                            <a:srgbClr val="F5F3EE"/>
                          </a:solidFill>
                          <a:latin typeface="Noto Sans" pitchFamily="34" charset="0"/>
                          <a:ea typeface="Noto Sans" pitchFamily="34" charset="-122"/>
                          <a:cs typeface="Noto Sans" pitchFamily="34" charset="-120"/>
                        </a:rPr>
                        <a:t>№</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09"/>
                        </a:lnSpc>
                        <a:buNone/>
                      </a:pPr>
                      <a:r>
                        <a:rPr lang="en-US" sz="1292" b="1" dirty="0">
                          <a:solidFill>
                            <a:srgbClr val="F5F3EE"/>
                          </a:solidFill>
                          <a:latin typeface="Noto Sans" pitchFamily="34" charset="0"/>
                          <a:ea typeface="Noto Sans" pitchFamily="34" charset="-122"/>
                          <a:cs typeface="Noto Sans" pitchFamily="34" charset="-120"/>
                        </a:rPr>
                        <a:t>Boʻlim</a:t>
                      </a:r>
                      <a:endParaRPr lang="en-US" sz="1292"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09"/>
                        </a:lnSpc>
                        <a:buNone/>
                      </a:pPr>
                      <a:r>
                        <a:rPr lang="en-US" sz="1292" b="1" dirty="0">
                          <a:solidFill>
                            <a:srgbClr val="F5F3EE"/>
                          </a:solidFill>
                          <a:latin typeface="Noto Sans" pitchFamily="34" charset="0"/>
                          <a:ea typeface="Noto Sans" pitchFamily="34" charset="-122"/>
                          <a:cs typeface="Noto Sans" pitchFamily="34" charset="-120"/>
                        </a:rPr>
                        <a:t>Asosiy mavzular</a:t>
                      </a:r>
                      <a:endParaRPr lang="en-US" sz="1292"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396028">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1</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Robototexnika rivojlanish bosqichlari</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Tushunchalar, intellektual robotlar, bionika</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17538">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2</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Sunʼiy intellekt usullari</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Ekspert tizimlar, neyron tarmoqlar, noaniq mantiq</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17432">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3</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Informatsion tizimlar elementlari</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Datchiklar, oʻlchash sxemalari, lokatsiya, koʻrish, taktil tizimlar</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95923">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4</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Intellektual yuritmalar</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Adaptiv yuritmalar, noaniq rostlagichlar</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17432">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5</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Robotlar harakatini intellektual boshqarish</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Ekspert tizimlar, assotsiativ xotira, neyron tarmoqlar</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95922">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6</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Robotlar xatti-harakatini rejalashtirish</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Graf usullari, oʻz-oʻzini oʻqitish</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17432">
                <a:tc>
                  <a:txBody>
                    <a:bodyPr/>
                    <a:lstStyle/>
                    <a:p>
                      <a:pPr indent="0" marL="0">
                        <a:lnSpc>
                          <a:spcPts val="1809"/>
                        </a:lnSpc>
                        <a:buNone/>
                      </a:pPr>
                      <a:r>
                        <a:rPr lang="en-US" sz="1292" dirty="0">
                          <a:solidFill>
                            <a:srgbClr val="B5521A"/>
                          </a:solidFill>
                          <a:latin typeface="Noto Sans" pitchFamily="34" charset="0"/>
                          <a:ea typeface="Noto Sans" pitchFamily="34" charset="-122"/>
                          <a:cs typeface="Noto Sans" pitchFamily="34" charset="-120"/>
                        </a:rPr>
                        <a:t>7</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«Operator — robot» interfeysi</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09"/>
                        </a:lnSpc>
                        <a:buNone/>
                      </a:pPr>
                      <a:r>
                        <a:rPr lang="en-US" sz="1292" dirty="0">
                          <a:solidFill>
                            <a:srgbClr val="1D2433"/>
                          </a:solidFill>
                          <a:latin typeface="Noto Sans" pitchFamily="34" charset="0"/>
                          <a:ea typeface="Noto Sans" pitchFamily="34" charset="-122"/>
                          <a:cs typeface="Noto Sans" pitchFamily="34" charset="-120"/>
                        </a:rPr>
                        <a:t>Inson-mashina muloqoti, intellektual interfeys</a:t>
                      </a:r>
                      <a:endParaRPr lang="en-US" sz="129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ASOSIY TUSHUNCHALAR</a:t>
            </a:r>
            <a:endParaRPr lang="en-US" sz="1200" dirty="0"/>
          </a:p>
        </p:txBody>
      </p:sp>
      <p:sp>
        <p:nvSpPr>
          <p:cNvPr id="3" name="Text 1"/>
          <p:cNvSpPr/>
          <p:nvPr>
            <p:ph type="title"/>
          </p:nvPr>
        </p:nvSpPr>
        <p:spPr>
          <a:xfrm>
            <a:off x="812800" y="11023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Robot, robototexnika, mexatronika, mexatron modul</a:t>
            </a:r>
            <a:endParaRPr lang="en-US" sz="3200" dirty="0"/>
          </a:p>
        </p:txBody>
      </p:sp>
      <p:sp>
        <p:nvSpPr>
          <p:cNvPr id="4" name="Shape 2"/>
          <p:cNvSpPr/>
          <p:nvPr/>
        </p:nvSpPr>
        <p:spPr>
          <a:xfrm>
            <a:off x="815975" y="2253614"/>
            <a:ext cx="5200650" cy="1507490"/>
          </a:xfrm>
          <a:prstGeom prst="roundRect">
            <a:avLst>
              <a:gd name="adj" fmla="val 4844"/>
            </a:avLst>
          </a:prstGeom>
          <a:solidFill>
            <a:srgbClr val="FDFCF9"/>
          </a:solidFill>
          <a:ln w="6350">
            <a:solidFill>
              <a:srgbClr val="E2DED4"/>
            </a:solidFill>
            <a:prstDash val="solid"/>
          </a:ln>
        </p:spPr>
      </p:sp>
      <p:sp>
        <p:nvSpPr>
          <p:cNvPr id="5" name="Text 3"/>
          <p:cNvSpPr/>
          <p:nvPr/>
        </p:nvSpPr>
        <p:spPr>
          <a:xfrm>
            <a:off x="1071880" y="2458721"/>
            <a:ext cx="48295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Robot</a:t>
            </a:r>
            <a:endParaRPr lang="en-US" sz="1800" dirty="0"/>
          </a:p>
        </p:txBody>
      </p:sp>
      <p:sp>
        <p:nvSpPr>
          <p:cNvPr id="6" name="Text 4"/>
          <p:cNvSpPr/>
          <p:nvPr/>
        </p:nvSpPr>
        <p:spPr>
          <a:xfrm>
            <a:off x="1071880" y="2809239"/>
            <a:ext cx="482950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Muhitdan keladigan signallarga javoban inson aralashuvisiz harakat qiladigan qayta dasturlanadigan mashina</a:t>
            </a:r>
            <a:endParaRPr lang="en-US" sz="1400" dirty="0"/>
          </a:p>
        </p:txBody>
      </p:sp>
      <p:sp>
        <p:nvSpPr>
          <p:cNvPr id="7" name="Shape 5"/>
          <p:cNvSpPr/>
          <p:nvPr/>
        </p:nvSpPr>
        <p:spPr>
          <a:xfrm>
            <a:off x="6175375" y="2253614"/>
            <a:ext cx="5200650" cy="1507490"/>
          </a:xfrm>
          <a:prstGeom prst="roundRect">
            <a:avLst>
              <a:gd name="adj" fmla="val 4844"/>
            </a:avLst>
          </a:prstGeom>
          <a:solidFill>
            <a:srgbClr val="FDFCF9"/>
          </a:solidFill>
          <a:ln w="6350">
            <a:solidFill>
              <a:srgbClr val="E2DED4"/>
            </a:solidFill>
            <a:prstDash val="solid"/>
          </a:ln>
        </p:spPr>
      </p:sp>
      <p:sp>
        <p:nvSpPr>
          <p:cNvPr id="8" name="Text 6"/>
          <p:cNvSpPr/>
          <p:nvPr/>
        </p:nvSpPr>
        <p:spPr>
          <a:xfrm>
            <a:off x="6431280" y="2458721"/>
            <a:ext cx="48295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Robototexnika</a:t>
            </a:r>
            <a:endParaRPr lang="en-US" sz="1800" dirty="0"/>
          </a:p>
        </p:txBody>
      </p:sp>
      <p:sp>
        <p:nvSpPr>
          <p:cNvPr id="9" name="Text 7"/>
          <p:cNvSpPr/>
          <p:nvPr/>
        </p:nvSpPr>
        <p:spPr>
          <a:xfrm>
            <a:off x="6431280" y="2809239"/>
            <a:ext cx="48295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Robotlarni loyihalash, yaratish, boshqarish va qoʻllash bilan shugʻullanadigan fan va texnika sohasi</a:t>
            </a:r>
            <a:endParaRPr lang="en-US" sz="1400" dirty="0"/>
          </a:p>
        </p:txBody>
      </p:sp>
      <p:sp>
        <p:nvSpPr>
          <p:cNvPr id="10" name="Shape 8"/>
          <p:cNvSpPr/>
          <p:nvPr/>
        </p:nvSpPr>
        <p:spPr>
          <a:xfrm>
            <a:off x="815975" y="3919854"/>
            <a:ext cx="5200650" cy="1258570"/>
          </a:xfrm>
          <a:prstGeom prst="roundRect">
            <a:avLst>
              <a:gd name="adj" fmla="val 5802"/>
            </a:avLst>
          </a:prstGeom>
          <a:solidFill>
            <a:srgbClr val="FDFCF9"/>
          </a:solidFill>
          <a:ln w="6350">
            <a:solidFill>
              <a:srgbClr val="E2DED4"/>
            </a:solidFill>
            <a:prstDash val="solid"/>
          </a:ln>
        </p:spPr>
      </p:sp>
      <p:sp>
        <p:nvSpPr>
          <p:cNvPr id="11" name="Text 9"/>
          <p:cNvSpPr/>
          <p:nvPr/>
        </p:nvSpPr>
        <p:spPr>
          <a:xfrm>
            <a:off x="1071880" y="4124961"/>
            <a:ext cx="48295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Mexatronika</a:t>
            </a:r>
            <a:endParaRPr lang="en-US" sz="1800" dirty="0"/>
          </a:p>
        </p:txBody>
      </p:sp>
      <p:sp>
        <p:nvSpPr>
          <p:cNvPr id="12" name="Text 10"/>
          <p:cNvSpPr/>
          <p:nvPr/>
        </p:nvSpPr>
        <p:spPr>
          <a:xfrm>
            <a:off x="1071880" y="4475479"/>
            <a:ext cx="48295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Mexanika, elektronika, boshqarish nazariyasi va hisoblash texnikasining sinergetik birlashuvi</a:t>
            </a:r>
            <a:endParaRPr lang="en-US" sz="1400" dirty="0"/>
          </a:p>
        </p:txBody>
      </p:sp>
      <p:sp>
        <p:nvSpPr>
          <p:cNvPr id="13" name="Shape 11"/>
          <p:cNvSpPr/>
          <p:nvPr/>
        </p:nvSpPr>
        <p:spPr>
          <a:xfrm>
            <a:off x="6175375" y="3919854"/>
            <a:ext cx="5200650" cy="1258570"/>
          </a:xfrm>
          <a:prstGeom prst="roundRect">
            <a:avLst>
              <a:gd name="adj" fmla="val 5802"/>
            </a:avLst>
          </a:prstGeom>
          <a:solidFill>
            <a:srgbClr val="FDFCF9"/>
          </a:solidFill>
          <a:ln w="6350">
            <a:solidFill>
              <a:srgbClr val="E2DED4"/>
            </a:solidFill>
            <a:prstDash val="solid"/>
          </a:ln>
        </p:spPr>
      </p:sp>
      <p:sp>
        <p:nvSpPr>
          <p:cNvPr id="14" name="Text 12"/>
          <p:cNvSpPr/>
          <p:nvPr/>
        </p:nvSpPr>
        <p:spPr>
          <a:xfrm>
            <a:off x="6431280" y="4124961"/>
            <a:ext cx="48295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Mexatron modul</a:t>
            </a:r>
            <a:endParaRPr lang="en-US" sz="1800" dirty="0"/>
          </a:p>
        </p:txBody>
      </p:sp>
      <p:sp>
        <p:nvSpPr>
          <p:cNvPr id="15" name="Text 13"/>
          <p:cNvSpPr/>
          <p:nvPr/>
        </p:nvSpPr>
        <p:spPr>
          <a:xfrm>
            <a:off x="6431280" y="4475479"/>
            <a:ext cx="48295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Harakatlantiruvchi, informatsion va boshqaruv qismlari bitta konstruksiyada birlashgan tugallangan qurilma</a:t>
            </a:r>
            <a:endParaRPr lang="en-US" sz="14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ASOSIY TUSHUNCHALAR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Oʻzgartkich, sensor va aktuator</a:t>
            </a:r>
            <a:endParaRPr lang="en-US" sz="3200" dirty="0"/>
          </a:p>
        </p:txBody>
      </p:sp>
      <p:pic>
        <p:nvPicPr>
          <p:cNvPr id="4" name="Image 0" descr="Noelektrik kattalik sensor orqali elektr signalga, elektr signal aktuator orqali noelektrik taʼsirga aylanadi">    </p:cNvPr>
          <p:cNvPicPr>
            <a:picLocks noChangeAspect="1"/>
          </p:cNvPicPr>
          <p:nvPr/>
        </p:nvPicPr>
        <p:blipFill>
          <a:blip r:embed="rId1"/>
          <a:srcRect l="-41" r="-41" t="0" b="0"/>
          <a:stretch/>
        </p:blipFill>
        <p:spPr>
          <a:xfrm>
            <a:off x="812800" y="1803400"/>
            <a:ext cx="10566400" cy="1917700"/>
          </a:xfrm>
          <a:prstGeom prst="rect">
            <a:avLst/>
          </a:prstGeom>
        </p:spPr>
      </p:pic>
      <p:sp>
        <p:nvSpPr>
          <p:cNvPr id="5" name="Shape 2"/>
          <p:cNvSpPr/>
          <p:nvPr/>
        </p:nvSpPr>
        <p:spPr>
          <a:xfrm>
            <a:off x="815975" y="3978275"/>
            <a:ext cx="5175250" cy="1228090"/>
          </a:xfrm>
          <a:prstGeom prst="roundRect">
            <a:avLst>
              <a:gd name="adj" fmla="val 5946"/>
            </a:avLst>
          </a:prstGeom>
          <a:solidFill>
            <a:srgbClr val="FDFCF9"/>
          </a:solidFill>
          <a:ln w="6350">
            <a:solidFill>
              <a:srgbClr val="E2DED4"/>
            </a:solidFill>
            <a:prstDash val="solid"/>
          </a:ln>
        </p:spPr>
      </p:sp>
      <p:sp>
        <p:nvSpPr>
          <p:cNvPr id="6" name="Text 3"/>
          <p:cNvSpPr/>
          <p:nvPr/>
        </p:nvSpPr>
        <p:spPr>
          <a:xfrm>
            <a:off x="1071880" y="4183379"/>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6CB0"/>
                </a:solidFill>
                <a:latin typeface="Noto Sans" pitchFamily="34" charset="0"/>
                <a:ea typeface="Noto Sans" pitchFamily="34" charset="-122"/>
                <a:cs typeface="Noto Sans" pitchFamily="34" charset="-120"/>
              </a:rPr>
              <a:t>Oʻzgartkich</a:t>
            </a:r>
            <a:endParaRPr lang="en-US" sz="1600" dirty="0"/>
          </a:p>
        </p:txBody>
      </p:sp>
      <p:sp>
        <p:nvSpPr>
          <p:cNvPr id="7" name="Text 4"/>
          <p:cNvSpPr/>
          <p:nvPr/>
        </p:nvSpPr>
        <p:spPr>
          <a:xfrm>
            <a:off x="1071880" y="4503421"/>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Axborotni bir fizik sohadan boshqasiga, ideal holda yoʻqotmasdan oʻtkazuvchi qurilma</a:t>
            </a:r>
            <a:endParaRPr lang="en-US" sz="1400" dirty="0"/>
          </a:p>
        </p:txBody>
      </p:sp>
      <p:sp>
        <p:nvSpPr>
          <p:cNvPr id="8" name="Shape 5"/>
          <p:cNvSpPr/>
          <p:nvPr/>
        </p:nvSpPr>
        <p:spPr>
          <a:xfrm>
            <a:off x="6200775" y="3978275"/>
            <a:ext cx="5175250" cy="1228090"/>
          </a:xfrm>
          <a:prstGeom prst="roundRect">
            <a:avLst>
              <a:gd name="adj" fmla="val 5946"/>
            </a:avLst>
          </a:prstGeom>
          <a:solidFill>
            <a:srgbClr val="FDFCF9"/>
          </a:solidFill>
          <a:ln w="6350">
            <a:solidFill>
              <a:srgbClr val="E2DED4"/>
            </a:solidFill>
            <a:prstDash val="solid"/>
          </a:ln>
        </p:spPr>
      </p:sp>
      <p:sp>
        <p:nvSpPr>
          <p:cNvPr id="9" name="Text 6"/>
          <p:cNvSpPr/>
          <p:nvPr/>
        </p:nvSpPr>
        <p:spPr>
          <a:xfrm>
            <a:off x="6456680" y="4183379"/>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6CB0"/>
                </a:solidFill>
                <a:latin typeface="Noto Sans" pitchFamily="34" charset="0"/>
                <a:ea typeface="Noto Sans" pitchFamily="34" charset="-122"/>
                <a:cs typeface="Noto Sans" pitchFamily="34" charset="-120"/>
              </a:rPr>
              <a:t>Zamonaviy datchik</a:t>
            </a:r>
            <a:endParaRPr lang="en-US" sz="1600" dirty="0"/>
          </a:p>
        </p:txBody>
      </p:sp>
      <p:sp>
        <p:nvSpPr>
          <p:cNvPr id="10" name="Text 7"/>
          <p:cNvSpPr/>
          <p:nvPr/>
        </p:nvSpPr>
        <p:spPr>
          <a:xfrm>
            <a:off x="6456680" y="4503421"/>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Sezgir element + kuchaytirgich + filtr + ARO + raqamli interfeys bitta qurilmada</a:t>
            </a:r>
            <a:endParaRPr lang="en-US" sz="1400" dirty="0"/>
          </a:p>
        </p:txBody>
      </p:sp>
      <p:sp>
        <p:nvSpPr>
          <p:cNvPr id="11" name="Text 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06 · Manba: Regtien, Dertien. Sensors for Mechatronics, 1.1-boʻlim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ASOSIY TUSHUNCHALAR</a:t>
            </a:r>
            <a:endParaRPr lang="en-US" sz="1200" dirty="0"/>
          </a:p>
        </p:txBody>
      </p:sp>
      <p:sp>
        <p:nvSpPr>
          <p:cNvPr id="3" name="Text 1"/>
          <p:cNvSpPr/>
          <p:nvPr>
            <p:ph type="title"/>
          </p:nvPr>
        </p:nvSpPr>
        <p:spPr>
          <a:xfrm>
            <a:off x="812800" y="11023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Robototexnik tizimda informatsion qurilmalarning oʻrni</a:t>
            </a:r>
            <a:endParaRPr lang="en-US" sz="3200" dirty="0"/>
          </a:p>
        </p:txBody>
      </p:sp>
      <p:pic>
        <p:nvPicPr>
          <p:cNvPr id="4" name="Image 0" descr="Robototexnik tizim tuzilishi: operator, boshqaruv tizimi, yuritmalar, mexanizm, ishchi muhit, informatsion qurilmalar va axborotga ishlov berish bloklari">    </p:cNvPr>
          <p:cNvPicPr>
            <a:picLocks noChangeAspect="1"/>
          </p:cNvPicPr>
          <p:nvPr/>
        </p:nvPicPr>
        <p:blipFill>
          <a:blip r:embed="rId1"/>
          <a:srcRect l="0" r="0" t="0" b="0"/>
          <a:stretch/>
        </p:blipFill>
        <p:spPr>
          <a:xfrm>
            <a:off x="812800" y="2250439"/>
            <a:ext cx="10566400" cy="3302000"/>
          </a:xfrm>
          <a:prstGeom prst="rect">
            <a:avLst/>
          </a:prstGeom>
        </p:spPr>
      </p:pic>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ASOSIY TUSHUNCHALAR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Datchikning matematik modeli</a:t>
            </a:r>
            <a:endParaRPr lang="en-US" sz="3200" dirty="0"/>
          </a:p>
        </p:txBody>
      </p:sp>
      <p:sp>
        <p:nvSpPr>
          <p:cNvPr id="4" name="Shape 2"/>
          <p:cNvSpPr/>
          <p:nvPr/>
        </p:nvSpPr>
        <p:spPr>
          <a:xfrm>
            <a:off x="815975" y="1806575"/>
            <a:ext cx="6191250" cy="1090930"/>
          </a:xfrm>
          <a:prstGeom prst="roundRect">
            <a:avLst>
              <a:gd name="adj" fmla="val 6694"/>
            </a:avLst>
          </a:prstGeom>
          <a:solidFill>
            <a:srgbClr val="FDFCF9"/>
          </a:solidFill>
          <a:ln w="6350">
            <a:solidFill>
              <a:srgbClr val="E2DED4"/>
            </a:solidFill>
            <a:prstDash val="solid"/>
          </a:ln>
        </p:spPr>
      </p:sp>
      <p:sp>
        <p:nvSpPr>
          <p:cNvPr id="5" name="Text 3"/>
          <p:cNvSpPr/>
          <p:nvPr/>
        </p:nvSpPr>
        <p:spPr>
          <a:xfrm>
            <a:off x="1071880" y="2011679"/>
            <a:ext cx="584982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Umumiy model</a:t>
            </a:r>
            <a:endParaRPr lang="en-US" sz="1200" dirty="0"/>
          </a:p>
        </p:txBody>
      </p:sp>
      <p:sp>
        <p:nvSpPr>
          <p:cNvPr id="6" name="Text 4"/>
          <p:cNvSpPr/>
          <p:nvPr/>
        </p:nvSpPr>
        <p:spPr>
          <a:xfrm>
            <a:off x="1071880" y="2301239"/>
            <a:ext cx="584982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y = F(x, z₁, z₂, …, zₘ) + ξ</a:t>
            </a:r>
            <a:endParaRPr lang="en-US" sz="2200" dirty="0"/>
          </a:p>
        </p:txBody>
      </p:sp>
      <p:sp>
        <p:nvSpPr>
          <p:cNvPr id="7" name="Shape 5"/>
          <p:cNvSpPr/>
          <p:nvPr/>
        </p:nvSpPr>
        <p:spPr>
          <a:xfrm>
            <a:off x="815975" y="3056254"/>
            <a:ext cx="6191250" cy="1090930"/>
          </a:xfrm>
          <a:prstGeom prst="roundRect">
            <a:avLst>
              <a:gd name="adj" fmla="val 6694"/>
            </a:avLst>
          </a:prstGeom>
          <a:solidFill>
            <a:srgbClr val="FDFCF9"/>
          </a:solidFill>
          <a:ln w="6350">
            <a:solidFill>
              <a:srgbClr val="E2DED4"/>
            </a:solidFill>
            <a:prstDash val="solid"/>
          </a:ln>
        </p:spPr>
      </p:sp>
      <p:sp>
        <p:nvSpPr>
          <p:cNvPr id="8" name="Text 6"/>
          <p:cNvSpPr/>
          <p:nvPr/>
        </p:nvSpPr>
        <p:spPr>
          <a:xfrm>
            <a:off x="1071880" y="3261361"/>
            <a:ext cx="584982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Chiziqli model</a:t>
            </a:r>
            <a:endParaRPr lang="en-US" sz="1200" dirty="0"/>
          </a:p>
        </p:txBody>
      </p:sp>
      <p:sp>
        <p:nvSpPr>
          <p:cNvPr id="9" name="Text 7"/>
          <p:cNvSpPr/>
          <p:nvPr/>
        </p:nvSpPr>
        <p:spPr>
          <a:xfrm>
            <a:off x="1071880" y="3550921"/>
            <a:ext cx="584982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y = S · x + y₀ + ξ</a:t>
            </a:r>
            <a:endParaRPr lang="en-US" sz="2200" dirty="0"/>
          </a:p>
        </p:txBody>
      </p:sp>
      <p:sp>
        <p:nvSpPr>
          <p:cNvPr id="10" name="Text 8"/>
          <p:cNvSpPr/>
          <p:nvPr/>
        </p:nvSpPr>
        <p:spPr>
          <a:xfrm>
            <a:off x="7315200" y="1803400"/>
            <a:ext cx="41859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x</a:t>
            </a:r>
            <a:r>
              <a:rPr lang="en-US" sz="1400" dirty="0">
                <a:solidFill>
                  <a:srgbClr val="1D2433"/>
                </a:solidFill>
                <a:latin typeface="Noto Sans" pitchFamily="34" charset="0"/>
                <a:ea typeface="Noto Sans" pitchFamily="34" charset="-122"/>
                <a:cs typeface="Noto Sans" pitchFamily="34" charset="-120"/>
              </a:rPr>
              <a:t> — oʻlchanayotgan kattalik</a:t>
            </a:r>
            <a:endParaRPr lang="en-US" sz="1400" dirty="0"/>
          </a:p>
        </p:txBody>
      </p:sp>
      <p:sp>
        <p:nvSpPr>
          <p:cNvPr id="11" name="Text 9"/>
          <p:cNvSpPr/>
          <p:nvPr/>
        </p:nvSpPr>
        <p:spPr>
          <a:xfrm>
            <a:off x="7315200" y="2153921"/>
            <a:ext cx="418592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z₁ … zₘ</a:t>
            </a:r>
            <a:r>
              <a:rPr lang="en-US" sz="1400" dirty="0">
                <a:solidFill>
                  <a:srgbClr val="1D2433"/>
                </a:solidFill>
                <a:latin typeface="Noto Sans" pitchFamily="34" charset="0"/>
                <a:ea typeface="Noto Sans" pitchFamily="34" charset="-122"/>
                <a:cs typeface="Noto Sans" pitchFamily="34" charset="-120"/>
              </a:rPr>
              <a:t> — taʼsir etuvchi omillar: harorat, taʼminot kuchlanishi, vibratsiya</a:t>
            </a:r>
            <a:endParaRPr lang="en-US" sz="1400" dirty="0"/>
          </a:p>
        </p:txBody>
      </p:sp>
      <p:sp>
        <p:nvSpPr>
          <p:cNvPr id="12" name="Text 10"/>
          <p:cNvSpPr/>
          <p:nvPr/>
        </p:nvSpPr>
        <p:spPr>
          <a:xfrm>
            <a:off x="7315200" y="2753361"/>
            <a:ext cx="41859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ξ</a:t>
            </a:r>
            <a:r>
              <a:rPr lang="en-US" sz="1400" dirty="0">
                <a:solidFill>
                  <a:srgbClr val="1D2433"/>
                </a:solidFill>
                <a:latin typeface="Noto Sans" pitchFamily="34" charset="0"/>
                <a:ea typeface="Noto Sans" pitchFamily="34" charset="-122"/>
                <a:cs typeface="Noto Sans" pitchFamily="34" charset="-120"/>
              </a:rPr>
              <a:t> — tasodifiy shovqin</a:t>
            </a:r>
            <a:endParaRPr lang="en-US" sz="1400" dirty="0"/>
          </a:p>
        </p:txBody>
      </p:sp>
      <p:sp>
        <p:nvSpPr>
          <p:cNvPr id="13" name="Text 11"/>
          <p:cNvSpPr/>
          <p:nvPr/>
        </p:nvSpPr>
        <p:spPr>
          <a:xfrm>
            <a:off x="7315200" y="3103879"/>
            <a:ext cx="41859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S</a:t>
            </a:r>
            <a:r>
              <a:rPr lang="en-US" sz="1400" dirty="0">
                <a:solidFill>
                  <a:srgbClr val="1D2433"/>
                </a:solidFill>
                <a:latin typeface="Noto Sans" pitchFamily="34" charset="0"/>
                <a:ea typeface="Noto Sans" pitchFamily="34" charset="-122"/>
                <a:cs typeface="Noto Sans" pitchFamily="34" charset="-120"/>
              </a:rPr>
              <a:t> — sezgirlik</a:t>
            </a:r>
            <a:endParaRPr lang="en-US" sz="1400" dirty="0"/>
          </a:p>
        </p:txBody>
      </p:sp>
      <p:sp>
        <p:nvSpPr>
          <p:cNvPr id="14" name="Text 12"/>
          <p:cNvSpPr/>
          <p:nvPr/>
        </p:nvSpPr>
        <p:spPr>
          <a:xfrm>
            <a:off x="7315200" y="3454400"/>
            <a:ext cx="41859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y₀</a:t>
            </a:r>
            <a:r>
              <a:rPr lang="en-US" sz="1400" dirty="0">
                <a:solidFill>
                  <a:srgbClr val="1D2433"/>
                </a:solidFill>
                <a:latin typeface="Noto Sans" pitchFamily="34" charset="0"/>
                <a:ea typeface="Noto Sans" pitchFamily="34" charset="-122"/>
                <a:cs typeface="Noto Sans" pitchFamily="34" charset="-120"/>
              </a:rPr>
              <a:t> — nol siljishi</a:t>
            </a:r>
            <a:endParaRPr lang="en-US" sz="1400" dirty="0"/>
          </a:p>
        </p:txBody>
      </p:sp>
      <p:sp>
        <p:nvSpPr>
          <p:cNvPr id="15" name="Text 13"/>
          <p:cNvSpPr/>
          <p:nvPr/>
        </p:nvSpPr>
        <p:spPr>
          <a:xfrm>
            <a:off x="812800" y="4404358"/>
            <a:ext cx="10566400" cy="873760"/>
          </a:xfrm>
          <a:prstGeom prst="roundRect">
            <a:avLst>
              <a:gd name="adj" fmla="val 8721"/>
            </a:avLst>
          </a:prstGeom>
          <a:solidFill>
            <a:srgbClr val="FBE9DC"/>
          </a:solidFill>
          <a:ln/>
        </p:spPr>
        <p:txBody>
          <a:bodyPr wrap="square" lIns="231682" tIns="130082" rIns="0" bIns="104682" rtlCol="0" anchor="t">
            <a:normAutofit/>
          </a:bodyPr>
          <a:lstStyle/>
          <a:p>
            <a:pPr algn="l" indent="0" marL="0">
              <a:lnSpc>
                <a:spcPts val="2240"/>
              </a:lnSpc>
              <a:buNone/>
            </a:pPr>
            <a:r>
              <a:rPr lang="en-US" sz="1600" b="1" dirty="0">
                <a:solidFill>
                  <a:srgbClr val="16233B"/>
                </a:solidFill>
                <a:latin typeface="Noto Sans" pitchFamily="34" charset="0"/>
                <a:ea typeface="Noto Sans" pitchFamily="34" charset="-122"/>
                <a:cs typeface="Noto Sans" pitchFamily="34" charset="-120"/>
              </a:rPr>
              <a:t>Asosiy vazifa: taʼsir etuvchi omillar va shovqin ulushini kamaytirish, yaʼni real datchikni chiziqli modelga yaqinlashtirish.</a:t>
            </a:r>
            <a:endParaRPr lang="en-US" sz="16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TARIX</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Qayta aloqali qurilmalarning ilk namunalari</a:t>
            </a:r>
            <a:endParaRPr lang="en-US" sz="3200" dirty="0"/>
          </a:p>
        </p:txBody>
      </p:sp>
      <p:sp>
        <p:nvSpPr>
          <p:cNvPr id="4" name="Shape 2"/>
          <p:cNvSpPr/>
          <p:nvPr/>
        </p:nvSpPr>
        <p:spPr>
          <a:xfrm>
            <a:off x="815975" y="1857375"/>
            <a:ext cx="1670050" cy="1847850"/>
          </a:xfrm>
          <a:prstGeom prst="roundRect">
            <a:avLst>
              <a:gd name="adj" fmla="val 4373"/>
            </a:avLst>
          </a:prstGeom>
          <a:solidFill>
            <a:srgbClr val="FDFCF9"/>
          </a:solidFill>
          <a:ln w="6350">
            <a:solidFill>
              <a:srgbClr val="E2DED4"/>
            </a:solidFill>
            <a:prstDash val="solid"/>
          </a:ln>
        </p:spPr>
      </p:sp>
      <p:sp>
        <p:nvSpPr>
          <p:cNvPr id="5" name="Text 3"/>
          <p:cNvSpPr/>
          <p:nvPr/>
        </p:nvSpPr>
        <p:spPr>
          <a:xfrm>
            <a:off x="970280" y="2011679"/>
            <a:ext cx="141224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21A"/>
                </a:solidFill>
                <a:latin typeface="Noto Sans" pitchFamily="34" charset="0"/>
                <a:ea typeface="Noto Sans" pitchFamily="34" charset="-122"/>
                <a:cs typeface="Noto Sans" pitchFamily="34" charset="-120"/>
              </a:rPr>
              <a:t>Mil. avv. III–I asr</a:t>
            </a:r>
            <a:endParaRPr lang="en-US" sz="1500" dirty="0"/>
          </a:p>
        </p:txBody>
      </p:sp>
      <p:sp>
        <p:nvSpPr>
          <p:cNvPr id="6" name="Text 4"/>
          <p:cNvSpPr/>
          <p:nvPr/>
        </p:nvSpPr>
        <p:spPr>
          <a:xfrm>
            <a:off x="970280" y="2621279"/>
            <a:ext cx="151257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Ktesibios, Filon</a:t>
            </a:r>
            <a:endParaRPr lang="en-US" sz="1400" dirty="0"/>
          </a:p>
        </p:txBody>
      </p:sp>
      <p:sp>
        <p:nvSpPr>
          <p:cNvPr id="7" name="Text 5"/>
          <p:cNvSpPr/>
          <p:nvPr/>
        </p:nvSpPr>
        <p:spPr>
          <a:xfrm>
            <a:off x="970280" y="2910842"/>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Qalqovichli sath rostlagichlari: suv soati, moy chirogʻi</a:t>
            </a:r>
            <a:endParaRPr lang="en-US" sz="1200" dirty="0"/>
          </a:p>
        </p:txBody>
      </p:sp>
      <p:sp>
        <p:nvSpPr>
          <p:cNvPr id="8" name="Shape 6"/>
          <p:cNvSpPr/>
          <p:nvPr/>
        </p:nvSpPr>
        <p:spPr>
          <a:xfrm>
            <a:off x="2593975" y="1857375"/>
            <a:ext cx="1670050" cy="1847850"/>
          </a:xfrm>
          <a:prstGeom prst="roundRect">
            <a:avLst>
              <a:gd name="adj" fmla="val 4373"/>
            </a:avLst>
          </a:prstGeom>
          <a:solidFill>
            <a:srgbClr val="FDFCF9"/>
          </a:solidFill>
          <a:ln w="6350">
            <a:solidFill>
              <a:srgbClr val="E2DED4"/>
            </a:solidFill>
            <a:prstDash val="solid"/>
          </a:ln>
        </p:spPr>
      </p:sp>
      <p:sp>
        <p:nvSpPr>
          <p:cNvPr id="9" name="Text 7"/>
          <p:cNvSpPr/>
          <p:nvPr/>
        </p:nvSpPr>
        <p:spPr>
          <a:xfrm>
            <a:off x="2748280" y="2011679"/>
            <a:ext cx="14122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21A"/>
                </a:solidFill>
                <a:latin typeface="Noto Sans" pitchFamily="34" charset="0"/>
                <a:ea typeface="Noto Sans" pitchFamily="34" charset="-122"/>
                <a:cs typeface="Noto Sans" pitchFamily="34" charset="-120"/>
              </a:rPr>
              <a:t>I asr</a:t>
            </a:r>
            <a:endParaRPr lang="en-US" sz="1500" dirty="0"/>
          </a:p>
        </p:txBody>
      </p:sp>
      <p:sp>
        <p:nvSpPr>
          <p:cNvPr id="10" name="Text 8"/>
          <p:cNvSpPr/>
          <p:nvPr/>
        </p:nvSpPr>
        <p:spPr>
          <a:xfrm>
            <a:off x="2748280" y="2354579"/>
            <a:ext cx="1412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Geron</a:t>
            </a:r>
            <a:endParaRPr lang="en-US" sz="1400" dirty="0"/>
          </a:p>
        </p:txBody>
      </p:sp>
      <p:sp>
        <p:nvSpPr>
          <p:cNvPr id="11" name="Text 9"/>
          <p:cNvSpPr/>
          <p:nvPr/>
        </p:nvSpPr>
        <p:spPr>
          <a:xfrm>
            <a:off x="2748280" y="2644142"/>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«Pnevmatika» asarida sath rostlagichlari tasviri</a:t>
            </a:r>
            <a:endParaRPr lang="en-US" sz="1200" dirty="0"/>
          </a:p>
        </p:txBody>
      </p:sp>
      <p:sp>
        <p:nvSpPr>
          <p:cNvPr id="12" name="Shape 10"/>
          <p:cNvSpPr/>
          <p:nvPr/>
        </p:nvSpPr>
        <p:spPr>
          <a:xfrm>
            <a:off x="4371975" y="1857375"/>
            <a:ext cx="1670050" cy="1847850"/>
          </a:xfrm>
          <a:prstGeom prst="roundRect">
            <a:avLst>
              <a:gd name="adj" fmla="val 4373"/>
            </a:avLst>
          </a:prstGeom>
          <a:solidFill>
            <a:srgbClr val="FDFCF9"/>
          </a:solidFill>
          <a:ln w="6350">
            <a:solidFill>
              <a:srgbClr val="E2DED4"/>
            </a:solidFill>
            <a:prstDash val="solid"/>
          </a:ln>
        </p:spPr>
      </p:sp>
      <p:sp>
        <p:nvSpPr>
          <p:cNvPr id="13" name="Text 11"/>
          <p:cNvSpPr/>
          <p:nvPr/>
        </p:nvSpPr>
        <p:spPr>
          <a:xfrm>
            <a:off x="4526280" y="2011679"/>
            <a:ext cx="14122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21A"/>
                </a:solidFill>
                <a:latin typeface="Noto Sans" pitchFamily="34" charset="0"/>
                <a:ea typeface="Noto Sans" pitchFamily="34" charset="-122"/>
                <a:cs typeface="Noto Sans" pitchFamily="34" charset="-120"/>
              </a:rPr>
              <a:t>XVII asr</a:t>
            </a:r>
            <a:endParaRPr lang="en-US" sz="1500" dirty="0"/>
          </a:p>
        </p:txBody>
      </p:sp>
      <p:sp>
        <p:nvSpPr>
          <p:cNvPr id="14" name="Text 12"/>
          <p:cNvSpPr/>
          <p:nvPr/>
        </p:nvSpPr>
        <p:spPr>
          <a:xfrm>
            <a:off x="4526280" y="2354579"/>
            <a:ext cx="1412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K. Drebbel</a:t>
            </a:r>
            <a:endParaRPr lang="en-US" sz="1400" dirty="0"/>
          </a:p>
        </p:txBody>
      </p:sp>
      <p:sp>
        <p:nvSpPr>
          <p:cNvPr id="15" name="Text 13"/>
          <p:cNvSpPr/>
          <p:nvPr/>
        </p:nvSpPr>
        <p:spPr>
          <a:xfrm>
            <a:off x="4526280" y="2644142"/>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Harorat rostlagichi — ilk qayta aloqali tizimlardan biri</a:t>
            </a:r>
            <a:endParaRPr lang="en-US" sz="1200" dirty="0"/>
          </a:p>
        </p:txBody>
      </p:sp>
      <p:sp>
        <p:nvSpPr>
          <p:cNvPr id="16" name="Shape 14"/>
          <p:cNvSpPr/>
          <p:nvPr/>
        </p:nvSpPr>
        <p:spPr>
          <a:xfrm>
            <a:off x="6149975" y="1857375"/>
            <a:ext cx="1670050" cy="1847850"/>
          </a:xfrm>
          <a:prstGeom prst="roundRect">
            <a:avLst>
              <a:gd name="adj" fmla="val 4373"/>
            </a:avLst>
          </a:prstGeom>
          <a:solidFill>
            <a:srgbClr val="FDFCF9"/>
          </a:solidFill>
          <a:ln w="6350">
            <a:solidFill>
              <a:srgbClr val="E2DED4"/>
            </a:solidFill>
            <a:prstDash val="solid"/>
          </a:ln>
        </p:spPr>
      </p:sp>
      <p:sp>
        <p:nvSpPr>
          <p:cNvPr id="17" name="Text 15"/>
          <p:cNvSpPr/>
          <p:nvPr/>
        </p:nvSpPr>
        <p:spPr>
          <a:xfrm>
            <a:off x="6304280" y="2011679"/>
            <a:ext cx="14122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21A"/>
                </a:solidFill>
                <a:latin typeface="Noto Sans" pitchFamily="34" charset="0"/>
                <a:ea typeface="Noto Sans" pitchFamily="34" charset="-122"/>
                <a:cs typeface="Noto Sans" pitchFamily="34" charset="-120"/>
              </a:rPr>
              <a:t>1681</a:t>
            </a:r>
            <a:endParaRPr lang="en-US" sz="1500" dirty="0"/>
          </a:p>
        </p:txBody>
      </p:sp>
      <p:sp>
        <p:nvSpPr>
          <p:cNvPr id="18" name="Text 16"/>
          <p:cNvSpPr/>
          <p:nvPr/>
        </p:nvSpPr>
        <p:spPr>
          <a:xfrm>
            <a:off x="6304280" y="2354579"/>
            <a:ext cx="1412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D. Papen</a:t>
            </a:r>
            <a:endParaRPr lang="en-US" sz="1400" dirty="0"/>
          </a:p>
        </p:txBody>
      </p:sp>
      <p:sp>
        <p:nvSpPr>
          <p:cNvPr id="19" name="Text 17"/>
          <p:cNvSpPr/>
          <p:nvPr/>
        </p:nvSpPr>
        <p:spPr>
          <a:xfrm>
            <a:off x="6304280" y="2644142"/>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Bugʻ qozoni uchun bosim saqlagich klapani</a:t>
            </a:r>
            <a:endParaRPr lang="en-US" sz="1200" dirty="0"/>
          </a:p>
        </p:txBody>
      </p:sp>
      <p:sp>
        <p:nvSpPr>
          <p:cNvPr id="20" name="Shape 18"/>
          <p:cNvSpPr/>
          <p:nvPr/>
        </p:nvSpPr>
        <p:spPr>
          <a:xfrm>
            <a:off x="7927975" y="1857375"/>
            <a:ext cx="1670050" cy="1847850"/>
          </a:xfrm>
          <a:prstGeom prst="roundRect">
            <a:avLst>
              <a:gd name="adj" fmla="val 4373"/>
            </a:avLst>
          </a:prstGeom>
          <a:solidFill>
            <a:srgbClr val="FDFCF9"/>
          </a:solidFill>
          <a:ln w="6350">
            <a:solidFill>
              <a:srgbClr val="E2DED4"/>
            </a:solidFill>
            <a:prstDash val="solid"/>
          </a:ln>
        </p:spPr>
      </p:sp>
      <p:sp>
        <p:nvSpPr>
          <p:cNvPr id="21" name="Text 19"/>
          <p:cNvSpPr/>
          <p:nvPr/>
        </p:nvSpPr>
        <p:spPr>
          <a:xfrm>
            <a:off x="8082280" y="2011679"/>
            <a:ext cx="14122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21A"/>
                </a:solidFill>
                <a:latin typeface="Noto Sans" pitchFamily="34" charset="0"/>
                <a:ea typeface="Noto Sans" pitchFamily="34" charset="-122"/>
                <a:cs typeface="Noto Sans" pitchFamily="34" charset="-120"/>
              </a:rPr>
              <a:t>1765</a:t>
            </a:r>
            <a:endParaRPr lang="en-US" sz="1500" dirty="0"/>
          </a:p>
        </p:txBody>
      </p:sp>
      <p:sp>
        <p:nvSpPr>
          <p:cNvPr id="22" name="Text 20"/>
          <p:cNvSpPr/>
          <p:nvPr/>
        </p:nvSpPr>
        <p:spPr>
          <a:xfrm>
            <a:off x="8082280" y="2354579"/>
            <a:ext cx="1412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I. Polzunov</a:t>
            </a:r>
            <a:endParaRPr lang="en-US" sz="1400" dirty="0"/>
          </a:p>
        </p:txBody>
      </p:sp>
      <p:sp>
        <p:nvSpPr>
          <p:cNvPr id="23" name="Text 21"/>
          <p:cNvSpPr/>
          <p:nvPr/>
        </p:nvSpPr>
        <p:spPr>
          <a:xfrm>
            <a:off x="8082280" y="2644142"/>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Bugʻ qozonida suv sathining qalqovichli rostlagichi</a:t>
            </a:r>
            <a:endParaRPr lang="en-US" sz="1200" dirty="0"/>
          </a:p>
        </p:txBody>
      </p:sp>
      <p:sp>
        <p:nvSpPr>
          <p:cNvPr id="24" name="Shape 22"/>
          <p:cNvSpPr/>
          <p:nvPr/>
        </p:nvSpPr>
        <p:spPr>
          <a:xfrm>
            <a:off x="9705975" y="1857375"/>
            <a:ext cx="1670050" cy="1847850"/>
          </a:xfrm>
          <a:prstGeom prst="roundRect">
            <a:avLst>
              <a:gd name="adj" fmla="val 4373"/>
            </a:avLst>
          </a:prstGeom>
          <a:solidFill>
            <a:srgbClr val="FDFCF9"/>
          </a:solidFill>
          <a:ln w="6350">
            <a:solidFill>
              <a:srgbClr val="E2DED4"/>
            </a:solidFill>
            <a:prstDash val="solid"/>
          </a:ln>
        </p:spPr>
      </p:sp>
      <p:sp>
        <p:nvSpPr>
          <p:cNvPr id="25" name="Text 23"/>
          <p:cNvSpPr/>
          <p:nvPr/>
        </p:nvSpPr>
        <p:spPr>
          <a:xfrm>
            <a:off x="9860280" y="2011679"/>
            <a:ext cx="14122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21A"/>
                </a:solidFill>
                <a:latin typeface="Noto Sans" pitchFamily="34" charset="0"/>
                <a:ea typeface="Noto Sans" pitchFamily="34" charset="-122"/>
                <a:cs typeface="Noto Sans" pitchFamily="34" charset="-120"/>
              </a:rPr>
              <a:t>XVIII asr oxiri</a:t>
            </a:r>
            <a:endParaRPr lang="en-US" sz="1500" dirty="0"/>
          </a:p>
        </p:txBody>
      </p:sp>
      <p:sp>
        <p:nvSpPr>
          <p:cNvPr id="26" name="Text 24"/>
          <p:cNvSpPr/>
          <p:nvPr/>
        </p:nvSpPr>
        <p:spPr>
          <a:xfrm>
            <a:off x="9860280" y="2354579"/>
            <a:ext cx="1412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J. Uatt</a:t>
            </a:r>
            <a:endParaRPr lang="en-US" sz="1400" dirty="0"/>
          </a:p>
        </p:txBody>
      </p:sp>
      <p:sp>
        <p:nvSpPr>
          <p:cNvPr id="27" name="Text 25"/>
          <p:cNvSpPr/>
          <p:nvPr/>
        </p:nvSpPr>
        <p:spPr>
          <a:xfrm>
            <a:off x="9860280" y="2644142"/>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Bugʻ mashinasi tezligining sharli rostlagichi</a:t>
            </a:r>
            <a:endParaRPr lang="en-US" sz="1200" dirty="0"/>
          </a:p>
        </p:txBody>
      </p:sp>
      <p:sp>
        <p:nvSpPr>
          <p:cNvPr id="28" name="Text 26"/>
          <p:cNvSpPr/>
          <p:nvPr/>
        </p:nvSpPr>
        <p:spPr>
          <a:xfrm>
            <a:off x="812800" y="4013200"/>
            <a:ext cx="10566400" cy="873760"/>
          </a:xfrm>
          <a:prstGeom prst="roundRect">
            <a:avLst>
              <a:gd name="adj" fmla="val 8721"/>
            </a:avLst>
          </a:prstGeom>
          <a:solidFill>
            <a:srgbClr val="E8EEF6"/>
          </a:solidFill>
          <a:ln/>
        </p:spPr>
        <p:txBody>
          <a:bodyPr wrap="square" lIns="231682" tIns="130082" rIns="0" bIns="104682" rtlCol="0" anchor="t">
            <a:normAutofit/>
          </a:bodyPr>
          <a:lstStyle/>
          <a:p>
            <a:pPr algn="l" indent="0" marL="0">
              <a:lnSpc>
                <a:spcPts val="2240"/>
              </a:lnSpc>
              <a:buNone/>
            </a:pPr>
            <a:r>
              <a:rPr lang="en-US" sz="1600" b="1" dirty="0">
                <a:solidFill>
                  <a:srgbClr val="16233B"/>
                </a:solidFill>
                <a:latin typeface="Noto Sans" pitchFamily="34" charset="0"/>
                <a:ea typeface="Noto Sans" pitchFamily="34" charset="-122"/>
                <a:cs typeface="Noto Sans" pitchFamily="34" charset="-120"/>
              </a:rPr>
              <a:t>Umumiy gʻoya: tizim oʻz holatini oʻlchaydi va natijaga qarab taʼsirni oʻzgartiradi. Informatsion qurilma eng boshidanoq qayta aloqaning ajralmas qismi boʻlgan.</a:t>
            </a:r>
            <a:endParaRPr lang="en-US" sz="1600" dirty="0"/>
          </a:p>
        </p:txBody>
      </p:sp>
      <p:sp>
        <p:nvSpPr>
          <p:cNvPr id="29" name="Text 2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09 · Manba: The Mechatronics Handbook, 1.3-boʻlim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TARIX</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«Robot» tushunchasining paydo boʻlishi</a:t>
            </a:r>
            <a:endParaRPr lang="en-US" sz="3200" dirty="0"/>
          </a:p>
        </p:txBody>
      </p:sp>
      <p:sp>
        <p:nvSpPr>
          <p:cNvPr id="4" name="Shape 2"/>
          <p:cNvSpPr/>
          <p:nvPr/>
        </p:nvSpPr>
        <p:spPr>
          <a:xfrm>
            <a:off x="815975" y="1857375"/>
            <a:ext cx="4438650" cy="1570990"/>
          </a:xfrm>
          <a:prstGeom prst="roundRect">
            <a:avLst>
              <a:gd name="adj" fmla="val 4648"/>
            </a:avLst>
          </a:prstGeom>
          <a:solidFill>
            <a:srgbClr val="FDFCF9"/>
          </a:solidFill>
          <a:ln w="6350">
            <a:solidFill>
              <a:srgbClr val="E2DED4"/>
            </a:solidFill>
            <a:prstDash val="solid"/>
          </a:ln>
        </p:spPr>
      </p:sp>
      <p:sp>
        <p:nvSpPr>
          <p:cNvPr id="5" name="Text 3"/>
          <p:cNvSpPr/>
          <p:nvPr/>
        </p:nvSpPr>
        <p:spPr>
          <a:xfrm>
            <a:off x="1071880" y="2062479"/>
            <a:ext cx="40446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6CB0"/>
                </a:solidFill>
                <a:latin typeface="Noto Sans" pitchFamily="34" charset="0"/>
                <a:ea typeface="Noto Sans" pitchFamily="34" charset="-122"/>
                <a:cs typeface="Noto Sans" pitchFamily="34" charset="-120"/>
              </a:rPr>
              <a:t>1920–1921</a:t>
            </a:r>
            <a:endParaRPr lang="en-US" sz="1500" dirty="0"/>
          </a:p>
        </p:txBody>
      </p:sp>
      <p:sp>
        <p:nvSpPr>
          <p:cNvPr id="6" name="Text 4"/>
          <p:cNvSpPr/>
          <p:nvPr/>
        </p:nvSpPr>
        <p:spPr>
          <a:xfrm>
            <a:off x="1071880" y="2405379"/>
            <a:ext cx="404464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Karel Chapek, «R.U.R.»</a:t>
            </a:r>
            <a:endParaRPr lang="en-US" sz="1600" dirty="0"/>
          </a:p>
        </p:txBody>
      </p:sp>
      <p:sp>
        <p:nvSpPr>
          <p:cNvPr id="7" name="Text 5"/>
          <p:cNvSpPr/>
          <p:nvPr/>
        </p:nvSpPr>
        <p:spPr>
          <a:xfrm>
            <a:off x="1071880" y="2725421"/>
            <a:ext cx="404464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Sunʼiy odamlar zavodi haqidagi pyesa. «Robota» — slavyancha «mehnat», «ogʻir ish»</a:t>
            </a:r>
            <a:endParaRPr lang="en-US" sz="1400" dirty="0"/>
          </a:p>
        </p:txBody>
      </p:sp>
      <p:sp>
        <p:nvSpPr>
          <p:cNvPr id="8" name="Shape 6"/>
          <p:cNvSpPr/>
          <p:nvPr/>
        </p:nvSpPr>
        <p:spPr>
          <a:xfrm>
            <a:off x="815975" y="3587117"/>
            <a:ext cx="4438650" cy="1322070"/>
          </a:xfrm>
          <a:prstGeom prst="roundRect">
            <a:avLst>
              <a:gd name="adj" fmla="val 5524"/>
            </a:avLst>
          </a:prstGeom>
          <a:solidFill>
            <a:srgbClr val="FDFCF9"/>
          </a:solidFill>
          <a:ln w="6350">
            <a:solidFill>
              <a:srgbClr val="E2DED4"/>
            </a:solidFill>
            <a:prstDash val="solid"/>
          </a:ln>
        </p:spPr>
      </p:sp>
      <p:sp>
        <p:nvSpPr>
          <p:cNvPr id="9" name="Text 7"/>
          <p:cNvSpPr/>
          <p:nvPr/>
        </p:nvSpPr>
        <p:spPr>
          <a:xfrm>
            <a:off x="1071880" y="3792221"/>
            <a:ext cx="404464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6CB0"/>
                </a:solidFill>
                <a:latin typeface="Noto Sans" pitchFamily="34" charset="0"/>
                <a:ea typeface="Noto Sans" pitchFamily="34" charset="-122"/>
                <a:cs typeface="Noto Sans" pitchFamily="34" charset="-120"/>
              </a:rPr>
              <a:t>1940-yillar boshi</a:t>
            </a:r>
            <a:endParaRPr lang="en-US" sz="1500" dirty="0"/>
          </a:p>
        </p:txBody>
      </p:sp>
      <p:sp>
        <p:nvSpPr>
          <p:cNvPr id="10" name="Text 8"/>
          <p:cNvSpPr/>
          <p:nvPr/>
        </p:nvSpPr>
        <p:spPr>
          <a:xfrm>
            <a:off x="1071880" y="4135121"/>
            <a:ext cx="404464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Ayzek Azimov</a:t>
            </a:r>
            <a:endParaRPr lang="en-US" sz="1600" dirty="0"/>
          </a:p>
        </p:txBody>
      </p:sp>
      <p:sp>
        <p:nvSpPr>
          <p:cNvPr id="11" name="Text 9"/>
          <p:cNvSpPr/>
          <p:nvPr/>
        </p:nvSpPr>
        <p:spPr>
          <a:xfrm>
            <a:off x="1071880" y="4455158"/>
            <a:ext cx="404464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«Robototexnika» atamasi va uch qonun</a:t>
            </a:r>
            <a:endParaRPr lang="en-US" sz="1400" dirty="0"/>
          </a:p>
        </p:txBody>
      </p:sp>
      <p:sp>
        <p:nvSpPr>
          <p:cNvPr id="12" name="Shape 10"/>
          <p:cNvSpPr/>
          <p:nvPr/>
        </p:nvSpPr>
        <p:spPr>
          <a:xfrm>
            <a:off x="5562600" y="1854200"/>
            <a:ext cx="5816600" cy="3058160"/>
          </a:xfrm>
          <a:prstGeom prst="roundRect">
            <a:avLst>
              <a:gd name="adj" fmla="val 3322"/>
            </a:avLst>
          </a:prstGeom>
          <a:solidFill>
            <a:srgbClr val="16233B"/>
          </a:solidFill>
          <a:ln/>
        </p:spPr>
      </p:sp>
      <p:sp>
        <p:nvSpPr>
          <p:cNvPr id="13" name="Text 11"/>
          <p:cNvSpPr/>
          <p:nvPr/>
        </p:nvSpPr>
        <p:spPr>
          <a:xfrm>
            <a:off x="5867400" y="2108200"/>
            <a:ext cx="536321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46E"/>
                </a:solidFill>
                <a:latin typeface="Noto Sans" pitchFamily="34" charset="0"/>
                <a:ea typeface="Noto Sans" pitchFamily="34" charset="-122"/>
                <a:cs typeface="Noto Sans" pitchFamily="34" charset="-120"/>
              </a:rPr>
              <a:t>Robototexnikaning uch qonuni</a:t>
            </a:r>
            <a:endParaRPr lang="en-US" sz="1600" dirty="0"/>
          </a:p>
        </p:txBody>
      </p:sp>
      <p:sp>
        <p:nvSpPr>
          <p:cNvPr id="14" name="Text 12"/>
          <p:cNvSpPr/>
          <p:nvPr/>
        </p:nvSpPr>
        <p:spPr>
          <a:xfrm>
            <a:off x="5925820" y="2479042"/>
            <a:ext cx="5297170" cy="1572260"/>
          </a:xfrm>
          <a:prstGeom prst="rect">
            <a:avLst/>
          </a:prstGeom>
          <a:noFill/>
          <a:ln/>
        </p:spPr>
        <p:txBody>
          <a:bodyPr wrap="square" lIns="0" tIns="0" rIns="0" bIns="0" rtlCol="0" anchor="t">
            <a:normAutofit/>
          </a:bodyPr>
          <a:lstStyle/>
          <a:p>
            <a:pPr algn="l" marL="195580" indent="-195580">
              <a:lnSpc>
                <a:spcPts val="2030"/>
              </a:lnSpc>
              <a:buSzPct val="100000"/>
              <a:buFontTx/>
              <a:buAutoNum type="arabicPeriod" startAt="1"/>
            </a:pPr>
            <a:r>
              <a:rPr lang="en-US" sz="1400" dirty="0">
                <a:solidFill>
                  <a:srgbClr val="F5F3EE"/>
                </a:solidFill>
                <a:latin typeface="Noto Sans" pitchFamily="34" charset="0"/>
                <a:ea typeface="Noto Sans" pitchFamily="34" charset="-122"/>
                <a:cs typeface="Noto Sans" pitchFamily="34" charset="-120"/>
              </a:rPr>
              <a:t>Robot insonga zarar yetkazmasligi yoki harakatsizligi bilan zarar yetishiga yoʻl qoʻymasligi kerak</a:t>
            </a:r>
            <a:endParaRPr lang="en-US" sz="1400" dirty="0"/>
          </a:p>
          <a:p>
            <a:pPr algn="l" marL="195580" indent="-195580">
              <a:lnSpc>
                <a:spcPts val="2030"/>
              </a:lnSpc>
              <a:buSzPct val="100000"/>
              <a:buFontTx/>
              <a:buAutoNum type="arabicPeriod" startAt="1"/>
            </a:pPr>
            <a:r>
              <a:rPr lang="en-US" sz="1400" dirty="0">
                <a:solidFill>
                  <a:srgbClr val="F5F3EE"/>
                </a:solidFill>
                <a:latin typeface="Noto Sans" pitchFamily="34" charset="0"/>
                <a:ea typeface="Noto Sans" pitchFamily="34" charset="-122"/>
                <a:cs typeface="Noto Sans" pitchFamily="34" charset="-120"/>
              </a:rPr>
              <a:t>Robot birinchi qonunga zid boʻlmagan holda inson buyruqlariga boʻysunishi kerak</a:t>
            </a:r>
            <a:endParaRPr lang="en-US" sz="1400" dirty="0"/>
          </a:p>
          <a:p>
            <a:pPr algn="l" marL="195580" indent="-195580">
              <a:lnSpc>
                <a:spcPts val="2030"/>
              </a:lnSpc>
              <a:buSzPct val="100000"/>
              <a:buFontTx/>
              <a:buAutoNum type="arabicPeriod" startAt="1"/>
            </a:pPr>
            <a:r>
              <a:rPr lang="en-US" sz="1400" dirty="0">
                <a:solidFill>
                  <a:srgbClr val="F5F3EE"/>
                </a:solidFill>
                <a:latin typeface="Noto Sans" pitchFamily="34" charset="0"/>
                <a:ea typeface="Noto Sans" pitchFamily="34" charset="-122"/>
                <a:cs typeface="Noto Sans" pitchFamily="34" charset="-120"/>
              </a:rPr>
              <a:t>Robot birinchi va ikkinchi qonunlarga zid boʻlmagan holda oʻzini himoya qilishi kerak</a:t>
            </a:r>
            <a:endParaRPr lang="en-US" sz="14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039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B5521A"/>
                </a:solidFill>
                <a:latin typeface="Noto Sans" pitchFamily="34" charset="0"/>
                <a:ea typeface="Noto Sans" pitchFamily="34" charset="-122"/>
                <a:cs typeface="Noto Sans" pitchFamily="34" charset="-120"/>
              </a:rPr>
              <a:t>TARIX</a:t>
            </a:r>
            <a:endParaRPr lang="en-US" sz="1159" dirty="0"/>
          </a:p>
        </p:txBody>
      </p:sp>
      <p:sp>
        <p:nvSpPr>
          <p:cNvPr id="3" name="Text 1"/>
          <p:cNvSpPr/>
          <p:nvPr>
            <p:ph type="title"/>
          </p:nvPr>
        </p:nvSpPr>
        <p:spPr>
          <a:xfrm>
            <a:off x="812800" y="1093998"/>
            <a:ext cx="10883392" cy="455083"/>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6233B"/>
                </a:solidFill>
                <a:latin typeface="Noto Sans" pitchFamily="34" charset="0"/>
                <a:ea typeface="Noto Sans" pitchFamily="34" charset="-122"/>
                <a:cs typeface="Noto Sans" pitchFamily="34" charset="-120"/>
              </a:rPr>
              <a:t>Sanoat robotlarining paydo boʻlishi</a:t>
            </a:r>
            <a:endParaRPr lang="en-US" sz="311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7844"/>
          <a:ext cx="10556240" cy="4054157"/>
        </p:xfrm>
        <a:graphic>
          <a:graphicData uri="http://schemas.openxmlformats.org/drawingml/2006/table">
            <a:tbl>
              <a:tblPr/>
              <a:tblGrid>
                <a:gridCol w="5278120"/>
                <a:gridCol w="5278120"/>
              </a:tblGrid>
              <a:tr h="314960">
                <a:tc>
                  <a:txBody>
                    <a:bodyPr/>
                    <a:lstStyle/>
                    <a:p>
                      <a:pPr indent="0" marL="0">
                        <a:lnSpc>
                          <a:spcPts val="1670"/>
                        </a:lnSpc>
                        <a:buNone/>
                      </a:pPr>
                      <a:r>
                        <a:rPr lang="en-US" sz="1193" b="1" dirty="0">
                          <a:solidFill>
                            <a:srgbClr val="F5F3EE"/>
                          </a:solidFill>
                          <a:latin typeface="Noto Sans" pitchFamily="34" charset="0"/>
                          <a:ea typeface="Noto Sans" pitchFamily="34" charset="-122"/>
                          <a:cs typeface="Noto Sans" pitchFamily="34" charset="-120"/>
                        </a:rPr>
                        <a:t>Yil</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70"/>
                        </a:lnSpc>
                        <a:buNone/>
                      </a:pPr>
                      <a:r>
                        <a:rPr lang="en-US" sz="1193" b="1" dirty="0">
                          <a:solidFill>
                            <a:srgbClr val="F5F3EE"/>
                          </a:solidFill>
                          <a:latin typeface="Noto Sans" pitchFamily="34" charset="0"/>
                          <a:ea typeface="Noto Sans" pitchFamily="34" charset="-122"/>
                          <a:cs typeface="Noto Sans" pitchFamily="34" charset="-120"/>
                        </a:rPr>
                        <a:t>Voqea</a:t>
                      </a:r>
                      <a:endParaRPr lang="en-US" sz="1193" dirty="0">
                        <a:latin typeface="Noto Sans" charset="0"/>
                        <a:ea typeface="Noto Sans" charset="0"/>
                        <a:cs typeface="Noto Sans" charset="0"/>
                      </a:endParaRPr>
                    </a:p>
                  </a:txBody>
                  <a:tcPr marL="127000" marR="127000" marT="50800" marB="508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11810">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1956</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J. Devol va J. Engelberger Unimation kompaniyasini tuzadi, Unimate manipulyatori ustida ish boshlanadi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1961</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General Motors zavodida birinchi Unimate sanoat roboti oʻrnatiladi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1170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1966–1972</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SRI: Shakey — kamera va masofa oʻlchagich bilan muhitni idrok etuvchi birinchi mobil robot</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1967</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General Motors kuzovni nuqtali payvandlovchi robotlarni joriy qiladi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1973</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KUKA Famulus — oltita elektromexanik yuritmali birinchi sanoat roboti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1170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1974</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ASEA: 8 bitli Intel mikroprotsessori bilan boshqariladigan birinchi sanoat roboti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1978</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Unimation General Motors uchun PUMA robotini yaratadi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1979</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Nachi: gidravlika oʻrniga elektr yuritmali payvandlash robotlari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1986</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Honda birinchi gumanoid robotini taqdim etadi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14854">
                <a:tc>
                  <a:txBody>
                    <a:bodyPr/>
                    <a:lstStyle/>
                    <a:p>
                      <a:pPr indent="0" marL="0">
                        <a:lnSpc>
                          <a:spcPts val="1670"/>
                        </a:lnSpc>
                        <a:buNone/>
                      </a:pPr>
                      <a:r>
                        <a:rPr lang="en-US" sz="1193" dirty="0">
                          <a:solidFill>
                            <a:srgbClr val="B5521A"/>
                          </a:solidFill>
                          <a:latin typeface="Noto Sans" pitchFamily="34" charset="0"/>
                          <a:ea typeface="Noto Sans" pitchFamily="34" charset="-122"/>
                          <a:cs typeface="Noto Sans" pitchFamily="34" charset="-120"/>
                        </a:rPr>
                        <a:t>1987</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70"/>
                        </a:lnSpc>
                        <a:buNone/>
                      </a:pPr>
                      <a:r>
                        <a:rPr lang="en-US" sz="1193" dirty="0">
                          <a:solidFill>
                            <a:srgbClr val="1D2433"/>
                          </a:solidFill>
                          <a:latin typeface="Noto Sans" pitchFamily="34" charset="0"/>
                          <a:ea typeface="Noto Sans" pitchFamily="34" charset="-122"/>
                          <a:cs typeface="Noto Sans" pitchFamily="34" charset="-120"/>
                        </a:rPr>
                        <a:t>Xalqaro robototexnika federatsiyasi (IFR) tashkil etiladi</a:t>
                      </a:r>
                      <a:endParaRPr lang="en-US" sz="1193" dirty="0">
                        <a:latin typeface="Noto Sans" charset="0"/>
                        <a:ea typeface="Noto Sans" charset="0"/>
                        <a:cs typeface="Noto Sans" charset="0"/>
                      </a:endParaRPr>
                    </a:p>
                  </a:txBody>
                  <a:tcPr marL="127000" marR="127000" marT="50800" marB="508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11 · Manba: Bolton. Mechatronics, 24.3-boʻlim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TARIX</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Mexatronikaning shakllanishi</a:t>
            </a:r>
            <a:endParaRPr lang="en-US" sz="3200" dirty="0"/>
          </a:p>
        </p:txBody>
      </p:sp>
      <p:sp>
        <p:nvSpPr>
          <p:cNvPr id="4" name="Text 2"/>
          <p:cNvSpPr/>
          <p:nvPr/>
        </p:nvSpPr>
        <p:spPr>
          <a:xfrm>
            <a:off x="812800" y="1803400"/>
            <a:ext cx="340106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D9692B"/>
                </a:solidFill>
                <a:latin typeface="Noto Sans" pitchFamily="34" charset="0"/>
                <a:ea typeface="Noto Sans" pitchFamily="34" charset="-122"/>
                <a:cs typeface="Noto Sans" pitchFamily="34" charset="-120"/>
              </a:rPr>
              <a:t>1969</a:t>
            </a:r>
            <a:endParaRPr lang="en-US" sz="6000" dirty="0"/>
          </a:p>
        </p:txBody>
      </p:sp>
      <p:sp>
        <p:nvSpPr>
          <p:cNvPr id="5" name="Text 3"/>
          <p:cNvSpPr/>
          <p:nvPr/>
        </p:nvSpPr>
        <p:spPr>
          <a:xfrm>
            <a:off x="812800" y="2616200"/>
            <a:ext cx="34010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Yaskawa Electric «mexatronika» atamasini kiritadi</a:t>
            </a:r>
            <a:endParaRPr lang="en-US" sz="1400" dirty="0"/>
          </a:p>
        </p:txBody>
      </p:sp>
      <p:sp>
        <p:nvSpPr>
          <p:cNvPr id="6" name="Text 4"/>
          <p:cNvSpPr/>
          <p:nvPr/>
        </p:nvSpPr>
        <p:spPr>
          <a:xfrm>
            <a:off x="812800" y="3266442"/>
            <a:ext cx="340106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2433"/>
                </a:solidFill>
                <a:latin typeface="Noto Sans" pitchFamily="34" charset="0"/>
                <a:ea typeface="Noto Sans" pitchFamily="34" charset="-122"/>
                <a:cs typeface="Noto Sans" pitchFamily="34" charset="-120"/>
              </a:rPr>
              <a:t>1972</a:t>
            </a:r>
            <a:r>
              <a:rPr lang="en-US" sz="1300" dirty="0">
                <a:solidFill>
                  <a:srgbClr val="1D2433"/>
                </a:solidFill>
                <a:latin typeface="Noto Sans" pitchFamily="34" charset="0"/>
                <a:ea typeface="Noto Sans" pitchFamily="34" charset="-122"/>
                <a:cs typeface="Noto Sans" pitchFamily="34" charset="-120"/>
              </a:rPr>
              <a:t> — savdo belgisi huquqi olinadi</a:t>
            </a:r>
            <a:endParaRPr lang="en-US" sz="1300" dirty="0"/>
          </a:p>
        </p:txBody>
      </p:sp>
      <p:sp>
        <p:nvSpPr>
          <p:cNvPr id="7" name="Text 5"/>
          <p:cNvSpPr/>
          <p:nvPr/>
        </p:nvSpPr>
        <p:spPr>
          <a:xfrm>
            <a:off x="812800" y="3649979"/>
            <a:ext cx="340106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2433"/>
                </a:solidFill>
                <a:latin typeface="Noto Sans" pitchFamily="34" charset="0"/>
                <a:ea typeface="Noto Sans" pitchFamily="34" charset="-122"/>
                <a:cs typeface="Noto Sans" pitchFamily="34" charset="-120"/>
              </a:rPr>
              <a:t>1982</a:t>
            </a:r>
            <a:r>
              <a:rPr lang="en-US" sz="1300" dirty="0">
                <a:solidFill>
                  <a:srgbClr val="1D2433"/>
                </a:solidFill>
                <a:latin typeface="Noto Sans" pitchFamily="34" charset="0"/>
                <a:ea typeface="Noto Sans" pitchFamily="34" charset="-122"/>
                <a:cs typeface="Noto Sans" pitchFamily="34" charset="-120"/>
              </a:rPr>
              <a:t> — atama keng tarqalgach, huquqdan voz kechiladi</a:t>
            </a:r>
            <a:endParaRPr lang="en-US" sz="1300" dirty="0"/>
          </a:p>
        </p:txBody>
      </p:sp>
      <p:sp>
        <p:nvSpPr>
          <p:cNvPr id="8" name="Text 6"/>
          <p:cNvSpPr/>
          <p:nvPr/>
        </p:nvSpPr>
        <p:spPr>
          <a:xfrm>
            <a:off x="812800" y="4264658"/>
            <a:ext cx="340106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2433"/>
                </a:solidFill>
                <a:latin typeface="Noto Sans" pitchFamily="34" charset="0"/>
                <a:ea typeface="Noto Sans" pitchFamily="34" charset="-122"/>
                <a:cs typeface="Noto Sans" pitchFamily="34" charset="-120"/>
              </a:rPr>
              <a:t>1970-yillar</a:t>
            </a:r>
            <a:r>
              <a:rPr lang="en-US" sz="1300" dirty="0">
                <a:solidFill>
                  <a:srgbClr val="1D2433"/>
                </a:solidFill>
                <a:latin typeface="Noto Sans" pitchFamily="34" charset="0"/>
                <a:ea typeface="Noto Sans" pitchFamily="34" charset="-122"/>
                <a:cs typeface="Noto Sans" pitchFamily="34" charset="-120"/>
              </a:rPr>
              <a:t> — mikroprotsessor haqiqiy mexatron tizimlarni yaratish imkonini beradi</a:t>
            </a:r>
            <a:endParaRPr lang="en-US" sz="1300" dirty="0"/>
          </a:p>
        </p:txBody>
      </p:sp>
      <p:sp>
        <p:nvSpPr>
          <p:cNvPr id="9" name="Text 7"/>
          <p:cNvSpPr/>
          <p:nvPr/>
        </p:nvSpPr>
        <p:spPr>
          <a:xfrm>
            <a:off x="4419600" y="1803400"/>
            <a:ext cx="71683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33B"/>
                </a:solidFill>
                <a:latin typeface="Noto Sans" pitchFamily="34" charset="0"/>
                <a:ea typeface="Noto Sans" pitchFamily="34" charset="-122"/>
                <a:cs typeface="Noto Sans" pitchFamily="34" charset="-120"/>
              </a:rPr>
              <a:t>JSPMI tasnifi (1970-yillar oxiri)</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429760" y="2159002"/>
          <a:ext cx="6949440" cy="2948940"/>
        </p:xfrm>
        <a:graphic>
          <a:graphicData uri="http://schemas.openxmlformats.org/drawingml/2006/table">
            <a:tbl>
              <a:tblPr/>
              <a:tblGrid>
                <a:gridCol w="2316480"/>
                <a:gridCol w="2316480"/>
                <a:gridCol w="2316480"/>
              </a:tblGrid>
              <a:tr h="34290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Sinf</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Tavsifi</a:t>
                      </a:r>
                      <a:endParaRPr lang="en-US" sz="1200" dirty="0">
                        <a:latin typeface="Noto Sans" charset="0"/>
                        <a:ea typeface="Noto Sans" charset="0"/>
                        <a:cs typeface="Noto Sans" charset="0"/>
                      </a:endParaRPr>
                    </a:p>
                  </a:txBody>
                  <a:tcPr marL="101600" marR="101600" marT="63500" marB="635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Misol</a:t>
                      </a:r>
                      <a:endParaRPr lang="en-US" sz="1200" dirty="0">
                        <a:latin typeface="Noto Sans" charset="0"/>
                        <a:ea typeface="Noto Sans" charset="0"/>
                        <a:cs typeface="Noto Sans" charset="0"/>
                      </a:endParaRPr>
                    </a:p>
                  </a:txBody>
                  <a:tcPr marL="101600" marR="101600" marT="63500" marB="635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7543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Mexanik mahsulot, elektronika funksiyani kengaytiradi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Raqamli boshqariladigan dastgoh</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4864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II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Tashqi interfeys oʻsha, ichki qurilmalar elektron</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Zamonaviy tikuv mashinasi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7543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III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Funksiya saqlangan, mexanizm elektronika bilan almashgan</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Raqamli soat</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4864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IV</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Mexanika va elektronikaning sinergetik integratsiyasi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Nusxa koʻchirish apparati</a:t>
                      </a:r>
                      <a:endParaRPr lang="en-US" sz="1200" dirty="0">
                        <a:latin typeface="Noto Sans" charset="0"/>
                        <a:ea typeface="Noto Sans" charset="0"/>
                        <a:cs typeface="Noto Sans" charset="0"/>
                      </a:endParaRPr>
                    </a:p>
                  </a:txBody>
                  <a:tcPr marL="101600" marR="1016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12 · Manba: The Mechatronics Handbook, 1.3-boʻlim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TARIX</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Datchiklar texnikasining asosiy bosqichlari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62760"/>
          <a:ext cx="10556240" cy="3962400"/>
        </p:xfrm>
        <a:graphic>
          <a:graphicData uri="http://schemas.openxmlformats.org/drawingml/2006/table">
            <a:tbl>
              <a:tblPr/>
              <a:tblGrid>
                <a:gridCol w="3518747"/>
                <a:gridCol w="3518747"/>
                <a:gridCol w="3518747"/>
              </a:tblGrid>
              <a:tr h="29718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Yil</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Kashfiyot yoki texnologiya</a:t>
                      </a:r>
                      <a:endParaRPr lang="en-US" sz="1200" dirty="0">
                        <a:latin typeface="Noto Sans" charset="0"/>
                        <a:ea typeface="Noto Sans" charset="0"/>
                        <a:cs typeface="Noto Sans" charset="0"/>
                      </a:endParaRPr>
                    </a:p>
                  </a:txBody>
                  <a:tcPr marL="127000" marR="127000" marT="44450" marB="4445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Robototexnikadagi ahamiyati</a:t>
                      </a:r>
                      <a:endParaRPr lang="en-US" sz="1200" dirty="0">
                        <a:latin typeface="Noto Sans" charset="0"/>
                        <a:ea typeface="Noto Sans" charset="0"/>
                        <a:cs typeface="Noto Sans" charset="0"/>
                      </a:endParaRPr>
                    </a:p>
                  </a:txBody>
                  <a:tcPr marL="127000" marR="127000" marT="44450" marB="4445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1856</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Kelvin: qarshilik deformatsiyaga bogʻliq</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Tenzorezistiv datchiklar</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1879</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E. Xoll: Xoll effekti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Pozitsiya, tok, tezlik datchiklari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1880</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Kyuri aka-ukalar: piezoelektrik effekt</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Kuch, bosim, tezlanish datchiklari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9530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1938</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Simmons va Ruge: yopishtiriladigan tenzorezistor</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Kuch va moment datchiklari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1954</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Ch. Smit: kremniyda piezorezistiv effekt</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Yarimoʻtkazgichli datchiklar</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1960</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Birinchi lazer; Kalman filtri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Masofa oʻlchash, maʼlumotlarni birlashtirish</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1960-yillar</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Kremniy asosidagi bosim datchiklari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MEMS yoʻnalishining boshlanishi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1969</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Boyl va Smit: PZS (CCD)</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Raqamli kameralar, texnik koʻrish</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9530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1990-yillar</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Ommaviy MEMS akselerometr va giroskoplar; GPS</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Inersial navigatsiya</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2005</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DARPA Grand Challenge</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LiDAR, kamera, GNSS, IMU majmuasi</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97180">
                <a:tc>
                  <a:txBody>
                    <a:bodyPr/>
                    <a:lstStyle/>
                    <a:p>
                      <a:pPr indent="0" marL="0">
                        <a:lnSpc>
                          <a:spcPts val="1680"/>
                        </a:lnSpc>
                        <a:buNone/>
                      </a:pPr>
                      <a:r>
                        <a:rPr lang="en-US" sz="1200" dirty="0">
                          <a:solidFill>
                            <a:srgbClr val="B5521A"/>
                          </a:solidFill>
                          <a:latin typeface="Noto Sans" pitchFamily="34" charset="0"/>
                          <a:ea typeface="Noto Sans" pitchFamily="34" charset="-122"/>
                          <a:cs typeface="Noto Sans" pitchFamily="34" charset="-120"/>
                        </a:rPr>
                        <a:t>2010</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Arzon RGB-D kameralar</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Mobil robotlar uchun 3D koʻrish</a:t>
                      </a:r>
                      <a:endParaRPr lang="en-US" sz="1200" dirty="0">
                        <a:latin typeface="Noto Sans" charset="0"/>
                        <a:ea typeface="Noto Sans" charset="0"/>
                        <a:cs typeface="Noto Sans" charset="0"/>
                      </a:endParaRPr>
                    </a:p>
                  </a:txBody>
                  <a:tcPr marL="127000" marR="127000" marT="44450" marB="444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TARIX</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Robotlar avlodlari</a:t>
            </a:r>
            <a:endParaRPr lang="en-US" sz="3200" dirty="0"/>
          </a:p>
        </p:txBody>
      </p:sp>
      <p:sp>
        <p:nvSpPr>
          <p:cNvPr id="4" name="Shape 2"/>
          <p:cNvSpPr/>
          <p:nvPr/>
        </p:nvSpPr>
        <p:spPr>
          <a:xfrm>
            <a:off x="815975" y="1806575"/>
            <a:ext cx="3214370" cy="2866390"/>
          </a:xfrm>
          <a:prstGeom prst="roundRect">
            <a:avLst>
              <a:gd name="adj" fmla="val 3434"/>
            </a:avLst>
          </a:prstGeom>
          <a:solidFill>
            <a:srgbClr val="FDFCF9"/>
          </a:solidFill>
          <a:ln w="6350">
            <a:solidFill>
              <a:srgbClr val="E2DED4"/>
            </a:solidFill>
            <a:prstDash val="solid"/>
          </a:ln>
        </p:spPr>
      </p:sp>
      <p:sp>
        <p:nvSpPr>
          <p:cNvPr id="5" name="Text 3"/>
          <p:cNvSpPr/>
          <p:nvPr/>
        </p:nvSpPr>
        <p:spPr>
          <a:xfrm>
            <a:off x="1046480" y="2037079"/>
            <a:ext cx="28359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280"/>
                </a:solidFill>
                <a:latin typeface="Noto Sans" pitchFamily="34" charset="0"/>
                <a:ea typeface="Noto Sans" pitchFamily="34" charset="-122"/>
                <a:cs typeface="Noto Sans" pitchFamily="34" charset="-120"/>
              </a:rPr>
              <a:t>I AVLOD</a:t>
            </a:r>
            <a:endParaRPr lang="en-US" sz="1300" dirty="0"/>
          </a:p>
        </p:txBody>
      </p:sp>
      <p:sp>
        <p:nvSpPr>
          <p:cNvPr id="6" name="Text 4"/>
          <p:cNvSpPr/>
          <p:nvPr/>
        </p:nvSpPr>
        <p:spPr>
          <a:xfrm>
            <a:off x="1046480" y="2369821"/>
            <a:ext cx="28359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Dasturiy robotlar</a:t>
            </a:r>
            <a:endParaRPr lang="en-US" sz="1800" dirty="0"/>
          </a:p>
        </p:txBody>
      </p:sp>
      <p:sp>
        <p:nvSpPr>
          <p:cNvPr id="7" name="Text 5"/>
          <p:cNvSpPr/>
          <p:nvPr/>
        </p:nvSpPr>
        <p:spPr>
          <a:xfrm>
            <a:off x="1046480" y="2745742"/>
            <a:ext cx="28359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Informatsion taʼminoti</a:t>
            </a:r>
            <a:endParaRPr lang="en-US" sz="1200" dirty="0"/>
          </a:p>
        </p:txBody>
      </p:sp>
      <p:sp>
        <p:nvSpPr>
          <p:cNvPr id="8" name="Text 6"/>
          <p:cNvSpPr/>
          <p:nvPr/>
        </p:nvSpPr>
        <p:spPr>
          <a:xfrm>
            <a:off x="1046480" y="3060700"/>
            <a:ext cx="28359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Faqat ichki datchiklar; tashqi muhit haqida axborot yoʻq</a:t>
            </a:r>
            <a:endParaRPr lang="en-US" sz="1300" dirty="0"/>
          </a:p>
        </p:txBody>
      </p:sp>
      <p:sp>
        <p:nvSpPr>
          <p:cNvPr id="9" name="Text 7"/>
          <p:cNvSpPr/>
          <p:nvPr/>
        </p:nvSpPr>
        <p:spPr>
          <a:xfrm>
            <a:off x="1046480" y="3624579"/>
            <a:ext cx="28359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Imkoniyatlari</a:t>
            </a:r>
            <a:endParaRPr lang="en-US" sz="1200" dirty="0"/>
          </a:p>
        </p:txBody>
      </p:sp>
      <p:sp>
        <p:nvSpPr>
          <p:cNvPr id="10" name="Text 8"/>
          <p:cNvSpPr/>
          <p:nvPr/>
        </p:nvSpPr>
        <p:spPr>
          <a:xfrm>
            <a:off x="1046480" y="3939542"/>
            <a:ext cx="28359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Qatʼiy dasturni takrorlaydi; muhit oʻzgarmas boʻlishi shart</a:t>
            </a:r>
            <a:endParaRPr lang="en-US" sz="1300" dirty="0"/>
          </a:p>
        </p:txBody>
      </p:sp>
      <p:pic>
        <p:nvPicPr>
          <p:cNvPr id="11" name="Image 0" descr="arrow-right">    </p:cNvPr>
          <p:cNvPicPr>
            <a:picLocks noChangeAspect="1"/>
          </p:cNvPicPr>
          <p:nvPr/>
        </p:nvPicPr>
        <p:blipFill>
          <a:blip r:embed="rId1"/>
          <a:srcRect l="0" r="0" t="0" b="0"/>
          <a:stretch/>
        </p:blipFill>
        <p:spPr>
          <a:xfrm>
            <a:off x="4135120" y="3125471"/>
            <a:ext cx="254000" cy="228600"/>
          </a:xfrm>
          <a:prstGeom prst="rect">
            <a:avLst/>
          </a:prstGeom>
        </p:spPr>
      </p:pic>
      <p:sp>
        <p:nvSpPr>
          <p:cNvPr id="12" name="Shape 9"/>
          <p:cNvSpPr/>
          <p:nvPr/>
        </p:nvSpPr>
        <p:spPr>
          <a:xfrm>
            <a:off x="4493895" y="1806575"/>
            <a:ext cx="3214370" cy="2866390"/>
          </a:xfrm>
          <a:prstGeom prst="roundRect">
            <a:avLst>
              <a:gd name="adj" fmla="val 3434"/>
            </a:avLst>
          </a:prstGeom>
          <a:solidFill>
            <a:srgbClr val="FDFCF9"/>
          </a:solidFill>
          <a:ln w="6350">
            <a:solidFill>
              <a:srgbClr val="E2DED4"/>
            </a:solidFill>
            <a:prstDash val="solid"/>
          </a:ln>
        </p:spPr>
      </p:sp>
      <p:sp>
        <p:nvSpPr>
          <p:cNvPr id="13" name="Text 10"/>
          <p:cNvSpPr/>
          <p:nvPr/>
        </p:nvSpPr>
        <p:spPr>
          <a:xfrm>
            <a:off x="4724400" y="2037079"/>
            <a:ext cx="28359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6CB0"/>
                </a:solidFill>
                <a:latin typeface="Noto Sans" pitchFamily="34" charset="0"/>
                <a:ea typeface="Noto Sans" pitchFamily="34" charset="-122"/>
                <a:cs typeface="Noto Sans" pitchFamily="34" charset="-120"/>
              </a:rPr>
              <a:t>II AVLOD</a:t>
            </a:r>
            <a:endParaRPr lang="en-US" sz="1300" dirty="0"/>
          </a:p>
        </p:txBody>
      </p:sp>
      <p:sp>
        <p:nvSpPr>
          <p:cNvPr id="14" name="Text 11"/>
          <p:cNvSpPr/>
          <p:nvPr/>
        </p:nvSpPr>
        <p:spPr>
          <a:xfrm>
            <a:off x="4724400" y="2369821"/>
            <a:ext cx="28359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Adaptiv robotlar</a:t>
            </a:r>
            <a:endParaRPr lang="en-US" sz="1800" dirty="0"/>
          </a:p>
        </p:txBody>
      </p:sp>
      <p:sp>
        <p:nvSpPr>
          <p:cNvPr id="15" name="Text 12"/>
          <p:cNvSpPr/>
          <p:nvPr/>
        </p:nvSpPr>
        <p:spPr>
          <a:xfrm>
            <a:off x="4724400" y="2745742"/>
            <a:ext cx="28359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Informatsion taʼminoti</a:t>
            </a:r>
            <a:endParaRPr lang="en-US" sz="1200" dirty="0"/>
          </a:p>
        </p:txBody>
      </p:sp>
      <p:sp>
        <p:nvSpPr>
          <p:cNvPr id="16" name="Text 13"/>
          <p:cNvSpPr/>
          <p:nvPr/>
        </p:nvSpPr>
        <p:spPr>
          <a:xfrm>
            <a:off x="4724400" y="3060700"/>
            <a:ext cx="28359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Taktil, kuch-moment, lokatsion datchiklar, oddiy texnik koʻrish</a:t>
            </a:r>
            <a:endParaRPr lang="en-US" sz="1300" dirty="0"/>
          </a:p>
        </p:txBody>
      </p:sp>
      <p:sp>
        <p:nvSpPr>
          <p:cNvPr id="17" name="Text 14"/>
          <p:cNvSpPr/>
          <p:nvPr/>
        </p:nvSpPr>
        <p:spPr>
          <a:xfrm>
            <a:off x="4724400" y="3624579"/>
            <a:ext cx="28359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Imkoniyatlari</a:t>
            </a:r>
            <a:endParaRPr lang="en-US" sz="1200" dirty="0"/>
          </a:p>
        </p:txBody>
      </p:sp>
      <p:sp>
        <p:nvSpPr>
          <p:cNvPr id="18" name="Text 15"/>
          <p:cNvSpPr/>
          <p:nvPr/>
        </p:nvSpPr>
        <p:spPr>
          <a:xfrm>
            <a:off x="4724400" y="3939542"/>
            <a:ext cx="28359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Obyekt joyini aniqlaydi, kontakt kuchini rostlaydi</a:t>
            </a:r>
            <a:endParaRPr lang="en-US" sz="1300" dirty="0"/>
          </a:p>
        </p:txBody>
      </p:sp>
      <p:pic>
        <p:nvPicPr>
          <p:cNvPr id="19" name="Image 1" descr="arrow-right">    </p:cNvPr>
          <p:cNvPicPr>
            <a:picLocks noChangeAspect="1"/>
          </p:cNvPicPr>
          <p:nvPr/>
        </p:nvPicPr>
        <p:blipFill>
          <a:blip r:embed="rId2"/>
          <a:srcRect l="0" r="0" t="0" b="0"/>
          <a:stretch/>
        </p:blipFill>
        <p:spPr>
          <a:xfrm>
            <a:off x="7813040" y="3125471"/>
            <a:ext cx="254000" cy="228600"/>
          </a:xfrm>
          <a:prstGeom prst="rect">
            <a:avLst/>
          </a:prstGeom>
        </p:spPr>
      </p:pic>
      <p:sp>
        <p:nvSpPr>
          <p:cNvPr id="20" name="Shape 16"/>
          <p:cNvSpPr/>
          <p:nvPr/>
        </p:nvSpPr>
        <p:spPr>
          <a:xfrm>
            <a:off x="8168640" y="1803400"/>
            <a:ext cx="3210560" cy="2872740"/>
          </a:xfrm>
          <a:prstGeom prst="roundRect">
            <a:avLst>
              <a:gd name="adj" fmla="val 3537"/>
            </a:avLst>
          </a:prstGeom>
          <a:solidFill>
            <a:srgbClr val="16233B"/>
          </a:solidFill>
          <a:ln/>
        </p:spPr>
      </p:sp>
      <p:sp>
        <p:nvSpPr>
          <p:cNvPr id="21" name="Shape 17"/>
          <p:cNvSpPr/>
          <p:nvPr/>
        </p:nvSpPr>
        <p:spPr>
          <a:xfrm>
            <a:off x="8168640" y="1803400"/>
            <a:ext cx="3210560" cy="2872740"/>
          </a:xfrm>
          <a:custGeom>
            <a:avLst/>
            <a:gdLst/>
            <a:ahLst/>
            <a:cxnLst/>
            <a:rect l="l" t="t" r="r" b="b"/>
            <a:pathLst>
              <a:path w="3210560" h="2872740">
                <a:moveTo>
                  <a:pt x="0" y="101600"/>
                </a:moveTo>
                <a:lnTo>
                  <a:pt x="0" y="101600"/>
                </a:lnTo>
                <a:arcTo hR="101600" wR="101600" stAng="10800000" swAng="5400000"/>
                <a:lnTo>
                  <a:pt x="3108960" y="0"/>
                </a:lnTo>
                <a:arcTo hR="101600" wR="101600" stAng="16200000" swAng="5400000"/>
                <a:lnTo>
                  <a:pt x="3210560" y="101600"/>
                </a:lnTo>
                <a:arcTo hR="50800" wR="101600" stAng="0" swAng="-5400000"/>
                <a:lnTo>
                  <a:pt x="101600" y="50800"/>
                </a:lnTo>
                <a:arcTo hR="50800" wR="101600" stAng="16200000" swAng="-5400000"/>
                <a:close/>
              </a:path>
            </a:pathLst>
          </a:custGeom>
          <a:solidFill>
            <a:srgbClr val="D9692B"/>
          </a:solidFill>
          <a:ln/>
        </p:spPr>
      </p:sp>
      <p:sp>
        <p:nvSpPr>
          <p:cNvPr id="22" name="Text 18"/>
          <p:cNvSpPr/>
          <p:nvPr/>
        </p:nvSpPr>
        <p:spPr>
          <a:xfrm>
            <a:off x="8397240" y="2082800"/>
            <a:ext cx="28359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A46E"/>
                </a:solidFill>
                <a:latin typeface="Noto Sans" pitchFamily="34" charset="0"/>
                <a:ea typeface="Noto Sans" pitchFamily="34" charset="-122"/>
                <a:cs typeface="Noto Sans" pitchFamily="34" charset="-120"/>
              </a:rPr>
              <a:t>III AVLOD</a:t>
            </a:r>
            <a:endParaRPr lang="en-US" sz="1300" dirty="0"/>
          </a:p>
        </p:txBody>
      </p:sp>
      <p:sp>
        <p:nvSpPr>
          <p:cNvPr id="23" name="Text 19"/>
          <p:cNvSpPr/>
          <p:nvPr/>
        </p:nvSpPr>
        <p:spPr>
          <a:xfrm>
            <a:off x="8397240" y="2415542"/>
            <a:ext cx="28359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Noto Sans" pitchFamily="34" charset="0"/>
                <a:ea typeface="Noto Sans" pitchFamily="34" charset="-122"/>
                <a:cs typeface="Noto Sans" pitchFamily="34" charset="-120"/>
              </a:rPr>
              <a:t>Intellektual robotlar</a:t>
            </a:r>
            <a:endParaRPr lang="en-US" sz="1800" dirty="0"/>
          </a:p>
        </p:txBody>
      </p:sp>
      <p:sp>
        <p:nvSpPr>
          <p:cNvPr id="24" name="Text 20"/>
          <p:cNvSpPr/>
          <p:nvPr/>
        </p:nvSpPr>
        <p:spPr>
          <a:xfrm>
            <a:off x="8397240" y="2791458"/>
            <a:ext cx="28359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Informatsion taʼminoti</a:t>
            </a:r>
            <a:endParaRPr lang="en-US" sz="1200" dirty="0"/>
          </a:p>
        </p:txBody>
      </p:sp>
      <p:sp>
        <p:nvSpPr>
          <p:cNvPr id="25" name="Text 21"/>
          <p:cNvSpPr/>
          <p:nvPr/>
        </p:nvSpPr>
        <p:spPr>
          <a:xfrm>
            <a:off x="8397240" y="3106421"/>
            <a:ext cx="28359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Koʻp sonli turli datchiklar, ularni birlashtirish, sunʼiy intellekt</a:t>
            </a:r>
            <a:endParaRPr lang="en-US" sz="1300" dirty="0"/>
          </a:p>
        </p:txBody>
      </p:sp>
      <p:sp>
        <p:nvSpPr>
          <p:cNvPr id="26" name="Text 22"/>
          <p:cNvSpPr/>
          <p:nvPr/>
        </p:nvSpPr>
        <p:spPr>
          <a:xfrm>
            <a:off x="8397240" y="3670300"/>
            <a:ext cx="28359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Imkoniyatlari</a:t>
            </a:r>
            <a:endParaRPr lang="en-US" sz="1200" dirty="0"/>
          </a:p>
        </p:txBody>
      </p:sp>
      <p:sp>
        <p:nvSpPr>
          <p:cNvPr id="27" name="Text 23"/>
          <p:cNvSpPr/>
          <p:nvPr/>
        </p:nvSpPr>
        <p:spPr>
          <a:xfrm>
            <a:off x="8397240" y="3985258"/>
            <a:ext cx="28359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Muhitni tanib oladi, harakatni rejalashtiradi, oʻrganadi</a:t>
            </a:r>
            <a:endParaRPr lang="en-US" sz="1300" dirty="0"/>
          </a:p>
        </p:txBody>
      </p:sp>
      <p:sp>
        <p:nvSpPr>
          <p:cNvPr id="28" name="Text 2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BIONIKA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Inson sezgi organlari va ularning texnik analoglari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743200"/>
        </p:xfrm>
        <a:graphic>
          <a:graphicData uri="http://schemas.openxmlformats.org/drawingml/2006/table">
            <a:tbl>
              <a:tblPr/>
              <a:tblGrid>
                <a:gridCol w="3518747"/>
                <a:gridCol w="3518747"/>
                <a:gridCol w="3518747"/>
              </a:tblGrid>
              <a:tr h="360045">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Inson sezgisi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Vazifasi</a:t>
                      </a:r>
                      <a:endParaRPr lang="en-US" sz="1300" dirty="0">
                        <a:latin typeface="Noto Sans" charset="0"/>
                        <a:ea typeface="Noto Sans" charset="0"/>
                        <a:cs typeface="Noto Sans" charset="0"/>
                      </a:endParaRPr>
                    </a:p>
                  </a:txBody>
                  <a:tcPr marL="127000" marR="127000" marT="63500" marB="635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Robotdagi analogi</a:t>
                      </a:r>
                      <a:endParaRPr lang="en-US" sz="1300" dirty="0">
                        <a:latin typeface="Noto Sans" charset="0"/>
                        <a:ea typeface="Noto Sans" charset="0"/>
                        <a:cs typeface="Noto Sans" charset="0"/>
                      </a:endParaRPr>
                    </a:p>
                  </a:txBody>
                  <a:tcPr marL="127000" marR="127000" marT="63500" marB="635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8293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Kinestetik sezgi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Tana qismlarining holati va harakati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Enkoder, rezolver, potensiometr, tok datchigi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0045">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Vestibulyar apparat</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Muvozanat, burilish, tezlanish</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Akselerometr, giroskop, IMU</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0045">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Taktil sezgi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Tegish, bosim, sirpanish</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Taktil matritsa, kuch-moment datchigi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0045">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Eshitish</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Tovush manbai va masofa</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Mikrofon, ultratovush lokatori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0045">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Koʻrish</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Obyektni tanish, masofa, harakat</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Kamera, stereokamera, lazer skaneri</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0045">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Hid bilish</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Kimyoviy moddalarni aniqlash</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Gaz datchiklari («elektron burun»)</a:t>
                      </a:r>
                      <a:endParaRPr lang="en-US" sz="13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810758"/>
            <a:ext cx="1137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Noto Sans" pitchFamily="34" charset="0"/>
                <a:ea typeface="Noto Sans" pitchFamily="34" charset="-122"/>
                <a:cs typeface="Noto Sans" pitchFamily="34" charset="-120"/>
              </a:rPr>
              <a:t>Texnik datchik inson sezgisini toʻliq takrorlamaydi: radar zulmatda ishlaydi, lekin taktil «teri» hali inson terisidan ancha orqada.</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TASNIF</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Informatsion qurilmalarning tasnifi</a:t>
            </a:r>
            <a:endParaRPr lang="en-US" sz="3200" dirty="0"/>
          </a:p>
        </p:txBody>
      </p:sp>
      <p:pic>
        <p:nvPicPr>
          <p:cNvPr id="4" name="Image 0" descr="Informatsion qurilmalar ichki holat va tashqi muhit datchiklariga, tashqi muhit datchiklari esa kontaktli va kontaktsiz turlarga boʻlinadi">    </p:cNvPr>
          <p:cNvPicPr>
            <a:picLocks noChangeAspect="1"/>
          </p:cNvPicPr>
          <p:nvPr/>
        </p:nvPicPr>
        <p:blipFill>
          <a:blip r:embed="rId1"/>
          <a:srcRect l="0" r="0" t="-19" b="-19"/>
          <a:stretch/>
        </p:blipFill>
        <p:spPr>
          <a:xfrm>
            <a:off x="1651000" y="1752600"/>
            <a:ext cx="8890000" cy="2609850"/>
          </a:xfrm>
          <a:prstGeom prst="rect">
            <a:avLst/>
          </a:prstGeom>
        </p:spPr>
      </p:pic>
      <p:sp>
        <p:nvSpPr>
          <p:cNvPr id="5" name="Shape 2"/>
          <p:cNvSpPr/>
          <p:nvPr/>
        </p:nvSpPr>
        <p:spPr>
          <a:xfrm>
            <a:off x="815975" y="4568825"/>
            <a:ext cx="5175250" cy="1035050"/>
          </a:xfrm>
          <a:prstGeom prst="roundRect">
            <a:avLst>
              <a:gd name="adj" fmla="val 7055"/>
            </a:avLst>
          </a:prstGeom>
          <a:solidFill>
            <a:srgbClr val="FDFCF9"/>
          </a:solidFill>
          <a:ln w="6350">
            <a:solidFill>
              <a:srgbClr val="E2DED4"/>
            </a:solidFill>
            <a:prstDash val="solid"/>
          </a:ln>
        </p:spPr>
      </p:sp>
      <p:sp>
        <p:nvSpPr>
          <p:cNvPr id="6" name="Text 3"/>
          <p:cNvSpPr/>
          <p:nvPr/>
        </p:nvSpPr>
        <p:spPr>
          <a:xfrm>
            <a:off x="1021080" y="4723135"/>
            <a:ext cx="490799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Energiya manbai boʻyicha</a:t>
            </a:r>
            <a:endParaRPr lang="en-US" sz="1400" dirty="0"/>
          </a:p>
        </p:txBody>
      </p:sp>
      <p:sp>
        <p:nvSpPr>
          <p:cNvPr id="7" name="Text 4"/>
          <p:cNvSpPr/>
          <p:nvPr/>
        </p:nvSpPr>
        <p:spPr>
          <a:xfrm>
            <a:off x="1021080" y="4987292"/>
            <a:ext cx="490799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Passiv (termojuft, kamera) va aktiv (lokator, LiDAR, radar)</a:t>
            </a:r>
            <a:endParaRPr lang="en-US" sz="1300" dirty="0"/>
          </a:p>
        </p:txBody>
      </p:sp>
      <p:sp>
        <p:nvSpPr>
          <p:cNvPr id="8" name="Shape 5"/>
          <p:cNvSpPr/>
          <p:nvPr/>
        </p:nvSpPr>
        <p:spPr>
          <a:xfrm>
            <a:off x="6200775" y="4568825"/>
            <a:ext cx="5175250" cy="1035050"/>
          </a:xfrm>
          <a:prstGeom prst="roundRect">
            <a:avLst>
              <a:gd name="adj" fmla="val 7055"/>
            </a:avLst>
          </a:prstGeom>
          <a:solidFill>
            <a:srgbClr val="FDFCF9"/>
          </a:solidFill>
          <a:ln w="6350">
            <a:solidFill>
              <a:srgbClr val="E2DED4"/>
            </a:solidFill>
            <a:prstDash val="solid"/>
          </a:ln>
        </p:spPr>
      </p:sp>
      <p:sp>
        <p:nvSpPr>
          <p:cNvPr id="9" name="Text 6"/>
          <p:cNvSpPr/>
          <p:nvPr/>
        </p:nvSpPr>
        <p:spPr>
          <a:xfrm>
            <a:off x="6405880" y="4723135"/>
            <a:ext cx="490799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Fizik prinsip boʻyicha</a:t>
            </a:r>
            <a:endParaRPr lang="en-US" sz="1400" dirty="0"/>
          </a:p>
        </p:txBody>
      </p:sp>
      <p:sp>
        <p:nvSpPr>
          <p:cNvPr id="10" name="Text 7"/>
          <p:cNvSpPr/>
          <p:nvPr/>
        </p:nvSpPr>
        <p:spPr>
          <a:xfrm>
            <a:off x="6405880" y="4987292"/>
            <a:ext cx="490799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Rezistiv, sigʻim, induktiv va magnit, optik, piezoelektrik, akustik</a:t>
            </a:r>
            <a:endParaRPr lang="en-US" sz="13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TENDENSIYALAR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Zamonaviy rivojlanish tendensiyalari</a:t>
            </a:r>
            <a:endParaRPr lang="en-US" sz="3200" dirty="0"/>
          </a:p>
        </p:txBody>
      </p:sp>
      <p:sp>
        <p:nvSpPr>
          <p:cNvPr id="4" name="Shape 2"/>
          <p:cNvSpPr/>
          <p:nvPr/>
        </p:nvSpPr>
        <p:spPr>
          <a:xfrm>
            <a:off x="815975" y="1806575"/>
            <a:ext cx="3414183" cy="1408430"/>
          </a:xfrm>
          <a:prstGeom prst="roundRect">
            <a:avLst>
              <a:gd name="adj" fmla="val 5185"/>
            </a:avLst>
          </a:prstGeom>
          <a:solidFill>
            <a:srgbClr val="FDFCF9"/>
          </a:solidFill>
          <a:ln w="6350">
            <a:solidFill>
              <a:srgbClr val="E2DED4"/>
            </a:solidFill>
            <a:prstDash val="solid"/>
          </a:ln>
        </p:spPr>
      </p:sp>
      <p:sp>
        <p:nvSpPr>
          <p:cNvPr id="5" name="Text 3"/>
          <p:cNvSpPr/>
          <p:nvPr/>
        </p:nvSpPr>
        <p:spPr>
          <a:xfrm>
            <a:off x="1021080" y="201168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Miniatyurizatsiya, MEMS</a:t>
            </a:r>
            <a:endParaRPr lang="en-US" sz="1500" dirty="0"/>
          </a:p>
        </p:txBody>
      </p:sp>
      <p:sp>
        <p:nvSpPr>
          <p:cNvPr id="6" name="Text 4"/>
          <p:cNvSpPr/>
          <p:nvPr/>
        </p:nvSpPr>
        <p:spPr>
          <a:xfrm>
            <a:off x="1021080" y="2316485"/>
            <a:ext cx="30940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Kremniy asosidagi mikroakselerometr va giroskoplar, narxning keskin pasayishi</a:t>
            </a:r>
            <a:endParaRPr lang="en-US" sz="1300" dirty="0"/>
          </a:p>
        </p:txBody>
      </p:sp>
      <p:sp>
        <p:nvSpPr>
          <p:cNvPr id="7" name="Shape 5"/>
          <p:cNvSpPr/>
          <p:nvPr/>
        </p:nvSpPr>
        <p:spPr>
          <a:xfrm>
            <a:off x="4388908" y="1806575"/>
            <a:ext cx="3414183" cy="1408430"/>
          </a:xfrm>
          <a:prstGeom prst="roundRect">
            <a:avLst>
              <a:gd name="adj" fmla="val 5185"/>
            </a:avLst>
          </a:prstGeom>
          <a:solidFill>
            <a:srgbClr val="FDFCF9"/>
          </a:solidFill>
          <a:ln w="6350">
            <a:solidFill>
              <a:srgbClr val="E2DED4"/>
            </a:solidFill>
            <a:prstDash val="solid"/>
          </a:ln>
        </p:spPr>
      </p:sp>
      <p:sp>
        <p:nvSpPr>
          <p:cNvPr id="8" name="Text 6"/>
          <p:cNvSpPr/>
          <p:nvPr/>
        </p:nvSpPr>
        <p:spPr>
          <a:xfrm>
            <a:off x="4594013" y="2011685"/>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Intellektual datchiklar</a:t>
            </a:r>
            <a:endParaRPr lang="en-US" sz="1500" dirty="0"/>
          </a:p>
        </p:txBody>
      </p:sp>
      <p:sp>
        <p:nvSpPr>
          <p:cNvPr id="9" name="Text 7"/>
          <p:cNvSpPr/>
          <p:nvPr/>
        </p:nvSpPr>
        <p:spPr>
          <a:xfrm>
            <a:off x="4594013" y="2316485"/>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Bitta kristallda ishlov berish va raqamli interfeys: I²C, SPI, CAN, EtherCAT</a:t>
            </a:r>
            <a:endParaRPr lang="en-US" sz="1300" dirty="0"/>
          </a:p>
        </p:txBody>
      </p:sp>
      <p:sp>
        <p:nvSpPr>
          <p:cNvPr id="10" name="Shape 8"/>
          <p:cNvSpPr/>
          <p:nvPr/>
        </p:nvSpPr>
        <p:spPr>
          <a:xfrm>
            <a:off x="7961842" y="1806575"/>
            <a:ext cx="3414183" cy="1408430"/>
          </a:xfrm>
          <a:prstGeom prst="roundRect">
            <a:avLst>
              <a:gd name="adj" fmla="val 5185"/>
            </a:avLst>
          </a:prstGeom>
          <a:solidFill>
            <a:srgbClr val="FDFCF9"/>
          </a:solidFill>
          <a:ln w="6350">
            <a:solidFill>
              <a:srgbClr val="E2DED4"/>
            </a:solidFill>
            <a:prstDash val="solid"/>
          </a:ln>
        </p:spPr>
      </p:sp>
      <p:sp>
        <p:nvSpPr>
          <p:cNvPr id="11" name="Text 9"/>
          <p:cNvSpPr/>
          <p:nvPr/>
        </p:nvSpPr>
        <p:spPr>
          <a:xfrm>
            <a:off x="8166946" y="201168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Kompleksirovaniya</a:t>
            </a:r>
            <a:endParaRPr lang="en-US" sz="1500" dirty="0"/>
          </a:p>
        </p:txBody>
      </p:sp>
      <p:sp>
        <p:nvSpPr>
          <p:cNvPr id="12" name="Text 10"/>
          <p:cNvSpPr/>
          <p:nvPr/>
        </p:nvSpPr>
        <p:spPr>
          <a:xfrm>
            <a:off x="8166946" y="2316485"/>
            <a:ext cx="30940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Turli datchiklar maʼlumotlarini birlashtirib, aniqlik va ishonchlilikni oshirish</a:t>
            </a:r>
            <a:endParaRPr lang="en-US" sz="1300" dirty="0"/>
          </a:p>
        </p:txBody>
      </p:sp>
      <p:sp>
        <p:nvSpPr>
          <p:cNvPr id="13" name="Shape 11"/>
          <p:cNvSpPr/>
          <p:nvPr/>
        </p:nvSpPr>
        <p:spPr>
          <a:xfrm>
            <a:off x="815975" y="3373760"/>
            <a:ext cx="3414183" cy="1408430"/>
          </a:xfrm>
          <a:prstGeom prst="roundRect">
            <a:avLst>
              <a:gd name="adj" fmla="val 5185"/>
            </a:avLst>
          </a:prstGeom>
          <a:solidFill>
            <a:srgbClr val="FDFCF9"/>
          </a:solidFill>
          <a:ln w="6350">
            <a:solidFill>
              <a:srgbClr val="E2DED4"/>
            </a:solidFill>
            <a:prstDash val="solid"/>
          </a:ln>
        </p:spPr>
      </p:sp>
      <p:sp>
        <p:nvSpPr>
          <p:cNvPr id="14" name="Text 12"/>
          <p:cNvSpPr/>
          <p:nvPr/>
        </p:nvSpPr>
        <p:spPr>
          <a:xfrm>
            <a:off x="1021080" y="3578858"/>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Texnik koʻrish va SI</a:t>
            </a:r>
            <a:endParaRPr lang="en-US" sz="1500" dirty="0"/>
          </a:p>
        </p:txBody>
      </p:sp>
      <p:sp>
        <p:nvSpPr>
          <p:cNvPr id="15" name="Text 13"/>
          <p:cNvSpPr/>
          <p:nvPr/>
        </p:nvSpPr>
        <p:spPr>
          <a:xfrm>
            <a:off x="1021080" y="3883658"/>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Chuqur neyron tarmoqlar obyektlarni tanish va sahnani tushunishda</a:t>
            </a:r>
            <a:endParaRPr lang="en-US" sz="1300" dirty="0"/>
          </a:p>
        </p:txBody>
      </p:sp>
      <p:sp>
        <p:nvSpPr>
          <p:cNvPr id="16" name="Shape 14"/>
          <p:cNvSpPr/>
          <p:nvPr/>
        </p:nvSpPr>
        <p:spPr>
          <a:xfrm>
            <a:off x="4388908" y="3373760"/>
            <a:ext cx="3414183" cy="1408430"/>
          </a:xfrm>
          <a:prstGeom prst="roundRect">
            <a:avLst>
              <a:gd name="adj" fmla="val 5185"/>
            </a:avLst>
          </a:prstGeom>
          <a:solidFill>
            <a:srgbClr val="FDFCF9"/>
          </a:solidFill>
          <a:ln w="6350">
            <a:solidFill>
              <a:srgbClr val="E2DED4"/>
            </a:solidFill>
            <a:prstDash val="solid"/>
          </a:ln>
        </p:spPr>
      </p:sp>
      <p:sp>
        <p:nvSpPr>
          <p:cNvPr id="17" name="Text 15"/>
          <p:cNvSpPr/>
          <p:nvPr/>
        </p:nvSpPr>
        <p:spPr>
          <a:xfrm>
            <a:off x="4594013" y="3578858"/>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Kollaborativ robotlar</a:t>
            </a:r>
            <a:endParaRPr lang="en-US" sz="1500" dirty="0"/>
          </a:p>
        </p:txBody>
      </p:sp>
      <p:sp>
        <p:nvSpPr>
          <p:cNvPr id="18" name="Text 16"/>
          <p:cNvSpPr/>
          <p:nvPr/>
        </p:nvSpPr>
        <p:spPr>
          <a:xfrm>
            <a:off x="4594013" y="3883658"/>
            <a:ext cx="30940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Moment, yaqinlik datchiklari va kameralar — xavfsizlikning asosiy vositasi</a:t>
            </a:r>
            <a:endParaRPr lang="en-US" sz="1300" dirty="0"/>
          </a:p>
        </p:txBody>
      </p:sp>
      <p:sp>
        <p:nvSpPr>
          <p:cNvPr id="19" name="Shape 17"/>
          <p:cNvSpPr/>
          <p:nvPr/>
        </p:nvSpPr>
        <p:spPr>
          <a:xfrm>
            <a:off x="7961842" y="3373760"/>
            <a:ext cx="3414183" cy="1408430"/>
          </a:xfrm>
          <a:prstGeom prst="roundRect">
            <a:avLst>
              <a:gd name="adj" fmla="val 5185"/>
            </a:avLst>
          </a:prstGeom>
          <a:solidFill>
            <a:srgbClr val="FDFCF9"/>
          </a:solidFill>
          <a:ln w="6350">
            <a:solidFill>
              <a:srgbClr val="E2DED4"/>
            </a:solidFill>
            <a:prstDash val="solid"/>
          </a:ln>
        </p:spPr>
      </p:sp>
      <p:sp>
        <p:nvSpPr>
          <p:cNvPr id="20" name="Text 18"/>
          <p:cNvSpPr/>
          <p:nvPr/>
        </p:nvSpPr>
        <p:spPr>
          <a:xfrm>
            <a:off x="8166946" y="3578858"/>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Avtonom transport</a:t>
            </a:r>
            <a:endParaRPr lang="en-US" sz="1500" dirty="0"/>
          </a:p>
        </p:txBody>
      </p:sp>
      <p:sp>
        <p:nvSpPr>
          <p:cNvPr id="21" name="Text 19"/>
          <p:cNvSpPr/>
          <p:nvPr/>
        </p:nvSpPr>
        <p:spPr>
          <a:xfrm>
            <a:off x="8166946" y="3883658"/>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Kamera, radar, LiDAR, GNSS va IMU majmuasi bilan muhitni idrok etish</a:t>
            </a:r>
            <a:endParaRPr lang="en-US" sz="13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TENDENSIYALAR</a:t>
            </a:r>
            <a:endParaRPr lang="en-US" sz="1200" dirty="0"/>
          </a:p>
        </p:txBody>
      </p:sp>
      <p:sp>
        <p:nvSpPr>
          <p:cNvPr id="3" name="Text 1"/>
          <p:cNvSpPr/>
          <p:nvPr>
            <p:ph type="title"/>
          </p:nvPr>
        </p:nvSpPr>
        <p:spPr>
          <a:xfrm>
            <a:off x="812800" y="1102358"/>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Sensorlar kompleksirovaniyasi: ikki datchik bittadan aniqroq</a:t>
            </a:r>
            <a:endParaRPr lang="en-US" sz="3200" dirty="0"/>
          </a:p>
        </p:txBody>
      </p:sp>
      <p:sp>
        <p:nvSpPr>
          <p:cNvPr id="4" name="Text 2"/>
          <p:cNvSpPr/>
          <p:nvPr/>
        </p:nvSpPr>
        <p:spPr>
          <a:xfrm>
            <a:off x="812800" y="2557785"/>
            <a:ext cx="690676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Optimal tortilgan natija</a:t>
            </a:r>
            <a:endParaRPr lang="en-US" sz="1200" dirty="0"/>
          </a:p>
        </p:txBody>
      </p:sp>
      <p:sp>
        <p:nvSpPr>
          <p:cNvPr id="5" name="Text 3"/>
          <p:cNvSpPr/>
          <p:nvPr/>
        </p:nvSpPr>
        <p:spPr>
          <a:xfrm>
            <a:off x="812800" y="2821942"/>
            <a:ext cx="69067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2433"/>
                </a:solidFill>
                <a:latin typeface="Noto Sans" pitchFamily="34" charset="0"/>
                <a:ea typeface="Noto Sans" pitchFamily="34" charset="-122"/>
                <a:cs typeface="Noto Sans" pitchFamily="34" charset="-120"/>
              </a:rPr>
              <a:t>x̂ = (σ₂² · x₁ + σ₁² · x₂) / (σ₁² + σ₂²)</a:t>
            </a:r>
            <a:endParaRPr lang="en-US" sz="2000" dirty="0"/>
          </a:p>
        </p:txBody>
      </p:sp>
      <p:sp>
        <p:nvSpPr>
          <p:cNvPr id="6" name="Text 4"/>
          <p:cNvSpPr/>
          <p:nvPr/>
        </p:nvSpPr>
        <p:spPr>
          <a:xfrm>
            <a:off x="812800" y="3329942"/>
            <a:ext cx="690676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Natija dispersiyasi</a:t>
            </a:r>
            <a:endParaRPr lang="en-US" sz="1200" dirty="0"/>
          </a:p>
        </p:txBody>
      </p:sp>
      <p:sp>
        <p:nvSpPr>
          <p:cNvPr id="7" name="Text 5"/>
          <p:cNvSpPr/>
          <p:nvPr/>
        </p:nvSpPr>
        <p:spPr>
          <a:xfrm>
            <a:off x="812800" y="3594100"/>
            <a:ext cx="69067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2433"/>
                </a:solidFill>
                <a:latin typeface="Noto Sans" pitchFamily="34" charset="0"/>
                <a:ea typeface="Noto Sans" pitchFamily="34" charset="-122"/>
                <a:cs typeface="Noto Sans" pitchFamily="34" charset="-120"/>
              </a:rPr>
              <a:t>σ² = σ₁² · σ₂² / (σ₁² + σ₂²)</a:t>
            </a:r>
            <a:endParaRPr lang="en-US" sz="2000" dirty="0"/>
          </a:p>
        </p:txBody>
      </p:sp>
      <p:sp>
        <p:nvSpPr>
          <p:cNvPr id="8" name="Text 6"/>
          <p:cNvSpPr/>
          <p:nvPr/>
        </p:nvSpPr>
        <p:spPr>
          <a:xfrm>
            <a:off x="812800" y="4102100"/>
            <a:ext cx="69067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σ² har ikkala datchik dispersiyasidan kichik. Bu gʻoya Kalman filtrining asosida yotadi.</a:t>
            </a:r>
            <a:endParaRPr lang="en-US" sz="1400" dirty="0"/>
          </a:p>
        </p:txBody>
      </p:sp>
      <p:sp>
        <p:nvSpPr>
          <p:cNvPr id="9" name="Shape 7"/>
          <p:cNvSpPr/>
          <p:nvPr/>
        </p:nvSpPr>
        <p:spPr>
          <a:xfrm>
            <a:off x="7823200" y="2250442"/>
            <a:ext cx="3556000" cy="2656840"/>
          </a:xfrm>
          <a:prstGeom prst="roundRect">
            <a:avLst>
              <a:gd name="adj" fmla="val 3824"/>
            </a:avLst>
          </a:prstGeom>
          <a:solidFill>
            <a:srgbClr val="16233B"/>
          </a:solidFill>
          <a:ln/>
        </p:spPr>
      </p:sp>
      <p:sp>
        <p:nvSpPr>
          <p:cNvPr id="10" name="Text 8"/>
          <p:cNvSpPr/>
          <p:nvPr/>
        </p:nvSpPr>
        <p:spPr>
          <a:xfrm>
            <a:off x="8077200" y="2504442"/>
            <a:ext cx="3139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MISOL</a:t>
            </a:r>
            <a:endParaRPr lang="en-US" sz="1200" dirty="0"/>
          </a:p>
        </p:txBody>
      </p:sp>
      <p:sp>
        <p:nvSpPr>
          <p:cNvPr id="11" name="Text 9"/>
          <p:cNvSpPr/>
          <p:nvPr/>
        </p:nvSpPr>
        <p:spPr>
          <a:xfrm>
            <a:off x="8077200" y="2819400"/>
            <a:ext cx="313944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Noto Sans" pitchFamily="34" charset="0"/>
                <a:ea typeface="Noto Sans" pitchFamily="34" charset="-122"/>
                <a:cs typeface="Noto Sans" pitchFamily="34" charset="-120"/>
              </a:rPr>
              <a:t>Masofa: datchik A bilan σ₁ = 2 mm, datchik B bilan σ₂ = 1 mm</a:t>
            </a:r>
            <a:endParaRPr lang="en-US" sz="1400" dirty="0"/>
          </a:p>
        </p:txBody>
      </p:sp>
      <p:sp>
        <p:nvSpPr>
          <p:cNvPr id="12" name="Text 10"/>
          <p:cNvSpPr/>
          <p:nvPr/>
        </p:nvSpPr>
        <p:spPr>
          <a:xfrm>
            <a:off x="8077200" y="3418842"/>
            <a:ext cx="3139440"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0A46E"/>
                </a:solidFill>
                <a:latin typeface="Noto Sans" pitchFamily="34" charset="0"/>
                <a:ea typeface="Noto Sans" pitchFamily="34" charset="-122"/>
                <a:cs typeface="Noto Sans" pitchFamily="34" charset="-120"/>
              </a:rPr>
              <a:t>0,89 mm</a:t>
            </a:r>
            <a:endParaRPr lang="en-US" sz="4800" dirty="0"/>
          </a:p>
        </p:txBody>
      </p:sp>
      <p:sp>
        <p:nvSpPr>
          <p:cNvPr id="13" name="Text 11"/>
          <p:cNvSpPr/>
          <p:nvPr/>
        </p:nvSpPr>
        <p:spPr>
          <a:xfrm>
            <a:off x="8077200" y="4191000"/>
            <a:ext cx="313944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birlashtirilgan natijaning oʻrtacha kvadratik xatoligi</a:t>
            </a:r>
            <a:endParaRPr lang="en-US" sz="13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DOLZARB MUAMMOLAR · 1</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Oʻlchash, muhit va hisoblash muammolari</a:t>
            </a:r>
            <a:endParaRPr lang="en-US" sz="3200" dirty="0"/>
          </a:p>
        </p:txBody>
      </p:sp>
      <p:sp>
        <p:nvSpPr>
          <p:cNvPr id="4" name="Shape 2"/>
          <p:cNvSpPr/>
          <p:nvPr/>
        </p:nvSpPr>
        <p:spPr>
          <a:xfrm>
            <a:off x="815975" y="1806575"/>
            <a:ext cx="3414183" cy="1177290"/>
          </a:xfrm>
          <a:prstGeom prst="roundRect">
            <a:avLst>
              <a:gd name="adj" fmla="val 6203"/>
            </a:avLst>
          </a:prstGeom>
          <a:solidFill>
            <a:srgbClr val="FDFCF9"/>
          </a:solidFill>
          <a:ln w="6350">
            <a:solidFill>
              <a:srgbClr val="E2DED4"/>
            </a:solidFill>
            <a:prstDash val="solid"/>
          </a:ln>
        </p:spPr>
      </p:sp>
      <p:sp>
        <p:nvSpPr>
          <p:cNvPr id="5" name="Text 3"/>
          <p:cNvSpPr/>
          <p:nvPr/>
        </p:nvSpPr>
        <p:spPr>
          <a:xfrm>
            <a:off x="1021080" y="201168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01</a:t>
            </a:r>
            <a:r>
              <a:rPr lang="en-US" sz="1500" b="1" dirty="0">
                <a:solidFill>
                  <a:srgbClr val="1D2433"/>
                </a:solidFill>
                <a:latin typeface="Noto Sans" pitchFamily="34" charset="0"/>
                <a:ea typeface="Noto Sans" pitchFamily="34" charset="-122"/>
                <a:cs typeface="Noto Sans" pitchFamily="34" charset="-120"/>
              </a:rPr>
              <a:t> Noaniqlik va shovqin</a:t>
            </a:r>
            <a:endParaRPr lang="en-US" sz="1500" dirty="0"/>
          </a:p>
        </p:txBody>
      </p:sp>
      <p:sp>
        <p:nvSpPr>
          <p:cNvPr id="6" name="Text 4"/>
          <p:cNvSpPr/>
          <p:nvPr/>
        </p:nvSpPr>
        <p:spPr>
          <a:xfrm>
            <a:off x="1021080" y="2316485"/>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Toʻliq boʻlmagan va ziddiyatli axborot asosida ishonchli qaror qabul qilish</a:t>
            </a:r>
            <a:endParaRPr lang="en-US" sz="1300" dirty="0"/>
          </a:p>
        </p:txBody>
      </p:sp>
      <p:sp>
        <p:nvSpPr>
          <p:cNvPr id="7" name="Shape 5"/>
          <p:cNvSpPr/>
          <p:nvPr/>
        </p:nvSpPr>
        <p:spPr>
          <a:xfrm>
            <a:off x="4388908" y="1806575"/>
            <a:ext cx="3414183" cy="1177290"/>
          </a:xfrm>
          <a:prstGeom prst="roundRect">
            <a:avLst>
              <a:gd name="adj" fmla="val 6203"/>
            </a:avLst>
          </a:prstGeom>
          <a:solidFill>
            <a:srgbClr val="FDFCF9"/>
          </a:solidFill>
          <a:ln w="6350">
            <a:solidFill>
              <a:srgbClr val="E2DED4"/>
            </a:solidFill>
            <a:prstDash val="solid"/>
          </a:ln>
        </p:spPr>
      </p:sp>
      <p:sp>
        <p:nvSpPr>
          <p:cNvPr id="8" name="Text 6"/>
          <p:cNvSpPr/>
          <p:nvPr/>
        </p:nvSpPr>
        <p:spPr>
          <a:xfrm>
            <a:off x="4594013" y="2011685"/>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02</a:t>
            </a:r>
            <a:r>
              <a:rPr lang="en-US" sz="1500" b="1" dirty="0">
                <a:solidFill>
                  <a:srgbClr val="1D2433"/>
                </a:solidFill>
                <a:latin typeface="Noto Sans" pitchFamily="34" charset="0"/>
                <a:ea typeface="Noto Sans" pitchFamily="34" charset="-122"/>
                <a:cs typeface="Noto Sans" pitchFamily="34" charset="-120"/>
              </a:rPr>
              <a:t> Dinamik muhit</a:t>
            </a:r>
            <a:endParaRPr lang="en-US" sz="1500" dirty="0"/>
          </a:p>
        </p:txBody>
      </p:sp>
      <p:sp>
        <p:nvSpPr>
          <p:cNvPr id="9" name="Text 7"/>
          <p:cNvSpPr/>
          <p:nvPr/>
        </p:nvSpPr>
        <p:spPr>
          <a:xfrm>
            <a:off x="4594013" y="2316485"/>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Uy, koʻcha, dala: oldindan nomaʼlum va doimo oʻzgaruvchan muhit</a:t>
            </a:r>
            <a:endParaRPr lang="en-US" sz="1300" dirty="0"/>
          </a:p>
        </p:txBody>
      </p:sp>
      <p:sp>
        <p:nvSpPr>
          <p:cNvPr id="10" name="Shape 8"/>
          <p:cNvSpPr/>
          <p:nvPr/>
        </p:nvSpPr>
        <p:spPr>
          <a:xfrm>
            <a:off x="7961842" y="1806575"/>
            <a:ext cx="3414183" cy="1177290"/>
          </a:xfrm>
          <a:prstGeom prst="roundRect">
            <a:avLst>
              <a:gd name="adj" fmla="val 6203"/>
            </a:avLst>
          </a:prstGeom>
          <a:solidFill>
            <a:srgbClr val="FDFCF9"/>
          </a:solidFill>
          <a:ln w="6350">
            <a:solidFill>
              <a:srgbClr val="E2DED4"/>
            </a:solidFill>
            <a:prstDash val="solid"/>
          </a:ln>
        </p:spPr>
      </p:sp>
      <p:sp>
        <p:nvSpPr>
          <p:cNvPr id="11" name="Text 9"/>
          <p:cNvSpPr/>
          <p:nvPr/>
        </p:nvSpPr>
        <p:spPr>
          <a:xfrm>
            <a:off x="8166946" y="201168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03</a:t>
            </a:r>
            <a:r>
              <a:rPr lang="en-US" sz="1500" b="1" dirty="0">
                <a:solidFill>
                  <a:srgbClr val="1D2433"/>
                </a:solidFill>
                <a:latin typeface="Noto Sans" pitchFamily="34" charset="0"/>
                <a:ea typeface="Noto Sans" pitchFamily="34" charset="-122"/>
                <a:cs typeface="Noto Sans" pitchFamily="34" charset="-120"/>
              </a:rPr>
              <a:t> Tashqi sharoitlar</a:t>
            </a:r>
            <a:endParaRPr lang="en-US" sz="1500" dirty="0"/>
          </a:p>
        </p:txBody>
      </p:sp>
      <p:sp>
        <p:nvSpPr>
          <p:cNvPr id="12" name="Text 10"/>
          <p:cNvSpPr/>
          <p:nvPr/>
        </p:nvSpPr>
        <p:spPr>
          <a:xfrm>
            <a:off x="8166946" y="2316485"/>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Yomgʻir, tuman, chang, yorugʻlik va harorat datchik ishini buzadi</a:t>
            </a:r>
            <a:endParaRPr lang="en-US" sz="1300" dirty="0"/>
          </a:p>
        </p:txBody>
      </p:sp>
      <p:sp>
        <p:nvSpPr>
          <p:cNvPr id="13" name="Shape 11"/>
          <p:cNvSpPr/>
          <p:nvPr/>
        </p:nvSpPr>
        <p:spPr>
          <a:xfrm>
            <a:off x="815975" y="3142617"/>
            <a:ext cx="3414183" cy="1177290"/>
          </a:xfrm>
          <a:prstGeom prst="roundRect">
            <a:avLst>
              <a:gd name="adj" fmla="val 6203"/>
            </a:avLst>
          </a:prstGeom>
          <a:solidFill>
            <a:srgbClr val="FDFCF9"/>
          </a:solidFill>
          <a:ln w="6350">
            <a:solidFill>
              <a:srgbClr val="E2DED4"/>
            </a:solidFill>
            <a:prstDash val="solid"/>
          </a:ln>
        </p:spPr>
      </p:sp>
      <p:sp>
        <p:nvSpPr>
          <p:cNvPr id="14" name="Text 12"/>
          <p:cNvSpPr/>
          <p:nvPr/>
        </p:nvSpPr>
        <p:spPr>
          <a:xfrm>
            <a:off x="1021080" y="334771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04</a:t>
            </a:r>
            <a:r>
              <a:rPr lang="en-US" sz="1500" b="1" dirty="0">
                <a:solidFill>
                  <a:srgbClr val="1D2433"/>
                </a:solidFill>
                <a:latin typeface="Noto Sans" pitchFamily="34" charset="0"/>
                <a:ea typeface="Noto Sans" pitchFamily="34" charset="-122"/>
                <a:cs typeface="Noto Sans" pitchFamily="34" charset="-120"/>
              </a:rPr>
              <a:t> Kalibrlash va sinxronlash</a:t>
            </a:r>
            <a:endParaRPr lang="en-US" sz="1500" dirty="0"/>
          </a:p>
        </p:txBody>
      </p:sp>
      <p:sp>
        <p:nvSpPr>
          <p:cNvPr id="15" name="Text 13"/>
          <p:cNvSpPr/>
          <p:nvPr/>
        </p:nvSpPr>
        <p:spPr>
          <a:xfrm>
            <a:off x="1021080" y="3652515"/>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Datchiklarning parametrlari, oʻzaro joylashuvi va vaqt boʻyicha mosligi</a:t>
            </a:r>
            <a:endParaRPr lang="en-US" sz="1300" dirty="0"/>
          </a:p>
        </p:txBody>
      </p:sp>
      <p:sp>
        <p:nvSpPr>
          <p:cNvPr id="16" name="Shape 14"/>
          <p:cNvSpPr/>
          <p:nvPr/>
        </p:nvSpPr>
        <p:spPr>
          <a:xfrm>
            <a:off x="4388908" y="3142617"/>
            <a:ext cx="3414183" cy="1177290"/>
          </a:xfrm>
          <a:prstGeom prst="roundRect">
            <a:avLst>
              <a:gd name="adj" fmla="val 6203"/>
            </a:avLst>
          </a:prstGeom>
          <a:solidFill>
            <a:srgbClr val="FDFCF9"/>
          </a:solidFill>
          <a:ln w="6350">
            <a:solidFill>
              <a:srgbClr val="E2DED4"/>
            </a:solidFill>
            <a:prstDash val="solid"/>
          </a:ln>
        </p:spPr>
      </p:sp>
      <p:sp>
        <p:nvSpPr>
          <p:cNvPr id="17" name="Text 15"/>
          <p:cNvSpPr/>
          <p:nvPr/>
        </p:nvSpPr>
        <p:spPr>
          <a:xfrm>
            <a:off x="4594013" y="3347715"/>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05</a:t>
            </a:r>
            <a:r>
              <a:rPr lang="en-US" sz="1500" b="1" dirty="0">
                <a:solidFill>
                  <a:srgbClr val="1D2433"/>
                </a:solidFill>
                <a:latin typeface="Noto Sans" pitchFamily="34" charset="0"/>
                <a:ea typeface="Noto Sans" pitchFamily="34" charset="-122"/>
                <a:cs typeface="Noto Sans" pitchFamily="34" charset="-120"/>
              </a:rPr>
              <a:t> Real vaqtda ishlov berish</a:t>
            </a:r>
            <a:endParaRPr lang="en-US" sz="1500" dirty="0"/>
          </a:p>
        </p:txBody>
      </p:sp>
      <p:sp>
        <p:nvSpPr>
          <p:cNvPr id="18" name="Text 16"/>
          <p:cNvSpPr/>
          <p:nvPr/>
        </p:nvSpPr>
        <p:spPr>
          <a:xfrm>
            <a:off x="4594013" y="3652515"/>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Kamera va LiDAR ning katta maʼlumot oqimi, kam energiyali hisoblash</a:t>
            </a:r>
            <a:endParaRPr lang="en-US" sz="1300" dirty="0"/>
          </a:p>
        </p:txBody>
      </p:sp>
      <p:sp>
        <p:nvSpPr>
          <p:cNvPr id="19" name="Shape 17"/>
          <p:cNvSpPr/>
          <p:nvPr/>
        </p:nvSpPr>
        <p:spPr>
          <a:xfrm>
            <a:off x="7961842" y="3142617"/>
            <a:ext cx="3414183" cy="1177290"/>
          </a:xfrm>
          <a:prstGeom prst="roundRect">
            <a:avLst>
              <a:gd name="adj" fmla="val 6203"/>
            </a:avLst>
          </a:prstGeom>
          <a:solidFill>
            <a:srgbClr val="FDFCF9"/>
          </a:solidFill>
          <a:ln w="6350">
            <a:solidFill>
              <a:srgbClr val="E2DED4"/>
            </a:solidFill>
            <a:prstDash val="solid"/>
          </a:ln>
        </p:spPr>
      </p:sp>
      <p:sp>
        <p:nvSpPr>
          <p:cNvPr id="20" name="Text 18"/>
          <p:cNvSpPr/>
          <p:nvPr/>
        </p:nvSpPr>
        <p:spPr>
          <a:xfrm>
            <a:off x="8166946" y="334771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06</a:t>
            </a:r>
            <a:r>
              <a:rPr lang="en-US" sz="1500" b="1" dirty="0">
                <a:solidFill>
                  <a:srgbClr val="1D2433"/>
                </a:solidFill>
                <a:latin typeface="Noto Sans" pitchFamily="34" charset="0"/>
                <a:ea typeface="Noto Sans" pitchFamily="34" charset="-122"/>
                <a:cs typeface="Noto Sans" pitchFamily="34" charset="-120"/>
              </a:rPr>
              <a:t> Funksional xavfsizlik</a:t>
            </a:r>
            <a:endParaRPr lang="en-US" sz="1500" dirty="0"/>
          </a:p>
        </p:txBody>
      </p:sp>
      <p:sp>
        <p:nvSpPr>
          <p:cNvPr id="21" name="Text 19"/>
          <p:cNvSpPr/>
          <p:nvPr/>
        </p:nvSpPr>
        <p:spPr>
          <a:xfrm>
            <a:off x="8166946" y="3652515"/>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Zaxiralash, nosozlikni aniqlash; IEC 61508, ISO 13849, ISO 26262</a:t>
            </a:r>
            <a:endParaRPr lang="en-US" sz="13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DOLZARB MUAMMOLAR · 2</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Inson, ishonchlilik va iqtisod muammolari</a:t>
            </a:r>
            <a:endParaRPr lang="en-US" sz="3200" dirty="0"/>
          </a:p>
        </p:txBody>
      </p:sp>
      <p:sp>
        <p:nvSpPr>
          <p:cNvPr id="4" name="Shape 2"/>
          <p:cNvSpPr/>
          <p:nvPr/>
        </p:nvSpPr>
        <p:spPr>
          <a:xfrm>
            <a:off x="815975" y="1806575"/>
            <a:ext cx="3414183" cy="1408430"/>
          </a:xfrm>
          <a:prstGeom prst="roundRect">
            <a:avLst>
              <a:gd name="adj" fmla="val 5185"/>
            </a:avLst>
          </a:prstGeom>
          <a:solidFill>
            <a:srgbClr val="FDFCF9"/>
          </a:solidFill>
          <a:ln w="6350">
            <a:solidFill>
              <a:srgbClr val="E2DED4"/>
            </a:solidFill>
            <a:prstDash val="solid"/>
          </a:ln>
        </p:spPr>
      </p:sp>
      <p:sp>
        <p:nvSpPr>
          <p:cNvPr id="5" name="Text 3"/>
          <p:cNvSpPr/>
          <p:nvPr/>
        </p:nvSpPr>
        <p:spPr>
          <a:xfrm>
            <a:off x="1021080" y="201168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07</a:t>
            </a:r>
            <a:r>
              <a:rPr lang="en-US" sz="1500" b="1" dirty="0">
                <a:solidFill>
                  <a:srgbClr val="1D2433"/>
                </a:solidFill>
                <a:latin typeface="Noto Sans" pitchFamily="34" charset="0"/>
                <a:ea typeface="Noto Sans" pitchFamily="34" charset="-122"/>
                <a:cs typeface="Noto Sans" pitchFamily="34" charset="-120"/>
              </a:rPr>
              <a:t> Inson bilan hamkorlik</a:t>
            </a:r>
            <a:endParaRPr lang="en-US" sz="1500" dirty="0"/>
          </a:p>
        </p:txBody>
      </p:sp>
      <p:sp>
        <p:nvSpPr>
          <p:cNvPr id="6" name="Text 4"/>
          <p:cNvSpPr/>
          <p:nvPr/>
        </p:nvSpPr>
        <p:spPr>
          <a:xfrm>
            <a:off x="1021080" y="2316485"/>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Kontaktni oldindan sezish va kuchni cheklash; ISO 10218, ISO/TS 15066</a:t>
            </a:r>
            <a:endParaRPr lang="en-US" sz="1300" dirty="0"/>
          </a:p>
        </p:txBody>
      </p:sp>
      <p:sp>
        <p:nvSpPr>
          <p:cNvPr id="7" name="Shape 5"/>
          <p:cNvSpPr/>
          <p:nvPr/>
        </p:nvSpPr>
        <p:spPr>
          <a:xfrm>
            <a:off x="4388908" y="1806575"/>
            <a:ext cx="3414183" cy="1408430"/>
          </a:xfrm>
          <a:prstGeom prst="roundRect">
            <a:avLst>
              <a:gd name="adj" fmla="val 5185"/>
            </a:avLst>
          </a:prstGeom>
          <a:solidFill>
            <a:srgbClr val="FDFCF9"/>
          </a:solidFill>
          <a:ln w="6350">
            <a:solidFill>
              <a:srgbClr val="E2DED4"/>
            </a:solidFill>
            <a:prstDash val="solid"/>
          </a:ln>
        </p:spPr>
      </p:sp>
      <p:sp>
        <p:nvSpPr>
          <p:cNvPr id="8" name="Text 6"/>
          <p:cNvSpPr/>
          <p:nvPr/>
        </p:nvSpPr>
        <p:spPr>
          <a:xfrm>
            <a:off x="4594013" y="2011685"/>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08</a:t>
            </a:r>
            <a:r>
              <a:rPr lang="en-US" sz="1500" b="1" dirty="0">
                <a:solidFill>
                  <a:srgbClr val="1D2433"/>
                </a:solidFill>
                <a:latin typeface="Noto Sans" pitchFamily="34" charset="0"/>
                <a:ea typeface="Noto Sans" pitchFamily="34" charset="-122"/>
                <a:cs typeface="Noto Sans" pitchFamily="34" charset="-120"/>
              </a:rPr>
              <a:t> Taktil sezgi</a:t>
            </a:r>
            <a:endParaRPr lang="en-US" sz="1500" dirty="0"/>
          </a:p>
        </p:txBody>
      </p:sp>
      <p:sp>
        <p:nvSpPr>
          <p:cNvPr id="9" name="Text 7"/>
          <p:cNvSpPr/>
          <p:nvPr/>
        </p:nvSpPr>
        <p:spPr>
          <a:xfrm>
            <a:off x="4594013" y="2316485"/>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Inson qoʻliga yaqin sezgir «teri» yaratish hali ilmiy muammo</a:t>
            </a:r>
            <a:endParaRPr lang="en-US" sz="1300" dirty="0"/>
          </a:p>
        </p:txBody>
      </p:sp>
      <p:sp>
        <p:nvSpPr>
          <p:cNvPr id="10" name="Shape 8"/>
          <p:cNvSpPr/>
          <p:nvPr/>
        </p:nvSpPr>
        <p:spPr>
          <a:xfrm>
            <a:off x="7961842" y="1806575"/>
            <a:ext cx="3414183" cy="1408430"/>
          </a:xfrm>
          <a:prstGeom prst="roundRect">
            <a:avLst>
              <a:gd name="adj" fmla="val 5185"/>
            </a:avLst>
          </a:prstGeom>
          <a:solidFill>
            <a:srgbClr val="FDFCF9"/>
          </a:solidFill>
          <a:ln w="6350">
            <a:solidFill>
              <a:srgbClr val="E2DED4"/>
            </a:solidFill>
            <a:prstDash val="solid"/>
          </a:ln>
        </p:spPr>
      </p:sp>
      <p:sp>
        <p:nvSpPr>
          <p:cNvPr id="11" name="Text 9"/>
          <p:cNvSpPr/>
          <p:nvPr/>
        </p:nvSpPr>
        <p:spPr>
          <a:xfrm>
            <a:off x="8166946" y="2011685"/>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09</a:t>
            </a:r>
            <a:r>
              <a:rPr lang="en-US" sz="1500" b="1" dirty="0">
                <a:solidFill>
                  <a:srgbClr val="1D2433"/>
                </a:solidFill>
                <a:latin typeface="Noto Sans" pitchFamily="34" charset="0"/>
                <a:ea typeface="Noto Sans" pitchFamily="34" charset="-122"/>
                <a:cs typeface="Noto Sans" pitchFamily="34" charset="-120"/>
              </a:rPr>
              <a:t> SI ishonchliligi</a:t>
            </a:r>
            <a:endParaRPr lang="en-US" sz="1500" dirty="0"/>
          </a:p>
        </p:txBody>
      </p:sp>
      <p:sp>
        <p:nvSpPr>
          <p:cNvPr id="12" name="Text 10"/>
          <p:cNvSpPr/>
          <p:nvPr/>
        </p:nvSpPr>
        <p:spPr>
          <a:xfrm>
            <a:off x="8166946" y="2316485"/>
            <a:ext cx="30940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Notanish vaziyatlarda kutilmagan xato, qarorni tushuntirish va sertifikatlash qiyin</a:t>
            </a:r>
            <a:endParaRPr lang="en-US" sz="1300" dirty="0"/>
          </a:p>
        </p:txBody>
      </p:sp>
      <p:sp>
        <p:nvSpPr>
          <p:cNvPr id="13" name="Shape 11"/>
          <p:cNvSpPr/>
          <p:nvPr/>
        </p:nvSpPr>
        <p:spPr>
          <a:xfrm>
            <a:off x="815975" y="3373760"/>
            <a:ext cx="3414183" cy="1398270"/>
          </a:xfrm>
          <a:prstGeom prst="roundRect">
            <a:avLst>
              <a:gd name="adj" fmla="val 5223"/>
            </a:avLst>
          </a:prstGeom>
          <a:solidFill>
            <a:srgbClr val="FDFCF9"/>
          </a:solidFill>
          <a:ln w="6350">
            <a:solidFill>
              <a:srgbClr val="E2DED4"/>
            </a:solidFill>
            <a:prstDash val="solid"/>
          </a:ln>
        </p:spPr>
      </p:sp>
      <p:sp>
        <p:nvSpPr>
          <p:cNvPr id="14" name="Text 12"/>
          <p:cNvSpPr/>
          <p:nvPr/>
        </p:nvSpPr>
        <p:spPr>
          <a:xfrm>
            <a:off x="1021080" y="3578858"/>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10</a:t>
            </a:r>
            <a:r>
              <a:rPr lang="en-US" sz="1500" b="1" dirty="0">
                <a:solidFill>
                  <a:srgbClr val="1D2433"/>
                </a:solidFill>
                <a:latin typeface="Noto Sans" pitchFamily="34" charset="0"/>
                <a:ea typeface="Noto Sans" pitchFamily="34" charset="-122"/>
                <a:cs typeface="Noto Sans" pitchFamily="34" charset="-120"/>
              </a:rPr>
              <a:t> Kiberxavfsizlik</a:t>
            </a:r>
            <a:endParaRPr lang="en-US" sz="1500" dirty="0"/>
          </a:p>
        </p:txBody>
      </p:sp>
      <p:sp>
        <p:nvSpPr>
          <p:cNvPr id="15" name="Text 13"/>
          <p:cNvSpPr/>
          <p:nvPr/>
        </p:nvSpPr>
        <p:spPr>
          <a:xfrm>
            <a:off x="1021080" y="3883658"/>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Datchiklarni aldash, masalan GNSS signalini soxtalashtirish</a:t>
            </a:r>
            <a:endParaRPr lang="en-US" sz="1300" dirty="0"/>
          </a:p>
        </p:txBody>
      </p:sp>
      <p:sp>
        <p:nvSpPr>
          <p:cNvPr id="16" name="Shape 14"/>
          <p:cNvSpPr/>
          <p:nvPr/>
        </p:nvSpPr>
        <p:spPr>
          <a:xfrm>
            <a:off x="4388908" y="3373760"/>
            <a:ext cx="3414183" cy="1398270"/>
          </a:xfrm>
          <a:prstGeom prst="roundRect">
            <a:avLst>
              <a:gd name="adj" fmla="val 5223"/>
            </a:avLst>
          </a:prstGeom>
          <a:solidFill>
            <a:srgbClr val="FDFCF9"/>
          </a:solidFill>
          <a:ln w="6350">
            <a:solidFill>
              <a:srgbClr val="E2DED4"/>
            </a:solidFill>
            <a:prstDash val="solid"/>
          </a:ln>
        </p:spPr>
      </p:sp>
      <p:sp>
        <p:nvSpPr>
          <p:cNvPr id="17" name="Text 15"/>
          <p:cNvSpPr/>
          <p:nvPr/>
        </p:nvSpPr>
        <p:spPr>
          <a:xfrm>
            <a:off x="4594013" y="3578858"/>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D9692B"/>
                </a:solidFill>
                <a:latin typeface="Noto Sans" pitchFamily="34" charset="0"/>
                <a:ea typeface="Noto Sans" pitchFamily="34" charset="-122"/>
                <a:cs typeface="Noto Sans" pitchFamily="34" charset="-120"/>
              </a:rPr>
              <a:t>11</a:t>
            </a:r>
            <a:r>
              <a:rPr lang="en-US" sz="1500" b="1" dirty="0">
                <a:solidFill>
                  <a:srgbClr val="1D2433"/>
                </a:solidFill>
                <a:latin typeface="Noto Sans" pitchFamily="34" charset="0"/>
                <a:ea typeface="Noto Sans" pitchFamily="34" charset="-122"/>
                <a:cs typeface="Noto Sans" pitchFamily="34" charset="-120"/>
              </a:rPr>
              <a:t> Narx va energiya</a:t>
            </a:r>
            <a:endParaRPr lang="en-US" sz="1500" dirty="0"/>
          </a:p>
        </p:txBody>
      </p:sp>
      <p:sp>
        <p:nvSpPr>
          <p:cNvPr id="18" name="Text 16"/>
          <p:cNvSpPr/>
          <p:nvPr/>
        </p:nvSpPr>
        <p:spPr>
          <a:xfrm>
            <a:off x="4594013" y="3883658"/>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Aniq datchiklar qimmat; mobil robotda energiya ish vaqtini cheklaydi</a:t>
            </a:r>
            <a:endParaRPr lang="en-US" sz="1300" dirty="0"/>
          </a:p>
        </p:txBody>
      </p:sp>
      <p:sp>
        <p:nvSpPr>
          <p:cNvPr id="19" name="Shape 17"/>
          <p:cNvSpPr/>
          <p:nvPr/>
        </p:nvSpPr>
        <p:spPr>
          <a:xfrm>
            <a:off x="7958667" y="3370585"/>
            <a:ext cx="3420533" cy="1404620"/>
          </a:xfrm>
          <a:prstGeom prst="roundRect">
            <a:avLst>
              <a:gd name="adj" fmla="val 5425"/>
            </a:avLst>
          </a:prstGeom>
          <a:solidFill>
            <a:srgbClr val="16233B"/>
          </a:solidFill>
          <a:ln/>
        </p:spPr>
      </p:sp>
      <p:sp>
        <p:nvSpPr>
          <p:cNvPr id="20" name="Text 18"/>
          <p:cNvSpPr/>
          <p:nvPr/>
        </p:nvSpPr>
        <p:spPr>
          <a:xfrm>
            <a:off x="8161867" y="3573785"/>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46E"/>
                </a:solidFill>
                <a:latin typeface="Noto Sans" pitchFamily="34" charset="0"/>
                <a:ea typeface="Noto Sans" pitchFamily="34" charset="-122"/>
                <a:cs typeface="Noto Sans" pitchFamily="34" charset="-120"/>
              </a:rPr>
              <a:t>Fanning keyingi boʻlimlarida</a:t>
            </a:r>
            <a:endParaRPr lang="en-US" sz="1500" dirty="0"/>
          </a:p>
        </p:txBody>
      </p:sp>
      <p:sp>
        <p:nvSpPr>
          <p:cNvPr id="21" name="Text 19"/>
          <p:cNvSpPr/>
          <p:nvPr/>
        </p:nvSpPr>
        <p:spPr>
          <a:xfrm>
            <a:off x="8161867" y="3878585"/>
            <a:ext cx="310455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Datchik xatoliklari, oʻlchash sxemalari, lokatsiya, koʻrish, kompleksirovaniya, SI, interfeys</a:t>
            </a:r>
            <a:endParaRPr lang="en-US" sz="13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XULOSA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Robot imkoniyatini idrok cheklaydi</a:t>
            </a:r>
            <a:endParaRPr lang="en-US" sz="3200" dirty="0"/>
          </a:p>
        </p:txBody>
      </p:sp>
      <p:sp>
        <p:nvSpPr>
          <p:cNvPr id="4" name="Text 2"/>
          <p:cNvSpPr/>
          <p:nvPr/>
        </p:nvSpPr>
        <p:spPr>
          <a:xfrm>
            <a:off x="812800" y="1854200"/>
            <a:ext cx="10203180"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5F3EE"/>
                </a:solidFill>
                <a:latin typeface="Noto Sans" pitchFamily="34" charset="0"/>
                <a:ea typeface="Noto Sans" pitchFamily="34" charset="-122"/>
                <a:cs typeface="Noto Sans" pitchFamily="34" charset="-120"/>
              </a:rPr>
              <a:t>Bugun robotni koʻpincha mexanika emas, balki muhitni qanchalik toʻliq, aniq va ishonchli idrok eta olishi cheklaydi.</a:t>
            </a:r>
            <a:endParaRPr lang="en-US" sz="2200" dirty="0"/>
          </a:p>
        </p:txBody>
      </p:sp>
      <p:sp>
        <p:nvSpPr>
          <p:cNvPr id="5" name="Shape 3"/>
          <p:cNvSpPr/>
          <p:nvPr/>
        </p:nvSpPr>
        <p:spPr>
          <a:xfrm>
            <a:off x="812800" y="2926085"/>
            <a:ext cx="3386667" cy="0"/>
          </a:xfrm>
          <a:prstGeom prst="line">
            <a:avLst/>
          </a:prstGeom>
          <a:noFill/>
          <a:ln w="25400">
            <a:solidFill>
              <a:srgbClr val="F0A46E"/>
            </a:solidFill>
            <a:prstDash val="solid"/>
          </a:ln>
        </p:spPr>
      </p:sp>
      <p:sp>
        <p:nvSpPr>
          <p:cNvPr id="6" name="Text 4"/>
          <p:cNvSpPr/>
          <p:nvPr/>
        </p:nvSpPr>
        <p:spPr>
          <a:xfrm>
            <a:off x="812800" y="3091185"/>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46E"/>
                </a:solidFill>
                <a:latin typeface="Noto Sans" pitchFamily="34" charset="0"/>
                <a:ea typeface="Noto Sans" pitchFamily="34" charset="-122"/>
                <a:cs typeface="Noto Sans" pitchFamily="34" charset="-120"/>
              </a:rPr>
              <a:t>Dasturiy robotlar</a:t>
            </a:r>
            <a:endParaRPr lang="en-US" sz="1500" dirty="0"/>
          </a:p>
        </p:txBody>
      </p:sp>
      <p:sp>
        <p:nvSpPr>
          <p:cNvPr id="7" name="Text 5"/>
          <p:cNvSpPr/>
          <p:nvPr/>
        </p:nvSpPr>
        <p:spPr>
          <a:xfrm>
            <a:off x="812800" y="3370585"/>
            <a:ext cx="34882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faqat oʻz holatini «bilgan»</a:t>
            </a:r>
            <a:endParaRPr lang="en-US" sz="1300" dirty="0"/>
          </a:p>
        </p:txBody>
      </p:sp>
      <p:sp>
        <p:nvSpPr>
          <p:cNvPr id="8" name="Shape 6"/>
          <p:cNvSpPr/>
          <p:nvPr/>
        </p:nvSpPr>
        <p:spPr>
          <a:xfrm>
            <a:off x="4402667" y="2926085"/>
            <a:ext cx="3386667" cy="0"/>
          </a:xfrm>
          <a:prstGeom prst="line">
            <a:avLst/>
          </a:prstGeom>
          <a:noFill/>
          <a:ln w="25400">
            <a:solidFill>
              <a:srgbClr val="F0A46E"/>
            </a:solidFill>
            <a:prstDash val="solid"/>
          </a:ln>
        </p:spPr>
      </p:sp>
      <p:sp>
        <p:nvSpPr>
          <p:cNvPr id="9" name="Text 7"/>
          <p:cNvSpPr/>
          <p:nvPr/>
        </p:nvSpPr>
        <p:spPr>
          <a:xfrm>
            <a:off x="4402667" y="3091185"/>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46E"/>
                </a:solidFill>
                <a:latin typeface="Noto Sans" pitchFamily="34" charset="0"/>
                <a:ea typeface="Noto Sans" pitchFamily="34" charset="-122"/>
                <a:cs typeface="Noto Sans" pitchFamily="34" charset="-120"/>
              </a:rPr>
              <a:t>Adaptiv robotlar</a:t>
            </a:r>
            <a:endParaRPr lang="en-US" sz="1500" dirty="0"/>
          </a:p>
        </p:txBody>
      </p:sp>
      <p:sp>
        <p:nvSpPr>
          <p:cNvPr id="10" name="Text 8"/>
          <p:cNvSpPr/>
          <p:nvPr/>
        </p:nvSpPr>
        <p:spPr>
          <a:xfrm>
            <a:off x="4402667" y="3370585"/>
            <a:ext cx="34882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muhitni sezishni oʻrgandi</a:t>
            </a:r>
            <a:endParaRPr lang="en-US" sz="1300" dirty="0"/>
          </a:p>
        </p:txBody>
      </p:sp>
      <p:sp>
        <p:nvSpPr>
          <p:cNvPr id="11" name="Shape 9"/>
          <p:cNvSpPr/>
          <p:nvPr/>
        </p:nvSpPr>
        <p:spPr>
          <a:xfrm>
            <a:off x="7992533" y="2926085"/>
            <a:ext cx="3386667" cy="0"/>
          </a:xfrm>
          <a:prstGeom prst="line">
            <a:avLst/>
          </a:prstGeom>
          <a:noFill/>
          <a:ln w="25400">
            <a:solidFill>
              <a:srgbClr val="F0A46E"/>
            </a:solidFill>
            <a:prstDash val="solid"/>
          </a:ln>
        </p:spPr>
      </p:sp>
      <p:sp>
        <p:nvSpPr>
          <p:cNvPr id="12" name="Text 10"/>
          <p:cNvSpPr/>
          <p:nvPr/>
        </p:nvSpPr>
        <p:spPr>
          <a:xfrm>
            <a:off x="7992533" y="3091185"/>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46E"/>
                </a:solidFill>
                <a:latin typeface="Noto Sans" pitchFamily="34" charset="0"/>
                <a:ea typeface="Noto Sans" pitchFamily="34" charset="-122"/>
                <a:cs typeface="Noto Sans" pitchFamily="34" charset="-120"/>
              </a:rPr>
              <a:t>Intellektual robotlar</a:t>
            </a:r>
            <a:endParaRPr lang="en-US" sz="1500" dirty="0"/>
          </a:p>
        </p:txBody>
      </p:sp>
      <p:sp>
        <p:nvSpPr>
          <p:cNvPr id="13" name="Text 11"/>
          <p:cNvSpPr/>
          <p:nvPr/>
        </p:nvSpPr>
        <p:spPr>
          <a:xfrm>
            <a:off x="7992533" y="3370585"/>
            <a:ext cx="34882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muhitni tushunish va rejalashtirishni oʻrganmoqda</a:t>
            </a:r>
            <a:endParaRPr lang="en-US" sz="13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Maʼruza №1 · Fanning tarixi, rivojlanishi, dolzarb muammolari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YAKUN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Nazorat savollari</a:t>
            </a:r>
            <a:endParaRPr lang="en-US" sz="3200" dirty="0"/>
          </a:p>
        </p:txBody>
      </p:sp>
      <p:sp>
        <p:nvSpPr>
          <p:cNvPr id="4" name="Text 2"/>
          <p:cNvSpPr/>
          <p:nvPr/>
        </p:nvSpPr>
        <p:spPr>
          <a:xfrm>
            <a:off x="910590" y="1803400"/>
            <a:ext cx="5126228" cy="2105660"/>
          </a:xfrm>
          <a:prstGeom prst="rect">
            <a:avLst/>
          </a:prstGeom>
          <a:noFill/>
          <a:ln/>
        </p:spPr>
        <p:txBody>
          <a:bodyPr wrap="square" lIns="0" tIns="0" rIns="0" bIns="0" rtlCol="0" anchor="t">
            <a:normAutofit/>
          </a:bodyPr>
          <a:lstStyle/>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Robotning informatsion qurilmalari qanday vazifalarni bajaradi?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Robot, mexatronika va mexatron modul tushunchalarini taʼriflang.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Oʻzgartkich, sensor va aktuator qanday farqlanadi?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Qayta aloqali qurilmalarning ilk namunalariga misol keltiring.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«Robot» va «mexatronika» atamalari qachon kiritilgan?</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Birinchi sanoat robotlarining informatsion imkoniyatlari qanday boʻlgan?</a:t>
            </a:r>
            <a:endParaRPr lang="en-US" sz="1300" dirty="0"/>
          </a:p>
        </p:txBody>
      </p:sp>
      <p:sp>
        <p:nvSpPr>
          <p:cNvPr id="5" name="Text 3"/>
          <p:cNvSpPr/>
          <p:nvPr/>
        </p:nvSpPr>
        <p:spPr>
          <a:xfrm>
            <a:off x="6396990" y="1803400"/>
            <a:ext cx="5126228" cy="2105660"/>
          </a:xfrm>
          <a:prstGeom prst="rect">
            <a:avLst/>
          </a:prstGeom>
          <a:noFill/>
          <a:ln/>
        </p:spPr>
        <p:txBody>
          <a:bodyPr wrap="square" lIns="0" tIns="0" rIns="0" bIns="0" rtlCol="0" anchor="t">
            <a:normAutofit/>
          </a:bodyPr>
          <a:lstStyle/>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JSPMI boʻyicha mexatron mahsulotlarning toʻrt sinfini tavsiflang.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Robotlarning uch avlodi qanday farqlanadi?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Inson sezgilari va robot datchiklarini taqqoslang.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Proprioseptiv va eksteroseptiv datchiklarga misol keltiring.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Kompleksirovaniya aniqlikni qanday oshiradi?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Uchta asosiy dolzarb muammoni izohlang.</a:t>
            </a:r>
            <a:endParaRPr lang="en-US" sz="1300" dirty="0"/>
          </a:p>
        </p:txBody>
      </p:sp>
      <p:sp>
        <p:nvSpPr>
          <p:cNvPr id="6"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№1 · Fanning tarixi, rivojlanishi, dolzarb muammolari · 22 · Adabiyot: Bolton; Regtien, Dertien; Bishop (ed.); Craig</a:t>
            </a:r>
            <a:endParaRPr lang="en-US" sz="1200" dirty="0"/>
          </a:p>
        </p:txBody>
      </p:sp>
    </p:spTree>
  </p:cSld>
  <p:clrMapOvr>
    <a:masterClrMapping/>
  </p:clrMapOvr>
</p:sld>
</file>

<file path=ppt/theme/theme1.xml><?xml version="1.0" encoding="utf-8"?>
<a:theme xmlns:a="http://schemas.openxmlformats.org/drawingml/2006/main" name="Maʼruza №1. Fanning tarixi, rivojlanishi, dolzarb muammolari">
  <a:themeElements>
    <a:clrScheme name="Maʼruza №1. Fanning tarixi, rivojlanishi, dolzarb muammolari">
      <a:dk1>
        <a:srgbClr val="16233B"/>
      </a:dk1>
      <a:lt1>
        <a:srgbClr val="F5F3EE"/>
      </a:lt1>
      <a:dk2>
        <a:srgbClr val="4E5768"/>
      </a:dk2>
      <a:lt2>
        <a:srgbClr val="DFDEDC"/>
      </a:lt2>
      <a:accent1>
        <a:srgbClr val="B5521A"/>
      </a:accent1>
      <a:accent2>
        <a:srgbClr val="2D6CB0"/>
      </a:accent2>
      <a:accent3>
        <a:srgbClr val="F0A46E"/>
      </a:accent3>
      <a:accent4>
        <a:srgbClr val="D9692B"/>
      </a:accent4>
      <a:accent5>
        <a:srgbClr val="6B7280"/>
      </a:accent5>
      <a:accent6>
        <a:srgbClr val="C9CFDB"/>
      </a:accent6>
      <a:hlink>
        <a:srgbClr val="0563C1"/>
      </a:hlink>
      <a:folHlink>
        <a:srgbClr val="954F72"/>
      </a:folHlink>
    </a:clrScheme>
    <a:fontScheme name="Maʼruza №1. Fanning tarixi, rivojlanishi, dolzarb muammolari">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Maʼruza №1. Fanning tarixi, rivojlanishi, dolzarb muammolari</dc:title>
  <dc:subject/>
  <dc:creator/>
  <cp:lastModifiedBy/>
  <cp:revision>1</cp:revision>
  <dcterms:created xsi:type="dcterms:W3CDTF">2026-10-14T05:45:13Z</dcterms:created>
  <dcterms:modified xsi:type="dcterms:W3CDTF">2026-10-14T05:45:13Z</dcterms:modified>
</cp:coreProperties>
</file>