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Noto Sans" panose="020B0502040504020204" pitchFamily="34"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font" Target="fonts/font3.fntdata"/><Relationship Id="rId2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Oldingi maʼruzalarda alohida informatsion qurilmalar va axborot tushunchasi koʻrildi. Bugun robot datchiklari tizim sifatida qanday tashkil etilishini, ular qanday sinflanishini va informatsion tizimga qanday talablar qoʻyilishini koʻramiz.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Tayanch iboralar: informatsion tizim, informatsion-oʻlchash kanali, sezgir element, oʻlchash oʻzgartkichi, informatsion model, kinestetik, lokatsion, texnik koʻrish, taktil, navigatsiya tizimlari, generatorli va parametrik datchiklar, energetik sohalar, intellektual datchik, ishlov berish ierarxiyasi.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Amaliyotda robot alohida datchiklar bilan emas, balki ularning tizimi bilan ishlaydi: bir nechta datchik, ularning signallariga ishlov beruvchi sxemalar, aloqa kanallari va algoritmlar birgalikda robotga kerakli axborotni yetkazadi.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vazifa — qayta aloqa — har qanday robotda mavjud, shuning uchun u ajratib koʻrsatilgan. Qolgan vazifalar robot qanchalik murakkab va avtonom boʻlsa, shunchalik katta ahamiyat kasb etadi.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Sezgir element — kattalik bevosita taʼsir qiladigan element (deformatsiya → qarshilik). Oʻlchash oʻzgartkichi bu oʻzgarishni elektr signaliga aylantiradi; parametrik datchiklarda buning uchun tashqi taʼminot kerak. Signalga ishlov berish — kuchaytirish, filtrlash, chiziqlashtirish. ARO diskretlaydi va kvantlaydi. Interfeys: 0–10 V, 4–20 mA, enkoder A/B/Z impulslari yoki I²C, SPI, CAN, EtherCAT, IO-Link.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Toʻgʻri model maʼlum x uchun qanday y olinishini tavsiflaydi. Boshqaruv tizimiga esa teskari masala kerak: oʻlchangan y boʻyicha x ning bahosini topish — bu kalibrlash tavsifi. Masalan, harorat datchigi koʻrsatkichi yordamida tenzodatchik sezgirligining haroratga bogʻliqligi hisobga olinadi — bu strukturaviy usulga misol.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sinflanish inson sezgi organlari bilan oʻxshashlikka asoslanadi va fanning keyingi mavzulari aynan shu tartibda oʻrganiladi. Sinflanish shartli: bitta datchik bir nechta tizimga xizmat qilishi mumkin. Masalan, kamera texnik koʻrish, vizual odometriya va imo-ishoralarni tanish uchun ishlatiladi.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Lokatsion tizimlar tovush, yorugʻlik yoki radiotoʻlqin yuboradi va qaytgan signal boʻyicha masofa va obyekt joylashuvini aniqlaydi. Navigatsiya tizimlari mobil robotlar, dronlar va avtonom transportda robotning global va lokal koordinatalarini aniqlaydi va odatda datchiklar maʼlumotlarini birlashtirish asosida quriladi.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Ingliz tilidagi adabiyotda generatorli datchiklar self-generating yoki direct, parametrik datchiklar modulating deb ataladi. Bu farq oʻlchash sxemasini tanlashni belgilaydi: generatorli datchiklar uchun kuchaytirgich va zaryad kuchaytirgichlari, parametrik datchiklar uchun taʼminot manbaiga ega koʻprik sxemalari va kuchlanish boʻlgichlari qoʻllaniladi.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Datchiklar nazariyasida koʻpincha oltita signal sohasi ajratiladi: nurlanish (optik), mexanik, issiqlik, elektr, magnit va kimyoviy. Datchik kirish signalini biror sohadan elektr sohasiga oʻtkazadi; parametrik datchikda esa yordamchi signal sohasi ham hisobga olinadi.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Regtien va Dertien boʻyicha datchikning elektr chiqishi material xossasiga, geometriyaga yoki harakatga bogʻliq boʻlishi mumkin. Bitta kattalikni turli prinsiplar bilan oʻlchash mumkin, aksincha, bitta prinsip turli kattaliklarni oʻlchashda qoʻllanadi: magnit datchik siljish, tezlik yoki taktil datchik sifatida ishlatilishi mumkin, lekin barcha holatlarda imkoniyatlari magnit prinsip fizikasi bilan cheklanadi.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belgilar datchikni boshqaruv tizimiga ulash va joylashtirishni rejalashtirishda muhim: chiqish turi kontroller kirishini, taʼsir masofasi datchik oʻrnini, ishlov berish darajasi esa qancha qoʻshimcha elektronika va dastur kerakligini belgilaydi.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Millionlab piksellardan «oldinda 3 m masofada odam bor» degan bitta xulosa olinadi. Bu tamoyil robotlarni intellektual boshqarishning ierarxik prinsipiga mos keladi. Quyi sathlarda enkoder signali yuritmaning tezlik va pozitsiya konturida mikrosekundlar ichida ishlatiladi; yuqori sathlarda tasvirlarni tanib olish, xarita qurish, sunʼiy intellekt usullari markaziy kompyuterda bajariladi.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N(x), N(y) — gorizontal va vertikal piksellar soni, b — bitta piksel uchun bitlar soni, f — kadrlar chastotasi. 1920 · 1080 · 24 · 30 ≈ 1,49 · 10⁹ bit/s. Kamera oqimi manipulyator enkoderlari oqimidan taxminan 15 ming marta katta. Dastlabki ishlov — siqish va belgilarni ajratish — aqlli kameralarda kamera ichida bajariladi.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Aniqlikni oshirish koʻpincha narx, oʻlcham yoki tezkorlik hisobiga erishiladi, shuning uchun informatsion tizimni loyihalash murosali yechim topishdir. Keyingi slaydda ikki talabning miqdoriy tomonini koʻramiz.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datchik robot vazifasi, tezligi va ish masofasidan kelib chiqib tanlanadi. Mashq: 1,5 m/s tezlikdagi robotda 80 ms kechikish qanday xatolik beradi? Javob: 12 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Robotning informatsion tizimi informatsion-oʻlchash kanallaridan iborat. Informatsion tizimlar vazifasi boʻyicha kinestetik, lokatsion, texnik koʻrish, taktil va kuch-moment, navigatsiya, diagnostika va muloqot tizimlariga boʻlinadi. Murakkab robotda axborot ierarxik ravishda qayta ishlanadi.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12-savol javobi: Δs = 1,5 · 0,08 = 0,12 m, yaʼni 12 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92B"/>
          </a:solidFill>
          <a:ln/>
        </p:spPr>
      </p:sp>
      <p:sp>
        <p:nvSpPr>
          <p:cNvPr id="3" name="Text 1"/>
          <p:cNvSpPr/>
          <p:nvPr/>
        </p:nvSpPr>
        <p:spPr>
          <a:xfrm>
            <a:off x="812800" y="184023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A46E"/>
                </a:solidFill>
                <a:latin typeface="Noto Sans" pitchFamily="34" charset="0"/>
                <a:ea typeface="Noto Sans" pitchFamily="34" charset="-122"/>
                <a:cs typeface="Noto Sans" pitchFamily="34" charset="-120"/>
              </a:rPr>
              <a:t>MAʼRUZA №3</a:t>
            </a:r>
            <a:endParaRPr lang="en-US" sz="1400" dirty="0"/>
          </a:p>
        </p:txBody>
      </p:sp>
      <p:sp>
        <p:nvSpPr>
          <p:cNvPr id="4" name="Text 2"/>
          <p:cNvSpPr/>
          <p:nvPr>
            <p:ph type="title"/>
          </p:nvPr>
        </p:nvSpPr>
        <p:spPr>
          <a:xfrm>
            <a:off x="812800" y="2343150"/>
            <a:ext cx="10203180" cy="186944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5F3EE"/>
                </a:solidFill>
                <a:latin typeface="Noto Sans" pitchFamily="34" charset="0"/>
                <a:ea typeface="Noto Sans" pitchFamily="34" charset="-122"/>
                <a:cs typeface="Noto Sans" pitchFamily="34" charset="-120"/>
              </a:rPr>
              <a:t>Mexatron modullar va robotlarda qoʻllaniladigan informatsion tizimlar va ularning sinflanishi</a:t>
            </a:r>
            <a:endParaRPr lang="en-US" sz="4400" dirty="0"/>
          </a:p>
        </p:txBody>
      </p:sp>
      <p:sp>
        <p:nvSpPr>
          <p:cNvPr id="5" name="Shape 3"/>
          <p:cNvSpPr/>
          <p:nvPr/>
        </p:nvSpPr>
        <p:spPr>
          <a:xfrm>
            <a:off x="812800" y="4441190"/>
            <a:ext cx="1270000" cy="38100"/>
          </a:xfrm>
          <a:prstGeom prst="rect">
            <a:avLst/>
          </a:prstGeom>
          <a:solidFill>
            <a:srgbClr val="D9692B"/>
          </a:solidFill>
          <a:ln/>
        </p:spPr>
      </p:sp>
      <p:sp>
        <p:nvSpPr>
          <p:cNvPr id="6" name="Text 4"/>
          <p:cNvSpPr/>
          <p:nvPr/>
        </p:nvSpPr>
        <p:spPr>
          <a:xfrm>
            <a:off x="812800" y="4733290"/>
            <a:ext cx="91567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FDB"/>
                </a:solidFill>
                <a:latin typeface="Noto Sans" pitchFamily="34" charset="0"/>
                <a:ea typeface="Noto Sans" pitchFamily="34" charset="-122"/>
                <a:cs typeface="Noto Sans" pitchFamily="34" charset="-120"/>
              </a:rPr>
              <a:t>«Mexatron modul va robotlarning informatsion qurilmalari» fani</a:t>
            </a:r>
            <a:endParaRPr lang="en-US" sz="1600" dirty="0"/>
          </a:p>
        </p:txBody>
      </p:sp>
      <p:sp>
        <p:nvSpPr>
          <p:cNvPr id="7" name="Text 5"/>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[Oʻqituvchi F.I.Sh.]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Maʼruza rejasi</a:t>
            </a:r>
            <a:endParaRPr lang="en-US" sz="3200" dirty="0"/>
          </a:p>
        </p:txBody>
      </p:sp>
      <p:sp>
        <p:nvSpPr>
          <p:cNvPr id="4" name="Text 2"/>
          <p:cNvSpPr/>
          <p:nvPr/>
        </p:nvSpPr>
        <p:spPr>
          <a:xfrm>
            <a:off x="894080" y="1905000"/>
            <a:ext cx="5141976" cy="2159000"/>
          </a:xfrm>
          <a:prstGeom prst="rect">
            <a:avLst/>
          </a:prstGeom>
          <a:noFill/>
          <a:ln/>
        </p:spPr>
        <p:txBody>
          <a:bodyPr wrap="square" lIns="0" tIns="0" rIns="0" bIns="0" rtlCol="0" anchor="t">
            <a:normAutofit/>
          </a:bodyPr>
          <a:lstStyle/>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Informatsion tizim tushunchasi va robotdagi vazifalari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Informatsion-oʻlchash kanalining tuzilishi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Oʻlchash jarayoni va datchikning informatsion modeli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Informatsion tizimlarning vazifasi boʻyicha sinflanishi</a:t>
            </a:r>
            <a:endParaRPr lang="en-US" sz="1600" dirty="0"/>
          </a:p>
        </p:txBody>
      </p:sp>
      <p:sp>
        <p:nvSpPr>
          <p:cNvPr id="5" name="Text 3"/>
          <p:cNvSpPr/>
          <p:nvPr/>
        </p:nvSpPr>
        <p:spPr>
          <a:xfrm>
            <a:off x="6380480" y="1905000"/>
            <a:ext cx="5141976" cy="2159000"/>
          </a:xfrm>
          <a:prstGeom prst="rect">
            <a:avLst/>
          </a:prstGeom>
          <a:noFill/>
          <a:ln/>
        </p:spPr>
        <p:txBody>
          <a:bodyPr wrap="square" lIns="0" tIns="0" rIns="0" bIns="0" rtlCol="0" anchor="t">
            <a:normAutofit/>
          </a:bodyPr>
          <a:lstStyle/>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Datchiklarning fizik va energetik belgilar boʻyicha sinflanishi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Robot informatsion tizimining ierarxik tuzilishi</a:t>
            </a:r>
            <a:endParaRPr lang="en-US" sz="1600" dirty="0"/>
          </a:p>
          <a:p>
            <a:pPr algn="l" marL="223520" indent="-223520">
              <a:lnSpc>
                <a:spcPts val="2400"/>
              </a:lnSpc>
              <a:buSzPct val="100000"/>
              <a:buFontTx/>
              <a:buAutoNum type="arabicPeriod" startAt="1"/>
            </a:pPr>
            <a:r>
              <a:rPr lang="en-US" sz="1600" dirty="0">
                <a:solidFill>
                  <a:srgbClr val="1D2433"/>
                </a:solidFill>
                <a:latin typeface="Noto Sans" pitchFamily="34" charset="0"/>
                <a:ea typeface="Noto Sans" pitchFamily="34" charset="-122"/>
                <a:cs typeface="Noto Sans" pitchFamily="34" charset="-120"/>
              </a:rPr>
              <a:t>Informatsion tizimlarga qoʻyiladigan talablar</a:t>
            </a:r>
            <a:endParaRPr lang="en-US" sz="1600" dirty="0"/>
          </a:p>
        </p:txBody>
      </p:sp>
      <p:sp>
        <p:nvSpPr>
          <p:cNvPr id="6" name="Text 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46E"/>
                </a:solidFill>
                <a:latin typeface="Noto Sans" pitchFamily="34" charset="0"/>
                <a:ea typeface="Noto Sans" pitchFamily="34" charset="-122"/>
                <a:cs typeface="Noto Sans" pitchFamily="34" charset="-120"/>
              </a:rPr>
              <a:t>TUSHUNCHA</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Noto Sans" pitchFamily="34" charset="0"/>
                <a:ea typeface="Noto Sans" pitchFamily="34" charset="-122"/>
                <a:cs typeface="Noto Sans" pitchFamily="34" charset="-120"/>
              </a:rPr>
              <a:t>Robotning informatsion tizimi</a:t>
            </a:r>
            <a:endParaRPr lang="en-US" sz="3200" dirty="0"/>
          </a:p>
        </p:txBody>
      </p:sp>
      <p:sp>
        <p:nvSpPr>
          <p:cNvPr id="4" name="Text 2"/>
          <p:cNvSpPr/>
          <p:nvPr/>
        </p:nvSpPr>
        <p:spPr>
          <a:xfrm>
            <a:off x="812800" y="1854200"/>
            <a:ext cx="10203180"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5F3EE"/>
                </a:solidFill>
                <a:latin typeface="Noto Sans" pitchFamily="34" charset="0"/>
                <a:ea typeface="Noto Sans" pitchFamily="34" charset="-122"/>
                <a:cs typeface="Noto Sans" pitchFamily="34" charset="-120"/>
              </a:rPr>
              <a:t>Robotning ichki holati, ishchi muhit va texnologik jarayon haqidagi axborotni olish, oʻzgartirish, uzatish, qayta ishlash va boshqaruv tizimiga berishni taʼminlovchi texnik va dasturiy vositalar majmuasi.</a:t>
            </a:r>
            <a:endParaRPr lang="en-US" sz="2000" dirty="0"/>
          </a:p>
        </p:txBody>
      </p:sp>
      <p:sp>
        <p:nvSpPr>
          <p:cNvPr id="5" name="Shape 3"/>
          <p:cNvSpPr/>
          <p:nvPr/>
        </p:nvSpPr>
        <p:spPr>
          <a:xfrm>
            <a:off x="812800" y="3238500"/>
            <a:ext cx="2527300" cy="0"/>
          </a:xfrm>
          <a:prstGeom prst="line">
            <a:avLst/>
          </a:prstGeom>
          <a:noFill/>
          <a:ln w="25400">
            <a:solidFill>
              <a:srgbClr val="F0A46E"/>
            </a:solidFill>
            <a:prstDash val="solid"/>
          </a:ln>
        </p:spPr>
      </p:sp>
      <p:sp>
        <p:nvSpPr>
          <p:cNvPr id="6" name="Text 4"/>
          <p:cNvSpPr/>
          <p:nvPr/>
        </p:nvSpPr>
        <p:spPr>
          <a:xfrm>
            <a:off x="812800" y="3378200"/>
            <a:ext cx="2603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Datchiklar</a:t>
            </a:r>
            <a:endParaRPr lang="en-US" sz="1400" dirty="0"/>
          </a:p>
        </p:txBody>
      </p:sp>
      <p:sp>
        <p:nvSpPr>
          <p:cNvPr id="7" name="Shape 5"/>
          <p:cNvSpPr/>
          <p:nvPr/>
        </p:nvSpPr>
        <p:spPr>
          <a:xfrm>
            <a:off x="3492500" y="3238500"/>
            <a:ext cx="2527300" cy="0"/>
          </a:xfrm>
          <a:prstGeom prst="line">
            <a:avLst/>
          </a:prstGeom>
          <a:noFill/>
          <a:ln w="25400">
            <a:solidFill>
              <a:srgbClr val="F0A46E"/>
            </a:solidFill>
            <a:prstDash val="solid"/>
          </a:ln>
        </p:spPr>
      </p:sp>
      <p:sp>
        <p:nvSpPr>
          <p:cNvPr id="8" name="Text 6"/>
          <p:cNvSpPr/>
          <p:nvPr/>
        </p:nvSpPr>
        <p:spPr>
          <a:xfrm>
            <a:off x="3492500" y="3378200"/>
            <a:ext cx="2603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Signalga ishlov berish</a:t>
            </a:r>
            <a:endParaRPr lang="en-US" sz="1400" dirty="0"/>
          </a:p>
        </p:txBody>
      </p:sp>
      <p:sp>
        <p:nvSpPr>
          <p:cNvPr id="9" name="Shape 7"/>
          <p:cNvSpPr/>
          <p:nvPr/>
        </p:nvSpPr>
        <p:spPr>
          <a:xfrm>
            <a:off x="6172200" y="3238500"/>
            <a:ext cx="2527300" cy="0"/>
          </a:xfrm>
          <a:prstGeom prst="line">
            <a:avLst/>
          </a:prstGeom>
          <a:noFill/>
          <a:ln w="25400">
            <a:solidFill>
              <a:srgbClr val="F0A46E"/>
            </a:solidFill>
            <a:prstDash val="solid"/>
          </a:ln>
        </p:spPr>
      </p:sp>
      <p:sp>
        <p:nvSpPr>
          <p:cNvPr id="10" name="Text 8"/>
          <p:cNvSpPr/>
          <p:nvPr/>
        </p:nvSpPr>
        <p:spPr>
          <a:xfrm>
            <a:off x="6172200" y="3378200"/>
            <a:ext cx="2603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ARO va interfeyslar</a:t>
            </a:r>
            <a:endParaRPr lang="en-US" sz="1400" dirty="0"/>
          </a:p>
        </p:txBody>
      </p:sp>
      <p:sp>
        <p:nvSpPr>
          <p:cNvPr id="11" name="Shape 9"/>
          <p:cNvSpPr/>
          <p:nvPr/>
        </p:nvSpPr>
        <p:spPr>
          <a:xfrm>
            <a:off x="8851900" y="3238500"/>
            <a:ext cx="2527300" cy="0"/>
          </a:xfrm>
          <a:prstGeom prst="line">
            <a:avLst/>
          </a:prstGeom>
          <a:noFill/>
          <a:ln w="25400">
            <a:solidFill>
              <a:srgbClr val="F0A46E"/>
            </a:solidFill>
            <a:prstDash val="solid"/>
          </a:ln>
        </p:spPr>
      </p:sp>
      <p:sp>
        <p:nvSpPr>
          <p:cNvPr id="12" name="Text 10"/>
          <p:cNvSpPr/>
          <p:nvPr/>
        </p:nvSpPr>
        <p:spPr>
          <a:xfrm>
            <a:off x="8851900" y="3378200"/>
            <a:ext cx="2603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Qayta ishlash algoritmlari</a:t>
            </a:r>
            <a:endParaRPr lang="en-US" sz="14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Maʼruza №3 · Informatsion tizimlar va ularning sinflanishi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TUSHUNCHA</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Informatsion tizimning robotdagi vazifalari</a:t>
            </a:r>
            <a:endParaRPr lang="en-US" sz="3200" dirty="0"/>
          </a:p>
        </p:txBody>
      </p:sp>
      <p:sp>
        <p:nvSpPr>
          <p:cNvPr id="4" name="Shape 2"/>
          <p:cNvSpPr/>
          <p:nvPr/>
        </p:nvSpPr>
        <p:spPr>
          <a:xfrm>
            <a:off x="812800" y="1803400"/>
            <a:ext cx="3420533" cy="1183640"/>
          </a:xfrm>
          <a:prstGeom prst="roundRect">
            <a:avLst>
              <a:gd name="adj" fmla="val 6438"/>
            </a:avLst>
          </a:prstGeom>
          <a:solidFill>
            <a:srgbClr val="16233B"/>
          </a:solidFill>
          <a:ln/>
        </p:spPr>
      </p:sp>
      <p:sp>
        <p:nvSpPr>
          <p:cNvPr id="5" name="Text 3"/>
          <p:cNvSpPr/>
          <p:nvPr/>
        </p:nvSpPr>
        <p:spPr>
          <a:xfrm>
            <a:off x="1016000" y="2006600"/>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46E"/>
                </a:solidFill>
                <a:latin typeface="Noto Sans" pitchFamily="34" charset="0"/>
                <a:ea typeface="Noto Sans" pitchFamily="34" charset="-122"/>
                <a:cs typeface="Noto Sans" pitchFamily="34" charset="-120"/>
              </a:rPr>
              <a:t>Qayta aloqa</a:t>
            </a:r>
            <a:endParaRPr lang="en-US" sz="1500" dirty="0"/>
          </a:p>
        </p:txBody>
      </p:sp>
      <p:sp>
        <p:nvSpPr>
          <p:cNvPr id="6" name="Text 4"/>
          <p:cNvSpPr/>
          <p:nvPr/>
        </p:nvSpPr>
        <p:spPr>
          <a:xfrm>
            <a:off x="1016000" y="2311400"/>
            <a:ext cx="31045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Yuritmalar holati, tezligi va momentini boshqaruv konturlariga berish</a:t>
            </a:r>
            <a:endParaRPr lang="en-US" sz="1300" dirty="0"/>
          </a:p>
        </p:txBody>
      </p:sp>
      <p:sp>
        <p:nvSpPr>
          <p:cNvPr id="7" name="Shape 5"/>
          <p:cNvSpPr/>
          <p:nvPr/>
        </p:nvSpPr>
        <p:spPr>
          <a:xfrm>
            <a:off x="4388908" y="1806575"/>
            <a:ext cx="3414183" cy="1177290"/>
          </a:xfrm>
          <a:prstGeom prst="roundRect">
            <a:avLst>
              <a:gd name="adj" fmla="val 6203"/>
            </a:avLst>
          </a:prstGeom>
          <a:solidFill>
            <a:srgbClr val="FDFCF9"/>
          </a:solidFill>
          <a:ln w="6350">
            <a:solidFill>
              <a:srgbClr val="E2DED4"/>
            </a:solidFill>
            <a:prstDash val="solid"/>
          </a:ln>
        </p:spPr>
      </p:sp>
      <p:sp>
        <p:nvSpPr>
          <p:cNvPr id="8" name="Text 6"/>
          <p:cNvSpPr/>
          <p:nvPr/>
        </p:nvSpPr>
        <p:spPr>
          <a:xfrm>
            <a:off x="4594013" y="2011680"/>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Muhitni idrok etish</a:t>
            </a:r>
            <a:endParaRPr lang="en-US" sz="1500" dirty="0"/>
          </a:p>
        </p:txBody>
      </p:sp>
      <p:sp>
        <p:nvSpPr>
          <p:cNvPr id="9" name="Text 7"/>
          <p:cNvSpPr/>
          <p:nvPr/>
        </p:nvSpPr>
        <p:spPr>
          <a:xfrm>
            <a:off x="4594013" y="2316480"/>
            <a:ext cx="3094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Obyektlar, toʻsiqlar va ularning joylashuvi; muhit modeli</a:t>
            </a:r>
            <a:endParaRPr lang="en-US" sz="1300" dirty="0"/>
          </a:p>
        </p:txBody>
      </p:sp>
      <p:sp>
        <p:nvSpPr>
          <p:cNvPr id="10" name="Shape 8"/>
          <p:cNvSpPr/>
          <p:nvPr/>
        </p:nvSpPr>
        <p:spPr>
          <a:xfrm>
            <a:off x="7961842" y="1806575"/>
            <a:ext cx="3414183" cy="1177290"/>
          </a:xfrm>
          <a:prstGeom prst="roundRect">
            <a:avLst>
              <a:gd name="adj" fmla="val 6203"/>
            </a:avLst>
          </a:prstGeom>
          <a:solidFill>
            <a:srgbClr val="FDFCF9"/>
          </a:solidFill>
          <a:ln w="6350">
            <a:solidFill>
              <a:srgbClr val="E2DED4"/>
            </a:solidFill>
            <a:prstDash val="solid"/>
          </a:ln>
        </p:spPr>
      </p:sp>
      <p:sp>
        <p:nvSpPr>
          <p:cNvPr id="11" name="Text 9"/>
          <p:cNvSpPr/>
          <p:nvPr/>
        </p:nvSpPr>
        <p:spPr>
          <a:xfrm>
            <a:off x="8166946" y="2011680"/>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Kontakt nazorati</a:t>
            </a:r>
            <a:endParaRPr lang="en-US" sz="1500" dirty="0"/>
          </a:p>
        </p:txBody>
      </p:sp>
      <p:sp>
        <p:nvSpPr>
          <p:cNvPr id="12" name="Text 10"/>
          <p:cNvSpPr/>
          <p:nvPr/>
        </p:nvSpPr>
        <p:spPr>
          <a:xfrm>
            <a:off x="8166946" y="2316480"/>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Kontakt kuchlarini oʻlchash va cheklash</a:t>
            </a:r>
            <a:endParaRPr lang="en-US" sz="1300" dirty="0"/>
          </a:p>
        </p:txBody>
      </p:sp>
      <p:sp>
        <p:nvSpPr>
          <p:cNvPr id="13" name="Shape 11"/>
          <p:cNvSpPr/>
          <p:nvPr/>
        </p:nvSpPr>
        <p:spPr>
          <a:xfrm>
            <a:off x="815975" y="3142614"/>
            <a:ext cx="3414183" cy="1177290"/>
          </a:xfrm>
          <a:prstGeom prst="roundRect">
            <a:avLst>
              <a:gd name="adj" fmla="val 6203"/>
            </a:avLst>
          </a:prstGeom>
          <a:solidFill>
            <a:srgbClr val="FDFCF9"/>
          </a:solidFill>
          <a:ln w="6350">
            <a:solidFill>
              <a:srgbClr val="E2DED4"/>
            </a:solidFill>
            <a:prstDash val="solid"/>
          </a:ln>
        </p:spPr>
      </p:sp>
      <p:sp>
        <p:nvSpPr>
          <p:cNvPr id="14" name="Text 12"/>
          <p:cNvSpPr/>
          <p:nvPr/>
        </p:nvSpPr>
        <p:spPr>
          <a:xfrm>
            <a:off x="1021080" y="3347720"/>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Navigatsiya</a:t>
            </a:r>
            <a:endParaRPr lang="en-US" sz="1500" dirty="0"/>
          </a:p>
        </p:txBody>
      </p:sp>
      <p:sp>
        <p:nvSpPr>
          <p:cNvPr id="15" name="Text 13"/>
          <p:cNvSpPr/>
          <p:nvPr/>
        </p:nvSpPr>
        <p:spPr>
          <a:xfrm>
            <a:off x="1021080" y="3652520"/>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Mobil robotning fazodagi oʻrni va yoʻnalishi</a:t>
            </a:r>
            <a:endParaRPr lang="en-US" sz="1300" dirty="0"/>
          </a:p>
        </p:txBody>
      </p:sp>
      <p:sp>
        <p:nvSpPr>
          <p:cNvPr id="16" name="Shape 14"/>
          <p:cNvSpPr/>
          <p:nvPr/>
        </p:nvSpPr>
        <p:spPr>
          <a:xfrm>
            <a:off x="4388908" y="3142614"/>
            <a:ext cx="3414183" cy="1177290"/>
          </a:xfrm>
          <a:prstGeom prst="roundRect">
            <a:avLst>
              <a:gd name="adj" fmla="val 6203"/>
            </a:avLst>
          </a:prstGeom>
          <a:solidFill>
            <a:srgbClr val="FDFCF9"/>
          </a:solidFill>
          <a:ln w="6350">
            <a:solidFill>
              <a:srgbClr val="E2DED4"/>
            </a:solidFill>
            <a:prstDash val="solid"/>
          </a:ln>
        </p:spPr>
      </p:sp>
      <p:sp>
        <p:nvSpPr>
          <p:cNvPr id="17" name="Text 15"/>
          <p:cNvSpPr/>
          <p:nvPr/>
        </p:nvSpPr>
        <p:spPr>
          <a:xfrm>
            <a:off x="4594013" y="3347720"/>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Diagnostika va xavfsizlik</a:t>
            </a:r>
            <a:endParaRPr lang="en-US" sz="1500" dirty="0"/>
          </a:p>
        </p:txBody>
      </p:sp>
      <p:sp>
        <p:nvSpPr>
          <p:cNvPr id="18" name="Text 16"/>
          <p:cNvSpPr/>
          <p:nvPr/>
        </p:nvSpPr>
        <p:spPr>
          <a:xfrm>
            <a:off x="4594013" y="3652520"/>
            <a:ext cx="3094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Nosozliklarni aniqlash, inson yaqinlashganini sezish</a:t>
            </a:r>
            <a:endParaRPr lang="en-US" sz="1300" dirty="0"/>
          </a:p>
        </p:txBody>
      </p:sp>
      <p:sp>
        <p:nvSpPr>
          <p:cNvPr id="19" name="Shape 17"/>
          <p:cNvSpPr/>
          <p:nvPr/>
        </p:nvSpPr>
        <p:spPr>
          <a:xfrm>
            <a:off x="7961842" y="3142614"/>
            <a:ext cx="3414183" cy="1177290"/>
          </a:xfrm>
          <a:prstGeom prst="roundRect">
            <a:avLst>
              <a:gd name="adj" fmla="val 6203"/>
            </a:avLst>
          </a:prstGeom>
          <a:solidFill>
            <a:srgbClr val="FDFCF9"/>
          </a:solidFill>
          <a:ln w="6350">
            <a:solidFill>
              <a:srgbClr val="E2DED4"/>
            </a:solidFill>
            <a:prstDash val="solid"/>
          </a:ln>
        </p:spPr>
      </p:sp>
      <p:sp>
        <p:nvSpPr>
          <p:cNvPr id="20" name="Text 18"/>
          <p:cNvSpPr/>
          <p:nvPr/>
        </p:nvSpPr>
        <p:spPr>
          <a:xfrm>
            <a:off x="8166946" y="3347720"/>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Inson bilan muloqot</a:t>
            </a:r>
            <a:endParaRPr lang="en-US" sz="1500" dirty="0"/>
          </a:p>
        </p:txBody>
      </p:sp>
      <p:sp>
        <p:nvSpPr>
          <p:cNvPr id="21" name="Text 19"/>
          <p:cNvSpPr/>
          <p:nvPr/>
        </p:nvSpPr>
        <p:spPr>
          <a:xfrm>
            <a:off x="8166946" y="3652520"/>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Operator buyruqlarini qabul qilish, holat haqida axborot berish</a:t>
            </a:r>
            <a:endParaRPr lang="en-US" sz="1300" dirty="0"/>
          </a:p>
        </p:txBody>
      </p:sp>
      <p:sp>
        <p:nvSpPr>
          <p:cNvPr id="22" name="Text 2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TUZILISH</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Informatsion-oʻlchash kanali</a:t>
            </a:r>
            <a:endParaRPr lang="en-US" sz="3200" dirty="0"/>
          </a:p>
        </p:txBody>
      </p:sp>
      <p:pic>
        <p:nvPicPr>
          <p:cNvPr id="4" name="Image 0" descr="Obyekt, sezgir element, oʻlchash oʻzgartkichi, signalga ishlov berish, ARO, interfeys va boshqaruv tizimi ketma-ket; oʻzgartkichga yordamchi energiya manbai ulangan">    </p:cNvPr>
          <p:cNvPicPr>
            <a:picLocks noChangeAspect="1"/>
          </p:cNvPicPr>
          <p:nvPr/>
        </p:nvPicPr>
        <p:blipFill>
          <a:blip r:embed="rId1"/>
          <a:srcRect l="0" r="0" t="-33" b="-33"/>
          <a:stretch/>
        </p:blipFill>
        <p:spPr>
          <a:xfrm>
            <a:off x="812800" y="1803400"/>
            <a:ext cx="10566400" cy="2374900"/>
          </a:xfrm>
          <a:prstGeom prst="rect">
            <a:avLst/>
          </a:prstGeom>
        </p:spPr>
      </p:pic>
      <p:sp>
        <p:nvSpPr>
          <p:cNvPr id="5" name="Text 2"/>
          <p:cNvSpPr/>
          <p:nvPr/>
        </p:nvSpPr>
        <p:spPr>
          <a:xfrm>
            <a:off x="812800" y="4432300"/>
            <a:ext cx="10566400" cy="571500"/>
          </a:xfrm>
          <a:prstGeom prst="roundRect">
            <a:avLst>
              <a:gd name="adj" fmla="val 13333"/>
            </a:avLst>
          </a:prstGeom>
          <a:solidFill>
            <a:srgbClr val="E8EEF6"/>
          </a:solidFill>
          <a:ln/>
        </p:spPr>
        <p:txBody>
          <a:bodyPr wrap="square" lIns="231682" tIns="130082" rIns="0" bIns="104682" rtlCol="0" anchor="t">
            <a:normAutofit/>
          </a:bodyPr>
          <a:lstStyle/>
          <a:p>
            <a:pPr algn="l" indent="0" marL="0">
              <a:lnSpc>
                <a:spcPts val="2100"/>
              </a:lnSpc>
              <a:buNone/>
            </a:pPr>
            <a:r>
              <a:rPr lang="en-US" sz="1500" b="1" dirty="0">
                <a:solidFill>
                  <a:srgbClr val="16233B"/>
                </a:solidFill>
                <a:latin typeface="Noto Sans" pitchFamily="34" charset="0"/>
                <a:ea typeface="Noto Sans" pitchFamily="34" charset="-122"/>
                <a:cs typeface="Noto Sans" pitchFamily="34" charset="-120"/>
              </a:rPr>
              <a:t>Intellektual datchiklarda barcha elementlar bitta korpusda, koʻpincha bitta kristallda joylashadi.</a:t>
            </a:r>
            <a:endParaRPr lang="en-US" sz="15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INFORMATSION MODEL</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Toʻgʻri va teskari model</a:t>
            </a:r>
            <a:endParaRPr lang="en-US" sz="3200" dirty="0"/>
          </a:p>
        </p:txBody>
      </p:sp>
      <p:sp>
        <p:nvSpPr>
          <p:cNvPr id="4" name="Shape 2"/>
          <p:cNvSpPr/>
          <p:nvPr/>
        </p:nvSpPr>
        <p:spPr>
          <a:xfrm>
            <a:off x="815975" y="1806575"/>
            <a:ext cx="5180330" cy="1042670"/>
          </a:xfrm>
          <a:prstGeom prst="roundRect">
            <a:avLst>
              <a:gd name="adj" fmla="val 7004"/>
            </a:avLst>
          </a:prstGeom>
          <a:solidFill>
            <a:srgbClr val="FDFCF9"/>
          </a:solidFill>
          <a:ln w="6350">
            <a:solidFill>
              <a:srgbClr val="E2DED4"/>
            </a:solidFill>
            <a:prstDash val="solid"/>
          </a:ln>
        </p:spPr>
      </p:sp>
      <p:sp>
        <p:nvSpPr>
          <p:cNvPr id="5" name="Text 3"/>
          <p:cNvSpPr/>
          <p:nvPr/>
        </p:nvSpPr>
        <p:spPr>
          <a:xfrm>
            <a:off x="1071880" y="2011679"/>
            <a:ext cx="48085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TOʻGʻRI MODEL: x MAʼLUM → y ?</a:t>
            </a:r>
            <a:endParaRPr lang="en-US" sz="1200" dirty="0"/>
          </a:p>
        </p:txBody>
      </p:sp>
      <p:sp>
        <p:nvSpPr>
          <p:cNvPr id="6" name="Text 4"/>
          <p:cNvSpPr/>
          <p:nvPr/>
        </p:nvSpPr>
        <p:spPr>
          <a:xfrm>
            <a:off x="1071880" y="2288539"/>
            <a:ext cx="480857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2433"/>
                </a:solidFill>
                <a:latin typeface="Noto Sans" pitchFamily="34" charset="0"/>
                <a:ea typeface="Noto Sans" pitchFamily="34" charset="-122"/>
                <a:cs typeface="Noto Sans" pitchFamily="34" charset="-120"/>
              </a:rPr>
              <a:t>y = F(x, z₁, …, zₘ) + ξ</a:t>
            </a:r>
            <a:endParaRPr lang="en-US" sz="2000" dirty="0"/>
          </a:p>
        </p:txBody>
      </p:sp>
      <p:sp>
        <p:nvSpPr>
          <p:cNvPr id="7" name="Shape 5"/>
          <p:cNvSpPr/>
          <p:nvPr/>
        </p:nvSpPr>
        <p:spPr>
          <a:xfrm>
            <a:off x="6202680" y="1803400"/>
            <a:ext cx="5176520" cy="1049020"/>
          </a:xfrm>
          <a:prstGeom prst="roundRect">
            <a:avLst>
              <a:gd name="adj" fmla="val 7264"/>
            </a:avLst>
          </a:prstGeom>
          <a:solidFill>
            <a:srgbClr val="16233B"/>
          </a:solidFill>
          <a:ln/>
        </p:spPr>
      </p:sp>
      <p:sp>
        <p:nvSpPr>
          <p:cNvPr id="8" name="Text 6"/>
          <p:cNvSpPr/>
          <p:nvPr/>
        </p:nvSpPr>
        <p:spPr>
          <a:xfrm>
            <a:off x="6456680" y="2006600"/>
            <a:ext cx="48085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TESKARI MODEL: y OʻLCHANGAN → x ?</a:t>
            </a:r>
            <a:endParaRPr lang="en-US" sz="1200" dirty="0"/>
          </a:p>
        </p:txBody>
      </p:sp>
      <p:sp>
        <p:nvSpPr>
          <p:cNvPr id="9" name="Text 7"/>
          <p:cNvSpPr/>
          <p:nvPr/>
        </p:nvSpPr>
        <p:spPr>
          <a:xfrm>
            <a:off x="6456680" y="2283461"/>
            <a:ext cx="480857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3EE"/>
                </a:solidFill>
                <a:latin typeface="Noto Sans" pitchFamily="34" charset="0"/>
                <a:ea typeface="Noto Sans" pitchFamily="34" charset="-122"/>
                <a:cs typeface="Noto Sans" pitchFamily="34" charset="-120"/>
              </a:rPr>
              <a:t>x̂ = F⁻¹(y, ẑ₁, …, ẑₘ)</a:t>
            </a:r>
            <a:endParaRPr lang="en-US" sz="2000" dirty="0"/>
          </a:p>
        </p:txBody>
      </p:sp>
      <p:sp>
        <p:nvSpPr>
          <p:cNvPr id="10" name="Text 8"/>
          <p:cNvSpPr/>
          <p:nvPr/>
        </p:nvSpPr>
        <p:spPr>
          <a:xfrm>
            <a:off x="812800" y="310642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Noto Sans" pitchFamily="34" charset="0"/>
                <a:ea typeface="Noto Sans" pitchFamily="34" charset="-122"/>
                <a:cs typeface="Noto Sans" pitchFamily="34" charset="-120"/>
              </a:rPr>
              <a:t>Xatolikni kamaytirishning uch yoʻli</a:t>
            </a:r>
            <a:endParaRPr lang="en-US" sz="1400" dirty="0"/>
          </a:p>
        </p:txBody>
      </p:sp>
      <p:sp>
        <p:nvSpPr>
          <p:cNvPr id="11" name="Shape 9"/>
          <p:cNvSpPr/>
          <p:nvPr/>
        </p:nvSpPr>
        <p:spPr>
          <a:xfrm>
            <a:off x="812800" y="3609339"/>
            <a:ext cx="3420533" cy="1023620"/>
          </a:xfrm>
          <a:prstGeom prst="roundRect">
            <a:avLst>
              <a:gd name="adj" fmla="val 4963"/>
            </a:avLst>
          </a:prstGeom>
          <a:solidFill>
            <a:srgbClr val="FDFCF9"/>
          </a:solidFill>
          <a:ln/>
        </p:spPr>
      </p:sp>
      <p:sp>
        <p:nvSpPr>
          <p:cNvPr id="12" name="Shape 10"/>
          <p:cNvSpPr/>
          <p:nvPr/>
        </p:nvSpPr>
        <p:spPr>
          <a:xfrm>
            <a:off x="812800" y="3609339"/>
            <a:ext cx="3420533" cy="1023620"/>
          </a:xfrm>
          <a:custGeom>
            <a:avLst/>
            <a:gdLst/>
            <a:ahLst/>
            <a:cxnLst/>
            <a:rect l="l" t="t" r="r" b="b"/>
            <a:pathLst>
              <a:path w="3420533" h="1023620">
                <a:moveTo>
                  <a:pt x="50800" y="1023620"/>
                </a:moveTo>
                <a:lnTo>
                  <a:pt x="50800" y="1023620"/>
                </a:lnTo>
                <a:arcTo hR="50800" wR="50800" stAng="5400000" swAng="5400000"/>
                <a:lnTo>
                  <a:pt x="0" y="50800"/>
                </a:lnTo>
                <a:arcTo hR="50800" wR="50800" stAng="10800000" swAng="5400000"/>
                <a:lnTo>
                  <a:pt x="50800" y="0"/>
                </a:lnTo>
                <a:lnTo>
                  <a:pt x="50800" y="1023620"/>
                </a:lnTo>
                <a:close/>
              </a:path>
            </a:pathLst>
          </a:custGeom>
          <a:solidFill>
            <a:srgbClr val="2D6CB0"/>
          </a:solidFill>
          <a:ln/>
        </p:spPr>
      </p:sp>
      <p:sp>
        <p:nvSpPr>
          <p:cNvPr id="13" name="Text 11"/>
          <p:cNvSpPr/>
          <p:nvPr/>
        </p:nvSpPr>
        <p:spPr>
          <a:xfrm>
            <a:off x="1041400" y="3761739"/>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Konstruktiv</a:t>
            </a:r>
            <a:endParaRPr lang="en-US" sz="1500" dirty="0"/>
          </a:p>
        </p:txBody>
      </p:sp>
      <p:sp>
        <p:nvSpPr>
          <p:cNvPr id="14" name="Text 12"/>
          <p:cNvSpPr/>
          <p:nvPr/>
        </p:nvSpPr>
        <p:spPr>
          <a:xfrm>
            <a:off x="1041400" y="4053839"/>
            <a:ext cx="310455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Termostatlash, ekranlash, differensial sxemalar</a:t>
            </a:r>
            <a:endParaRPr lang="en-US" sz="1200" dirty="0"/>
          </a:p>
        </p:txBody>
      </p:sp>
      <p:sp>
        <p:nvSpPr>
          <p:cNvPr id="15" name="Shape 13"/>
          <p:cNvSpPr/>
          <p:nvPr/>
        </p:nvSpPr>
        <p:spPr>
          <a:xfrm>
            <a:off x="4385733" y="3609339"/>
            <a:ext cx="3420533" cy="1023620"/>
          </a:xfrm>
          <a:prstGeom prst="roundRect">
            <a:avLst>
              <a:gd name="adj" fmla="val 4963"/>
            </a:avLst>
          </a:prstGeom>
          <a:solidFill>
            <a:srgbClr val="FDFCF9"/>
          </a:solidFill>
          <a:ln/>
        </p:spPr>
      </p:sp>
      <p:sp>
        <p:nvSpPr>
          <p:cNvPr id="16" name="Shape 14"/>
          <p:cNvSpPr/>
          <p:nvPr/>
        </p:nvSpPr>
        <p:spPr>
          <a:xfrm>
            <a:off x="4385733" y="3609339"/>
            <a:ext cx="3420533" cy="1023620"/>
          </a:xfrm>
          <a:custGeom>
            <a:avLst/>
            <a:gdLst/>
            <a:ahLst/>
            <a:cxnLst/>
            <a:rect l="l" t="t" r="r" b="b"/>
            <a:pathLst>
              <a:path w="3420533" h="1023620">
                <a:moveTo>
                  <a:pt x="50800" y="1023620"/>
                </a:moveTo>
                <a:lnTo>
                  <a:pt x="50800" y="1023620"/>
                </a:lnTo>
                <a:arcTo hR="50800" wR="50800" stAng="5400000" swAng="5400000"/>
                <a:lnTo>
                  <a:pt x="0" y="50800"/>
                </a:lnTo>
                <a:arcTo hR="50800" wR="50800" stAng="10800000" swAng="5400000"/>
                <a:lnTo>
                  <a:pt x="50800" y="0"/>
                </a:lnTo>
                <a:lnTo>
                  <a:pt x="50800" y="1023620"/>
                </a:lnTo>
                <a:close/>
              </a:path>
            </a:pathLst>
          </a:custGeom>
          <a:solidFill>
            <a:srgbClr val="D9692B"/>
          </a:solidFill>
          <a:ln/>
        </p:spPr>
      </p:sp>
      <p:sp>
        <p:nvSpPr>
          <p:cNvPr id="17" name="Text 15"/>
          <p:cNvSpPr/>
          <p:nvPr/>
        </p:nvSpPr>
        <p:spPr>
          <a:xfrm>
            <a:off x="4614333" y="3761739"/>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Strukturaviy</a:t>
            </a:r>
            <a:endParaRPr lang="en-US" sz="1500" dirty="0"/>
          </a:p>
        </p:txBody>
      </p:sp>
      <p:sp>
        <p:nvSpPr>
          <p:cNvPr id="18" name="Text 16"/>
          <p:cNvSpPr/>
          <p:nvPr/>
        </p:nvSpPr>
        <p:spPr>
          <a:xfrm>
            <a:off x="4614333" y="4053839"/>
            <a:ext cx="310455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Taʼsir etuvchi omillarni qoʻshimcha datchik bilan oʻlchab kompensatsiya qilish</a:t>
            </a:r>
            <a:endParaRPr lang="en-US" sz="1200" dirty="0"/>
          </a:p>
        </p:txBody>
      </p:sp>
      <p:sp>
        <p:nvSpPr>
          <p:cNvPr id="19" name="Shape 17"/>
          <p:cNvSpPr/>
          <p:nvPr/>
        </p:nvSpPr>
        <p:spPr>
          <a:xfrm>
            <a:off x="7958667" y="3609339"/>
            <a:ext cx="3420533" cy="1023620"/>
          </a:xfrm>
          <a:prstGeom prst="roundRect">
            <a:avLst>
              <a:gd name="adj" fmla="val 4963"/>
            </a:avLst>
          </a:prstGeom>
          <a:solidFill>
            <a:srgbClr val="FDFCF9"/>
          </a:solidFill>
          <a:ln/>
        </p:spPr>
      </p:sp>
      <p:sp>
        <p:nvSpPr>
          <p:cNvPr id="20" name="Shape 18"/>
          <p:cNvSpPr/>
          <p:nvPr/>
        </p:nvSpPr>
        <p:spPr>
          <a:xfrm>
            <a:off x="7958667" y="3609339"/>
            <a:ext cx="3420533" cy="1023620"/>
          </a:xfrm>
          <a:custGeom>
            <a:avLst/>
            <a:gdLst/>
            <a:ahLst/>
            <a:cxnLst/>
            <a:rect l="l" t="t" r="r" b="b"/>
            <a:pathLst>
              <a:path w="3420533" h="1023620">
                <a:moveTo>
                  <a:pt x="50800" y="1023620"/>
                </a:moveTo>
                <a:lnTo>
                  <a:pt x="50800" y="1023620"/>
                </a:lnTo>
                <a:arcTo hR="50800" wR="50800" stAng="5400000" swAng="5400000"/>
                <a:lnTo>
                  <a:pt x="0" y="50800"/>
                </a:lnTo>
                <a:arcTo hR="50800" wR="50800" stAng="10800000" swAng="5400000"/>
                <a:lnTo>
                  <a:pt x="50800" y="0"/>
                </a:lnTo>
                <a:lnTo>
                  <a:pt x="50800" y="1023620"/>
                </a:lnTo>
                <a:close/>
              </a:path>
            </a:pathLst>
          </a:custGeom>
          <a:solidFill>
            <a:srgbClr val="16233B"/>
          </a:solidFill>
          <a:ln/>
        </p:spPr>
      </p:sp>
      <p:sp>
        <p:nvSpPr>
          <p:cNvPr id="21" name="Text 19"/>
          <p:cNvSpPr/>
          <p:nvPr/>
        </p:nvSpPr>
        <p:spPr>
          <a:xfrm>
            <a:off x="8187267" y="3761739"/>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Algoritmik</a:t>
            </a:r>
            <a:endParaRPr lang="en-US" sz="1500" dirty="0"/>
          </a:p>
        </p:txBody>
      </p:sp>
      <p:sp>
        <p:nvSpPr>
          <p:cNvPr id="22" name="Text 20"/>
          <p:cNvSpPr/>
          <p:nvPr/>
        </p:nvSpPr>
        <p:spPr>
          <a:xfrm>
            <a:off x="8187267" y="4053839"/>
            <a:ext cx="310455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Oʻrtachalash, filtrlash, datchiklar maʼlumotlarini birlashtirish</a:t>
            </a:r>
            <a:endParaRPr lang="en-US" sz="1200" dirty="0"/>
          </a:p>
        </p:txBody>
      </p:sp>
      <p:sp>
        <p:nvSpPr>
          <p:cNvPr id="23" name="Text 2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SINFLANISH</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Vazifasi boʻyicha informatsion tizimlar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8160"/>
          <a:ext cx="10556240" cy="2778760"/>
        </p:xfrm>
        <a:graphic>
          <a:graphicData uri="http://schemas.openxmlformats.org/drawingml/2006/table">
            <a:tbl>
              <a:tblPr/>
              <a:tblGrid>
                <a:gridCol w="3518747"/>
                <a:gridCol w="3518747"/>
                <a:gridCol w="3518747"/>
              </a:tblGrid>
              <a:tr h="322580">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Tizim</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Oʻlchanadigan kattaliklar</a:t>
                      </a:r>
                      <a:endParaRPr lang="en-US" sz="1200" dirty="0">
                        <a:latin typeface="Noto Sans" charset="0"/>
                        <a:ea typeface="Noto Sans" charset="0"/>
                        <a:cs typeface="Noto Sans" charset="0"/>
                      </a:endParaRPr>
                    </a:p>
                  </a:txBody>
                  <a:tcPr marL="127000" marR="127000" marT="57150" marB="57150"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Asosiy datchiklar</a:t>
                      </a:r>
                      <a:endParaRPr lang="en-US" sz="1200" dirty="0">
                        <a:latin typeface="Noto Sans" charset="0"/>
                        <a:ea typeface="Noto Sans" charset="0"/>
                        <a:cs typeface="Noto Sans" charset="0"/>
                      </a:endParaRPr>
                    </a:p>
                  </a:txBody>
                  <a:tcPr marL="127000" marR="127000" marT="57150" marB="57150"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r>
              <a:tr h="3225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Kinestetik</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Boʻgʻin holati, tezligi, tezlanishi, tok</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Enkoder, rezolver, potensiometr, tok datchigi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225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Lokatsion</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Masofa, obyektlar joylashuvi va harakati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Ultratovush, lazer, LiDAR, radar</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225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Texnik koʻrish</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Shakl, rang, joylashuv, sahna chuqurligi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Kamera, stereokamera, RGB-D kamera</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225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Taktil va kuch-moment</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Kontakt, kuch, moment, sirpanish</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Taktil matritsa, kuch-moment datchigi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225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Navigatsiya</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Fazodagi oʻrni, tezligi, yoʻnalishi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IMU, magnitometr, GNSS, odometriya</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207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Diagnostika va xavfsizlik</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Harorat, vibratsiya, inson yaqinligi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Harorat, vibratsiya, yaqinlik datchiklari, skanerlar</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225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Inson-robot muloqoti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Ovoz, imo-ishora, boshqaruv qurilmalari</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Mikrofon, kamera, joystik, sensorli ekran</a:t>
                      </a:r>
                      <a:endParaRPr lang="en-US" sz="1200" dirty="0">
                        <a:latin typeface="Noto Sans" charset="0"/>
                        <a:ea typeface="Noto Sans" charset="0"/>
                        <a:cs typeface="Noto Sans" charset="0"/>
                      </a:endParaRPr>
                    </a:p>
                  </a:txBody>
                  <a:tcPr marL="127000" marR="127000" marT="57150" marB="5715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SINFLANISH</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Asosiy tizimlarning oʻziga xosligi</a:t>
            </a:r>
            <a:endParaRPr lang="en-US" sz="3200" dirty="0"/>
          </a:p>
        </p:txBody>
      </p:sp>
      <p:sp>
        <p:nvSpPr>
          <p:cNvPr id="4" name="Shape 2"/>
          <p:cNvSpPr/>
          <p:nvPr/>
        </p:nvSpPr>
        <p:spPr>
          <a:xfrm>
            <a:off x="815975" y="1806575"/>
            <a:ext cx="3414183" cy="1408430"/>
          </a:xfrm>
          <a:prstGeom prst="roundRect">
            <a:avLst>
              <a:gd name="adj" fmla="val 5185"/>
            </a:avLst>
          </a:prstGeom>
          <a:solidFill>
            <a:srgbClr val="FDFCF9"/>
          </a:solidFill>
          <a:ln w="6350">
            <a:solidFill>
              <a:srgbClr val="E2DED4"/>
            </a:solidFill>
            <a:prstDash val="solid"/>
          </a:ln>
        </p:spPr>
      </p:sp>
      <p:sp>
        <p:nvSpPr>
          <p:cNvPr id="5" name="Text 3"/>
          <p:cNvSpPr/>
          <p:nvPr/>
        </p:nvSpPr>
        <p:spPr>
          <a:xfrm>
            <a:off x="1021080" y="2011679"/>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Kinestetik</a:t>
            </a:r>
            <a:endParaRPr lang="en-US" sz="1500" dirty="0"/>
          </a:p>
        </p:txBody>
      </p:sp>
      <p:sp>
        <p:nvSpPr>
          <p:cNvPr id="6" name="Text 4"/>
          <p:cNvSpPr/>
          <p:nvPr/>
        </p:nvSpPr>
        <p:spPr>
          <a:xfrm>
            <a:off x="1021080" y="2316479"/>
            <a:ext cx="30940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«Mushak-boʻgʻin sezgisi»; usiz boshqariladigan harakat yoʻq — I avlod robotlarida ham bor</a:t>
            </a:r>
            <a:endParaRPr lang="en-US" sz="1300" dirty="0"/>
          </a:p>
        </p:txBody>
      </p:sp>
      <p:sp>
        <p:nvSpPr>
          <p:cNvPr id="7" name="Shape 5"/>
          <p:cNvSpPr/>
          <p:nvPr/>
        </p:nvSpPr>
        <p:spPr>
          <a:xfrm>
            <a:off x="4388908" y="1806575"/>
            <a:ext cx="3414183" cy="1408430"/>
          </a:xfrm>
          <a:prstGeom prst="roundRect">
            <a:avLst>
              <a:gd name="adj" fmla="val 5185"/>
            </a:avLst>
          </a:prstGeom>
          <a:solidFill>
            <a:srgbClr val="FDFCF9"/>
          </a:solidFill>
          <a:ln w="6350">
            <a:solidFill>
              <a:srgbClr val="E2DED4"/>
            </a:solidFill>
            <a:prstDash val="solid"/>
          </a:ln>
        </p:spPr>
      </p:sp>
      <p:sp>
        <p:nvSpPr>
          <p:cNvPr id="8" name="Text 6"/>
          <p:cNvSpPr/>
          <p:nvPr/>
        </p:nvSpPr>
        <p:spPr>
          <a:xfrm>
            <a:off x="4594013" y="2011679"/>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Lokatsion</a:t>
            </a:r>
            <a:endParaRPr lang="en-US" sz="1500" dirty="0"/>
          </a:p>
        </p:txBody>
      </p:sp>
      <p:sp>
        <p:nvSpPr>
          <p:cNvPr id="9" name="Text 7"/>
          <p:cNvSpPr/>
          <p:nvPr/>
        </p:nvSpPr>
        <p:spPr>
          <a:xfrm>
            <a:off x="4594013" y="2316479"/>
            <a:ext cx="309409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Signal yuborib, aks-sado boʻyicha masofani topadi; toʻsiqdan qochish, xarita tuzish</a:t>
            </a:r>
            <a:endParaRPr lang="en-US" sz="1300" dirty="0"/>
          </a:p>
        </p:txBody>
      </p:sp>
      <p:sp>
        <p:nvSpPr>
          <p:cNvPr id="10" name="Shape 8"/>
          <p:cNvSpPr/>
          <p:nvPr/>
        </p:nvSpPr>
        <p:spPr>
          <a:xfrm>
            <a:off x="7961842" y="1806575"/>
            <a:ext cx="3414183" cy="1408430"/>
          </a:xfrm>
          <a:prstGeom prst="roundRect">
            <a:avLst>
              <a:gd name="adj" fmla="val 5185"/>
            </a:avLst>
          </a:prstGeom>
          <a:solidFill>
            <a:srgbClr val="FDFCF9"/>
          </a:solidFill>
          <a:ln w="6350">
            <a:solidFill>
              <a:srgbClr val="E2DED4"/>
            </a:solidFill>
            <a:prstDash val="solid"/>
          </a:ln>
        </p:spPr>
      </p:sp>
      <p:sp>
        <p:nvSpPr>
          <p:cNvPr id="11" name="Text 9"/>
          <p:cNvSpPr/>
          <p:nvPr/>
        </p:nvSpPr>
        <p:spPr>
          <a:xfrm>
            <a:off x="8166946" y="2011679"/>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Texnik koʻrish</a:t>
            </a:r>
            <a:endParaRPr lang="en-US" sz="1500" dirty="0"/>
          </a:p>
        </p:txBody>
      </p:sp>
      <p:sp>
        <p:nvSpPr>
          <p:cNvPr id="12" name="Text 10"/>
          <p:cNvSpPr/>
          <p:nvPr/>
        </p:nvSpPr>
        <p:spPr>
          <a:xfrm>
            <a:off x="8166946" y="2316479"/>
            <a:ext cx="30940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Eng katta hajmdagi axborot va obyektlarni tanish; eng murakkab algoritmlar</a:t>
            </a:r>
            <a:endParaRPr lang="en-US" sz="1300" dirty="0"/>
          </a:p>
        </p:txBody>
      </p:sp>
      <p:sp>
        <p:nvSpPr>
          <p:cNvPr id="13" name="Shape 11"/>
          <p:cNvSpPr/>
          <p:nvPr/>
        </p:nvSpPr>
        <p:spPr>
          <a:xfrm>
            <a:off x="815975" y="3373754"/>
            <a:ext cx="3414183" cy="1408430"/>
          </a:xfrm>
          <a:prstGeom prst="roundRect">
            <a:avLst>
              <a:gd name="adj" fmla="val 5185"/>
            </a:avLst>
          </a:prstGeom>
          <a:solidFill>
            <a:srgbClr val="FDFCF9"/>
          </a:solidFill>
          <a:ln w="6350">
            <a:solidFill>
              <a:srgbClr val="E2DED4"/>
            </a:solidFill>
            <a:prstDash val="solid"/>
          </a:ln>
        </p:spPr>
      </p:sp>
      <p:sp>
        <p:nvSpPr>
          <p:cNvPr id="14" name="Text 12"/>
          <p:cNvSpPr/>
          <p:nvPr/>
        </p:nvSpPr>
        <p:spPr>
          <a:xfrm>
            <a:off x="1021080" y="3578861"/>
            <a:ext cx="30940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Taktil va kuch-moment</a:t>
            </a:r>
            <a:endParaRPr lang="en-US" sz="1500" dirty="0"/>
          </a:p>
        </p:txBody>
      </p:sp>
      <p:sp>
        <p:nvSpPr>
          <p:cNvPr id="15" name="Text 13"/>
          <p:cNvSpPr/>
          <p:nvPr/>
        </p:nvSpPr>
        <p:spPr>
          <a:xfrm>
            <a:off x="1021080" y="3883661"/>
            <a:ext cx="30940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Kontaktda ishlaydi: yigʻish, silliqlash, nozik obyektlar, inson bilan hamkorlik</a:t>
            </a:r>
            <a:endParaRPr lang="en-US" sz="1300" dirty="0"/>
          </a:p>
        </p:txBody>
      </p:sp>
      <p:sp>
        <p:nvSpPr>
          <p:cNvPr id="16" name="Shape 14"/>
          <p:cNvSpPr/>
          <p:nvPr/>
        </p:nvSpPr>
        <p:spPr>
          <a:xfrm>
            <a:off x="4388908" y="3373754"/>
            <a:ext cx="3414183" cy="1408430"/>
          </a:xfrm>
          <a:prstGeom prst="roundRect">
            <a:avLst>
              <a:gd name="adj" fmla="val 5185"/>
            </a:avLst>
          </a:prstGeom>
          <a:solidFill>
            <a:srgbClr val="FDFCF9"/>
          </a:solidFill>
          <a:ln w="6350">
            <a:solidFill>
              <a:srgbClr val="E2DED4"/>
            </a:solidFill>
            <a:prstDash val="solid"/>
          </a:ln>
        </p:spPr>
      </p:sp>
      <p:sp>
        <p:nvSpPr>
          <p:cNvPr id="17" name="Text 15"/>
          <p:cNvSpPr/>
          <p:nvPr/>
        </p:nvSpPr>
        <p:spPr>
          <a:xfrm>
            <a:off x="4594013" y="3578861"/>
            <a:ext cx="30940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433"/>
                </a:solidFill>
                <a:latin typeface="Noto Sans" pitchFamily="34" charset="0"/>
                <a:ea typeface="Noto Sans" pitchFamily="34" charset="-122"/>
                <a:cs typeface="Noto Sans" pitchFamily="34" charset="-120"/>
              </a:rPr>
              <a:t>Navigatsiya</a:t>
            </a:r>
            <a:endParaRPr lang="en-US" sz="1500" dirty="0"/>
          </a:p>
        </p:txBody>
      </p:sp>
      <p:sp>
        <p:nvSpPr>
          <p:cNvPr id="18" name="Text 16"/>
          <p:cNvSpPr/>
          <p:nvPr/>
        </p:nvSpPr>
        <p:spPr>
          <a:xfrm>
            <a:off x="4594013" y="3883661"/>
            <a:ext cx="309409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Global va lokal koordinatalar; koʻpincha bir nechta datchikni birlashtirib quriladi</a:t>
            </a:r>
            <a:endParaRPr lang="en-US" sz="1300" dirty="0"/>
          </a:p>
        </p:txBody>
      </p:sp>
      <p:sp>
        <p:nvSpPr>
          <p:cNvPr id="19" name="Shape 17"/>
          <p:cNvSpPr/>
          <p:nvPr/>
        </p:nvSpPr>
        <p:spPr>
          <a:xfrm>
            <a:off x="7958667" y="3370579"/>
            <a:ext cx="3420533" cy="1414780"/>
          </a:xfrm>
          <a:prstGeom prst="roundRect">
            <a:avLst>
              <a:gd name="adj" fmla="val 5386"/>
            </a:avLst>
          </a:prstGeom>
          <a:solidFill>
            <a:srgbClr val="16233B"/>
          </a:solidFill>
          <a:ln/>
        </p:spPr>
      </p:sp>
      <p:sp>
        <p:nvSpPr>
          <p:cNvPr id="20" name="Text 18"/>
          <p:cNvSpPr/>
          <p:nvPr/>
        </p:nvSpPr>
        <p:spPr>
          <a:xfrm>
            <a:off x="8161867" y="3573779"/>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46E"/>
                </a:solidFill>
                <a:latin typeface="Noto Sans" pitchFamily="34" charset="0"/>
                <a:ea typeface="Noto Sans" pitchFamily="34" charset="-122"/>
                <a:cs typeface="Noto Sans" pitchFamily="34" charset="-120"/>
              </a:rPr>
              <a:t>Sinflanish shartli</a:t>
            </a:r>
            <a:endParaRPr lang="en-US" sz="1500" dirty="0"/>
          </a:p>
        </p:txBody>
      </p:sp>
      <p:sp>
        <p:nvSpPr>
          <p:cNvPr id="21" name="Text 19"/>
          <p:cNvSpPr/>
          <p:nvPr/>
        </p:nvSpPr>
        <p:spPr>
          <a:xfrm>
            <a:off x="8161867" y="3878579"/>
            <a:ext cx="31045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Bitta kamera koʻrish, vizual odometriya va imo-ishora tanishga xizmat qiladi</a:t>
            </a:r>
            <a:endParaRPr lang="en-US" sz="13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DATCHIKLAR SINFLANISHI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Energiya oqimi boʻyicha</a:t>
            </a:r>
            <a:endParaRPr lang="en-US" sz="3200" dirty="0"/>
          </a:p>
        </p:txBody>
      </p:sp>
      <p:sp>
        <p:nvSpPr>
          <p:cNvPr id="4" name="Shape 2"/>
          <p:cNvSpPr/>
          <p:nvPr/>
        </p:nvSpPr>
        <p:spPr>
          <a:xfrm>
            <a:off x="815975" y="1806575"/>
            <a:ext cx="5175250" cy="2543810"/>
          </a:xfrm>
          <a:prstGeom prst="roundRect">
            <a:avLst>
              <a:gd name="adj" fmla="val 3869"/>
            </a:avLst>
          </a:prstGeom>
          <a:solidFill>
            <a:srgbClr val="FDFCF9"/>
          </a:solidFill>
          <a:ln w="6350">
            <a:solidFill>
              <a:srgbClr val="E2DED4"/>
            </a:solidFill>
            <a:prstDash val="solid"/>
          </a:ln>
        </p:spPr>
      </p:sp>
      <p:sp>
        <p:nvSpPr>
          <p:cNvPr id="5" name="Text 3"/>
          <p:cNvSpPr/>
          <p:nvPr/>
        </p:nvSpPr>
        <p:spPr>
          <a:xfrm>
            <a:off x="1071880" y="20624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Generatorli</a:t>
            </a:r>
            <a:endParaRPr lang="en-US" sz="1800" dirty="0"/>
          </a:p>
        </p:txBody>
      </p:sp>
      <p:sp>
        <p:nvSpPr>
          <p:cNvPr id="6" name="Text 4"/>
          <p:cNvSpPr/>
          <p:nvPr/>
        </p:nvSpPr>
        <p:spPr>
          <a:xfrm>
            <a:off x="1071880" y="243840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Yordamchi manbasiz ishlaydi; chiqish energiyasini obyektdan oladi</a:t>
            </a:r>
            <a:endParaRPr lang="en-US" sz="1300" dirty="0"/>
          </a:p>
        </p:txBody>
      </p:sp>
      <p:sp>
        <p:nvSpPr>
          <p:cNvPr id="7" name="Text 5"/>
          <p:cNvSpPr/>
          <p:nvPr/>
        </p:nvSpPr>
        <p:spPr>
          <a:xfrm>
            <a:off x="1071880" y="3002279"/>
            <a:ext cx="480334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2433"/>
                </a:solidFill>
                <a:latin typeface="Noto Sans" pitchFamily="34" charset="0"/>
                <a:ea typeface="Noto Sans" pitchFamily="34" charset="-122"/>
                <a:cs typeface="Noto Sans" pitchFamily="34" charset="-120"/>
              </a:rPr>
              <a:t>+</a:t>
            </a:r>
            <a:r>
              <a:rPr lang="en-US" sz="1300" dirty="0">
                <a:solidFill>
                  <a:srgbClr val="1D2433"/>
                </a:solidFill>
                <a:latin typeface="Noto Sans" pitchFamily="34" charset="0"/>
                <a:ea typeface="Noto Sans" pitchFamily="34" charset="-122"/>
                <a:cs typeface="Noto Sans" pitchFamily="34" charset="-120"/>
              </a:rPr>
              <a:t> nol siljishi yoʻq   </a:t>
            </a:r>
            <a:r>
              <a:rPr lang="en-US" sz="1300" b="1" dirty="0">
                <a:solidFill>
                  <a:srgbClr val="1D2433"/>
                </a:solidFill>
                <a:latin typeface="Noto Sans" pitchFamily="34" charset="0"/>
                <a:ea typeface="Noto Sans" pitchFamily="34" charset="-122"/>
                <a:cs typeface="Noto Sans" pitchFamily="34" charset="-120"/>
              </a:rPr>
              <a:t>−</a:t>
            </a:r>
            <a:r>
              <a:rPr lang="en-US" sz="1300" dirty="0">
                <a:solidFill>
                  <a:srgbClr val="1D2433"/>
                </a:solidFill>
                <a:latin typeface="Noto Sans" pitchFamily="34" charset="0"/>
                <a:ea typeface="Noto Sans" pitchFamily="34" charset="-122"/>
                <a:cs typeface="Noto Sans" pitchFamily="34" charset="-120"/>
              </a:rPr>
              <a:t> obyekt holatiga biroz taʼsir qilishi mumkin</a:t>
            </a:r>
            <a:endParaRPr lang="en-US" sz="1300" dirty="0"/>
          </a:p>
        </p:txBody>
      </p:sp>
      <p:sp>
        <p:nvSpPr>
          <p:cNvPr id="8" name="Text 6"/>
          <p:cNvSpPr/>
          <p:nvPr/>
        </p:nvSpPr>
        <p:spPr>
          <a:xfrm>
            <a:off x="1071880" y="3566158"/>
            <a:ext cx="480334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B5563"/>
                </a:solidFill>
                <a:latin typeface="Noto Sans" pitchFamily="34" charset="0"/>
                <a:ea typeface="Noto Sans" pitchFamily="34" charset="-122"/>
                <a:cs typeface="Noto Sans" pitchFamily="34" charset="-120"/>
              </a:rPr>
              <a:t>Termojuft, piezoakselerometr, induksion datchik, fotodiod</a:t>
            </a:r>
            <a:endParaRPr lang="en-US" sz="1200" dirty="0"/>
          </a:p>
        </p:txBody>
      </p:sp>
      <p:sp>
        <p:nvSpPr>
          <p:cNvPr id="9" name="Text 7"/>
          <p:cNvSpPr/>
          <p:nvPr/>
        </p:nvSpPr>
        <p:spPr>
          <a:xfrm>
            <a:off x="1071880" y="3881121"/>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Sxema: kuchaytirgich, zaryad kuchaytirgichi</a:t>
            </a:r>
            <a:endParaRPr lang="en-US" sz="1200" dirty="0"/>
          </a:p>
        </p:txBody>
      </p:sp>
      <p:sp>
        <p:nvSpPr>
          <p:cNvPr id="10" name="Shape 8"/>
          <p:cNvSpPr/>
          <p:nvPr/>
        </p:nvSpPr>
        <p:spPr>
          <a:xfrm>
            <a:off x="6200775" y="1806575"/>
            <a:ext cx="5175250" cy="2543810"/>
          </a:xfrm>
          <a:prstGeom prst="roundRect">
            <a:avLst>
              <a:gd name="adj" fmla="val 3869"/>
            </a:avLst>
          </a:prstGeom>
          <a:solidFill>
            <a:srgbClr val="FDFCF9"/>
          </a:solidFill>
          <a:ln w="6350">
            <a:solidFill>
              <a:srgbClr val="E2DED4"/>
            </a:solidFill>
            <a:prstDash val="solid"/>
          </a:ln>
        </p:spPr>
      </p:sp>
      <p:sp>
        <p:nvSpPr>
          <p:cNvPr id="11" name="Text 9"/>
          <p:cNvSpPr/>
          <p:nvPr/>
        </p:nvSpPr>
        <p:spPr>
          <a:xfrm>
            <a:off x="6456680" y="20624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433"/>
                </a:solidFill>
                <a:latin typeface="Noto Sans" pitchFamily="34" charset="0"/>
                <a:ea typeface="Noto Sans" pitchFamily="34" charset="-122"/>
                <a:cs typeface="Noto Sans" pitchFamily="34" charset="-120"/>
              </a:rPr>
              <a:t>Parametrik</a:t>
            </a:r>
            <a:endParaRPr lang="en-US" sz="1800" dirty="0"/>
          </a:p>
        </p:txBody>
      </p:sp>
      <p:sp>
        <p:nvSpPr>
          <p:cNvPr id="12" name="Text 10"/>
          <p:cNvSpPr/>
          <p:nvPr/>
        </p:nvSpPr>
        <p:spPr>
          <a:xfrm>
            <a:off x="6456680" y="243840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Kattalik material xossasi yoki geometriyani oʻzgartiradi; tashqi manba «soʻrab oladi»</a:t>
            </a:r>
            <a:endParaRPr lang="en-US" sz="1300" dirty="0"/>
          </a:p>
        </p:txBody>
      </p:sp>
      <p:sp>
        <p:nvSpPr>
          <p:cNvPr id="13" name="Text 11"/>
          <p:cNvSpPr/>
          <p:nvPr/>
        </p:nvSpPr>
        <p:spPr>
          <a:xfrm>
            <a:off x="6456680" y="3002279"/>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Datchiklarning aksariyati shu guruhda</a:t>
            </a:r>
            <a:endParaRPr lang="en-US" sz="1300" dirty="0"/>
          </a:p>
        </p:txBody>
      </p:sp>
      <p:sp>
        <p:nvSpPr>
          <p:cNvPr id="14" name="Text 12"/>
          <p:cNvSpPr/>
          <p:nvPr/>
        </p:nvSpPr>
        <p:spPr>
          <a:xfrm>
            <a:off x="6456680" y="3335021"/>
            <a:ext cx="480334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B5563"/>
                </a:solidFill>
                <a:latin typeface="Noto Sans" pitchFamily="34" charset="0"/>
                <a:ea typeface="Noto Sans" pitchFamily="34" charset="-122"/>
                <a:cs typeface="Noto Sans" pitchFamily="34" charset="-120"/>
              </a:rPr>
              <a:t>Rezistiv, sigʻim, induktiv; koʻpchilik optik va akustik datchiklar</a:t>
            </a:r>
            <a:endParaRPr lang="en-US" sz="1200" dirty="0"/>
          </a:p>
        </p:txBody>
      </p:sp>
      <p:sp>
        <p:nvSpPr>
          <p:cNvPr id="15" name="Text 13"/>
          <p:cNvSpPr/>
          <p:nvPr/>
        </p:nvSpPr>
        <p:spPr>
          <a:xfrm>
            <a:off x="6456680" y="3649979"/>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85"/>
                </a:solidFill>
                <a:latin typeface="Noto Sans" pitchFamily="34" charset="0"/>
                <a:ea typeface="Noto Sans" pitchFamily="34" charset="-122"/>
                <a:cs typeface="Noto Sans" pitchFamily="34" charset="-120"/>
              </a:rPr>
              <a:t>Sxema: koʻprik, kuchlanish boʻlgich</a:t>
            </a:r>
            <a:endParaRPr lang="en-US" sz="12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DATCHIKLAR SINFLANISHI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Energetik sohalar boʻyicha</a:t>
            </a:r>
            <a:endParaRPr lang="en-US" sz="3200" dirty="0"/>
          </a:p>
        </p:txBody>
      </p:sp>
      <p:sp>
        <p:nvSpPr>
          <p:cNvPr id="4" name="Text 2"/>
          <p:cNvSpPr/>
          <p:nvPr/>
        </p:nvSpPr>
        <p:spPr>
          <a:xfrm>
            <a:off x="815975" y="1904367"/>
            <a:ext cx="2127250" cy="626110"/>
          </a:xfrm>
          <a:prstGeom prst="roundRect">
            <a:avLst>
              <a:gd name="adj" fmla="val 11663"/>
            </a:avLst>
          </a:prstGeom>
          <a:solidFill>
            <a:srgbClr val="FDFCF9"/>
          </a:solidFill>
          <a:ln w="6350">
            <a:solidFill>
              <a:srgbClr val="E2DED4"/>
            </a:solidFill>
            <a:prstDash val="solid"/>
          </a:ln>
        </p:spPr>
        <p:txBody>
          <a:bodyPr wrap="square" lIns="131799" tIns="158317" rIns="131799" bIns="132917" rtlCol="0" anchor="t">
            <a:normAutofit/>
          </a:bodyPr>
          <a:lstStyle/>
          <a:p>
            <a:pPr algn="ctr" indent="0" marL="0">
              <a:lnSpc>
                <a:spcPts val="2100"/>
              </a:lnSpc>
              <a:buNone/>
            </a:pPr>
            <a:r>
              <a:rPr lang="en-US" sz="1500" b="1" dirty="0">
                <a:solidFill>
                  <a:srgbClr val="1D2433"/>
                </a:solidFill>
                <a:latin typeface="Noto Sans" pitchFamily="34" charset="0"/>
                <a:ea typeface="Noto Sans" pitchFamily="34" charset="-122"/>
                <a:cs typeface="Noto Sans" pitchFamily="34" charset="-120"/>
              </a:rPr>
              <a:t>Nurlanish</a:t>
            </a:r>
            <a:endParaRPr lang="en-US" sz="1500" dirty="0"/>
          </a:p>
        </p:txBody>
      </p:sp>
      <p:sp>
        <p:nvSpPr>
          <p:cNvPr id="5" name="Text 3"/>
          <p:cNvSpPr/>
          <p:nvPr/>
        </p:nvSpPr>
        <p:spPr>
          <a:xfrm>
            <a:off x="3076575" y="1904367"/>
            <a:ext cx="2127250" cy="626110"/>
          </a:xfrm>
          <a:prstGeom prst="roundRect">
            <a:avLst>
              <a:gd name="adj" fmla="val 11663"/>
            </a:avLst>
          </a:prstGeom>
          <a:solidFill>
            <a:srgbClr val="FDFCF9"/>
          </a:solidFill>
          <a:ln w="6350">
            <a:solidFill>
              <a:srgbClr val="E2DED4"/>
            </a:solidFill>
            <a:prstDash val="solid"/>
          </a:ln>
        </p:spPr>
        <p:txBody>
          <a:bodyPr wrap="square" lIns="131799" tIns="158317" rIns="131799" bIns="132917" rtlCol="0" anchor="t">
            <a:normAutofit/>
          </a:bodyPr>
          <a:lstStyle/>
          <a:p>
            <a:pPr algn="ctr" indent="0" marL="0">
              <a:lnSpc>
                <a:spcPts val="2100"/>
              </a:lnSpc>
              <a:buNone/>
            </a:pPr>
            <a:r>
              <a:rPr lang="en-US" sz="1500" b="1" dirty="0">
                <a:solidFill>
                  <a:srgbClr val="1D2433"/>
                </a:solidFill>
                <a:latin typeface="Noto Sans" pitchFamily="34" charset="0"/>
                <a:ea typeface="Noto Sans" pitchFamily="34" charset="-122"/>
                <a:cs typeface="Noto Sans" pitchFamily="34" charset="-120"/>
              </a:rPr>
              <a:t>Mexanik</a:t>
            </a:r>
            <a:endParaRPr lang="en-US" sz="1500" dirty="0"/>
          </a:p>
        </p:txBody>
      </p:sp>
      <p:sp>
        <p:nvSpPr>
          <p:cNvPr id="6" name="Text 4"/>
          <p:cNvSpPr/>
          <p:nvPr/>
        </p:nvSpPr>
        <p:spPr>
          <a:xfrm>
            <a:off x="5337175" y="1904367"/>
            <a:ext cx="2127250" cy="626110"/>
          </a:xfrm>
          <a:prstGeom prst="roundRect">
            <a:avLst>
              <a:gd name="adj" fmla="val 11663"/>
            </a:avLst>
          </a:prstGeom>
          <a:solidFill>
            <a:srgbClr val="FDFCF9"/>
          </a:solidFill>
          <a:ln w="6350">
            <a:solidFill>
              <a:srgbClr val="E2DED4"/>
            </a:solidFill>
            <a:prstDash val="solid"/>
          </a:ln>
        </p:spPr>
        <p:txBody>
          <a:bodyPr wrap="square" lIns="131799" tIns="158317" rIns="131799" bIns="132917" rtlCol="0" anchor="t">
            <a:normAutofit/>
          </a:bodyPr>
          <a:lstStyle/>
          <a:p>
            <a:pPr algn="ctr" indent="0" marL="0">
              <a:lnSpc>
                <a:spcPts val="2100"/>
              </a:lnSpc>
              <a:buNone/>
            </a:pPr>
            <a:r>
              <a:rPr lang="en-US" sz="1500" b="1" dirty="0">
                <a:solidFill>
                  <a:srgbClr val="1D2433"/>
                </a:solidFill>
                <a:latin typeface="Noto Sans" pitchFamily="34" charset="0"/>
                <a:ea typeface="Noto Sans" pitchFamily="34" charset="-122"/>
                <a:cs typeface="Noto Sans" pitchFamily="34" charset="-120"/>
              </a:rPr>
              <a:t>Issiqlik</a:t>
            </a:r>
            <a:endParaRPr lang="en-US" sz="1500" dirty="0"/>
          </a:p>
        </p:txBody>
      </p:sp>
      <p:sp>
        <p:nvSpPr>
          <p:cNvPr id="7" name="Text 5"/>
          <p:cNvSpPr/>
          <p:nvPr/>
        </p:nvSpPr>
        <p:spPr>
          <a:xfrm>
            <a:off x="815975" y="2663825"/>
            <a:ext cx="2127250" cy="626110"/>
          </a:xfrm>
          <a:prstGeom prst="roundRect">
            <a:avLst>
              <a:gd name="adj" fmla="val 11663"/>
            </a:avLst>
          </a:prstGeom>
          <a:solidFill>
            <a:srgbClr val="FDFCF9"/>
          </a:solidFill>
          <a:ln w="6350">
            <a:solidFill>
              <a:srgbClr val="E2DED4"/>
            </a:solidFill>
            <a:prstDash val="solid"/>
          </a:ln>
        </p:spPr>
        <p:txBody>
          <a:bodyPr wrap="square" lIns="131799" tIns="158317" rIns="131799" bIns="132917" rtlCol="0" anchor="t">
            <a:normAutofit/>
          </a:bodyPr>
          <a:lstStyle/>
          <a:p>
            <a:pPr algn="ctr" indent="0" marL="0">
              <a:lnSpc>
                <a:spcPts val="2100"/>
              </a:lnSpc>
              <a:buNone/>
            </a:pPr>
            <a:r>
              <a:rPr lang="en-US" sz="1500" b="1" dirty="0">
                <a:solidFill>
                  <a:srgbClr val="1D2433"/>
                </a:solidFill>
                <a:latin typeface="Noto Sans" pitchFamily="34" charset="0"/>
                <a:ea typeface="Noto Sans" pitchFamily="34" charset="-122"/>
                <a:cs typeface="Noto Sans" pitchFamily="34" charset="-120"/>
              </a:rPr>
              <a:t>Magnit</a:t>
            </a:r>
            <a:endParaRPr lang="en-US" sz="1500" dirty="0"/>
          </a:p>
        </p:txBody>
      </p:sp>
      <p:sp>
        <p:nvSpPr>
          <p:cNvPr id="8" name="Text 6"/>
          <p:cNvSpPr/>
          <p:nvPr/>
        </p:nvSpPr>
        <p:spPr>
          <a:xfrm>
            <a:off x="3076575" y="2663825"/>
            <a:ext cx="2127250" cy="626110"/>
          </a:xfrm>
          <a:prstGeom prst="roundRect">
            <a:avLst>
              <a:gd name="adj" fmla="val 11663"/>
            </a:avLst>
          </a:prstGeom>
          <a:solidFill>
            <a:srgbClr val="FDFCF9"/>
          </a:solidFill>
          <a:ln w="6350">
            <a:solidFill>
              <a:srgbClr val="E2DED4"/>
            </a:solidFill>
            <a:prstDash val="solid"/>
          </a:ln>
        </p:spPr>
        <p:txBody>
          <a:bodyPr wrap="square" lIns="131799" tIns="158317" rIns="131799" bIns="132917" rtlCol="0" anchor="t">
            <a:normAutofit/>
          </a:bodyPr>
          <a:lstStyle/>
          <a:p>
            <a:pPr algn="ctr" indent="0" marL="0">
              <a:lnSpc>
                <a:spcPts val="2100"/>
              </a:lnSpc>
              <a:buNone/>
            </a:pPr>
            <a:r>
              <a:rPr lang="en-US" sz="1500" b="1" dirty="0">
                <a:solidFill>
                  <a:srgbClr val="1D2433"/>
                </a:solidFill>
                <a:latin typeface="Noto Sans" pitchFamily="34" charset="0"/>
                <a:ea typeface="Noto Sans" pitchFamily="34" charset="-122"/>
                <a:cs typeface="Noto Sans" pitchFamily="34" charset="-120"/>
              </a:rPr>
              <a:t>Kimyoviy</a:t>
            </a:r>
            <a:endParaRPr lang="en-US" sz="1500" dirty="0"/>
          </a:p>
        </p:txBody>
      </p:sp>
      <p:sp>
        <p:nvSpPr>
          <p:cNvPr id="9" name="Text 7"/>
          <p:cNvSpPr/>
          <p:nvPr/>
        </p:nvSpPr>
        <p:spPr>
          <a:xfrm>
            <a:off x="5334000" y="2660650"/>
            <a:ext cx="2133600" cy="632460"/>
          </a:xfrm>
          <a:prstGeom prst="roundRect">
            <a:avLst>
              <a:gd name="adj" fmla="val 12048"/>
            </a:avLst>
          </a:prstGeom>
          <a:solidFill>
            <a:srgbClr val="E9E6DF"/>
          </a:solidFill>
          <a:ln/>
        </p:spPr>
        <p:txBody>
          <a:bodyPr wrap="square" lIns="128812" tIns="155482" rIns="128812" bIns="140242" rtlCol="0" anchor="t">
            <a:normAutofit/>
          </a:bodyPr>
          <a:lstStyle/>
          <a:p>
            <a:pPr algn="ctr" indent="0" marL="0">
              <a:lnSpc>
                <a:spcPts val="2100"/>
              </a:lnSpc>
              <a:buNone/>
            </a:pPr>
            <a:r>
              <a:rPr lang="en-US" sz="1500" b="1" dirty="0">
                <a:solidFill>
                  <a:srgbClr val="4B5563"/>
                </a:solidFill>
                <a:latin typeface="Noto Sans" pitchFamily="34" charset="0"/>
                <a:ea typeface="Noto Sans" pitchFamily="34" charset="-122"/>
                <a:cs typeface="Noto Sans" pitchFamily="34" charset="-120"/>
              </a:rPr>
              <a:t>Elektr</a:t>
            </a:r>
            <a:endParaRPr lang="en-US" sz="1500" dirty="0"/>
          </a:p>
        </p:txBody>
      </p:sp>
      <p:pic>
        <p:nvPicPr>
          <p:cNvPr id="10" name="Image 0" descr="arrow-right">    </p:cNvPr>
          <p:cNvPicPr>
            <a:picLocks noChangeAspect="1"/>
          </p:cNvPicPr>
          <p:nvPr/>
        </p:nvPicPr>
        <p:blipFill>
          <a:blip r:embed="rId1"/>
          <a:srcRect l="0" r="0" t="0" b="0"/>
          <a:stretch/>
        </p:blipFill>
        <p:spPr>
          <a:xfrm>
            <a:off x="7721600" y="2393950"/>
            <a:ext cx="609600" cy="406400"/>
          </a:xfrm>
          <a:prstGeom prst="rect">
            <a:avLst/>
          </a:prstGeom>
        </p:spPr>
      </p:pic>
      <p:sp>
        <p:nvSpPr>
          <p:cNvPr id="11" name="Shape 8"/>
          <p:cNvSpPr/>
          <p:nvPr/>
        </p:nvSpPr>
        <p:spPr>
          <a:xfrm>
            <a:off x="8585200" y="1828800"/>
            <a:ext cx="2794000" cy="1536700"/>
          </a:xfrm>
          <a:prstGeom prst="roundRect">
            <a:avLst>
              <a:gd name="adj" fmla="val 6612"/>
            </a:avLst>
          </a:prstGeom>
          <a:solidFill>
            <a:srgbClr val="16233B"/>
          </a:solidFill>
          <a:ln/>
        </p:spPr>
      </p:sp>
      <p:sp>
        <p:nvSpPr>
          <p:cNvPr id="12" name="Text 9"/>
          <p:cNvSpPr/>
          <p:nvPr/>
        </p:nvSpPr>
        <p:spPr>
          <a:xfrm>
            <a:off x="8839200" y="2082800"/>
            <a:ext cx="235458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0A46E"/>
                </a:solidFill>
                <a:latin typeface="Noto Sans" pitchFamily="34" charset="0"/>
                <a:ea typeface="Noto Sans" pitchFamily="34" charset="-122"/>
                <a:cs typeface="Noto Sans" pitchFamily="34" charset="-120"/>
              </a:rPr>
              <a:t>Elektr signali</a:t>
            </a:r>
            <a:endParaRPr lang="en-US" sz="1700" dirty="0"/>
          </a:p>
        </p:txBody>
      </p:sp>
      <p:sp>
        <p:nvSpPr>
          <p:cNvPr id="13" name="Text 10"/>
          <p:cNvSpPr/>
          <p:nvPr/>
        </p:nvSpPr>
        <p:spPr>
          <a:xfrm>
            <a:off x="8839200" y="2418079"/>
            <a:ext cx="23545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Datchik kirish signalini biror sohadan elektr sohasiga oʻtkazadi</a:t>
            </a:r>
            <a:endParaRPr lang="en-US" sz="1300" dirty="0"/>
          </a:p>
        </p:txBody>
      </p:sp>
      <p:sp>
        <p:nvSpPr>
          <p:cNvPr id="14" name="Text 11"/>
          <p:cNvSpPr/>
          <p:nvPr/>
        </p:nvSpPr>
        <p:spPr>
          <a:xfrm>
            <a:off x="812800" y="364490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Noto Sans" pitchFamily="34" charset="0"/>
                <a:ea typeface="Noto Sans" pitchFamily="34" charset="-122"/>
                <a:cs typeface="Noto Sans" pitchFamily="34" charset="-120"/>
              </a:rPr>
              <a:t>Bir vazifani turli fizik yoʻllar bilan hal qilish imkoniyatlarini tizimli koʻrishga yordam beradi: masalan, masofa — nurlanish, mexanik (tovush) yoki magnit sohasi orqali.</a:t>
            </a:r>
            <a:endParaRPr lang="en-US" sz="1400" dirty="0"/>
          </a:p>
        </p:txBody>
      </p:sp>
      <p:sp>
        <p:nvSpPr>
          <p:cNvPr id="15"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DATCHIKLAR SINFLANISHI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Oʻzgartirish prinsipi boʻyicha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88160"/>
          <a:ext cx="10556240" cy="3139440"/>
        </p:xfrm>
        <a:graphic>
          <a:graphicData uri="http://schemas.openxmlformats.org/drawingml/2006/table">
            <a:tbl>
              <a:tblPr/>
              <a:tblGrid>
                <a:gridCol w="3518747"/>
                <a:gridCol w="3518747"/>
                <a:gridCol w="3518747"/>
              </a:tblGrid>
              <a:tr h="335280">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Prinsip</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Fizik effekt</a:t>
                      </a:r>
                      <a:endParaRPr lang="en-US" sz="1200" dirty="0">
                        <a:latin typeface="Noto Sans" charset="0"/>
                        <a:ea typeface="Noto Sans" charset="0"/>
                        <a:cs typeface="Noto Sans" charset="0"/>
                      </a:endParaRPr>
                    </a:p>
                  </a:txBody>
                  <a:tcPr marL="127000" marR="127000" marT="63500" marB="63500"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Robotdagi qoʻllanilishi</a:t>
                      </a:r>
                      <a:endParaRPr lang="en-US" sz="1200" dirty="0">
                        <a:latin typeface="Noto Sans" charset="0"/>
                        <a:ea typeface="Noto Sans" charset="0"/>
                        <a:cs typeface="Noto Sans" charset="0"/>
                      </a:endParaRPr>
                    </a:p>
                  </a:txBody>
                  <a:tcPr marL="127000" marR="127000" marT="63500" marB="63500"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r>
              <a:tr h="5334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Rezistiv</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Qarshilikning siljish, deformatsiya, haroratga bogʻliqligi</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Potensiometr, tenzodatchik, termorezistor</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334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Sigʻim</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Elektrodlar masofasi, yuzasi yoki dielektrik oʻzgarishi</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Yaqinlik datchigi, taktil qoplama, MEMS</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52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Induktiv va magnit</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Induktivlik, oʻzaro induktivlik; Xoll effekti</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Rezolver, LVDT, Xoll datchigi</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334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Optik</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Yorugʻlik toʻsilishi, aks etishi, tarqalish vaqti</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Optik enkoder, lazer masofa oʻlchagich, kamera</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52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Piezoelektrik</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Mexanik kuchlanishda zaryad hosil boʻlishi</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Dinamik kuch, akselerometr, ultratovush</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3340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Akustik</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Tovush toʻlqinining tarqalish vaqti va aks etishi</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Ultratovush lokatori va masofa oʻlchagich</a:t>
                      </a:r>
                      <a:endParaRPr lang="en-US" sz="1200" dirty="0">
                        <a:latin typeface="Noto Sans" charset="0"/>
                        <a:ea typeface="Noto Sans" charset="0"/>
                        <a:cs typeface="Noto Sans" charset="0"/>
                      </a:endParaRPr>
                    </a:p>
                  </a:txBody>
                  <a:tcPr marL="127000" marR="127000" marT="63500" marB="635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51562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Noto Sans" pitchFamily="34" charset="0"/>
                <a:ea typeface="Noto Sans" pitchFamily="34" charset="-122"/>
                <a:cs typeface="Noto Sans" pitchFamily="34" charset="-120"/>
              </a:rPr>
              <a:t>Datchik tavsiflari asosan fizik prinsip bilan belgilanadi — shuning uchun bu sinflanish amaliyot uchun eng foydali.</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DATCHIKLAR SINFLANISHI</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Boshqa belgilar boʻyicha</a:t>
            </a:r>
            <a:endParaRPr lang="en-US" sz="3200" dirty="0"/>
          </a:p>
        </p:txBody>
      </p:sp>
      <p:sp>
        <p:nvSpPr>
          <p:cNvPr id="4" name="Shape 2"/>
          <p:cNvSpPr/>
          <p:nvPr/>
        </p:nvSpPr>
        <p:spPr>
          <a:xfrm>
            <a:off x="815975" y="1857375"/>
            <a:ext cx="3380317" cy="2298700"/>
          </a:xfrm>
          <a:prstGeom prst="roundRect">
            <a:avLst>
              <a:gd name="adj" fmla="val 4282"/>
            </a:avLst>
          </a:prstGeom>
          <a:solidFill>
            <a:srgbClr val="FDFCF9"/>
          </a:solidFill>
          <a:ln w="6350">
            <a:solidFill>
              <a:srgbClr val="E2DED4"/>
            </a:solidFill>
            <a:prstDash val="solid"/>
          </a:ln>
        </p:spPr>
      </p:sp>
      <p:sp>
        <p:nvSpPr>
          <p:cNvPr id="5" name="Text 3"/>
          <p:cNvSpPr/>
          <p:nvPr/>
        </p:nvSpPr>
        <p:spPr>
          <a:xfrm>
            <a:off x="1071880" y="2113279"/>
            <a:ext cx="29545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Chiqish signali</a:t>
            </a:r>
            <a:endParaRPr lang="en-US" sz="1600" dirty="0"/>
          </a:p>
        </p:txBody>
      </p:sp>
      <p:sp>
        <p:nvSpPr>
          <p:cNvPr id="6" name="Text 4"/>
          <p:cNvSpPr/>
          <p:nvPr/>
        </p:nvSpPr>
        <p:spPr>
          <a:xfrm>
            <a:off x="1071880" y="2458721"/>
            <a:ext cx="2954562"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Analog:</a:t>
            </a:r>
            <a:r>
              <a:rPr lang="en-US" sz="1300" dirty="0">
                <a:solidFill>
                  <a:srgbClr val="1D2433"/>
                </a:solidFill>
                <a:latin typeface="Noto Sans" pitchFamily="34" charset="0"/>
                <a:ea typeface="Noto Sans" pitchFamily="34" charset="-122"/>
                <a:cs typeface="Noto Sans" pitchFamily="34" charset="-120"/>
              </a:rPr>
              <a:t> kuchlanish, tok</a:t>
            </a:r>
            <a:endParaRPr lang="en-US" sz="1300" dirty="0"/>
          </a:p>
        </p:txBody>
      </p:sp>
      <p:sp>
        <p:nvSpPr>
          <p:cNvPr id="7" name="Text 5"/>
          <p:cNvSpPr/>
          <p:nvPr/>
        </p:nvSpPr>
        <p:spPr>
          <a:xfrm>
            <a:off x="1071880" y="2807971"/>
            <a:ext cx="2954562"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Impulsli:</a:t>
            </a:r>
            <a:r>
              <a:rPr lang="en-US" sz="1300" dirty="0">
                <a:solidFill>
                  <a:srgbClr val="1D2433"/>
                </a:solidFill>
                <a:latin typeface="Noto Sans" pitchFamily="34" charset="0"/>
                <a:ea typeface="Noto Sans" pitchFamily="34" charset="-122"/>
                <a:cs typeface="Noto Sans" pitchFamily="34" charset="-120"/>
              </a:rPr>
              <a:t> inkremental enkoder, chastota chiqishi</a:t>
            </a:r>
            <a:endParaRPr lang="en-US" sz="1300" dirty="0"/>
          </a:p>
        </p:txBody>
      </p:sp>
      <p:sp>
        <p:nvSpPr>
          <p:cNvPr id="8" name="Text 6"/>
          <p:cNvSpPr/>
          <p:nvPr/>
        </p:nvSpPr>
        <p:spPr>
          <a:xfrm>
            <a:off x="1071880" y="3404871"/>
            <a:ext cx="2954562"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Raqamli:</a:t>
            </a:r>
            <a:r>
              <a:rPr lang="en-US" sz="1300" dirty="0">
                <a:solidFill>
                  <a:srgbClr val="1D2433"/>
                </a:solidFill>
                <a:latin typeface="Noto Sans" pitchFamily="34" charset="0"/>
                <a:ea typeface="Noto Sans" pitchFamily="34" charset="-122"/>
                <a:cs typeface="Noto Sans" pitchFamily="34" charset="-120"/>
              </a:rPr>
              <a:t> absolyut enkoder, raqamli interfeys</a:t>
            </a:r>
            <a:endParaRPr lang="en-US" sz="1300" dirty="0"/>
          </a:p>
        </p:txBody>
      </p:sp>
      <p:sp>
        <p:nvSpPr>
          <p:cNvPr id="9" name="Shape 7"/>
          <p:cNvSpPr/>
          <p:nvPr/>
        </p:nvSpPr>
        <p:spPr>
          <a:xfrm>
            <a:off x="4405842" y="1857375"/>
            <a:ext cx="3380317" cy="2298700"/>
          </a:xfrm>
          <a:prstGeom prst="roundRect">
            <a:avLst>
              <a:gd name="adj" fmla="val 4282"/>
            </a:avLst>
          </a:prstGeom>
          <a:solidFill>
            <a:srgbClr val="FDFCF9"/>
          </a:solidFill>
          <a:ln w="6350">
            <a:solidFill>
              <a:srgbClr val="E2DED4"/>
            </a:solidFill>
            <a:prstDash val="solid"/>
          </a:ln>
        </p:spPr>
      </p:sp>
      <p:sp>
        <p:nvSpPr>
          <p:cNvPr id="10" name="Text 8"/>
          <p:cNvSpPr/>
          <p:nvPr/>
        </p:nvSpPr>
        <p:spPr>
          <a:xfrm>
            <a:off x="4661746" y="2113279"/>
            <a:ext cx="29545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Taʼsir masofasi</a:t>
            </a:r>
            <a:endParaRPr lang="en-US" sz="1600" dirty="0"/>
          </a:p>
        </p:txBody>
      </p:sp>
      <p:sp>
        <p:nvSpPr>
          <p:cNvPr id="11" name="Text 9"/>
          <p:cNvSpPr/>
          <p:nvPr/>
        </p:nvSpPr>
        <p:spPr>
          <a:xfrm>
            <a:off x="4661746" y="2458721"/>
            <a:ext cx="2954562"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Kontaktli:</a:t>
            </a:r>
            <a:r>
              <a:rPr lang="en-US" sz="1300" dirty="0">
                <a:solidFill>
                  <a:srgbClr val="1D2433"/>
                </a:solidFill>
                <a:latin typeface="Noto Sans" pitchFamily="34" charset="0"/>
                <a:ea typeface="Noto Sans" pitchFamily="34" charset="-122"/>
                <a:cs typeface="Noto Sans" pitchFamily="34" charset="-120"/>
              </a:rPr>
              <a:t> taktil, kuch-moment</a:t>
            </a:r>
            <a:endParaRPr lang="en-US" sz="1300" dirty="0"/>
          </a:p>
        </p:txBody>
      </p:sp>
      <p:sp>
        <p:nvSpPr>
          <p:cNvPr id="12" name="Text 10"/>
          <p:cNvSpPr/>
          <p:nvPr/>
        </p:nvSpPr>
        <p:spPr>
          <a:xfrm>
            <a:off x="4661746" y="2807971"/>
            <a:ext cx="2954562"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Yaqin:</a:t>
            </a:r>
            <a:r>
              <a:rPr lang="en-US" sz="1300" dirty="0">
                <a:solidFill>
                  <a:srgbClr val="1D2433"/>
                </a:solidFill>
                <a:latin typeface="Noto Sans" pitchFamily="34" charset="0"/>
                <a:ea typeface="Noto Sans" pitchFamily="34" charset="-122"/>
                <a:cs typeface="Noto Sans" pitchFamily="34" charset="-120"/>
              </a:rPr>
              <a:t> yaqinlik datchiklari, mm…sm</a:t>
            </a:r>
            <a:endParaRPr lang="en-US" sz="1300" dirty="0"/>
          </a:p>
        </p:txBody>
      </p:sp>
      <p:sp>
        <p:nvSpPr>
          <p:cNvPr id="13" name="Text 11"/>
          <p:cNvSpPr/>
          <p:nvPr/>
        </p:nvSpPr>
        <p:spPr>
          <a:xfrm>
            <a:off x="4661746" y="3157221"/>
            <a:ext cx="2954562"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Uzoq:</a:t>
            </a:r>
            <a:r>
              <a:rPr lang="en-US" sz="1300" dirty="0">
                <a:solidFill>
                  <a:srgbClr val="1D2433"/>
                </a:solidFill>
                <a:latin typeface="Noto Sans" pitchFamily="34" charset="0"/>
                <a:ea typeface="Noto Sans" pitchFamily="34" charset="-122"/>
                <a:cs typeface="Noto Sans" pitchFamily="34" charset="-120"/>
              </a:rPr>
              <a:t> lokatsiya va koʻrish, m…yuzlab m</a:t>
            </a:r>
            <a:endParaRPr lang="en-US" sz="1300" dirty="0"/>
          </a:p>
        </p:txBody>
      </p:sp>
      <p:sp>
        <p:nvSpPr>
          <p:cNvPr id="14" name="Shape 12"/>
          <p:cNvSpPr/>
          <p:nvPr/>
        </p:nvSpPr>
        <p:spPr>
          <a:xfrm>
            <a:off x="7995708" y="1857375"/>
            <a:ext cx="3380317" cy="2298700"/>
          </a:xfrm>
          <a:prstGeom prst="roundRect">
            <a:avLst>
              <a:gd name="adj" fmla="val 4282"/>
            </a:avLst>
          </a:prstGeom>
          <a:solidFill>
            <a:srgbClr val="FDFCF9"/>
          </a:solidFill>
          <a:ln w="6350">
            <a:solidFill>
              <a:srgbClr val="E2DED4"/>
            </a:solidFill>
            <a:prstDash val="solid"/>
          </a:ln>
        </p:spPr>
      </p:sp>
      <p:sp>
        <p:nvSpPr>
          <p:cNvPr id="15" name="Text 13"/>
          <p:cNvSpPr/>
          <p:nvPr/>
        </p:nvSpPr>
        <p:spPr>
          <a:xfrm>
            <a:off x="8251613" y="2113279"/>
            <a:ext cx="29545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Ishlov berish darajasi</a:t>
            </a:r>
            <a:endParaRPr lang="en-US" sz="1600" dirty="0"/>
          </a:p>
        </p:txBody>
      </p:sp>
      <p:sp>
        <p:nvSpPr>
          <p:cNvPr id="16" name="Text 14"/>
          <p:cNvSpPr/>
          <p:nvPr/>
        </p:nvSpPr>
        <p:spPr>
          <a:xfrm>
            <a:off x="8251613" y="2458721"/>
            <a:ext cx="3121236"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Oddiy:</a:t>
            </a:r>
            <a:r>
              <a:rPr lang="en-US" sz="1300" dirty="0">
                <a:solidFill>
                  <a:srgbClr val="1D2433"/>
                </a:solidFill>
                <a:latin typeface="Noto Sans" pitchFamily="34" charset="0"/>
                <a:ea typeface="Noto Sans" pitchFamily="34" charset="-122"/>
                <a:cs typeface="Noto Sans" pitchFamily="34" charset="-120"/>
              </a:rPr>
              <a:t> sezgir element va oʻzgartkich</a:t>
            </a:r>
            <a:endParaRPr lang="en-US" sz="1300" dirty="0"/>
          </a:p>
        </p:txBody>
      </p:sp>
      <p:sp>
        <p:nvSpPr>
          <p:cNvPr id="17" name="Text 15"/>
          <p:cNvSpPr/>
          <p:nvPr/>
        </p:nvSpPr>
        <p:spPr>
          <a:xfrm>
            <a:off x="8251613" y="2807971"/>
            <a:ext cx="2954562"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Integrallashgan:</a:t>
            </a:r>
            <a:r>
              <a:rPr lang="en-US" sz="1300" dirty="0">
                <a:solidFill>
                  <a:srgbClr val="1D2433"/>
                </a:solidFill>
                <a:latin typeface="Noto Sans" pitchFamily="34" charset="0"/>
                <a:ea typeface="Noto Sans" pitchFamily="34" charset="-122"/>
                <a:cs typeface="Noto Sans" pitchFamily="34" charset="-120"/>
              </a:rPr>
              <a:t> oʻlchash sxemasi va ARO bilan</a:t>
            </a:r>
            <a:endParaRPr lang="en-US" sz="1300" dirty="0"/>
          </a:p>
        </p:txBody>
      </p:sp>
      <p:sp>
        <p:nvSpPr>
          <p:cNvPr id="18" name="Text 16"/>
          <p:cNvSpPr/>
          <p:nvPr/>
        </p:nvSpPr>
        <p:spPr>
          <a:xfrm>
            <a:off x="8251613" y="3404871"/>
            <a:ext cx="2954562"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D2433"/>
                </a:solidFill>
                <a:latin typeface="Noto Sans" pitchFamily="34" charset="0"/>
                <a:ea typeface="Noto Sans" pitchFamily="34" charset="-122"/>
                <a:cs typeface="Noto Sans" pitchFamily="34" charset="-120"/>
              </a:rPr>
              <a:t>Intellektual:</a:t>
            </a:r>
            <a:r>
              <a:rPr lang="en-US" sz="1300" dirty="0">
                <a:solidFill>
                  <a:srgbClr val="1D2433"/>
                </a:solidFill>
                <a:latin typeface="Noto Sans" pitchFamily="34" charset="0"/>
                <a:ea typeface="Noto Sans" pitchFamily="34" charset="-122"/>
                <a:cs typeface="Noto Sans" pitchFamily="34" charset="-120"/>
              </a:rPr>
              <a:t> mikroprotsessor, kalibrlash, diagnostika, tarmoq</a:t>
            </a:r>
            <a:endParaRPr lang="en-US" sz="1300" dirty="0"/>
          </a:p>
        </p:txBody>
      </p:sp>
      <p:sp>
        <p:nvSpPr>
          <p:cNvPr id="19" name="Text 17"/>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IERARXIYA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Axborotga ishlov berishning besh sathi</a:t>
            </a:r>
            <a:endParaRPr lang="en-US" sz="3200" dirty="0"/>
          </a:p>
        </p:txBody>
      </p:sp>
      <p:sp>
        <p:nvSpPr>
          <p:cNvPr id="4" name="Shape 2"/>
          <p:cNvSpPr/>
          <p:nvPr/>
        </p:nvSpPr>
        <p:spPr>
          <a:xfrm>
            <a:off x="812800" y="1778000"/>
            <a:ext cx="8356600" cy="574040"/>
          </a:xfrm>
          <a:custGeom>
            <a:avLst/>
            <a:gdLst/>
            <a:ahLst/>
            <a:cxnLst/>
            <a:rect l="l" t="t" r="r" b="b"/>
            <a:pathLst>
              <a:path w="8356600" h="574040">
                <a:moveTo>
                  <a:pt x="76200" y="0"/>
                </a:moveTo>
                <a:lnTo>
                  <a:pt x="8280400" y="0"/>
                </a:lnTo>
                <a:arcTo hR="76200" wR="76200" stAng="16200000" swAng="5400000"/>
                <a:lnTo>
                  <a:pt x="8356600" y="574040"/>
                </a:lnTo>
                <a:lnTo>
                  <a:pt x="0" y="574040"/>
                </a:lnTo>
                <a:lnTo>
                  <a:pt x="0" y="76200"/>
                </a:lnTo>
                <a:arcTo hR="76200" wR="76200" stAng="10800000" swAng="5400000"/>
                <a:close/>
              </a:path>
            </a:pathLst>
          </a:custGeom>
          <a:solidFill>
            <a:srgbClr val="16233B"/>
          </a:solidFill>
          <a:ln/>
        </p:spPr>
      </p:sp>
      <p:sp>
        <p:nvSpPr>
          <p:cNvPr id="5" name="Text 3"/>
          <p:cNvSpPr/>
          <p:nvPr/>
        </p:nvSpPr>
        <p:spPr>
          <a:xfrm>
            <a:off x="1016000" y="19050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0A46E"/>
                </a:solidFill>
                <a:latin typeface="Noto Sans" pitchFamily="34" charset="0"/>
                <a:ea typeface="Noto Sans" pitchFamily="34" charset="-122"/>
                <a:cs typeface="Noto Sans" pitchFamily="34" charset="-120"/>
              </a:rPr>
              <a:t>5</a:t>
            </a:r>
            <a:endParaRPr lang="en-US" sz="1800" dirty="0"/>
          </a:p>
        </p:txBody>
      </p:sp>
      <p:sp>
        <p:nvSpPr>
          <p:cNvPr id="6" name="Text 4"/>
          <p:cNvSpPr/>
          <p:nvPr/>
        </p:nvSpPr>
        <p:spPr>
          <a:xfrm>
            <a:off x="1473200" y="1940558"/>
            <a:ext cx="34010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3EE"/>
                </a:solidFill>
                <a:latin typeface="Noto Sans" pitchFamily="34" charset="0"/>
                <a:ea typeface="Noto Sans" pitchFamily="34" charset="-122"/>
                <a:cs typeface="Noto Sans" pitchFamily="34" charset="-120"/>
              </a:rPr>
              <a:t>Qaror va rejalashtirish</a:t>
            </a:r>
            <a:endParaRPr lang="en-US" sz="1400" dirty="0"/>
          </a:p>
        </p:txBody>
      </p:sp>
      <p:sp>
        <p:nvSpPr>
          <p:cNvPr id="7" name="Text 5"/>
          <p:cNvSpPr/>
          <p:nvPr/>
        </p:nvSpPr>
        <p:spPr>
          <a:xfrm>
            <a:off x="4927600" y="1958342"/>
            <a:ext cx="41597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FDB"/>
                </a:solidFill>
                <a:latin typeface="Noto Sans" pitchFamily="34" charset="0"/>
                <a:ea typeface="Noto Sans" pitchFamily="34" charset="-122"/>
                <a:cs typeface="Noto Sans" pitchFamily="34" charset="-120"/>
              </a:rPr>
              <a:t>harakat rejasi, buyruqlar</a:t>
            </a:r>
            <a:endParaRPr lang="en-US" sz="1200" dirty="0"/>
          </a:p>
        </p:txBody>
      </p:sp>
      <p:sp>
        <p:nvSpPr>
          <p:cNvPr id="8" name="Shape 6"/>
          <p:cNvSpPr/>
          <p:nvPr/>
        </p:nvSpPr>
        <p:spPr>
          <a:xfrm>
            <a:off x="812800" y="2352042"/>
            <a:ext cx="8356600" cy="579120"/>
          </a:xfrm>
          <a:prstGeom prst="rect">
            <a:avLst/>
          </a:prstGeom>
          <a:solidFill>
            <a:srgbClr val="E8EEF6"/>
          </a:solidFill>
          <a:ln/>
        </p:spPr>
      </p:sp>
      <p:sp>
        <p:nvSpPr>
          <p:cNvPr id="9" name="Shape 7"/>
          <p:cNvSpPr/>
          <p:nvPr/>
        </p:nvSpPr>
        <p:spPr>
          <a:xfrm>
            <a:off x="9166225" y="2352042"/>
            <a:ext cx="0" cy="579120"/>
          </a:xfrm>
          <a:prstGeom prst="line">
            <a:avLst/>
          </a:prstGeom>
          <a:noFill/>
          <a:ln w="6350">
            <a:solidFill>
              <a:srgbClr val="C9D6E6"/>
            </a:solidFill>
            <a:prstDash val="solid"/>
          </a:ln>
        </p:spPr>
      </p:sp>
      <p:sp>
        <p:nvSpPr>
          <p:cNvPr id="10" name="Shape 8"/>
          <p:cNvSpPr/>
          <p:nvPr/>
        </p:nvSpPr>
        <p:spPr>
          <a:xfrm>
            <a:off x="812800" y="2927988"/>
            <a:ext cx="8356600" cy="0"/>
          </a:xfrm>
          <a:prstGeom prst="line">
            <a:avLst/>
          </a:prstGeom>
          <a:noFill/>
          <a:ln w="6350">
            <a:solidFill>
              <a:srgbClr val="C9D6E6"/>
            </a:solidFill>
            <a:prstDash val="solid"/>
          </a:ln>
        </p:spPr>
      </p:sp>
      <p:sp>
        <p:nvSpPr>
          <p:cNvPr id="11" name="Shape 9"/>
          <p:cNvSpPr/>
          <p:nvPr/>
        </p:nvSpPr>
        <p:spPr>
          <a:xfrm>
            <a:off x="815975" y="2352042"/>
            <a:ext cx="0" cy="579120"/>
          </a:xfrm>
          <a:prstGeom prst="line">
            <a:avLst/>
          </a:prstGeom>
          <a:noFill/>
          <a:ln w="6350">
            <a:solidFill>
              <a:srgbClr val="C9D6E6"/>
            </a:solidFill>
            <a:prstDash val="solid"/>
          </a:ln>
        </p:spPr>
      </p:sp>
      <p:sp>
        <p:nvSpPr>
          <p:cNvPr id="12" name="Text 10"/>
          <p:cNvSpPr/>
          <p:nvPr/>
        </p:nvSpPr>
        <p:spPr>
          <a:xfrm>
            <a:off x="1021080" y="2479042"/>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4F85"/>
                </a:solidFill>
                <a:latin typeface="Noto Sans" pitchFamily="34" charset="0"/>
                <a:ea typeface="Noto Sans" pitchFamily="34" charset="-122"/>
                <a:cs typeface="Noto Sans" pitchFamily="34" charset="-120"/>
              </a:rPr>
              <a:t>4</a:t>
            </a:r>
            <a:endParaRPr lang="en-US" sz="1800" dirty="0"/>
          </a:p>
        </p:txBody>
      </p:sp>
      <p:sp>
        <p:nvSpPr>
          <p:cNvPr id="13" name="Text 11"/>
          <p:cNvSpPr/>
          <p:nvPr/>
        </p:nvSpPr>
        <p:spPr>
          <a:xfrm>
            <a:off x="1478280" y="2514600"/>
            <a:ext cx="34010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Muhit modeli, tanib olish</a:t>
            </a:r>
            <a:endParaRPr lang="en-US" sz="1400" dirty="0"/>
          </a:p>
        </p:txBody>
      </p:sp>
      <p:sp>
        <p:nvSpPr>
          <p:cNvPr id="14" name="Text 12"/>
          <p:cNvSpPr/>
          <p:nvPr/>
        </p:nvSpPr>
        <p:spPr>
          <a:xfrm>
            <a:off x="4932680" y="2532379"/>
            <a:ext cx="41492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xarita, obyektlar holati</a:t>
            </a:r>
            <a:endParaRPr lang="en-US" sz="1200" dirty="0"/>
          </a:p>
        </p:txBody>
      </p:sp>
      <p:sp>
        <p:nvSpPr>
          <p:cNvPr id="15" name="Shape 13"/>
          <p:cNvSpPr/>
          <p:nvPr/>
        </p:nvSpPr>
        <p:spPr>
          <a:xfrm>
            <a:off x="812800" y="2931158"/>
            <a:ext cx="8356600" cy="579120"/>
          </a:xfrm>
          <a:prstGeom prst="rect">
            <a:avLst/>
          </a:prstGeom>
          <a:solidFill>
            <a:srgbClr val="E8EEF6"/>
          </a:solidFill>
          <a:ln/>
        </p:spPr>
      </p:sp>
      <p:sp>
        <p:nvSpPr>
          <p:cNvPr id="16" name="Shape 14"/>
          <p:cNvSpPr/>
          <p:nvPr/>
        </p:nvSpPr>
        <p:spPr>
          <a:xfrm>
            <a:off x="9166225" y="2931158"/>
            <a:ext cx="0" cy="579120"/>
          </a:xfrm>
          <a:prstGeom prst="line">
            <a:avLst/>
          </a:prstGeom>
          <a:noFill/>
          <a:ln w="6350">
            <a:solidFill>
              <a:srgbClr val="C9D6E6"/>
            </a:solidFill>
            <a:prstDash val="solid"/>
          </a:ln>
        </p:spPr>
      </p:sp>
      <p:sp>
        <p:nvSpPr>
          <p:cNvPr id="17" name="Shape 15"/>
          <p:cNvSpPr/>
          <p:nvPr/>
        </p:nvSpPr>
        <p:spPr>
          <a:xfrm>
            <a:off x="812800" y="3507103"/>
            <a:ext cx="8356600" cy="0"/>
          </a:xfrm>
          <a:prstGeom prst="line">
            <a:avLst/>
          </a:prstGeom>
          <a:noFill/>
          <a:ln w="6350">
            <a:solidFill>
              <a:srgbClr val="C9D6E6"/>
            </a:solidFill>
            <a:prstDash val="solid"/>
          </a:ln>
        </p:spPr>
      </p:sp>
      <p:sp>
        <p:nvSpPr>
          <p:cNvPr id="18" name="Shape 16"/>
          <p:cNvSpPr/>
          <p:nvPr/>
        </p:nvSpPr>
        <p:spPr>
          <a:xfrm>
            <a:off x="815975" y="2931158"/>
            <a:ext cx="0" cy="579120"/>
          </a:xfrm>
          <a:prstGeom prst="line">
            <a:avLst/>
          </a:prstGeom>
          <a:noFill/>
          <a:ln w="6350">
            <a:solidFill>
              <a:srgbClr val="C9D6E6"/>
            </a:solidFill>
            <a:prstDash val="solid"/>
          </a:ln>
        </p:spPr>
      </p:sp>
      <p:sp>
        <p:nvSpPr>
          <p:cNvPr id="19" name="Text 17"/>
          <p:cNvSpPr/>
          <p:nvPr/>
        </p:nvSpPr>
        <p:spPr>
          <a:xfrm>
            <a:off x="1021080" y="3058158"/>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4F85"/>
                </a:solidFill>
                <a:latin typeface="Noto Sans" pitchFamily="34" charset="0"/>
                <a:ea typeface="Noto Sans" pitchFamily="34" charset="-122"/>
                <a:cs typeface="Noto Sans" pitchFamily="34" charset="-120"/>
              </a:rPr>
              <a:t>3</a:t>
            </a:r>
            <a:endParaRPr lang="en-US" sz="1800" dirty="0"/>
          </a:p>
        </p:txBody>
      </p:sp>
      <p:sp>
        <p:nvSpPr>
          <p:cNvPr id="20" name="Text 18"/>
          <p:cNvSpPr/>
          <p:nvPr/>
        </p:nvSpPr>
        <p:spPr>
          <a:xfrm>
            <a:off x="1478280" y="3093721"/>
            <a:ext cx="34010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Belgilarni ajratish</a:t>
            </a:r>
            <a:endParaRPr lang="en-US" sz="1400" dirty="0"/>
          </a:p>
        </p:txBody>
      </p:sp>
      <p:sp>
        <p:nvSpPr>
          <p:cNvPr id="21" name="Text 19"/>
          <p:cNvSpPr/>
          <p:nvPr/>
        </p:nvSpPr>
        <p:spPr>
          <a:xfrm>
            <a:off x="4932680" y="3111500"/>
            <a:ext cx="41492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chegaralar, masofalar, kuch vektori</a:t>
            </a:r>
            <a:endParaRPr lang="en-US" sz="1200" dirty="0"/>
          </a:p>
        </p:txBody>
      </p:sp>
      <p:sp>
        <p:nvSpPr>
          <p:cNvPr id="22" name="Shape 20"/>
          <p:cNvSpPr/>
          <p:nvPr/>
        </p:nvSpPr>
        <p:spPr>
          <a:xfrm>
            <a:off x="812800" y="3510279"/>
            <a:ext cx="8356600" cy="579120"/>
          </a:xfrm>
          <a:prstGeom prst="rect">
            <a:avLst/>
          </a:prstGeom>
          <a:solidFill>
            <a:srgbClr val="E8EEF6"/>
          </a:solidFill>
          <a:ln/>
        </p:spPr>
      </p:sp>
      <p:sp>
        <p:nvSpPr>
          <p:cNvPr id="23" name="Shape 21"/>
          <p:cNvSpPr/>
          <p:nvPr/>
        </p:nvSpPr>
        <p:spPr>
          <a:xfrm>
            <a:off x="9166225" y="3510279"/>
            <a:ext cx="0" cy="579120"/>
          </a:xfrm>
          <a:prstGeom prst="line">
            <a:avLst/>
          </a:prstGeom>
          <a:noFill/>
          <a:ln w="6350">
            <a:solidFill>
              <a:srgbClr val="C9D6E6"/>
            </a:solidFill>
            <a:prstDash val="solid"/>
          </a:ln>
        </p:spPr>
      </p:sp>
      <p:sp>
        <p:nvSpPr>
          <p:cNvPr id="24" name="Shape 22"/>
          <p:cNvSpPr/>
          <p:nvPr/>
        </p:nvSpPr>
        <p:spPr>
          <a:xfrm>
            <a:off x="812800" y="4086224"/>
            <a:ext cx="8356600" cy="0"/>
          </a:xfrm>
          <a:prstGeom prst="line">
            <a:avLst/>
          </a:prstGeom>
          <a:noFill/>
          <a:ln w="6350">
            <a:solidFill>
              <a:srgbClr val="C9D6E6"/>
            </a:solidFill>
            <a:prstDash val="solid"/>
          </a:ln>
        </p:spPr>
      </p:sp>
      <p:sp>
        <p:nvSpPr>
          <p:cNvPr id="25" name="Shape 23"/>
          <p:cNvSpPr/>
          <p:nvPr/>
        </p:nvSpPr>
        <p:spPr>
          <a:xfrm>
            <a:off x="815975" y="3510279"/>
            <a:ext cx="0" cy="579120"/>
          </a:xfrm>
          <a:prstGeom prst="line">
            <a:avLst/>
          </a:prstGeom>
          <a:noFill/>
          <a:ln w="6350">
            <a:solidFill>
              <a:srgbClr val="C9D6E6"/>
            </a:solidFill>
            <a:prstDash val="solid"/>
          </a:ln>
        </p:spPr>
      </p:sp>
      <p:sp>
        <p:nvSpPr>
          <p:cNvPr id="26" name="Text 24"/>
          <p:cNvSpPr/>
          <p:nvPr/>
        </p:nvSpPr>
        <p:spPr>
          <a:xfrm>
            <a:off x="1021080" y="3637279"/>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4F85"/>
                </a:solidFill>
                <a:latin typeface="Noto Sans" pitchFamily="34" charset="0"/>
                <a:ea typeface="Noto Sans" pitchFamily="34" charset="-122"/>
                <a:cs typeface="Noto Sans" pitchFamily="34" charset="-120"/>
              </a:rPr>
              <a:t>2</a:t>
            </a:r>
            <a:endParaRPr lang="en-US" sz="1800" dirty="0"/>
          </a:p>
        </p:txBody>
      </p:sp>
      <p:sp>
        <p:nvSpPr>
          <p:cNvPr id="27" name="Text 25"/>
          <p:cNvSpPr/>
          <p:nvPr/>
        </p:nvSpPr>
        <p:spPr>
          <a:xfrm>
            <a:off x="1478280" y="3672842"/>
            <a:ext cx="34010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Birlamchi ishlov berish</a:t>
            </a:r>
            <a:endParaRPr lang="en-US" sz="1400" dirty="0"/>
          </a:p>
        </p:txBody>
      </p:sp>
      <p:sp>
        <p:nvSpPr>
          <p:cNvPr id="28" name="Text 26"/>
          <p:cNvSpPr/>
          <p:nvPr/>
        </p:nvSpPr>
        <p:spPr>
          <a:xfrm>
            <a:off x="4932680" y="3690621"/>
            <a:ext cx="41492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filtrlash, kalibrlash, sinxronlash</a:t>
            </a:r>
            <a:endParaRPr lang="en-US" sz="1200" dirty="0"/>
          </a:p>
        </p:txBody>
      </p:sp>
      <p:sp>
        <p:nvSpPr>
          <p:cNvPr id="29" name="Shape 27"/>
          <p:cNvSpPr/>
          <p:nvPr/>
        </p:nvSpPr>
        <p:spPr>
          <a:xfrm>
            <a:off x="812800" y="4089400"/>
            <a:ext cx="8356600" cy="579120"/>
          </a:xfrm>
          <a:custGeom>
            <a:avLst/>
            <a:gdLst/>
            <a:ahLst/>
            <a:cxnLst/>
            <a:rect l="l" t="t" r="r" b="b"/>
            <a:pathLst>
              <a:path w="8356600" h="579120">
                <a:moveTo>
                  <a:pt x="0" y="0"/>
                </a:moveTo>
                <a:lnTo>
                  <a:pt x="8356600" y="0"/>
                </a:lnTo>
                <a:lnTo>
                  <a:pt x="8356600" y="502920"/>
                </a:lnTo>
                <a:arcTo hR="76200" wR="76200" stAng="0" swAng="5400000"/>
                <a:lnTo>
                  <a:pt x="76200" y="579120"/>
                </a:lnTo>
                <a:arcTo hR="76200" wR="76200" stAng="5400000" swAng="5400000"/>
                <a:lnTo>
                  <a:pt x="0" y="0"/>
                </a:lnTo>
                <a:close/>
              </a:path>
            </a:pathLst>
          </a:custGeom>
          <a:solidFill>
            <a:srgbClr val="FDFCF9"/>
          </a:solidFill>
          <a:ln/>
        </p:spPr>
      </p:sp>
      <p:sp>
        <p:nvSpPr>
          <p:cNvPr id="30" name="Shape 28"/>
          <p:cNvSpPr/>
          <p:nvPr/>
        </p:nvSpPr>
        <p:spPr>
          <a:xfrm>
            <a:off x="812800" y="4089400"/>
            <a:ext cx="8356600" cy="579120"/>
          </a:xfrm>
          <a:custGeom>
            <a:avLst/>
            <a:gdLst/>
            <a:ahLst/>
            <a:cxnLst/>
            <a:rect l="l" t="t" r="r" b="b"/>
            <a:pathLst>
              <a:path w="8356600" h="579120">
                <a:moveTo>
                  <a:pt x="8350250" y="0"/>
                </a:moveTo>
                <a:lnTo>
                  <a:pt x="8356600" y="0"/>
                </a:lnTo>
                <a:lnTo>
                  <a:pt x="8356600" y="502920"/>
                </a:lnTo>
                <a:arcTo hR="76200" wR="76200" stAng="0" swAng="5400000"/>
                <a:lnTo>
                  <a:pt x="76200" y="579120"/>
                </a:lnTo>
                <a:arcTo hR="76200" wR="76200" stAng="5400000" swAng="5400000"/>
                <a:lnTo>
                  <a:pt x="0" y="0"/>
                </a:lnTo>
                <a:lnTo>
                  <a:pt x="6350" y="0"/>
                </a:lnTo>
                <a:lnTo>
                  <a:pt x="6350" y="502920"/>
                </a:lnTo>
                <a:arcTo hR="69850" wR="69850" stAng="10800000" swAng="-5400000"/>
                <a:lnTo>
                  <a:pt x="8280400" y="572770"/>
                </a:lnTo>
                <a:arcTo hR="69850" wR="69850" stAng="5400000" swAng="-5400000"/>
                <a:lnTo>
                  <a:pt x="8350250" y="0"/>
                </a:lnTo>
                <a:close/>
              </a:path>
            </a:pathLst>
          </a:custGeom>
          <a:solidFill>
            <a:srgbClr val="E2DED4"/>
          </a:solidFill>
          <a:ln/>
        </p:spPr>
      </p:sp>
      <p:sp>
        <p:nvSpPr>
          <p:cNvPr id="31" name="Text 29"/>
          <p:cNvSpPr/>
          <p:nvPr/>
        </p:nvSpPr>
        <p:spPr>
          <a:xfrm>
            <a:off x="1021080" y="4216400"/>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6B7280"/>
                </a:solidFill>
                <a:latin typeface="Noto Sans" pitchFamily="34" charset="0"/>
                <a:ea typeface="Noto Sans" pitchFamily="34" charset="-122"/>
                <a:cs typeface="Noto Sans" pitchFamily="34" charset="-120"/>
              </a:rPr>
              <a:t>1</a:t>
            </a:r>
            <a:endParaRPr lang="en-US" sz="1800" dirty="0"/>
          </a:p>
        </p:txBody>
      </p:sp>
      <p:sp>
        <p:nvSpPr>
          <p:cNvPr id="32" name="Text 30"/>
          <p:cNvSpPr/>
          <p:nvPr/>
        </p:nvSpPr>
        <p:spPr>
          <a:xfrm>
            <a:off x="1478280" y="4251958"/>
            <a:ext cx="34010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Datchiklar sathi</a:t>
            </a:r>
            <a:endParaRPr lang="en-US" sz="1400" dirty="0"/>
          </a:p>
        </p:txBody>
      </p:sp>
      <p:sp>
        <p:nvSpPr>
          <p:cNvPr id="33" name="Text 31"/>
          <p:cNvSpPr/>
          <p:nvPr/>
        </p:nvSpPr>
        <p:spPr>
          <a:xfrm>
            <a:off x="4932680" y="4269742"/>
            <a:ext cx="41492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elektr signallari, raqamli kodlar</a:t>
            </a:r>
            <a:endParaRPr lang="en-US" sz="1200" dirty="0"/>
          </a:p>
        </p:txBody>
      </p:sp>
      <p:sp>
        <p:nvSpPr>
          <p:cNvPr id="34" name="Text 32"/>
          <p:cNvSpPr/>
          <p:nvPr/>
        </p:nvSpPr>
        <p:spPr>
          <a:xfrm>
            <a:off x="9474200" y="1778000"/>
            <a:ext cx="196215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4F85"/>
                </a:solidFill>
                <a:latin typeface="Noto Sans" pitchFamily="34" charset="0"/>
                <a:ea typeface="Noto Sans" pitchFamily="34" charset="-122"/>
                <a:cs typeface="Noto Sans" pitchFamily="34" charset="-120"/>
              </a:rPr>
              <a:t>Yuqoriga:</a:t>
            </a:r>
            <a:r>
              <a:rPr lang="en-US" sz="1300" dirty="0">
                <a:solidFill>
                  <a:srgbClr val="1F4F85"/>
                </a:solidFill>
                <a:latin typeface="Noto Sans" pitchFamily="34" charset="0"/>
                <a:ea typeface="Noto Sans" pitchFamily="34" charset="-122"/>
                <a:cs typeface="Noto Sans" pitchFamily="34" charset="-120"/>
              </a:rPr>
              <a:t> axborot hajmi kamayadi, mazmuni boyiydi</a:t>
            </a:r>
            <a:endParaRPr lang="en-US" sz="1300" dirty="0"/>
          </a:p>
        </p:txBody>
      </p:sp>
      <p:pic>
        <p:nvPicPr>
          <p:cNvPr id="35" name="Image 0" descr="arrow-up">    </p:cNvPr>
          <p:cNvPicPr>
            <a:picLocks noChangeAspect="1"/>
          </p:cNvPicPr>
          <p:nvPr/>
        </p:nvPicPr>
        <p:blipFill>
          <a:blip r:embed="rId1"/>
          <a:srcRect l="0" r="0" t="0" b="0"/>
          <a:stretch/>
        </p:blipFill>
        <p:spPr>
          <a:xfrm>
            <a:off x="9474200" y="2598421"/>
            <a:ext cx="508000" cy="1270000"/>
          </a:xfrm>
          <a:prstGeom prst="rect">
            <a:avLst/>
          </a:prstGeom>
        </p:spPr>
      </p:pic>
      <p:sp>
        <p:nvSpPr>
          <p:cNvPr id="36" name="Text 33"/>
          <p:cNvSpPr/>
          <p:nvPr/>
        </p:nvSpPr>
        <p:spPr>
          <a:xfrm>
            <a:off x="9474200" y="3995421"/>
            <a:ext cx="196215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5563"/>
                </a:solidFill>
                <a:latin typeface="Noto Sans" pitchFamily="34" charset="0"/>
                <a:ea typeface="Noto Sans" pitchFamily="34" charset="-122"/>
                <a:cs typeface="Noto Sans" pitchFamily="34" charset="-120"/>
              </a:rPr>
              <a:t>Pastda:</a:t>
            </a:r>
            <a:r>
              <a:rPr lang="en-US" sz="1300" dirty="0">
                <a:solidFill>
                  <a:srgbClr val="4B5563"/>
                </a:solidFill>
                <a:latin typeface="Noto Sans" pitchFamily="34" charset="0"/>
                <a:ea typeface="Noto Sans" pitchFamily="34" charset="-122"/>
                <a:cs typeface="Noto Sans" pitchFamily="34" charset="-120"/>
              </a:rPr>
              <a:t> qatʼiy real vaqt, datchik yoki drayver ichida</a:t>
            </a:r>
            <a:endParaRPr lang="en-US" sz="1300" dirty="0"/>
          </a:p>
        </p:txBody>
      </p:sp>
      <p:sp>
        <p:nvSpPr>
          <p:cNvPr id="37" name="Text 3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IERARXIYA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Axborot oqimining notekisligi</a:t>
            </a:r>
            <a:endParaRPr lang="en-US" sz="3200" dirty="0"/>
          </a:p>
        </p:txBody>
      </p:sp>
      <p:sp>
        <p:nvSpPr>
          <p:cNvPr id="4" name="Text 2"/>
          <p:cNvSpPr/>
          <p:nvPr/>
        </p:nvSpPr>
        <p:spPr>
          <a:xfrm>
            <a:off x="812800" y="18288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33B"/>
                </a:solidFill>
                <a:latin typeface="Noto Sans" pitchFamily="34" charset="0"/>
                <a:ea typeface="Noto Sans" pitchFamily="34" charset="-122"/>
                <a:cs typeface="Noto Sans" pitchFamily="34" charset="-120"/>
              </a:rPr>
              <a:t>R = N(x) · N(y) · b · f</a:t>
            </a:r>
            <a:endParaRPr lang="en-US" sz="2000" dirty="0"/>
          </a:p>
        </p:txBody>
      </p:sp>
      <p:sp>
        <p:nvSpPr>
          <p:cNvPr id="5" name="Shape 3"/>
          <p:cNvSpPr/>
          <p:nvPr/>
        </p:nvSpPr>
        <p:spPr>
          <a:xfrm>
            <a:off x="812800" y="2463800"/>
            <a:ext cx="5176520" cy="1691640"/>
          </a:xfrm>
          <a:prstGeom prst="roundRect">
            <a:avLst>
              <a:gd name="adj" fmla="val 6006"/>
            </a:avLst>
          </a:prstGeom>
          <a:solidFill>
            <a:srgbClr val="16233B"/>
          </a:solidFill>
          <a:ln/>
        </p:spPr>
      </p:sp>
      <p:sp>
        <p:nvSpPr>
          <p:cNvPr id="6" name="Text 4"/>
          <p:cNvSpPr/>
          <p:nvPr/>
        </p:nvSpPr>
        <p:spPr>
          <a:xfrm>
            <a:off x="1066800" y="2717800"/>
            <a:ext cx="48085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46E"/>
                </a:solidFill>
                <a:latin typeface="Noto Sans" pitchFamily="34" charset="0"/>
                <a:ea typeface="Noto Sans" pitchFamily="34" charset="-122"/>
                <a:cs typeface="Noto Sans" pitchFamily="34" charset="-120"/>
              </a:rPr>
              <a:t>KAMERA</a:t>
            </a:r>
            <a:endParaRPr lang="en-US" sz="1200" dirty="0"/>
          </a:p>
        </p:txBody>
      </p:sp>
      <p:sp>
        <p:nvSpPr>
          <p:cNvPr id="7" name="Text 5"/>
          <p:cNvSpPr/>
          <p:nvPr/>
        </p:nvSpPr>
        <p:spPr>
          <a:xfrm>
            <a:off x="1066800" y="3007358"/>
            <a:ext cx="48085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FDB"/>
                </a:solidFill>
                <a:latin typeface="Noto Sans" pitchFamily="34" charset="0"/>
                <a:ea typeface="Noto Sans" pitchFamily="34" charset="-122"/>
                <a:cs typeface="Noto Sans" pitchFamily="34" charset="-120"/>
              </a:rPr>
              <a:t>1920 × 1080 piksel, 24 bit, 30 kadr/s</a:t>
            </a:r>
            <a:endParaRPr lang="en-US" sz="1400" dirty="0"/>
          </a:p>
        </p:txBody>
      </p:sp>
      <p:sp>
        <p:nvSpPr>
          <p:cNvPr id="8" name="Text 6"/>
          <p:cNvSpPr/>
          <p:nvPr/>
        </p:nvSpPr>
        <p:spPr>
          <a:xfrm>
            <a:off x="1066800" y="3332479"/>
            <a:ext cx="4808576"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0A46E"/>
                </a:solidFill>
                <a:latin typeface="Noto Sans" pitchFamily="34" charset="0"/>
                <a:ea typeface="Noto Sans" pitchFamily="34" charset="-122"/>
                <a:cs typeface="Noto Sans" pitchFamily="34" charset="-120"/>
              </a:rPr>
              <a:t>≈ 1,49 Gbit/s</a:t>
            </a:r>
            <a:endParaRPr lang="en-US" sz="4000" dirty="0"/>
          </a:p>
        </p:txBody>
      </p:sp>
      <p:sp>
        <p:nvSpPr>
          <p:cNvPr id="9" name="Shape 7"/>
          <p:cNvSpPr/>
          <p:nvPr/>
        </p:nvSpPr>
        <p:spPr>
          <a:xfrm>
            <a:off x="6195695" y="2466975"/>
            <a:ext cx="5180330" cy="1685290"/>
          </a:xfrm>
          <a:prstGeom prst="roundRect">
            <a:avLst>
              <a:gd name="adj" fmla="val 5840"/>
            </a:avLst>
          </a:prstGeom>
          <a:solidFill>
            <a:srgbClr val="FDFCF9"/>
          </a:solidFill>
          <a:ln w="6350">
            <a:solidFill>
              <a:srgbClr val="E2DED4"/>
            </a:solidFill>
            <a:prstDash val="solid"/>
          </a:ln>
        </p:spPr>
      </p:sp>
      <p:sp>
        <p:nvSpPr>
          <p:cNvPr id="10" name="Text 8"/>
          <p:cNvSpPr/>
          <p:nvPr/>
        </p:nvSpPr>
        <p:spPr>
          <a:xfrm>
            <a:off x="6451600" y="2722879"/>
            <a:ext cx="48085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6 BOʻGʻINLI MANIPULYATOR</a:t>
            </a:r>
            <a:endParaRPr lang="en-US" sz="1200" dirty="0"/>
          </a:p>
        </p:txBody>
      </p:sp>
      <p:sp>
        <p:nvSpPr>
          <p:cNvPr id="11" name="Text 9"/>
          <p:cNvSpPr/>
          <p:nvPr/>
        </p:nvSpPr>
        <p:spPr>
          <a:xfrm>
            <a:off x="6451600" y="3012442"/>
            <a:ext cx="48085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Noto Sans" pitchFamily="34" charset="0"/>
                <a:ea typeface="Noto Sans" pitchFamily="34" charset="-122"/>
                <a:cs typeface="Noto Sans" pitchFamily="34" charset="-120"/>
              </a:rPr>
              <a:t>17 bitli enkoderlar, 1 kHz: 6 · 17 · 1000</a:t>
            </a:r>
            <a:endParaRPr lang="en-US" sz="1400" dirty="0"/>
          </a:p>
        </p:txBody>
      </p:sp>
      <p:sp>
        <p:nvSpPr>
          <p:cNvPr id="12" name="Text 10"/>
          <p:cNvSpPr/>
          <p:nvPr/>
        </p:nvSpPr>
        <p:spPr>
          <a:xfrm>
            <a:off x="6451600" y="3337558"/>
            <a:ext cx="4808576"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2D6CB0"/>
                </a:solidFill>
                <a:latin typeface="Noto Sans" pitchFamily="34" charset="0"/>
                <a:ea typeface="Noto Sans" pitchFamily="34" charset="-122"/>
                <a:cs typeface="Noto Sans" pitchFamily="34" charset="-120"/>
              </a:rPr>
              <a:t>≈ 0,1 Mbit/s</a:t>
            </a:r>
            <a:endParaRPr lang="en-US" sz="4000" dirty="0"/>
          </a:p>
        </p:txBody>
      </p:sp>
      <p:sp>
        <p:nvSpPr>
          <p:cNvPr id="13" name="Text 11"/>
          <p:cNvSpPr/>
          <p:nvPr/>
        </p:nvSpPr>
        <p:spPr>
          <a:xfrm>
            <a:off x="812800" y="44348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Noto Sans" pitchFamily="34" charset="0"/>
                <a:ea typeface="Noto Sans" pitchFamily="34" charset="-122"/>
                <a:cs typeface="Noto Sans" pitchFamily="34" charset="-120"/>
              </a:rPr>
              <a:t>Shuning uchun koʻrish tizimlarida axborotni datchikda yoki unga yaqin joyda dastlabki qayta ishlash muhim.</a:t>
            </a:r>
            <a:endParaRPr lang="en-US" sz="14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TALABLAR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Informatsion tizimga qoʻyiladigan talablar</a:t>
            </a:r>
            <a:endParaRPr lang="en-US" sz="3200" dirty="0"/>
          </a:p>
        </p:txBody>
      </p:sp>
      <p:sp>
        <p:nvSpPr>
          <p:cNvPr id="4" name="Shape 2"/>
          <p:cNvSpPr/>
          <p:nvPr/>
        </p:nvSpPr>
        <p:spPr>
          <a:xfrm>
            <a:off x="815975" y="1806575"/>
            <a:ext cx="2540000" cy="1062990"/>
          </a:xfrm>
          <a:prstGeom prst="roundRect">
            <a:avLst>
              <a:gd name="adj" fmla="val 6870"/>
            </a:avLst>
          </a:prstGeom>
          <a:solidFill>
            <a:srgbClr val="FDFCF9"/>
          </a:solidFill>
          <a:ln w="6350">
            <a:solidFill>
              <a:srgbClr val="E2DED4"/>
            </a:solidFill>
            <a:prstDash val="solid"/>
          </a:ln>
        </p:spPr>
      </p:sp>
      <p:sp>
        <p:nvSpPr>
          <p:cNvPr id="5" name="Text 3"/>
          <p:cNvSpPr/>
          <p:nvPr/>
        </p:nvSpPr>
        <p:spPr>
          <a:xfrm>
            <a:off x="995680" y="1986279"/>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Aniqlik</a:t>
            </a:r>
            <a:endParaRPr lang="en-US" sz="1400" dirty="0"/>
          </a:p>
        </p:txBody>
      </p:sp>
      <p:sp>
        <p:nvSpPr>
          <p:cNvPr id="6" name="Text 4"/>
          <p:cNvSpPr/>
          <p:nvPr/>
        </p:nvSpPr>
        <p:spPr>
          <a:xfrm>
            <a:off x="995680" y="2263142"/>
            <a:ext cx="23571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Ruxsat qobiliyati vazifaga mos</a:t>
            </a:r>
            <a:endParaRPr lang="en-US" sz="1200" dirty="0"/>
          </a:p>
        </p:txBody>
      </p:sp>
      <p:sp>
        <p:nvSpPr>
          <p:cNvPr id="7" name="Shape 5"/>
          <p:cNvSpPr/>
          <p:nvPr/>
        </p:nvSpPr>
        <p:spPr>
          <a:xfrm>
            <a:off x="3489325" y="1806575"/>
            <a:ext cx="2540000" cy="1062990"/>
          </a:xfrm>
          <a:prstGeom prst="roundRect">
            <a:avLst>
              <a:gd name="adj" fmla="val 6870"/>
            </a:avLst>
          </a:prstGeom>
          <a:solidFill>
            <a:srgbClr val="FDFCF9"/>
          </a:solidFill>
          <a:ln w="6350">
            <a:solidFill>
              <a:srgbClr val="E2DED4"/>
            </a:solidFill>
            <a:prstDash val="solid"/>
          </a:ln>
        </p:spPr>
      </p:sp>
      <p:sp>
        <p:nvSpPr>
          <p:cNvPr id="8" name="Text 6"/>
          <p:cNvSpPr/>
          <p:nvPr/>
        </p:nvSpPr>
        <p:spPr>
          <a:xfrm>
            <a:off x="3669030" y="1986279"/>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Tezkorlik</a:t>
            </a:r>
            <a:endParaRPr lang="en-US" sz="1400" dirty="0"/>
          </a:p>
        </p:txBody>
      </p:sp>
      <p:sp>
        <p:nvSpPr>
          <p:cNvPr id="9" name="Text 7"/>
          <p:cNvSpPr/>
          <p:nvPr/>
        </p:nvSpPr>
        <p:spPr>
          <a:xfrm>
            <a:off x="3669030" y="2263142"/>
            <a:ext cx="23571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Yetarli polosa, kichik kechikish</a:t>
            </a:r>
            <a:endParaRPr lang="en-US" sz="1200" dirty="0"/>
          </a:p>
        </p:txBody>
      </p:sp>
      <p:sp>
        <p:nvSpPr>
          <p:cNvPr id="10" name="Shape 8"/>
          <p:cNvSpPr/>
          <p:nvPr/>
        </p:nvSpPr>
        <p:spPr>
          <a:xfrm>
            <a:off x="6162675" y="1806575"/>
            <a:ext cx="2540000" cy="1062990"/>
          </a:xfrm>
          <a:prstGeom prst="roundRect">
            <a:avLst>
              <a:gd name="adj" fmla="val 6870"/>
            </a:avLst>
          </a:prstGeom>
          <a:solidFill>
            <a:srgbClr val="FDFCF9"/>
          </a:solidFill>
          <a:ln w="6350">
            <a:solidFill>
              <a:srgbClr val="E2DED4"/>
            </a:solidFill>
            <a:prstDash val="solid"/>
          </a:ln>
        </p:spPr>
      </p:sp>
      <p:sp>
        <p:nvSpPr>
          <p:cNvPr id="11" name="Text 9"/>
          <p:cNvSpPr/>
          <p:nvPr/>
        </p:nvSpPr>
        <p:spPr>
          <a:xfrm>
            <a:off x="6342380" y="1986279"/>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Ishonchlilik</a:t>
            </a:r>
            <a:endParaRPr lang="en-US" sz="1400" dirty="0"/>
          </a:p>
        </p:txBody>
      </p:sp>
      <p:sp>
        <p:nvSpPr>
          <p:cNvPr id="12" name="Text 10"/>
          <p:cNvSpPr/>
          <p:nvPr/>
        </p:nvSpPr>
        <p:spPr>
          <a:xfrm>
            <a:off x="6342380" y="2263142"/>
            <a:ext cx="22460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Katta MTBF, muhim kanallar zaxirasi</a:t>
            </a:r>
            <a:endParaRPr lang="en-US" sz="1200" dirty="0"/>
          </a:p>
        </p:txBody>
      </p:sp>
      <p:sp>
        <p:nvSpPr>
          <p:cNvPr id="13" name="Shape 11"/>
          <p:cNvSpPr/>
          <p:nvPr/>
        </p:nvSpPr>
        <p:spPr>
          <a:xfrm>
            <a:off x="8836025" y="1806575"/>
            <a:ext cx="2540000" cy="1062990"/>
          </a:xfrm>
          <a:prstGeom prst="roundRect">
            <a:avLst>
              <a:gd name="adj" fmla="val 6870"/>
            </a:avLst>
          </a:prstGeom>
          <a:solidFill>
            <a:srgbClr val="FDFCF9"/>
          </a:solidFill>
          <a:ln w="6350">
            <a:solidFill>
              <a:srgbClr val="E2DED4"/>
            </a:solidFill>
            <a:prstDash val="solid"/>
          </a:ln>
        </p:spPr>
      </p:sp>
      <p:sp>
        <p:nvSpPr>
          <p:cNvPr id="14" name="Text 12"/>
          <p:cNvSpPr/>
          <p:nvPr/>
        </p:nvSpPr>
        <p:spPr>
          <a:xfrm>
            <a:off x="9015730" y="1986279"/>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Shovqinbardoshlik</a:t>
            </a:r>
            <a:endParaRPr lang="en-US" sz="1400" dirty="0"/>
          </a:p>
        </p:txBody>
      </p:sp>
      <p:sp>
        <p:nvSpPr>
          <p:cNvPr id="15" name="Text 13"/>
          <p:cNvSpPr/>
          <p:nvPr/>
        </p:nvSpPr>
        <p:spPr>
          <a:xfrm>
            <a:off x="9015730" y="2263142"/>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Xalaqit, vibratsiya, harorat</a:t>
            </a:r>
            <a:endParaRPr lang="en-US" sz="1200" dirty="0"/>
          </a:p>
        </p:txBody>
      </p:sp>
      <p:sp>
        <p:nvSpPr>
          <p:cNvPr id="16" name="Shape 14"/>
          <p:cNvSpPr/>
          <p:nvPr/>
        </p:nvSpPr>
        <p:spPr>
          <a:xfrm>
            <a:off x="815975" y="3002917"/>
            <a:ext cx="2540000" cy="1062990"/>
          </a:xfrm>
          <a:prstGeom prst="roundRect">
            <a:avLst>
              <a:gd name="adj" fmla="val 6870"/>
            </a:avLst>
          </a:prstGeom>
          <a:solidFill>
            <a:srgbClr val="FDFCF9"/>
          </a:solidFill>
          <a:ln w="6350">
            <a:solidFill>
              <a:srgbClr val="E2DED4"/>
            </a:solidFill>
            <a:prstDash val="solid"/>
          </a:ln>
        </p:spPr>
      </p:sp>
      <p:sp>
        <p:nvSpPr>
          <p:cNvPr id="17" name="Text 15"/>
          <p:cNvSpPr/>
          <p:nvPr/>
        </p:nvSpPr>
        <p:spPr>
          <a:xfrm>
            <a:off x="995680" y="3182621"/>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Ixchamlik</a:t>
            </a:r>
            <a:endParaRPr lang="en-US" sz="1400" dirty="0"/>
          </a:p>
        </p:txBody>
      </p:sp>
      <p:sp>
        <p:nvSpPr>
          <p:cNvPr id="18" name="Text 16"/>
          <p:cNvSpPr/>
          <p:nvPr/>
        </p:nvSpPr>
        <p:spPr>
          <a:xfrm>
            <a:off x="995680" y="3459479"/>
            <a:ext cx="22460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Kichik oʻlcham, massa, energiya</a:t>
            </a:r>
            <a:endParaRPr lang="en-US" sz="1200" dirty="0"/>
          </a:p>
        </p:txBody>
      </p:sp>
      <p:sp>
        <p:nvSpPr>
          <p:cNvPr id="19" name="Shape 17"/>
          <p:cNvSpPr/>
          <p:nvPr/>
        </p:nvSpPr>
        <p:spPr>
          <a:xfrm>
            <a:off x="3489325" y="3002917"/>
            <a:ext cx="2540000" cy="1062990"/>
          </a:xfrm>
          <a:prstGeom prst="roundRect">
            <a:avLst>
              <a:gd name="adj" fmla="val 6870"/>
            </a:avLst>
          </a:prstGeom>
          <a:solidFill>
            <a:srgbClr val="FDFCF9"/>
          </a:solidFill>
          <a:ln w="6350">
            <a:solidFill>
              <a:srgbClr val="E2DED4"/>
            </a:solidFill>
            <a:prstDash val="solid"/>
          </a:ln>
        </p:spPr>
      </p:sp>
      <p:sp>
        <p:nvSpPr>
          <p:cNvPr id="20" name="Text 18"/>
          <p:cNvSpPr/>
          <p:nvPr/>
        </p:nvSpPr>
        <p:spPr>
          <a:xfrm>
            <a:off x="3669030" y="3182621"/>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Integratsiya</a:t>
            </a:r>
            <a:endParaRPr lang="en-US" sz="1400" dirty="0"/>
          </a:p>
        </p:txBody>
      </p:sp>
      <p:sp>
        <p:nvSpPr>
          <p:cNvPr id="21" name="Text 19"/>
          <p:cNvSpPr/>
          <p:nvPr/>
        </p:nvSpPr>
        <p:spPr>
          <a:xfrm>
            <a:off x="3669030" y="3459479"/>
            <a:ext cx="22460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Standart interfeyslar, oson almashtirish</a:t>
            </a:r>
            <a:endParaRPr lang="en-US" sz="1200" dirty="0"/>
          </a:p>
        </p:txBody>
      </p:sp>
      <p:sp>
        <p:nvSpPr>
          <p:cNvPr id="22" name="Shape 20"/>
          <p:cNvSpPr/>
          <p:nvPr/>
        </p:nvSpPr>
        <p:spPr>
          <a:xfrm>
            <a:off x="6162675" y="3002917"/>
            <a:ext cx="2540000" cy="1062990"/>
          </a:xfrm>
          <a:prstGeom prst="roundRect">
            <a:avLst>
              <a:gd name="adj" fmla="val 6870"/>
            </a:avLst>
          </a:prstGeom>
          <a:solidFill>
            <a:srgbClr val="FDFCF9"/>
          </a:solidFill>
          <a:ln w="6350">
            <a:solidFill>
              <a:srgbClr val="E2DED4"/>
            </a:solidFill>
            <a:prstDash val="solid"/>
          </a:ln>
        </p:spPr>
      </p:sp>
      <p:sp>
        <p:nvSpPr>
          <p:cNvPr id="23" name="Text 21"/>
          <p:cNvSpPr/>
          <p:nvPr/>
        </p:nvSpPr>
        <p:spPr>
          <a:xfrm>
            <a:off x="6342380" y="3182621"/>
            <a:ext cx="224600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433"/>
                </a:solidFill>
                <a:latin typeface="Noto Sans" pitchFamily="34" charset="0"/>
                <a:ea typeface="Noto Sans" pitchFamily="34" charset="-122"/>
                <a:cs typeface="Noto Sans" pitchFamily="34" charset="-120"/>
              </a:rPr>
              <a:t>Narx</a:t>
            </a:r>
            <a:endParaRPr lang="en-US" sz="1400" dirty="0"/>
          </a:p>
        </p:txBody>
      </p:sp>
      <p:sp>
        <p:nvSpPr>
          <p:cNvPr id="24" name="Text 22"/>
          <p:cNvSpPr/>
          <p:nvPr/>
        </p:nvSpPr>
        <p:spPr>
          <a:xfrm>
            <a:off x="6342380" y="3459479"/>
            <a:ext cx="2246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Robot narxiga mos</a:t>
            </a:r>
            <a:endParaRPr lang="en-US" sz="1200" dirty="0"/>
          </a:p>
        </p:txBody>
      </p:sp>
      <p:sp>
        <p:nvSpPr>
          <p:cNvPr id="25" name="Shape 23"/>
          <p:cNvSpPr/>
          <p:nvPr/>
        </p:nvSpPr>
        <p:spPr>
          <a:xfrm>
            <a:off x="8832850" y="2999742"/>
            <a:ext cx="2546350" cy="1069340"/>
          </a:xfrm>
          <a:prstGeom prst="roundRect">
            <a:avLst>
              <a:gd name="adj" fmla="val 7126"/>
            </a:avLst>
          </a:prstGeom>
          <a:solidFill>
            <a:srgbClr val="16233B"/>
          </a:solidFill>
          <a:ln/>
        </p:spPr>
      </p:sp>
      <p:sp>
        <p:nvSpPr>
          <p:cNvPr id="26" name="Text 24"/>
          <p:cNvSpPr/>
          <p:nvPr/>
        </p:nvSpPr>
        <p:spPr>
          <a:xfrm>
            <a:off x="9010650" y="3177542"/>
            <a:ext cx="22564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0A46E"/>
                </a:solidFill>
                <a:latin typeface="Noto Sans" pitchFamily="34" charset="0"/>
                <a:ea typeface="Noto Sans" pitchFamily="34" charset="-122"/>
                <a:cs typeface="Noto Sans" pitchFamily="34" charset="-120"/>
              </a:rPr>
              <a:t>Murosa</a:t>
            </a:r>
            <a:endParaRPr lang="en-US" sz="1400" dirty="0"/>
          </a:p>
        </p:txBody>
      </p:sp>
      <p:sp>
        <p:nvSpPr>
          <p:cNvPr id="27" name="Text 25"/>
          <p:cNvSpPr/>
          <p:nvPr/>
        </p:nvSpPr>
        <p:spPr>
          <a:xfrm>
            <a:off x="9010650" y="3454400"/>
            <a:ext cx="22564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E"/>
                </a:solidFill>
                <a:latin typeface="Noto Sans" pitchFamily="34" charset="0"/>
                <a:ea typeface="Noto Sans" pitchFamily="34" charset="-122"/>
                <a:cs typeface="Noto Sans" pitchFamily="34" charset="-120"/>
              </a:rPr>
              <a:t>Talablar koʻpincha bir-biriga zid</a:t>
            </a:r>
            <a:endParaRPr lang="en-US" sz="1200" dirty="0"/>
          </a:p>
        </p:txBody>
      </p:sp>
      <p:sp>
        <p:nvSpPr>
          <p:cNvPr id="28" name="Text 2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TALABLAR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Talablarning miqdoriy tomoni</a:t>
            </a:r>
            <a:endParaRPr lang="en-US" sz="3200" dirty="0"/>
          </a:p>
        </p:txBody>
      </p:sp>
      <p:sp>
        <p:nvSpPr>
          <p:cNvPr id="4" name="Shape 2"/>
          <p:cNvSpPr/>
          <p:nvPr/>
        </p:nvSpPr>
        <p:spPr>
          <a:xfrm>
            <a:off x="815975" y="1831975"/>
            <a:ext cx="5175250" cy="2769870"/>
          </a:xfrm>
          <a:prstGeom prst="roundRect">
            <a:avLst>
              <a:gd name="adj" fmla="val 3553"/>
            </a:avLst>
          </a:prstGeom>
          <a:solidFill>
            <a:srgbClr val="FDFCF9"/>
          </a:solidFill>
          <a:ln w="6350">
            <a:solidFill>
              <a:srgbClr val="E2DED4"/>
            </a:solidFill>
            <a:prstDash val="solid"/>
          </a:ln>
        </p:spPr>
      </p:sp>
      <p:sp>
        <p:nvSpPr>
          <p:cNvPr id="5" name="Text 3"/>
          <p:cNvSpPr/>
          <p:nvPr/>
        </p:nvSpPr>
        <p:spPr>
          <a:xfrm>
            <a:off x="1071880" y="2087885"/>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Kechikishning taʼsiri</a:t>
            </a:r>
            <a:endParaRPr lang="en-US" sz="1600" dirty="0"/>
          </a:p>
        </p:txBody>
      </p:sp>
      <p:sp>
        <p:nvSpPr>
          <p:cNvPr id="6" name="Text 4"/>
          <p:cNvSpPr/>
          <p:nvPr/>
        </p:nvSpPr>
        <p:spPr>
          <a:xfrm>
            <a:off x="1071880" y="2433315"/>
            <a:ext cx="480334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Δs = v · τ</a:t>
            </a:r>
            <a:endParaRPr lang="en-US" sz="2200" dirty="0"/>
          </a:p>
        </p:txBody>
      </p:sp>
      <p:sp>
        <p:nvSpPr>
          <p:cNvPr id="7" name="Text 5"/>
          <p:cNvSpPr/>
          <p:nvPr/>
        </p:nvSpPr>
        <p:spPr>
          <a:xfrm>
            <a:off x="1071880" y="2926085"/>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Mobil robot: v = 2 m/s, τ = 50 ms</a:t>
            </a:r>
            <a:endParaRPr lang="en-US" sz="1300" dirty="0"/>
          </a:p>
        </p:txBody>
      </p:sp>
      <p:sp>
        <p:nvSpPr>
          <p:cNvPr id="8" name="Text 6"/>
          <p:cNvSpPr/>
          <p:nvPr/>
        </p:nvSpPr>
        <p:spPr>
          <a:xfrm>
            <a:off x="1071880" y="3258815"/>
            <a:ext cx="4803343"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2D6CB0"/>
                </a:solidFill>
                <a:latin typeface="Noto Sans" pitchFamily="34" charset="0"/>
                <a:ea typeface="Noto Sans" pitchFamily="34" charset="-122"/>
                <a:cs typeface="Noto Sans" pitchFamily="34" charset="-120"/>
              </a:rPr>
              <a:t>10 sm</a:t>
            </a:r>
            <a:endParaRPr lang="en-US" sz="4000" dirty="0"/>
          </a:p>
        </p:txBody>
      </p:sp>
      <p:sp>
        <p:nvSpPr>
          <p:cNvPr id="9" name="Text 7"/>
          <p:cNvSpPr/>
          <p:nvPr/>
        </p:nvSpPr>
        <p:spPr>
          <a:xfrm>
            <a:off x="1071880" y="3919215"/>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Noto Sans" pitchFamily="34" charset="0"/>
                <a:ea typeface="Noto Sans" pitchFamily="34" charset="-122"/>
                <a:cs typeface="Noto Sans" pitchFamily="34" charset="-120"/>
              </a:rPr>
              <a:t>pozitsiya xatoligi — toʻsiqdan qochish masofasida hisobga olinadi</a:t>
            </a:r>
            <a:endParaRPr lang="en-US" sz="1200" dirty="0"/>
          </a:p>
        </p:txBody>
      </p:sp>
      <p:sp>
        <p:nvSpPr>
          <p:cNvPr id="10" name="Shape 8"/>
          <p:cNvSpPr/>
          <p:nvPr/>
        </p:nvSpPr>
        <p:spPr>
          <a:xfrm>
            <a:off x="6200775" y="1831975"/>
            <a:ext cx="5175250" cy="2769870"/>
          </a:xfrm>
          <a:prstGeom prst="roundRect">
            <a:avLst>
              <a:gd name="adj" fmla="val 3553"/>
            </a:avLst>
          </a:prstGeom>
          <a:solidFill>
            <a:srgbClr val="FDFCF9"/>
          </a:solidFill>
          <a:ln w="6350">
            <a:solidFill>
              <a:srgbClr val="E2DED4"/>
            </a:solidFill>
            <a:prstDash val="solid"/>
          </a:ln>
        </p:spPr>
      </p:sp>
      <p:sp>
        <p:nvSpPr>
          <p:cNvPr id="11" name="Text 9"/>
          <p:cNvSpPr/>
          <p:nvPr/>
        </p:nvSpPr>
        <p:spPr>
          <a:xfrm>
            <a:off x="6456680" y="2087885"/>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Burchak ruxsati va masofa</a:t>
            </a:r>
            <a:endParaRPr lang="en-US" sz="1600" dirty="0"/>
          </a:p>
        </p:txBody>
      </p:sp>
      <p:sp>
        <p:nvSpPr>
          <p:cNvPr id="12" name="Text 10"/>
          <p:cNvSpPr/>
          <p:nvPr/>
        </p:nvSpPr>
        <p:spPr>
          <a:xfrm>
            <a:off x="6456680" y="2433315"/>
            <a:ext cx="480334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D2433"/>
                </a:solidFill>
                <a:latin typeface="Noto Sans" pitchFamily="34" charset="0"/>
                <a:ea typeface="Noto Sans" pitchFamily="34" charset="-122"/>
                <a:cs typeface="Noto Sans" pitchFamily="34" charset="-120"/>
              </a:rPr>
              <a:t>Δx = R · Δθ</a:t>
            </a:r>
            <a:endParaRPr lang="en-US" sz="2200" dirty="0"/>
          </a:p>
        </p:txBody>
      </p:sp>
      <p:sp>
        <p:nvSpPr>
          <p:cNvPr id="13" name="Text 11"/>
          <p:cNvSpPr/>
          <p:nvPr/>
        </p:nvSpPr>
        <p:spPr>
          <a:xfrm>
            <a:off x="6456680" y="2926085"/>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LiDAR: Δθ = 0,2° = 3,49 · 10⁻³ rad, R = 20 m</a:t>
            </a:r>
            <a:endParaRPr lang="en-US" sz="1300" dirty="0"/>
          </a:p>
        </p:txBody>
      </p:sp>
      <p:sp>
        <p:nvSpPr>
          <p:cNvPr id="14" name="Text 12"/>
          <p:cNvSpPr/>
          <p:nvPr/>
        </p:nvSpPr>
        <p:spPr>
          <a:xfrm>
            <a:off x="6456680" y="3258815"/>
            <a:ext cx="4803343"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B5521A"/>
                </a:solidFill>
                <a:latin typeface="Noto Sans" pitchFamily="34" charset="0"/>
                <a:ea typeface="Noto Sans" pitchFamily="34" charset="-122"/>
                <a:cs typeface="Noto Sans" pitchFamily="34" charset="-120"/>
              </a:rPr>
              <a:t>7 sm</a:t>
            </a:r>
            <a:endParaRPr lang="en-US" sz="4000" dirty="0"/>
          </a:p>
        </p:txBody>
      </p:sp>
      <p:sp>
        <p:nvSpPr>
          <p:cNvPr id="15" name="Text 13"/>
          <p:cNvSpPr/>
          <p:nvPr/>
        </p:nvSpPr>
        <p:spPr>
          <a:xfrm>
            <a:off x="6456680" y="3919215"/>
            <a:ext cx="49161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Noto Sans" pitchFamily="34" charset="0"/>
                <a:ea typeface="Noto Sans" pitchFamily="34" charset="-122"/>
                <a:cs typeface="Noto Sans" pitchFamily="34" charset="-120"/>
              </a:rPr>
              <a:t>bundan kichik obyektlarni 20 m da ishonchli ajratmasligi mumkin</a:t>
            </a:r>
            <a:endParaRPr lang="en-US" sz="12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46E"/>
                </a:solidFill>
                <a:latin typeface="Noto Sans" pitchFamily="34" charset="0"/>
                <a:ea typeface="Noto Sans" pitchFamily="34" charset="-122"/>
                <a:cs typeface="Noto Sans" pitchFamily="34" charset="-120"/>
              </a:rPr>
              <a:t>XULOSA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Noto Sans" pitchFamily="34" charset="0"/>
                <a:ea typeface="Noto Sans" pitchFamily="34" charset="-122"/>
                <a:cs typeface="Noto Sans" pitchFamily="34" charset="-120"/>
              </a:rPr>
              <a:t>Kanal, sinflanish, ierarxiya, talablar</a:t>
            </a:r>
            <a:endParaRPr lang="en-US" sz="3200" dirty="0"/>
          </a:p>
        </p:txBody>
      </p:sp>
      <p:sp>
        <p:nvSpPr>
          <p:cNvPr id="4" name="Shape 2"/>
          <p:cNvSpPr/>
          <p:nvPr/>
        </p:nvSpPr>
        <p:spPr>
          <a:xfrm>
            <a:off x="812800" y="1866900"/>
            <a:ext cx="5156200" cy="0"/>
          </a:xfrm>
          <a:prstGeom prst="line">
            <a:avLst/>
          </a:prstGeom>
          <a:noFill/>
          <a:ln w="25400">
            <a:solidFill>
              <a:srgbClr val="F0A46E"/>
            </a:solidFill>
            <a:prstDash val="solid"/>
          </a:ln>
        </p:spPr>
      </p:sp>
      <p:sp>
        <p:nvSpPr>
          <p:cNvPr id="5" name="Text 3"/>
          <p:cNvSpPr/>
          <p:nvPr/>
        </p:nvSpPr>
        <p:spPr>
          <a:xfrm>
            <a:off x="812800" y="2032000"/>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A46E"/>
                </a:solidFill>
                <a:latin typeface="Noto Sans" pitchFamily="34" charset="0"/>
                <a:ea typeface="Noto Sans" pitchFamily="34" charset="-122"/>
                <a:cs typeface="Noto Sans" pitchFamily="34" charset="-120"/>
              </a:rPr>
              <a:t>Kanal</a:t>
            </a:r>
            <a:endParaRPr lang="en-US" sz="1600" dirty="0"/>
          </a:p>
        </p:txBody>
      </p:sp>
      <p:sp>
        <p:nvSpPr>
          <p:cNvPr id="6" name="Text 4"/>
          <p:cNvSpPr/>
          <p:nvPr/>
        </p:nvSpPr>
        <p:spPr>
          <a:xfrm>
            <a:off x="812800" y="2339342"/>
            <a:ext cx="531088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Sezgir element → oʻzgartkich → ishlov → ARO → interfeys; teskari model xatolikni kamaytirish asosi</a:t>
            </a:r>
            <a:endParaRPr lang="en-US" sz="1300" dirty="0"/>
          </a:p>
        </p:txBody>
      </p:sp>
      <p:sp>
        <p:nvSpPr>
          <p:cNvPr id="7" name="Shape 5"/>
          <p:cNvSpPr/>
          <p:nvPr/>
        </p:nvSpPr>
        <p:spPr>
          <a:xfrm>
            <a:off x="6223000" y="1866900"/>
            <a:ext cx="5156200" cy="0"/>
          </a:xfrm>
          <a:prstGeom prst="line">
            <a:avLst/>
          </a:prstGeom>
          <a:noFill/>
          <a:ln w="25400">
            <a:solidFill>
              <a:srgbClr val="F0A46E"/>
            </a:solidFill>
            <a:prstDash val="solid"/>
          </a:ln>
        </p:spPr>
      </p:sp>
      <p:sp>
        <p:nvSpPr>
          <p:cNvPr id="8" name="Text 6"/>
          <p:cNvSpPr/>
          <p:nvPr/>
        </p:nvSpPr>
        <p:spPr>
          <a:xfrm>
            <a:off x="6223000" y="2032000"/>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A46E"/>
                </a:solidFill>
                <a:latin typeface="Noto Sans" pitchFamily="34" charset="0"/>
                <a:ea typeface="Noto Sans" pitchFamily="34" charset="-122"/>
                <a:cs typeface="Noto Sans" pitchFamily="34" charset="-120"/>
              </a:rPr>
              <a:t>Sinflanish</a:t>
            </a:r>
            <a:endParaRPr lang="en-US" sz="1600" dirty="0"/>
          </a:p>
        </p:txBody>
      </p:sp>
      <p:sp>
        <p:nvSpPr>
          <p:cNvPr id="9" name="Text 7"/>
          <p:cNvSpPr/>
          <p:nvPr/>
        </p:nvSpPr>
        <p:spPr>
          <a:xfrm>
            <a:off x="6223000" y="2339342"/>
            <a:ext cx="531088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Vazifa, energiya oqimi, energetik soha, fizik prinsip, chiqish, masofa, ishlov darajasi</a:t>
            </a:r>
            <a:endParaRPr lang="en-US" sz="1300" dirty="0"/>
          </a:p>
        </p:txBody>
      </p:sp>
      <p:sp>
        <p:nvSpPr>
          <p:cNvPr id="10" name="Shape 8"/>
          <p:cNvSpPr/>
          <p:nvPr/>
        </p:nvSpPr>
        <p:spPr>
          <a:xfrm>
            <a:off x="812800" y="3068315"/>
            <a:ext cx="5156200" cy="0"/>
          </a:xfrm>
          <a:prstGeom prst="line">
            <a:avLst/>
          </a:prstGeom>
          <a:noFill/>
          <a:ln w="25400">
            <a:solidFill>
              <a:srgbClr val="F0A46E"/>
            </a:solidFill>
            <a:prstDash val="solid"/>
          </a:ln>
        </p:spPr>
      </p:sp>
      <p:sp>
        <p:nvSpPr>
          <p:cNvPr id="11" name="Text 9"/>
          <p:cNvSpPr/>
          <p:nvPr/>
        </p:nvSpPr>
        <p:spPr>
          <a:xfrm>
            <a:off x="812800" y="3233415"/>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A46E"/>
                </a:solidFill>
                <a:latin typeface="Noto Sans" pitchFamily="34" charset="0"/>
                <a:ea typeface="Noto Sans" pitchFamily="34" charset="-122"/>
                <a:cs typeface="Noto Sans" pitchFamily="34" charset="-120"/>
              </a:rPr>
              <a:t>Ierarxiya</a:t>
            </a:r>
            <a:endParaRPr lang="en-US" sz="1600" dirty="0"/>
          </a:p>
        </p:txBody>
      </p:sp>
      <p:sp>
        <p:nvSpPr>
          <p:cNvPr id="12" name="Text 10"/>
          <p:cNvSpPr/>
          <p:nvPr/>
        </p:nvSpPr>
        <p:spPr>
          <a:xfrm>
            <a:off x="812800" y="3540758"/>
            <a:ext cx="531088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Datchik signallaridan muhit modeli va qarorlargacha besh sath</a:t>
            </a:r>
            <a:endParaRPr lang="en-US" sz="1300" dirty="0"/>
          </a:p>
        </p:txBody>
      </p:sp>
      <p:sp>
        <p:nvSpPr>
          <p:cNvPr id="13" name="Shape 11"/>
          <p:cNvSpPr/>
          <p:nvPr/>
        </p:nvSpPr>
        <p:spPr>
          <a:xfrm>
            <a:off x="6223000" y="3068315"/>
            <a:ext cx="5156200" cy="0"/>
          </a:xfrm>
          <a:prstGeom prst="line">
            <a:avLst/>
          </a:prstGeom>
          <a:noFill/>
          <a:ln w="25400">
            <a:solidFill>
              <a:srgbClr val="F0A46E"/>
            </a:solidFill>
            <a:prstDash val="solid"/>
          </a:ln>
        </p:spPr>
      </p:sp>
      <p:sp>
        <p:nvSpPr>
          <p:cNvPr id="14" name="Text 12"/>
          <p:cNvSpPr/>
          <p:nvPr/>
        </p:nvSpPr>
        <p:spPr>
          <a:xfrm>
            <a:off x="6223000" y="3233415"/>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A46E"/>
                </a:solidFill>
                <a:latin typeface="Noto Sans" pitchFamily="34" charset="0"/>
                <a:ea typeface="Noto Sans" pitchFamily="34" charset="-122"/>
                <a:cs typeface="Noto Sans" pitchFamily="34" charset="-120"/>
              </a:rPr>
              <a:t>Talablar</a:t>
            </a:r>
            <a:endParaRPr lang="en-US" sz="1600" dirty="0"/>
          </a:p>
        </p:txBody>
      </p:sp>
      <p:sp>
        <p:nvSpPr>
          <p:cNvPr id="15" name="Text 13"/>
          <p:cNvSpPr/>
          <p:nvPr/>
        </p:nvSpPr>
        <p:spPr>
          <a:xfrm>
            <a:off x="6223000" y="3540758"/>
            <a:ext cx="531088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FDB"/>
                </a:solidFill>
                <a:latin typeface="Noto Sans" pitchFamily="34" charset="0"/>
                <a:ea typeface="Noto Sans" pitchFamily="34" charset="-122"/>
                <a:cs typeface="Noto Sans" pitchFamily="34" charset="-120"/>
              </a:rPr>
              <a:t>Oʻzaro zid — loyihalash murosali yechim topishni talab qiladi</a:t>
            </a:r>
            <a:endParaRPr lang="en-US" sz="13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Maʼruza №3 · Informatsion tizimlar va ularning sinflanishi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YAKUN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Nazorat savollari</a:t>
            </a:r>
            <a:endParaRPr lang="en-US" sz="3200" dirty="0"/>
          </a:p>
        </p:txBody>
      </p:sp>
      <p:sp>
        <p:nvSpPr>
          <p:cNvPr id="4" name="Text 2"/>
          <p:cNvSpPr/>
          <p:nvPr/>
        </p:nvSpPr>
        <p:spPr>
          <a:xfrm>
            <a:off x="910590" y="1803400"/>
            <a:ext cx="5126228" cy="1643380"/>
          </a:xfrm>
          <a:prstGeom prst="rect">
            <a:avLst/>
          </a:prstGeom>
          <a:noFill/>
          <a:ln/>
        </p:spPr>
        <p:txBody>
          <a:bodyPr wrap="square" lIns="0" tIns="0" rIns="0" bIns="0" rtlCol="0" anchor="t">
            <a:normAutofit/>
          </a:bodyPr>
          <a:lstStyle/>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Robotning informatsion tizimi nima va qanday vazifalarni bajaradi?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Informatsion-oʻlchash kanali qanday elementlardan iborat?</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Toʻgʻri va teskari informatsion modellar qanday farqlanadi?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Xatolikni kamaytirishning uch usuliga misol keltiring.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Informatsion tizimlar vazifasi boʻyicha qanday sinflanadi?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Kinestetik va lokatsion tizimlar farqi nimada?</a:t>
            </a:r>
            <a:endParaRPr lang="en-US" sz="1300" dirty="0"/>
          </a:p>
        </p:txBody>
      </p:sp>
      <p:sp>
        <p:nvSpPr>
          <p:cNvPr id="5" name="Text 3"/>
          <p:cNvSpPr/>
          <p:nvPr/>
        </p:nvSpPr>
        <p:spPr>
          <a:xfrm>
            <a:off x="6396990" y="1803400"/>
            <a:ext cx="5126228" cy="1643380"/>
          </a:xfrm>
          <a:prstGeom prst="rect">
            <a:avLst/>
          </a:prstGeom>
          <a:noFill/>
          <a:ln/>
        </p:spPr>
        <p:txBody>
          <a:bodyPr wrap="square" lIns="0" tIns="0" rIns="0" bIns="0" rtlCol="0" anchor="t">
            <a:normAutofit/>
          </a:bodyPr>
          <a:lstStyle/>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Generatorli va parametrik datchiklar qanday farqlanadi?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Oʻzgartirish prinsipi boʻyicha sinflashning afzalligi nimada?</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Oddiy, integrallashgan va intellektual datchiklar farqi?</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Axborotga ishlov berish ierarxiyasini tushuntiring.</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Nega koʻrish tizimlarida dastlabki ishlov muhim?</a:t>
            </a:r>
            <a:endParaRPr lang="en-US" sz="1300" dirty="0"/>
          </a:p>
          <a:p>
            <a:pPr algn="l" marL="181610" indent="-181610">
              <a:lnSpc>
                <a:spcPts val="1820"/>
              </a:lnSpc>
              <a:buSzPct val="100000"/>
              <a:buFontTx/>
              <a:buAutoNum type="arabicPeriod" startAt="1"/>
            </a:pPr>
            <a:r>
              <a:rPr lang="en-US" sz="1300" dirty="0">
                <a:solidFill>
                  <a:srgbClr val="1D2433"/>
                </a:solidFill>
                <a:latin typeface="Noto Sans" pitchFamily="34" charset="0"/>
                <a:ea typeface="Noto Sans" pitchFamily="34" charset="-122"/>
                <a:cs typeface="Noto Sans" pitchFamily="34" charset="-120"/>
              </a:rPr>
              <a:t>1,5 m/s va 80 ms kechikish qanday xatolik beradi?</a:t>
            </a:r>
            <a:endParaRPr lang="en-US" sz="1300" dirty="0"/>
          </a:p>
        </p:txBody>
      </p:sp>
      <p:sp>
        <p:nvSpPr>
          <p:cNvPr id="6"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Maʼruza №3 · Informatsion tizimlar va ularning sinflanishi · 18</a:t>
            </a:r>
            <a:endParaRPr lang="en-US" sz="1200" dirty="0"/>
          </a:p>
        </p:txBody>
      </p:sp>
    </p:spTree>
  </p:cSld>
  <p:clrMapOvr>
    <a:masterClrMapping/>
  </p:clrMapOvr>
</p:sld>
</file>

<file path=ppt/theme/theme1.xml><?xml version="1.0" encoding="utf-8"?>
<a:theme xmlns:a="http://schemas.openxmlformats.org/drawingml/2006/main" name="Maʼruza №3. Informatsion tizimlar va ularning sinflanishi">
  <a:themeElements>
    <a:clrScheme name="Maʼruza №3. Informatsion tizimlar va ularning sinflanishi">
      <a:dk1>
        <a:srgbClr val="16233B"/>
      </a:dk1>
      <a:lt1>
        <a:srgbClr val="F5F3EE"/>
      </a:lt1>
      <a:dk2>
        <a:srgbClr val="4E5768"/>
      </a:dk2>
      <a:lt2>
        <a:srgbClr val="DFDEDC"/>
      </a:lt2>
      <a:accent1>
        <a:srgbClr val="B5521A"/>
      </a:accent1>
      <a:accent2>
        <a:srgbClr val="F0A46E"/>
      </a:accent2>
      <a:accent3>
        <a:srgbClr val="1F4F85"/>
      </a:accent3>
      <a:accent4>
        <a:srgbClr val="2D6CB0"/>
      </a:accent4>
      <a:accent5>
        <a:srgbClr val="D9692B"/>
      </a:accent5>
      <a:accent6>
        <a:srgbClr val="6B7280"/>
      </a:accent6>
      <a:hlink>
        <a:srgbClr val="0563C1"/>
      </a:hlink>
      <a:folHlink>
        <a:srgbClr val="954F72"/>
      </a:folHlink>
    </a:clrScheme>
    <a:fontScheme name="Maʼruza №3. Informatsion tizimlar va ularning sinflanishi">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Maʼruza №3. Informatsion tizimlar va ularning sinflanishi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Noto Sans
Copyright 2022 The Noto Project Authors (https://github.com/notofonts/latin-greek-cyrillic)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2026-10-27T03:04:36Z</dcterms:created>
  <dcterms:modified xsi:type="dcterms:W3CDTF">2026-10-27T03:04:36Z</dcterms:modified>
</cp:coreProperties>
</file>