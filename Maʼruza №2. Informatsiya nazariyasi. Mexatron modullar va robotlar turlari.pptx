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Bugungi maʼruza ikki qismdan iborat. Birinchi qismda axborotni qanday oʻlchash va uzatish mumkinligini, ikkinchi qismda mexatron modullar va robotlarning asosiy turlarini koʻramiz.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Tayanch iboralar: axborot, signal, aloqa kanali, shovqin, bit, entropiya, signal/shovqin nisbati, oʻtkazish qobiliyati, diskretlash, kvantlash, Kotelnikov teoremasi, Grey kodi, harakat moduli, intellektual mexatron modul, sanoat va servis robotlari, manipulyator, erkinlik darajasi.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Informatsiya nazariyasi asoslari R. Xartli (1928) va K. Shennon (1948) ishlarida yaratilgan; V. A. Kotelnikov 1933-yilda uzluksiz signalni diskret qiymatlar orqali tiklash teoremasini isbotlagan. Misol: robot boʻgʻinining burchagi oʻlchanmaguncha u faqat maʼlum oraliqda yotishi maʼlum; oʻlchashdan soʻng bu oraliq xatolik chegarasigacha torayadi. Shu noaniqlikning kamayishi olingan axborot miqdorini belgilaydi.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Uzluksiz (analog) signal vaqtning istalgan paytida aniqlangan va istalgan qiymatni qabul qiladi. Diskret signal faqat ayrim vaqt paytlarida aniqlangan. Raqamli signal vaqt boʻyicha diskretlangan va qiymat boʻyicha kvantlangan, yaʼni chekli sondagi qiymatlarni qabul qiladi. Oʻngdagi grafikda gorizontal chiziqlar — kvantlash sathlari, nuqtalar eng yaqin sathga yaxlitlangan.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Manba xabarni hosil qiladi, uzatgich uni kanalda uzatishga qulay signalga aylantiradi, kanalda signalga shovqin qoʻshiladi, qabul qilgich buzilgan signaldan xabarni tiklaydi. Robotda shovqin har bir bosqichda — sezgir elementda, kuchaytirgichda, kabelda va ARO da paydo boʻladi. Shuning uchun oʻlchash vositasini obyektdan boshqaruv tizimiga axborot yetkazuvchi kanal deb qarash mumkin.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Xartli formulasi 1928-yilda taklif etilgan. U barcha holatlar teng ehtimolli boʻlgan holat uchun toʻgʻri. Masalan, 3 bitli kod 8 ta holatni, 10 bitli kod 1024 ta holatni farqlay oladi. Holatlar teng ehtimolli boʻlmasa, Shennon formulasidan foydalaniladi — keyingi slayd.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Shennon formulasi 1948-yilda taklif etilgan. Hisob: H = −0,9·log₂0,9 − 0,1·log₂0,1 ≈ 0,137 + 0,332 = 0,469 bit. Bu teng ehtimolli holatdagi 1 bitdan ancha kam: datchik koʻpincha kutilgan natijani beradi. Lekin kamdan-kam uchraydigan «nosozlik» xabarining oʻzi −log₂0,1 ≈ 3,32 bit axborot tashiydi. Teng ehtimolli holatda Shennon formulasi Xartli formulasiga aylanadi.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H₀ — oʻlchashgacha, H₁ — oʻlchashdan keyin qolgan noaniqlik. Kattalik diapazonda teng ehtimol bilan istalgan qiymatni olsa, bitta oʻlchash log₂(D/2Δ) bit axborot beradi. Xulosa: oʻlchash vositasining axborot imkoniyati uning nisbiy aniqligi bilan belgilanadi. ARO razryadini datchik aniqligiga mos tanlash kerak.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kanalda signalga issiqlik shovqini, kuchaytirgich shovqini, elektromagnit xalaqitlar va kvantlash shovqini qoʻshiladi. Ikki xulosa: birinchidan, kuchli shovqinda olinadigan axborot cheklangan va uni keyingi ishlov bilan oshirib boʻlmaydi, shuning uchun shovqinni manbaning oʻzida — sezgir element va birinchi kuchaytirgichda kamaytirish kerak. Ikkinchidan, polosa va aniqlik oʻrtasida murosa mumkin: filtrlash yoki oʻrtachalash shovqinni kamaytiradi, lekin oʻlchash tezligini pasaytiradi.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Shart bajarilmasa, yuqori chastotali tashkil etuvchilar past chastotali boʻlib koʻrinadi — bu chastota almashinuvi (aliasing). Grafikda 900 Hz tebranish 1000 Hz da diskretlanganda olingan nuqtalar 100 Hz chastotali soxta sinusoidada yotadi. Buning oldini olish uchun ARO oldidan diskretlash chastotasining yarmidan yuqori chastotalarni soʻndiruvchi past chastotali (antialiasing) filtr oʻrnatiladi.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Kvantlashda uzluksiz qiymat chekli sathlarga yaxlitlanadi, natijada ± q/2 chegarada tasodifiy xatolik paydo boʻladi. Hisob: q = 10 / 4096 ≈ 2,44 mV, σ = 2,44 / √12 ≈ 0,70 mV, SNR = 6,02 · 12 + 1,76 ≈ 74 dB. Real ARO ning samarali razryadlar soni datchik va sxema shovqinlari tufayli nominaldan kam. Bu oldingi xulosaga mos: ARO razryadi datchikning nisbiy aniqligi va shovqiniga mos tanlanadi.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istisno qiluvchi YOKI amali, eng katta razryad oʻzgarmaydi. Xatolarni aniqlash uchun xabarga ortiqcha razryadlar qoʻshiladi: eng oddiysi juftlik biti, sanoat shinalarida (masalan, robot boʻgʻinlari kontrollerlarini bogʻlovchi CAN shinasida) sikl boʻyicha ortiqcha kod — CRC qoʻllanadi. Ortiqchalik entropiya nuqtai nazaridan keraksiz, lekin uzatish ishonchliligi uchun ataylab kiritiladi.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Birinchi qismni yakunlaymiz. Endi ikkinchi qismga — bu axborotni oladigan qurilmalar oʻrnatiladigan mexatron modullar va robotlarning turlariga oʻtamiz.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tasnif rus mexatronika maktabida (Yu. V. Podurayev) qabul qilingan. Intellektual mexatron modul yuqori darajadagi tizimdan buyruq olib, harakatni mustaqil boshqaradi va oʻz holati haqida axborot uzatadi. Integratsiya darajasi oshgan sari oʻlcham va kabellar soni kamayadi, ishonchlilik va aniqlik ortadi, robotni yigʻish va sozlash soddalashadi.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Harakat turi boʻyicha mexatron modullar aylanma va chiziqli turlarga boʻlinadi. Jadvaldagi har bir modulda informatsion qurilma bor: aylanma modullarda burchak datchiklari (enkoder, rezolver, Xoll datchiklari), chiziqli modullarda chiziqli shkalalar va chegara datchiklari.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ISO 8373 standarti robotlarni sanoat va servis robotlariga ajratadi. Servis robotlari professional va maishiy turlarga boʻlinadi. Maxsus robotlar ekstremal sharoitlar uchun alohida guruh sifatida koʻriladi; ularning informatsion tizimlariga radiatsiya, bosim, harorat kabi qoʻshimcha talablar qoʻyiladi.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Oldingi maʼruzada koʻrilgan robotlar avlodlariga mos ravishda dasturiy, adaptiv va intellektual robotlar farqlanadi. Avtonomlik darajasi qanchalik yuqori boʻlsa, robotning informatsion tizimiga qoʻyiladigan talablar shunchalik ortadi: teleoperatsion robotda qarorni inson qabul qiladi, avtonom robotda esa barcha qarorlar datchiklar axborotiga asoslanadi.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Gʻildirakli robotlar eng keng tarqalgan. Yuruvchi robotlar murakkab relyefda yuqori oʻtuvchanlikka ega, lekin muvozanatni saqlash uchun IMU, oyoq kuch datchiklari va boʻgʻin enkoderlaridan iborat murakkab informatsion tizim talab qiladi. Mobil robotlarning barchasi oʻz joylashuvini aniqlashi kerak — bu lokatsion va navigatsion datchiklarni zarur qiladi.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 — kinematik juftning harakatga qoʻyadigan cheklovlar soni. Ketma-ket manipulyatorlarning aksariyatida dastlabki uchta boʻgʻin ishchi organning pozitsiyasini, oxirgi boʻgʻinlar — bilak — uning yoʻnalishini belgilaydi. Shuning uchun manipulyatorlar dastlabki uchta boʻgʻin turi boʻyicha tasniflanadi — keyingi slayd.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Manipulyatorlar dastlabki uchta (pozitsiyalovchi) boʻgʻin turi boʻyicha tasniflanadi; R — aylanma, P — ilgarilanma boʻgʻin. Aylanma boʻgʻinlarda burchak datchiklari (enkoder, rezolver), ilgarilanma boʻgʻinlarda chiziqli siljish datchiklari qoʻllanadi. Craig boʻyicha Dekart robotining kamchiligi — barcha jihozlar robot ichida joylashishi kerak. Aylanma boʻgʻinli manipulyatorda burchak xatoligi ishchi organda zveno uzunligiga proporsional kattalashadi, shuning uchun bunday robotlarga aniqroq burchak datchiklari kerak.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Robot qanchalik avtonom va muhit qanchalik oʻzgaruvchan boʻlsa, uning tashqi muhit datchiklari majmuasi shunchalik murakkab boʻladi. Sanoat manipulyatori tartibli ish joyida ishlaydi va asosan ichki datchiklarga tayanadi; avtonom avtomobil esa ochiq va oʻzgaruvchan muhitda ishlaydi va turli fizik prinsipdagi datchiklar majmuasini talab qiladi.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Datchik — axborot kanali; uning aniqligi va shovqini bitta oʻlchashda qancha axborot olish mumkinligini belgilaydi. Diskretlash chastotasi Kotelnikov teoremasi asosida, ARO razryadi datchikning nisbiy aniqligi va shovqiniga mos tanlanadi. Informatsion qurilmalarning modul ichiga kiritilishi aniqlik va ishonchlilikni oshiradi. Har bir turdagi robot oʻziga xos datchiklar majmuasini talab qiladi.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4-savol javobi (oʻqituvchi uchun): farqlanadigan holatlar soni 360 / 0,2 = 1800, I = log₂ 1800 ≈ 10,8 bit, demak kamida 11 razryadli ARO kerak.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3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58"/>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6233B"/>
                </a:solidFill>
                <a:latin typeface="Noto Sans" pitchFamily="34" charset="0"/>
                <a:ea typeface="Noto Sans" pitchFamily="34" charset="-122"/>
                <a:cs typeface="Noto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97"/>
            <a:ext cx="10566400" cy="4191003"/>
          </a:xfrm>
          <a:prstGeom prst="rect">
            <a:avLst/>
          </a:prstGeom>
          <a:noFill/>
          <a:ln/>
        </p:spPr>
        <p:txBody>
          <a:bodyPr wrap="square" lIns="0" tIns="0" rIns="0" bIns="0" rtlCol="0" anchor="t"/>
          <a:lstStyle>
            <a:lvl1pPr algn="l" indent="0" marL="0">
              <a:lnSpc>
                <a:spcPct val="140000"/>
              </a:lnSpc>
              <a:buNone/>
              <a:defRPr lang="en-US" sz="1600" dirty="0">
                <a:solidFill>
                  <a:srgbClr val="16233B"/>
                </a:solidFill>
                <a:latin typeface="Noto Sans" pitchFamily="34" charset="0"/>
                <a:ea typeface="Noto Sans" pitchFamily="34" charset="-122"/>
                <a:cs typeface="Noto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3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58"/>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6233B"/>
                </a:solidFill>
                <a:latin typeface="Noto Sans" pitchFamily="34" charset="0"/>
                <a:ea typeface="Noto Sans" pitchFamily="34" charset="-122"/>
                <a:cs typeface="Noto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97"/>
            <a:ext cx="10566400" cy="4191003"/>
          </a:xfrm>
          <a:prstGeom prst="rect">
            <a:avLst/>
          </a:prstGeom>
          <a:noFill/>
          <a:ln/>
        </p:spPr>
        <p:txBody>
          <a:bodyPr wrap="square" lIns="0" tIns="0" rIns="0" bIns="0" rtlCol="0" anchor="t"/>
          <a:lstStyle>
            <a:lvl1pPr algn="l" indent="0" marL="0">
              <a:lnSpc>
                <a:spcPct val="140000"/>
              </a:lnSpc>
              <a:buNone/>
              <a:defRPr lang="en-US" sz="1600" dirty="0">
                <a:solidFill>
                  <a:srgbClr val="16233B"/>
                </a:solidFill>
                <a:latin typeface="Noto Sans" pitchFamily="34" charset="0"/>
                <a:ea typeface="Noto Sans" pitchFamily="34" charset="-122"/>
                <a:cs typeface="Noto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33B"/>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D9692B"/>
          </a:solidFill>
          <a:ln/>
        </p:spPr>
      </p:sp>
      <p:sp>
        <p:nvSpPr>
          <p:cNvPr id="3" name="Text 1"/>
          <p:cNvSpPr/>
          <p:nvPr/>
        </p:nvSpPr>
        <p:spPr>
          <a:xfrm>
            <a:off x="812800" y="153289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F0A46E"/>
                </a:solidFill>
                <a:latin typeface="Noto Sans" pitchFamily="34" charset="0"/>
                <a:ea typeface="Noto Sans" pitchFamily="34" charset="-122"/>
                <a:cs typeface="Noto Sans" pitchFamily="34" charset="-120"/>
              </a:rPr>
              <a:t>MAʼRUZA №2</a:t>
            </a:r>
            <a:endParaRPr lang="en-US" sz="1400" dirty="0"/>
          </a:p>
        </p:txBody>
      </p:sp>
      <p:sp>
        <p:nvSpPr>
          <p:cNvPr id="4" name="Text 2"/>
          <p:cNvSpPr/>
          <p:nvPr>
            <p:ph type="title"/>
          </p:nvPr>
        </p:nvSpPr>
        <p:spPr>
          <a:xfrm>
            <a:off x="812800" y="2035810"/>
            <a:ext cx="10203180" cy="2484120"/>
          </a:xfrm>
          <a:prstGeom prst="rect">
            <a:avLst/>
          </a:prstGeom>
          <a:noFill/>
          <a:ln/>
        </p:spPr>
        <p:txBody>
          <a:bodyPr wrap="square" lIns="0" tIns="0" rIns="0" bIns="0" rtlCol="0" anchor="t">
            <a:normAutofit/>
          </a:bodyPr>
          <a:lstStyle/>
          <a:p>
            <a:pPr algn="l" indent="0" marL="0">
              <a:lnSpc>
                <a:spcPts val="4840"/>
              </a:lnSpc>
              <a:buNone/>
            </a:pPr>
            <a:r>
              <a:rPr lang="en-US" sz="4400" b="1" i="0" dirty="0">
                <a:solidFill>
                  <a:srgbClr val="F5F3EE"/>
                </a:solidFill>
                <a:latin typeface="Noto Sans" pitchFamily="34" charset="0"/>
                <a:ea typeface="Noto Sans" pitchFamily="34" charset="-122"/>
                <a:cs typeface="Noto Sans" pitchFamily="34" charset="-120"/>
              </a:rPr>
              <a:t>Informatsiya nazariyasidan umumiy maʼlumotlar. Mexatron modullar va robotlarning asosiy turlari</a:t>
            </a:r>
            <a:endParaRPr lang="en-US" sz="4400" dirty="0"/>
          </a:p>
        </p:txBody>
      </p:sp>
      <p:sp>
        <p:nvSpPr>
          <p:cNvPr id="5" name="Shape 3"/>
          <p:cNvSpPr/>
          <p:nvPr/>
        </p:nvSpPr>
        <p:spPr>
          <a:xfrm>
            <a:off x="812800" y="4748530"/>
            <a:ext cx="1270000" cy="38100"/>
          </a:xfrm>
          <a:prstGeom prst="rect">
            <a:avLst/>
          </a:prstGeom>
          <a:solidFill>
            <a:srgbClr val="D9692B"/>
          </a:solidFill>
          <a:ln/>
        </p:spPr>
      </p:sp>
      <p:sp>
        <p:nvSpPr>
          <p:cNvPr id="6" name="Text 4"/>
          <p:cNvSpPr/>
          <p:nvPr/>
        </p:nvSpPr>
        <p:spPr>
          <a:xfrm>
            <a:off x="812800" y="5040630"/>
            <a:ext cx="915670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CFDB"/>
                </a:solidFill>
                <a:latin typeface="Noto Sans" pitchFamily="34" charset="0"/>
                <a:ea typeface="Noto Sans" pitchFamily="34" charset="-122"/>
                <a:cs typeface="Noto Sans" pitchFamily="34" charset="-120"/>
              </a:rPr>
              <a:t>«Mexatron modul va robotlarning informatsion qurilmalari» fani</a:t>
            </a:r>
            <a:endParaRPr lang="en-US" sz="1600" dirty="0"/>
          </a:p>
        </p:txBody>
      </p:sp>
      <p:sp>
        <p:nvSpPr>
          <p:cNvPr id="7" name="Text 5"/>
          <p:cNvSpPr/>
          <p:nvPr/>
        </p:nvSpPr>
        <p:spPr>
          <a:xfrm>
            <a:off x="812800" y="623824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3B5"/>
                </a:solidFill>
                <a:latin typeface="Noto Sans" pitchFamily="34" charset="0"/>
                <a:ea typeface="Noto Sans" pitchFamily="34" charset="-122"/>
                <a:cs typeface="Noto Sans" pitchFamily="34" charset="-120"/>
              </a:rPr>
              <a:t>[Oʻqituvchi F.I.Sh.] ·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A"/>
                </a:solidFill>
                <a:latin typeface="Noto Sans" pitchFamily="34" charset="0"/>
                <a:ea typeface="Noto Sans" pitchFamily="34" charset="-122"/>
                <a:cs typeface="Noto Sans" pitchFamily="34" charset="-120"/>
              </a:rPr>
              <a:t>KIRISH</a:t>
            </a:r>
            <a:endParaRPr lang="en-US" sz="1200" dirty="0"/>
          </a:p>
        </p:txBody>
      </p:sp>
      <p:sp>
        <p:nvSpPr>
          <p:cNvPr id="3" name="Text 1"/>
          <p:cNvSpPr/>
          <p:nvPr>
            <p:ph type="title"/>
          </p:nvPr>
        </p:nvSpPr>
        <p:spPr>
          <a:xfrm>
            <a:off x="812800" y="110236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B"/>
                </a:solidFill>
                <a:latin typeface="Noto Sans" pitchFamily="34" charset="0"/>
                <a:ea typeface="Noto Sans" pitchFamily="34" charset="-122"/>
                <a:cs typeface="Noto Sans" pitchFamily="34" charset="-120"/>
              </a:rPr>
              <a:t>Maʼruza rejasi</a:t>
            </a:r>
            <a:endParaRPr lang="en-US" sz="3200" dirty="0"/>
          </a:p>
        </p:txBody>
      </p:sp>
      <p:sp>
        <p:nvSpPr>
          <p:cNvPr id="4" name="Shape 2"/>
          <p:cNvSpPr/>
          <p:nvPr/>
        </p:nvSpPr>
        <p:spPr>
          <a:xfrm>
            <a:off x="815975" y="1908175"/>
            <a:ext cx="5124450" cy="2311400"/>
          </a:xfrm>
          <a:prstGeom prst="roundRect">
            <a:avLst>
              <a:gd name="adj" fmla="val 4258"/>
            </a:avLst>
          </a:prstGeom>
          <a:solidFill>
            <a:srgbClr val="FDFCF9"/>
          </a:solidFill>
          <a:ln w="6350">
            <a:solidFill>
              <a:srgbClr val="E2DED4"/>
            </a:solidFill>
            <a:prstDash val="solid"/>
          </a:ln>
        </p:spPr>
      </p:sp>
      <p:sp>
        <p:nvSpPr>
          <p:cNvPr id="5" name="Text 3"/>
          <p:cNvSpPr/>
          <p:nvPr/>
        </p:nvSpPr>
        <p:spPr>
          <a:xfrm>
            <a:off x="1071880" y="2164080"/>
            <a:ext cx="475101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D6CB0"/>
                </a:solidFill>
                <a:latin typeface="Noto Sans" pitchFamily="34" charset="0"/>
                <a:ea typeface="Noto Sans" pitchFamily="34" charset="-122"/>
                <a:cs typeface="Noto Sans" pitchFamily="34" charset="-120"/>
              </a:rPr>
              <a:t>I qism. Informatsiya nazariyasi</a:t>
            </a:r>
            <a:endParaRPr lang="en-US" sz="1600" dirty="0"/>
          </a:p>
        </p:txBody>
      </p:sp>
      <p:sp>
        <p:nvSpPr>
          <p:cNvPr id="6" name="Text 4"/>
          <p:cNvSpPr/>
          <p:nvPr/>
        </p:nvSpPr>
        <p:spPr>
          <a:xfrm>
            <a:off x="1141730" y="2534920"/>
            <a:ext cx="4672787" cy="1454150"/>
          </a:xfrm>
          <a:prstGeom prst="rect">
            <a:avLst/>
          </a:prstGeom>
          <a:noFill/>
          <a:ln/>
        </p:spPr>
        <p:txBody>
          <a:bodyPr wrap="square" lIns="0" tIns="0" rIns="0" bIns="0" rtlCol="0" anchor="t">
            <a:normAutofit/>
          </a:bodyPr>
          <a:lstStyle/>
          <a:p>
            <a:pPr algn="l" marL="209550" indent="-209550">
              <a:lnSpc>
                <a:spcPts val="2250"/>
              </a:lnSpc>
              <a:buSzPct val="100000"/>
              <a:buFontTx/>
              <a:buAutoNum type="arabicPeriod" startAt="1"/>
            </a:pPr>
            <a:r>
              <a:rPr lang="en-US" sz="1500" dirty="0">
                <a:solidFill>
                  <a:srgbClr val="1D2433"/>
                </a:solidFill>
                <a:latin typeface="Noto Sans" pitchFamily="34" charset="0"/>
                <a:ea typeface="Noto Sans" pitchFamily="34" charset="-122"/>
                <a:cs typeface="Noto Sans" pitchFamily="34" charset="-120"/>
              </a:rPr>
              <a:t>Axborot, xabar, signal; axborot uzatish tizimi</a:t>
            </a:r>
            <a:endParaRPr lang="en-US" sz="1500" dirty="0"/>
          </a:p>
          <a:p>
            <a:pPr algn="l" marL="209550" indent="-209550">
              <a:lnSpc>
                <a:spcPts val="2250"/>
              </a:lnSpc>
              <a:buSzPct val="100000"/>
              <a:buFontTx/>
              <a:buAutoNum type="arabicPeriod" startAt="1"/>
            </a:pPr>
            <a:r>
              <a:rPr lang="en-US" sz="1500" dirty="0">
                <a:solidFill>
                  <a:srgbClr val="1D2433"/>
                </a:solidFill>
                <a:latin typeface="Noto Sans" pitchFamily="34" charset="0"/>
                <a:ea typeface="Noto Sans" pitchFamily="34" charset="-122"/>
                <a:cs typeface="Noto Sans" pitchFamily="34" charset="-120"/>
              </a:rPr>
              <a:t>Axborot miqdori va entropiya</a:t>
            </a:r>
            <a:endParaRPr lang="en-US" sz="1500" dirty="0"/>
          </a:p>
          <a:p>
            <a:pPr algn="l" marL="209550" indent="-209550">
              <a:lnSpc>
                <a:spcPts val="2250"/>
              </a:lnSpc>
              <a:buSzPct val="100000"/>
              <a:buFontTx/>
              <a:buAutoNum type="arabicPeriod" startAt="1"/>
            </a:pPr>
            <a:r>
              <a:rPr lang="en-US" sz="1500" dirty="0">
                <a:solidFill>
                  <a:srgbClr val="1D2433"/>
                </a:solidFill>
                <a:latin typeface="Noto Sans" pitchFamily="34" charset="0"/>
                <a:ea typeface="Noto Sans" pitchFamily="34" charset="-122"/>
                <a:cs typeface="Noto Sans" pitchFamily="34" charset="-120"/>
              </a:rPr>
              <a:t>Signal va shovqin, kanal oʻtkazish qobiliyati</a:t>
            </a:r>
            <a:endParaRPr lang="en-US" sz="1500" dirty="0"/>
          </a:p>
          <a:p>
            <a:pPr algn="l" marL="209550" indent="-209550">
              <a:lnSpc>
                <a:spcPts val="2250"/>
              </a:lnSpc>
              <a:buSzPct val="100000"/>
              <a:buFontTx/>
              <a:buAutoNum type="arabicPeriod" startAt="1"/>
            </a:pPr>
            <a:r>
              <a:rPr lang="en-US" sz="1500" dirty="0">
                <a:solidFill>
                  <a:srgbClr val="1D2433"/>
                </a:solidFill>
                <a:latin typeface="Noto Sans" pitchFamily="34" charset="0"/>
                <a:ea typeface="Noto Sans" pitchFamily="34" charset="-122"/>
                <a:cs typeface="Noto Sans" pitchFamily="34" charset="-120"/>
              </a:rPr>
              <a:t>Diskretlash va kvantlash</a:t>
            </a:r>
            <a:endParaRPr lang="en-US" sz="1500" dirty="0"/>
          </a:p>
          <a:p>
            <a:pPr algn="l" marL="209550" indent="-209550">
              <a:lnSpc>
                <a:spcPts val="2250"/>
              </a:lnSpc>
              <a:buSzPct val="100000"/>
              <a:buFontTx/>
              <a:buAutoNum type="arabicPeriod" startAt="1"/>
            </a:pPr>
            <a:r>
              <a:rPr lang="en-US" sz="1500" dirty="0">
                <a:solidFill>
                  <a:srgbClr val="1D2433"/>
                </a:solidFill>
                <a:latin typeface="Noto Sans" pitchFamily="34" charset="0"/>
                <a:ea typeface="Noto Sans" pitchFamily="34" charset="-122"/>
                <a:cs typeface="Noto Sans" pitchFamily="34" charset="-120"/>
              </a:rPr>
              <a:t>Axborotni kodlash</a:t>
            </a:r>
            <a:endParaRPr lang="en-US" sz="1500" dirty="0"/>
          </a:p>
        </p:txBody>
      </p:sp>
      <p:sp>
        <p:nvSpPr>
          <p:cNvPr id="7" name="Shape 5"/>
          <p:cNvSpPr/>
          <p:nvPr/>
        </p:nvSpPr>
        <p:spPr>
          <a:xfrm>
            <a:off x="6251575" y="1908175"/>
            <a:ext cx="5124450" cy="2311400"/>
          </a:xfrm>
          <a:prstGeom prst="roundRect">
            <a:avLst>
              <a:gd name="adj" fmla="val 4258"/>
            </a:avLst>
          </a:prstGeom>
          <a:solidFill>
            <a:srgbClr val="FDFCF9"/>
          </a:solidFill>
          <a:ln w="6350">
            <a:solidFill>
              <a:srgbClr val="E2DED4"/>
            </a:solidFill>
            <a:prstDash val="solid"/>
          </a:ln>
        </p:spPr>
      </p:sp>
      <p:sp>
        <p:nvSpPr>
          <p:cNvPr id="8" name="Text 6"/>
          <p:cNvSpPr/>
          <p:nvPr/>
        </p:nvSpPr>
        <p:spPr>
          <a:xfrm>
            <a:off x="6507480" y="2164080"/>
            <a:ext cx="475101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521A"/>
                </a:solidFill>
                <a:latin typeface="Noto Sans" pitchFamily="34" charset="0"/>
                <a:ea typeface="Noto Sans" pitchFamily="34" charset="-122"/>
                <a:cs typeface="Noto Sans" pitchFamily="34" charset="-120"/>
              </a:rPr>
              <a:t>II qism. Modullar va robotlar</a:t>
            </a:r>
            <a:endParaRPr lang="en-US" sz="1600" dirty="0"/>
          </a:p>
        </p:txBody>
      </p:sp>
      <p:sp>
        <p:nvSpPr>
          <p:cNvPr id="9" name="Text 7"/>
          <p:cNvSpPr/>
          <p:nvPr/>
        </p:nvSpPr>
        <p:spPr>
          <a:xfrm>
            <a:off x="6577330" y="2534920"/>
            <a:ext cx="4672787" cy="882650"/>
          </a:xfrm>
          <a:prstGeom prst="rect">
            <a:avLst/>
          </a:prstGeom>
          <a:noFill/>
          <a:ln/>
        </p:spPr>
        <p:txBody>
          <a:bodyPr wrap="square" lIns="0" tIns="0" rIns="0" bIns="0" rtlCol="0" anchor="t">
            <a:normAutofit/>
          </a:bodyPr>
          <a:lstStyle/>
          <a:p>
            <a:pPr algn="l" marL="209550" indent="-209550">
              <a:lnSpc>
                <a:spcPts val="2250"/>
              </a:lnSpc>
              <a:buSzPct val="100000"/>
              <a:buFontTx/>
              <a:buAutoNum type="arabicPeriod" startAt="1"/>
            </a:pPr>
            <a:r>
              <a:rPr lang="en-US" sz="1500" dirty="0">
                <a:solidFill>
                  <a:srgbClr val="1D2433"/>
                </a:solidFill>
                <a:latin typeface="Noto Sans" pitchFamily="34" charset="0"/>
                <a:ea typeface="Noto Sans" pitchFamily="34" charset="-122"/>
                <a:cs typeface="Noto Sans" pitchFamily="34" charset="-120"/>
              </a:rPr>
              <a:t>Mexatron modullarning asosiy turlari</a:t>
            </a:r>
            <a:endParaRPr lang="en-US" sz="1500" dirty="0"/>
          </a:p>
          <a:p>
            <a:pPr algn="l" marL="209550" indent="-209550">
              <a:lnSpc>
                <a:spcPts val="2250"/>
              </a:lnSpc>
              <a:buSzPct val="100000"/>
              <a:buFontTx/>
              <a:buAutoNum type="arabicPeriod" startAt="1"/>
            </a:pPr>
            <a:r>
              <a:rPr lang="en-US" sz="1500" dirty="0">
                <a:solidFill>
                  <a:srgbClr val="1D2433"/>
                </a:solidFill>
                <a:latin typeface="Noto Sans" pitchFamily="34" charset="0"/>
                <a:ea typeface="Noto Sans" pitchFamily="34" charset="-122"/>
                <a:cs typeface="Noto Sans" pitchFamily="34" charset="-120"/>
              </a:rPr>
              <a:t>Robotlarning asosiy turlari va ularning informatsion qurilmalari</a:t>
            </a:r>
            <a:endParaRPr lang="en-US" sz="1500" dirty="0"/>
          </a:p>
        </p:txBody>
      </p:sp>
      <p:sp>
        <p:nvSpPr>
          <p:cNvPr id="10" name="Text 8"/>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Maʼruza №2 · Informatsiya nazariyasi. Mexatron modullar va robotlar · 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A"/>
                </a:solidFill>
                <a:latin typeface="Noto Sans" pitchFamily="34" charset="0"/>
                <a:ea typeface="Noto Sans" pitchFamily="34" charset="-122"/>
                <a:cs typeface="Noto Sans" pitchFamily="34" charset="-120"/>
              </a:rPr>
              <a:t>AXBOROT VA SIGNAL</a:t>
            </a:r>
            <a:endParaRPr lang="en-US" sz="1200" dirty="0"/>
          </a:p>
        </p:txBody>
      </p:sp>
      <p:sp>
        <p:nvSpPr>
          <p:cNvPr id="3" name="Text 1"/>
          <p:cNvSpPr/>
          <p:nvPr>
            <p:ph type="title"/>
          </p:nvPr>
        </p:nvSpPr>
        <p:spPr>
          <a:xfrm>
            <a:off x="812800" y="1102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B"/>
                </a:solidFill>
                <a:latin typeface="Noto Sans" pitchFamily="34" charset="0"/>
                <a:ea typeface="Noto Sans" pitchFamily="34" charset="-122"/>
                <a:cs typeface="Noto Sans" pitchFamily="34" charset="-120"/>
              </a:rPr>
              <a:t>Axborot, xabar va signal</a:t>
            </a:r>
            <a:endParaRPr lang="en-US" sz="3200" dirty="0"/>
          </a:p>
        </p:txBody>
      </p:sp>
      <p:sp>
        <p:nvSpPr>
          <p:cNvPr id="4" name="Shape 2"/>
          <p:cNvSpPr/>
          <p:nvPr/>
        </p:nvSpPr>
        <p:spPr>
          <a:xfrm>
            <a:off x="815975" y="1806575"/>
            <a:ext cx="3380317" cy="1309370"/>
          </a:xfrm>
          <a:prstGeom prst="roundRect">
            <a:avLst>
              <a:gd name="adj" fmla="val 7517"/>
            </a:avLst>
          </a:prstGeom>
          <a:solidFill>
            <a:srgbClr val="FDFCF9"/>
          </a:solidFill>
          <a:ln w="6350">
            <a:solidFill>
              <a:srgbClr val="E2DED4"/>
            </a:solidFill>
            <a:prstDash val="solid"/>
          </a:ln>
        </p:spPr>
      </p:sp>
      <p:sp>
        <p:nvSpPr>
          <p:cNvPr id="5" name="Text 3"/>
          <p:cNvSpPr/>
          <p:nvPr/>
        </p:nvSpPr>
        <p:spPr>
          <a:xfrm>
            <a:off x="1046480" y="2037080"/>
            <a:ext cx="3006886"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D2433"/>
                </a:solidFill>
                <a:latin typeface="Noto Sans" pitchFamily="34" charset="0"/>
                <a:ea typeface="Noto Sans" pitchFamily="34" charset="-122"/>
                <a:cs typeface="Noto Sans" pitchFamily="34" charset="-120"/>
              </a:rPr>
              <a:t>Axborot</a:t>
            </a:r>
            <a:endParaRPr lang="en-US" sz="1800" dirty="0"/>
          </a:p>
        </p:txBody>
      </p:sp>
      <p:sp>
        <p:nvSpPr>
          <p:cNvPr id="6" name="Text 4"/>
          <p:cNvSpPr/>
          <p:nvPr/>
        </p:nvSpPr>
        <p:spPr>
          <a:xfrm>
            <a:off x="1046480" y="2387600"/>
            <a:ext cx="300688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D2433"/>
                </a:solidFill>
                <a:latin typeface="Noto Sans" pitchFamily="34" charset="0"/>
                <a:ea typeface="Noto Sans" pitchFamily="34" charset="-122"/>
                <a:cs typeface="Noto Sans" pitchFamily="34" charset="-120"/>
              </a:rPr>
              <a:t>Qabul qiluvchidagi noaniqlikni kamaytiradigan maʼlumot</a:t>
            </a:r>
            <a:endParaRPr lang="en-US" sz="1400" dirty="0"/>
          </a:p>
        </p:txBody>
      </p:sp>
      <p:sp>
        <p:nvSpPr>
          <p:cNvPr id="7" name="Shape 5"/>
          <p:cNvSpPr/>
          <p:nvPr/>
        </p:nvSpPr>
        <p:spPr>
          <a:xfrm>
            <a:off x="4405842" y="1806575"/>
            <a:ext cx="3380317" cy="1309370"/>
          </a:xfrm>
          <a:prstGeom prst="roundRect">
            <a:avLst>
              <a:gd name="adj" fmla="val 7517"/>
            </a:avLst>
          </a:prstGeom>
          <a:solidFill>
            <a:srgbClr val="FDFCF9"/>
          </a:solidFill>
          <a:ln w="6350">
            <a:solidFill>
              <a:srgbClr val="E2DED4"/>
            </a:solidFill>
            <a:prstDash val="solid"/>
          </a:ln>
        </p:spPr>
      </p:sp>
      <p:sp>
        <p:nvSpPr>
          <p:cNvPr id="8" name="Text 6"/>
          <p:cNvSpPr/>
          <p:nvPr/>
        </p:nvSpPr>
        <p:spPr>
          <a:xfrm>
            <a:off x="4636346" y="2037080"/>
            <a:ext cx="3006886"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D2433"/>
                </a:solidFill>
                <a:latin typeface="Noto Sans" pitchFamily="34" charset="0"/>
                <a:ea typeface="Noto Sans" pitchFamily="34" charset="-122"/>
                <a:cs typeface="Noto Sans" pitchFamily="34" charset="-120"/>
              </a:rPr>
              <a:t>Xabar</a:t>
            </a:r>
            <a:endParaRPr lang="en-US" sz="1800" dirty="0"/>
          </a:p>
        </p:txBody>
      </p:sp>
      <p:sp>
        <p:nvSpPr>
          <p:cNvPr id="9" name="Text 7"/>
          <p:cNvSpPr/>
          <p:nvPr/>
        </p:nvSpPr>
        <p:spPr>
          <a:xfrm>
            <a:off x="4636346" y="2387600"/>
            <a:ext cx="300688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D2433"/>
                </a:solidFill>
                <a:latin typeface="Noto Sans" pitchFamily="34" charset="0"/>
                <a:ea typeface="Noto Sans" pitchFamily="34" charset="-122"/>
                <a:cs typeface="Noto Sans" pitchFamily="34" charset="-120"/>
              </a:rPr>
              <a:t>Axborotni ifodalash shakli: raqam, matn, tasvir, ovoz</a:t>
            </a:r>
            <a:endParaRPr lang="en-US" sz="1400" dirty="0"/>
          </a:p>
        </p:txBody>
      </p:sp>
      <p:sp>
        <p:nvSpPr>
          <p:cNvPr id="10" name="Shape 8"/>
          <p:cNvSpPr/>
          <p:nvPr/>
        </p:nvSpPr>
        <p:spPr>
          <a:xfrm>
            <a:off x="7995708" y="1806575"/>
            <a:ext cx="3380317" cy="1309370"/>
          </a:xfrm>
          <a:prstGeom prst="roundRect">
            <a:avLst>
              <a:gd name="adj" fmla="val 7517"/>
            </a:avLst>
          </a:prstGeom>
          <a:solidFill>
            <a:srgbClr val="FDFCF9"/>
          </a:solidFill>
          <a:ln w="6350">
            <a:solidFill>
              <a:srgbClr val="E2DED4"/>
            </a:solidFill>
            <a:prstDash val="solid"/>
          </a:ln>
        </p:spPr>
      </p:sp>
      <p:sp>
        <p:nvSpPr>
          <p:cNvPr id="11" name="Text 9"/>
          <p:cNvSpPr/>
          <p:nvPr/>
        </p:nvSpPr>
        <p:spPr>
          <a:xfrm>
            <a:off x="8226213" y="2037080"/>
            <a:ext cx="3006886"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D2433"/>
                </a:solidFill>
                <a:latin typeface="Noto Sans" pitchFamily="34" charset="0"/>
                <a:ea typeface="Noto Sans" pitchFamily="34" charset="-122"/>
                <a:cs typeface="Noto Sans" pitchFamily="34" charset="-120"/>
              </a:rPr>
              <a:t>Signal</a:t>
            </a:r>
            <a:endParaRPr lang="en-US" sz="1800" dirty="0"/>
          </a:p>
        </p:txBody>
      </p:sp>
      <p:sp>
        <p:nvSpPr>
          <p:cNvPr id="12" name="Text 10"/>
          <p:cNvSpPr/>
          <p:nvPr/>
        </p:nvSpPr>
        <p:spPr>
          <a:xfrm>
            <a:off x="8226213" y="2387600"/>
            <a:ext cx="300688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D2433"/>
                </a:solidFill>
                <a:latin typeface="Noto Sans" pitchFamily="34" charset="0"/>
                <a:ea typeface="Noto Sans" pitchFamily="34" charset="-122"/>
                <a:cs typeface="Noto Sans" pitchFamily="34" charset="-120"/>
              </a:rPr>
              <a:t>Xabarni uzatuvchi fizik jarayon: kuchlanish, tok, yorugʻlik, tovush</a:t>
            </a:r>
            <a:endParaRPr lang="en-US" sz="1400" dirty="0"/>
          </a:p>
        </p:txBody>
      </p:sp>
      <p:sp>
        <p:nvSpPr>
          <p:cNvPr id="13" name="Shape 11"/>
          <p:cNvSpPr/>
          <p:nvPr/>
        </p:nvSpPr>
        <p:spPr>
          <a:xfrm>
            <a:off x="812800" y="3373120"/>
            <a:ext cx="10566400" cy="988060"/>
          </a:xfrm>
          <a:prstGeom prst="roundRect">
            <a:avLst>
              <a:gd name="adj" fmla="val 10283"/>
            </a:avLst>
          </a:prstGeom>
          <a:solidFill>
            <a:srgbClr val="E8EEF6"/>
          </a:solidFill>
          <a:ln/>
        </p:spPr>
      </p:sp>
      <p:sp>
        <p:nvSpPr>
          <p:cNvPr id="14" name="Text 12"/>
          <p:cNvSpPr/>
          <p:nvPr/>
        </p:nvSpPr>
        <p:spPr>
          <a:xfrm>
            <a:off x="1066800" y="3576320"/>
            <a:ext cx="1036015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4F85"/>
                </a:solidFill>
                <a:latin typeface="Noto Sans" pitchFamily="34" charset="0"/>
                <a:ea typeface="Noto Sans" pitchFamily="34" charset="-122"/>
                <a:cs typeface="Noto Sans" pitchFamily="34" charset="-120"/>
              </a:rPr>
              <a:t>BITTA XABAR — TURLI SIGNALLAR</a:t>
            </a:r>
            <a:endParaRPr lang="en-US" sz="1200" dirty="0"/>
          </a:p>
        </p:txBody>
      </p:sp>
      <p:sp>
        <p:nvSpPr>
          <p:cNvPr id="15" name="Text 13"/>
          <p:cNvSpPr/>
          <p:nvPr/>
        </p:nvSpPr>
        <p:spPr>
          <a:xfrm>
            <a:off x="1066800" y="3891280"/>
            <a:ext cx="1036015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D2433"/>
                </a:solidFill>
                <a:latin typeface="Noto Sans" pitchFamily="34" charset="0"/>
                <a:ea typeface="Noto Sans" pitchFamily="34" charset="-122"/>
                <a:cs typeface="Noto Sans" pitchFamily="34" charset="-120"/>
              </a:rPr>
              <a:t>Harorat qiymati → termojuft kuchlanishi, 4–20 mA tok signali yoki CAN shinasidagi raqamli kadr</a:t>
            </a:r>
            <a:endParaRPr lang="en-US" sz="1500" dirty="0"/>
          </a:p>
        </p:txBody>
      </p:sp>
      <p:sp>
        <p:nvSpPr>
          <p:cNvPr id="16" name="Text 14"/>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Maʼruza №2 · Informatsiya nazariyasi. Mexatron modullar va robotlar · 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A"/>
                </a:solidFill>
                <a:latin typeface="Noto Sans" pitchFamily="34" charset="0"/>
                <a:ea typeface="Noto Sans" pitchFamily="34" charset="-122"/>
                <a:cs typeface="Noto Sans" pitchFamily="34" charset="-120"/>
              </a:rPr>
              <a:t>AXBOROT VA SIGNAL</a:t>
            </a:r>
            <a:endParaRPr lang="en-US" sz="1200" dirty="0"/>
          </a:p>
        </p:txBody>
      </p:sp>
      <p:sp>
        <p:nvSpPr>
          <p:cNvPr id="3" name="Text 1"/>
          <p:cNvSpPr/>
          <p:nvPr>
            <p:ph type="title"/>
          </p:nvPr>
        </p:nvSpPr>
        <p:spPr>
          <a:xfrm>
            <a:off x="812800" y="1102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B"/>
                </a:solidFill>
                <a:latin typeface="Noto Sans" pitchFamily="34" charset="0"/>
                <a:ea typeface="Noto Sans" pitchFamily="34" charset="-122"/>
                <a:cs typeface="Noto Sans" pitchFamily="34" charset="-120"/>
              </a:rPr>
              <a:t>Signallarning turlari</a:t>
            </a:r>
            <a:endParaRPr lang="en-US" sz="3200" dirty="0"/>
          </a:p>
        </p:txBody>
      </p:sp>
      <p:pic>
        <p:nvPicPr>
          <p:cNvPr id="4" name="Image 0" descr="Uchta grafik: uzluksiz analog signal, vaqt boʻyicha diskretlangan signal va qiymat boʻyicha kvantlangan raqamli signal">    </p:cNvPr>
          <p:cNvPicPr>
            <a:picLocks noChangeAspect="1"/>
          </p:cNvPicPr>
          <p:nvPr/>
        </p:nvPicPr>
        <p:blipFill>
          <a:blip r:embed="rId1"/>
          <a:srcRect l="-14" r="-14" t="0" b="0"/>
          <a:stretch/>
        </p:blipFill>
        <p:spPr>
          <a:xfrm>
            <a:off x="812800" y="1803400"/>
            <a:ext cx="10566400" cy="2774950"/>
          </a:xfrm>
          <a:prstGeom prst="rect">
            <a:avLst/>
          </a:prstGeom>
        </p:spPr>
      </p:pic>
      <p:sp>
        <p:nvSpPr>
          <p:cNvPr id="5" name="Text 2"/>
          <p:cNvSpPr/>
          <p:nvPr/>
        </p:nvSpPr>
        <p:spPr>
          <a:xfrm>
            <a:off x="812800" y="4832350"/>
            <a:ext cx="3488267"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433"/>
                </a:solidFill>
                <a:latin typeface="Noto Sans" pitchFamily="34" charset="0"/>
                <a:ea typeface="Noto Sans" pitchFamily="34" charset="-122"/>
                <a:cs typeface="Noto Sans" pitchFamily="34" charset="-120"/>
              </a:rPr>
              <a:t>Istalgan paytda istalgan qiymat: potensiometr, tenzodatchik chiqishi</a:t>
            </a:r>
            <a:endParaRPr lang="en-US" sz="1300" dirty="0"/>
          </a:p>
        </p:txBody>
      </p:sp>
      <p:sp>
        <p:nvSpPr>
          <p:cNvPr id="6" name="Text 3"/>
          <p:cNvSpPr/>
          <p:nvPr/>
        </p:nvSpPr>
        <p:spPr>
          <a:xfrm>
            <a:off x="4402667" y="4832350"/>
            <a:ext cx="3488267"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433"/>
                </a:solidFill>
                <a:latin typeface="Noto Sans" pitchFamily="34" charset="0"/>
                <a:ea typeface="Noto Sans" pitchFamily="34" charset="-122"/>
                <a:cs typeface="Noto Sans" pitchFamily="34" charset="-120"/>
              </a:rPr>
              <a:t>Faqat ayrim vaqt paytlarida olingan qiymatlar</a:t>
            </a:r>
            <a:endParaRPr lang="en-US" sz="1300" dirty="0"/>
          </a:p>
        </p:txBody>
      </p:sp>
      <p:sp>
        <p:nvSpPr>
          <p:cNvPr id="7" name="Text 4"/>
          <p:cNvSpPr/>
          <p:nvPr/>
        </p:nvSpPr>
        <p:spPr>
          <a:xfrm>
            <a:off x="7992533" y="4832350"/>
            <a:ext cx="3488267"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433"/>
                </a:solidFill>
                <a:latin typeface="Noto Sans" pitchFamily="34" charset="0"/>
                <a:ea typeface="Noto Sans" pitchFamily="34" charset="-122"/>
                <a:cs typeface="Noto Sans" pitchFamily="34" charset="-120"/>
              </a:rPr>
              <a:t>Diskretlangan va chekli sathlarga kvantlangan: enkoder, ARO chiqishi</a:t>
            </a:r>
            <a:endParaRPr lang="en-US" sz="1300" dirty="0"/>
          </a:p>
        </p:txBody>
      </p:sp>
      <p:sp>
        <p:nvSpPr>
          <p:cNvPr id="8" name="Text 5"/>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Maʼruza №2 · Informatsiya nazariyasi. Mexatron modullar va robotlar · 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A"/>
                </a:solidFill>
                <a:latin typeface="Noto Sans" pitchFamily="34" charset="0"/>
                <a:ea typeface="Noto Sans" pitchFamily="34" charset="-122"/>
                <a:cs typeface="Noto Sans" pitchFamily="34" charset="-120"/>
              </a:rPr>
              <a:t>AXBOROT VA SIGNAL</a:t>
            </a:r>
            <a:endParaRPr lang="en-US" sz="1200" dirty="0"/>
          </a:p>
        </p:txBody>
      </p:sp>
      <p:sp>
        <p:nvSpPr>
          <p:cNvPr id="3" name="Text 1"/>
          <p:cNvSpPr/>
          <p:nvPr>
            <p:ph type="title"/>
          </p:nvPr>
        </p:nvSpPr>
        <p:spPr>
          <a:xfrm>
            <a:off x="812800" y="1102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B"/>
                </a:solidFill>
                <a:latin typeface="Noto Sans" pitchFamily="34" charset="0"/>
                <a:ea typeface="Noto Sans" pitchFamily="34" charset="-122"/>
                <a:cs typeface="Noto Sans" pitchFamily="34" charset="-120"/>
              </a:rPr>
              <a:t>Axborot uzatish tizimi (Shennon boʻyicha)</a:t>
            </a:r>
            <a:endParaRPr lang="en-US" sz="3200" dirty="0"/>
          </a:p>
        </p:txBody>
      </p:sp>
      <p:pic>
        <p:nvPicPr>
          <p:cNvPr id="4" name="Image 0" descr="Axborot manbai, uzatgich, aloqa kanali, qabul qilgich va qabul qiluvchi ketma-ket ulangan; aloqa kanaliga shovqin manbai taʼsir qiladi">    </p:cNvPr>
          <p:cNvPicPr>
            <a:picLocks noChangeAspect="1"/>
          </p:cNvPicPr>
          <p:nvPr/>
        </p:nvPicPr>
        <p:blipFill>
          <a:blip r:embed="rId1"/>
          <a:srcRect l="0" r="0" t="-18" b="-18"/>
          <a:stretch/>
        </p:blipFill>
        <p:spPr>
          <a:xfrm>
            <a:off x="812800" y="1803400"/>
            <a:ext cx="10566400" cy="2178050"/>
          </a:xfrm>
          <a:prstGeom prst="rect">
            <a:avLst/>
          </a:prstGeom>
        </p:spPr>
      </p:pic>
      <p:sp>
        <p:nvSpPr>
          <p:cNvPr id="5" name="Text 2"/>
          <p:cNvSpPr/>
          <p:nvPr/>
        </p:nvSpPr>
        <p:spPr>
          <a:xfrm>
            <a:off x="812800" y="423545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5521A"/>
                </a:solidFill>
                <a:latin typeface="Noto Sans" pitchFamily="34" charset="0"/>
                <a:ea typeface="Noto Sans" pitchFamily="34" charset="-122"/>
                <a:cs typeface="Noto Sans" pitchFamily="34" charset="-120"/>
              </a:rPr>
              <a:t>ROBOTDA</a:t>
            </a:r>
            <a:endParaRPr lang="en-US" sz="1200" dirty="0"/>
          </a:p>
        </p:txBody>
      </p:sp>
      <p:sp>
        <p:nvSpPr>
          <p:cNvPr id="6" name="Text 3"/>
          <p:cNvSpPr/>
          <p:nvPr/>
        </p:nvSpPr>
        <p:spPr>
          <a:xfrm>
            <a:off x="633984" y="4525011"/>
            <a:ext cx="2145792" cy="487680"/>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1D2433"/>
                </a:solidFill>
                <a:latin typeface="Noto Sans" pitchFamily="34" charset="0"/>
                <a:ea typeface="Noto Sans" pitchFamily="34" charset="-122"/>
                <a:cs typeface="Noto Sans" pitchFamily="34" charset="-120"/>
              </a:rPr>
              <a:t>Oʻlchanayotgan obyekt</a:t>
            </a:r>
            <a:endParaRPr lang="en-US" sz="1300" dirty="0"/>
          </a:p>
        </p:txBody>
      </p:sp>
      <p:sp>
        <p:nvSpPr>
          <p:cNvPr id="7" name="Text 4"/>
          <p:cNvSpPr/>
          <p:nvPr/>
        </p:nvSpPr>
        <p:spPr>
          <a:xfrm>
            <a:off x="2980538" y="4525011"/>
            <a:ext cx="1841805" cy="487680"/>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1D2433"/>
                </a:solidFill>
                <a:latin typeface="Noto Sans" pitchFamily="34" charset="0"/>
                <a:ea typeface="Noto Sans" pitchFamily="34" charset="-122"/>
                <a:cs typeface="Noto Sans" pitchFamily="34" charset="-120"/>
              </a:rPr>
              <a:t>Datchik va oʻlchash sxemasi</a:t>
            </a:r>
            <a:endParaRPr lang="en-US" sz="1300" dirty="0"/>
          </a:p>
        </p:txBody>
      </p:sp>
      <p:sp>
        <p:nvSpPr>
          <p:cNvPr id="8" name="Text 5"/>
          <p:cNvSpPr/>
          <p:nvPr/>
        </p:nvSpPr>
        <p:spPr>
          <a:xfrm>
            <a:off x="5175098" y="4525011"/>
            <a:ext cx="1841805" cy="487680"/>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1D2433"/>
                </a:solidFill>
                <a:latin typeface="Noto Sans" pitchFamily="34" charset="0"/>
                <a:ea typeface="Noto Sans" pitchFamily="34" charset="-122"/>
                <a:cs typeface="Noto Sans" pitchFamily="34" charset="-120"/>
              </a:rPr>
              <a:t>Kabel, shina, simsiz aloqa</a:t>
            </a:r>
            <a:endParaRPr lang="en-US" sz="1300" dirty="0"/>
          </a:p>
        </p:txBody>
      </p:sp>
      <p:sp>
        <p:nvSpPr>
          <p:cNvPr id="9" name="Text 6"/>
          <p:cNvSpPr/>
          <p:nvPr/>
        </p:nvSpPr>
        <p:spPr>
          <a:xfrm>
            <a:off x="7369658" y="4525011"/>
            <a:ext cx="1841805" cy="487680"/>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1D2433"/>
                </a:solidFill>
                <a:latin typeface="Noto Sans" pitchFamily="34" charset="0"/>
                <a:ea typeface="Noto Sans" pitchFamily="34" charset="-122"/>
                <a:cs typeface="Noto Sans" pitchFamily="34" charset="-120"/>
              </a:rPr>
              <a:t>ARO va ishlov berish algoritmlari</a:t>
            </a:r>
            <a:endParaRPr lang="en-US" sz="1300" dirty="0"/>
          </a:p>
        </p:txBody>
      </p:sp>
      <p:sp>
        <p:nvSpPr>
          <p:cNvPr id="10" name="Text 7"/>
          <p:cNvSpPr/>
          <p:nvPr/>
        </p:nvSpPr>
        <p:spPr>
          <a:xfrm>
            <a:off x="9564218" y="4525011"/>
            <a:ext cx="1841805" cy="487680"/>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1D2433"/>
                </a:solidFill>
                <a:latin typeface="Noto Sans" pitchFamily="34" charset="0"/>
                <a:ea typeface="Noto Sans" pitchFamily="34" charset="-122"/>
                <a:cs typeface="Noto Sans" pitchFamily="34" charset="-120"/>
              </a:rPr>
              <a:t>Boshqaruv tizimi</a:t>
            </a:r>
            <a:endParaRPr lang="en-US" sz="1300" dirty="0"/>
          </a:p>
        </p:txBody>
      </p:sp>
      <p:sp>
        <p:nvSpPr>
          <p:cNvPr id="11" name="Text 8"/>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Maʼruza №2 · Informatsiya nazariyasi. Mexatron modullar va robotlar · 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A"/>
                </a:solidFill>
                <a:latin typeface="Noto Sans" pitchFamily="34" charset="0"/>
                <a:ea typeface="Noto Sans" pitchFamily="34" charset="-122"/>
                <a:cs typeface="Noto Sans" pitchFamily="34" charset="-120"/>
              </a:rPr>
              <a:t>AXBOROT MIQDORI</a:t>
            </a:r>
            <a:endParaRPr lang="en-US" sz="1200" dirty="0"/>
          </a:p>
        </p:txBody>
      </p:sp>
      <p:sp>
        <p:nvSpPr>
          <p:cNvPr id="3" name="Text 1"/>
          <p:cNvSpPr/>
          <p:nvPr>
            <p:ph type="title"/>
          </p:nvPr>
        </p:nvSpPr>
        <p:spPr>
          <a:xfrm>
            <a:off x="812800" y="1102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B"/>
                </a:solidFill>
                <a:latin typeface="Noto Sans" pitchFamily="34" charset="0"/>
                <a:ea typeface="Noto Sans" pitchFamily="34" charset="-122"/>
                <a:cs typeface="Noto Sans" pitchFamily="34" charset="-120"/>
              </a:rPr>
              <a:t>Xartli oʻlchovi va bit</a:t>
            </a:r>
            <a:endParaRPr lang="en-US" sz="3200" dirty="0"/>
          </a:p>
        </p:txBody>
      </p:sp>
      <p:sp>
        <p:nvSpPr>
          <p:cNvPr id="4" name="Text 2"/>
          <p:cNvSpPr/>
          <p:nvPr/>
        </p:nvSpPr>
        <p:spPr>
          <a:xfrm>
            <a:off x="812800" y="2324100"/>
            <a:ext cx="4185920" cy="69596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16233B"/>
                </a:solidFill>
                <a:latin typeface="Noto Sans" pitchFamily="34" charset="0"/>
                <a:ea typeface="Noto Sans" pitchFamily="34" charset="-122"/>
                <a:cs typeface="Noto Sans" pitchFamily="34" charset="-120"/>
              </a:rPr>
              <a:t>I = log₂ N</a:t>
            </a:r>
            <a:endParaRPr lang="en-US" sz="4800" dirty="0"/>
          </a:p>
        </p:txBody>
      </p:sp>
      <p:sp>
        <p:nvSpPr>
          <p:cNvPr id="5" name="Text 3"/>
          <p:cNvSpPr/>
          <p:nvPr/>
        </p:nvSpPr>
        <p:spPr>
          <a:xfrm>
            <a:off x="812800" y="3121661"/>
            <a:ext cx="418592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D2433"/>
                </a:solidFill>
                <a:latin typeface="Noto Sans" pitchFamily="34" charset="0"/>
                <a:ea typeface="Noto Sans" pitchFamily="34" charset="-122"/>
                <a:cs typeface="Noto Sans" pitchFamily="34" charset="-120"/>
              </a:rPr>
              <a:t>N ta teng ehtimolli holatdan birini bilib olishda olinadigan axborot</a:t>
            </a:r>
            <a:endParaRPr lang="en-US" sz="1400" dirty="0"/>
          </a:p>
        </p:txBody>
      </p:sp>
      <p:sp>
        <p:nvSpPr>
          <p:cNvPr id="6" name="Text 4"/>
          <p:cNvSpPr/>
          <p:nvPr/>
        </p:nvSpPr>
        <p:spPr>
          <a:xfrm>
            <a:off x="812800" y="3746500"/>
            <a:ext cx="4185920"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D2433"/>
                </a:solidFill>
                <a:latin typeface="Noto Sans" pitchFamily="34" charset="0"/>
                <a:ea typeface="Noto Sans" pitchFamily="34" charset="-122"/>
                <a:cs typeface="Noto Sans" pitchFamily="34" charset="-120"/>
              </a:rPr>
              <a:t>1 bit</a:t>
            </a:r>
            <a:r>
              <a:rPr lang="en-US" sz="1400" dirty="0">
                <a:solidFill>
                  <a:srgbClr val="1D2433"/>
                </a:solidFill>
                <a:latin typeface="Noto Sans" pitchFamily="34" charset="0"/>
                <a:ea typeface="Noto Sans" pitchFamily="34" charset="-122"/>
                <a:cs typeface="Noto Sans" pitchFamily="34" charset="-120"/>
              </a:rPr>
              <a:t> — ikki teng ehtimolli holatdan birini tanlash haqidagi axborot</a:t>
            </a:r>
            <a:endParaRPr lang="en-US" sz="1400" dirty="0"/>
          </a:p>
        </p:txBody>
      </p:sp>
      <p:sp>
        <p:nvSpPr>
          <p:cNvPr id="7" name="Shape 5"/>
          <p:cNvSpPr/>
          <p:nvPr/>
        </p:nvSpPr>
        <p:spPr>
          <a:xfrm>
            <a:off x="5235575" y="1857375"/>
            <a:ext cx="6140450" cy="862330"/>
          </a:xfrm>
          <a:prstGeom prst="roundRect">
            <a:avLst>
              <a:gd name="adj" fmla="val 11414"/>
            </a:avLst>
          </a:prstGeom>
          <a:solidFill>
            <a:srgbClr val="FDFCF9"/>
          </a:solidFill>
          <a:ln w="6350">
            <a:solidFill>
              <a:srgbClr val="E2DED4"/>
            </a:solidFill>
            <a:prstDash val="solid"/>
          </a:ln>
        </p:spPr>
      </p:sp>
      <p:sp>
        <p:nvSpPr>
          <p:cNvPr id="8" name="Text 6"/>
          <p:cNvSpPr/>
          <p:nvPr/>
        </p:nvSpPr>
        <p:spPr>
          <a:xfrm>
            <a:off x="5466080" y="2037079"/>
            <a:ext cx="1962150"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2D6CB0"/>
                </a:solidFill>
                <a:latin typeface="Noto Sans" pitchFamily="34" charset="0"/>
                <a:ea typeface="Noto Sans" pitchFamily="34" charset="-122"/>
                <a:cs typeface="Noto Sans" pitchFamily="34" charset="-120"/>
              </a:rPr>
              <a:t>1 bit</a:t>
            </a:r>
            <a:endParaRPr lang="en-US" sz="3600" dirty="0"/>
          </a:p>
        </p:txBody>
      </p:sp>
      <p:sp>
        <p:nvSpPr>
          <p:cNvPr id="9" name="Text 7"/>
          <p:cNvSpPr/>
          <p:nvPr/>
        </p:nvSpPr>
        <p:spPr>
          <a:xfrm>
            <a:off x="7574280" y="2164079"/>
            <a:ext cx="367837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D2433"/>
                </a:solidFill>
                <a:latin typeface="Noto Sans" pitchFamily="34" charset="0"/>
                <a:ea typeface="Noto Sans" pitchFamily="34" charset="-122"/>
                <a:cs typeface="Noto Sans" pitchFamily="34" charset="-120"/>
              </a:rPr>
              <a:t>Tanga tashlash: N = 2</a:t>
            </a:r>
            <a:endParaRPr lang="en-US" sz="1400" dirty="0"/>
          </a:p>
        </p:txBody>
      </p:sp>
      <p:sp>
        <p:nvSpPr>
          <p:cNvPr id="10" name="Shape 8"/>
          <p:cNvSpPr/>
          <p:nvPr/>
        </p:nvSpPr>
        <p:spPr>
          <a:xfrm>
            <a:off x="5235575" y="2853054"/>
            <a:ext cx="6140450" cy="862330"/>
          </a:xfrm>
          <a:prstGeom prst="roundRect">
            <a:avLst>
              <a:gd name="adj" fmla="val 11414"/>
            </a:avLst>
          </a:prstGeom>
          <a:solidFill>
            <a:srgbClr val="FDFCF9"/>
          </a:solidFill>
          <a:ln w="6350">
            <a:solidFill>
              <a:srgbClr val="E2DED4"/>
            </a:solidFill>
            <a:prstDash val="solid"/>
          </a:ln>
        </p:spPr>
      </p:sp>
      <p:sp>
        <p:nvSpPr>
          <p:cNvPr id="11" name="Text 9"/>
          <p:cNvSpPr/>
          <p:nvPr/>
        </p:nvSpPr>
        <p:spPr>
          <a:xfrm>
            <a:off x="5466080" y="3032761"/>
            <a:ext cx="1962150"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2D6CB0"/>
                </a:solidFill>
                <a:latin typeface="Noto Sans" pitchFamily="34" charset="0"/>
                <a:ea typeface="Noto Sans" pitchFamily="34" charset="-122"/>
                <a:cs typeface="Noto Sans" pitchFamily="34" charset="-120"/>
              </a:rPr>
              <a:t>2,585</a:t>
            </a:r>
            <a:endParaRPr lang="en-US" sz="3600" dirty="0"/>
          </a:p>
        </p:txBody>
      </p:sp>
      <p:sp>
        <p:nvSpPr>
          <p:cNvPr id="12" name="Text 10"/>
          <p:cNvSpPr/>
          <p:nvPr/>
        </p:nvSpPr>
        <p:spPr>
          <a:xfrm>
            <a:off x="7574280" y="3159761"/>
            <a:ext cx="367837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D2433"/>
                </a:solidFill>
                <a:latin typeface="Noto Sans" pitchFamily="34" charset="0"/>
                <a:ea typeface="Noto Sans" pitchFamily="34" charset="-122"/>
                <a:cs typeface="Noto Sans" pitchFamily="34" charset="-120"/>
              </a:rPr>
              <a:t>Oʻyin soqqasi: N = 6, log₂ 6 bit</a:t>
            </a:r>
            <a:endParaRPr lang="en-US" sz="1400" dirty="0"/>
          </a:p>
        </p:txBody>
      </p:sp>
      <p:sp>
        <p:nvSpPr>
          <p:cNvPr id="13" name="Shape 11"/>
          <p:cNvSpPr/>
          <p:nvPr/>
        </p:nvSpPr>
        <p:spPr>
          <a:xfrm>
            <a:off x="5235575" y="3848736"/>
            <a:ext cx="6140450" cy="862330"/>
          </a:xfrm>
          <a:prstGeom prst="roundRect">
            <a:avLst>
              <a:gd name="adj" fmla="val 11414"/>
            </a:avLst>
          </a:prstGeom>
          <a:solidFill>
            <a:srgbClr val="FDFCF9"/>
          </a:solidFill>
          <a:ln w="6350">
            <a:solidFill>
              <a:srgbClr val="E2DED4"/>
            </a:solidFill>
            <a:prstDash val="solid"/>
          </a:ln>
        </p:spPr>
      </p:sp>
      <p:sp>
        <p:nvSpPr>
          <p:cNvPr id="14" name="Text 12"/>
          <p:cNvSpPr/>
          <p:nvPr/>
        </p:nvSpPr>
        <p:spPr>
          <a:xfrm>
            <a:off x="5466080" y="4028439"/>
            <a:ext cx="1962150"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B5521A"/>
                </a:solidFill>
                <a:latin typeface="Noto Sans" pitchFamily="34" charset="0"/>
                <a:ea typeface="Noto Sans" pitchFamily="34" charset="-122"/>
                <a:cs typeface="Noto Sans" pitchFamily="34" charset="-120"/>
              </a:rPr>
              <a:t>8 bit</a:t>
            </a:r>
            <a:endParaRPr lang="en-US" sz="3600" dirty="0"/>
          </a:p>
        </p:txBody>
      </p:sp>
      <p:sp>
        <p:nvSpPr>
          <p:cNvPr id="15" name="Text 13"/>
          <p:cNvSpPr/>
          <p:nvPr/>
        </p:nvSpPr>
        <p:spPr>
          <a:xfrm>
            <a:off x="7574280" y="4155439"/>
            <a:ext cx="367837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D2433"/>
                </a:solidFill>
                <a:latin typeface="Noto Sans" pitchFamily="34" charset="0"/>
                <a:ea typeface="Noto Sans" pitchFamily="34" charset="-122"/>
                <a:cs typeface="Noto Sans" pitchFamily="34" charset="-120"/>
              </a:rPr>
              <a:t>1 bayt: N = 256 ta holat</a:t>
            </a:r>
            <a:endParaRPr lang="en-US" sz="1400" dirty="0"/>
          </a:p>
        </p:txBody>
      </p:sp>
      <p:sp>
        <p:nvSpPr>
          <p:cNvPr id="16" name="Text 14"/>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Maʼruza №2 · Informatsiya nazariyasi. Mexatron modullar va robotlar · 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A"/>
                </a:solidFill>
                <a:latin typeface="Noto Sans" pitchFamily="34" charset="0"/>
                <a:ea typeface="Noto Sans" pitchFamily="34" charset="-122"/>
                <a:cs typeface="Noto Sans" pitchFamily="34" charset="-120"/>
              </a:rPr>
              <a:t>AXBOROT MIQDORI</a:t>
            </a:r>
            <a:endParaRPr lang="en-US" sz="1200" dirty="0"/>
          </a:p>
        </p:txBody>
      </p:sp>
      <p:sp>
        <p:nvSpPr>
          <p:cNvPr id="3" name="Text 1"/>
          <p:cNvSpPr/>
          <p:nvPr>
            <p:ph type="title"/>
          </p:nvPr>
        </p:nvSpPr>
        <p:spPr>
          <a:xfrm>
            <a:off x="812800" y="1102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B"/>
                </a:solidFill>
                <a:latin typeface="Noto Sans" pitchFamily="34" charset="0"/>
                <a:ea typeface="Noto Sans" pitchFamily="34" charset="-122"/>
                <a:cs typeface="Noto Sans" pitchFamily="34" charset="-120"/>
              </a:rPr>
              <a:t>Shennon entropiyasi</a:t>
            </a:r>
            <a:endParaRPr lang="en-US" sz="3200" dirty="0"/>
          </a:p>
        </p:txBody>
      </p:sp>
      <p:sp>
        <p:nvSpPr>
          <p:cNvPr id="4" name="Text 2"/>
          <p:cNvSpPr/>
          <p:nvPr/>
        </p:nvSpPr>
        <p:spPr>
          <a:xfrm>
            <a:off x="812800" y="1854200"/>
            <a:ext cx="6462014"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33B"/>
                </a:solidFill>
                <a:latin typeface="Noto Sans" pitchFamily="34" charset="0"/>
                <a:ea typeface="Noto Sans" pitchFamily="34" charset="-122"/>
                <a:cs typeface="Noto Sans" pitchFamily="34" charset="-120"/>
              </a:rPr>
              <a:t>H = − Σ pᵢ · log₂ pᵢ</a:t>
            </a:r>
            <a:endParaRPr lang="en-US" sz="3200" dirty="0"/>
          </a:p>
        </p:txBody>
      </p:sp>
      <p:sp>
        <p:nvSpPr>
          <p:cNvPr id="5" name="Text 3"/>
          <p:cNvSpPr/>
          <p:nvPr/>
        </p:nvSpPr>
        <p:spPr>
          <a:xfrm>
            <a:off x="812800" y="2453639"/>
            <a:ext cx="66294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D2433"/>
                </a:solidFill>
                <a:latin typeface="Noto Sans" pitchFamily="34" charset="0"/>
                <a:ea typeface="Noto Sans" pitchFamily="34" charset="-122"/>
                <a:cs typeface="Noto Sans" pitchFamily="34" charset="-120"/>
              </a:rPr>
              <a:t>Bitta xabardagi oʻrtacha axborot — tizim holati haqidagi noaniqlik oʻlchovi</a:t>
            </a:r>
            <a:endParaRPr lang="en-US" sz="1400" dirty="0"/>
          </a:p>
        </p:txBody>
      </p:sp>
      <p:sp>
        <p:nvSpPr>
          <p:cNvPr id="6" name="Shape 4"/>
          <p:cNvSpPr/>
          <p:nvPr/>
        </p:nvSpPr>
        <p:spPr>
          <a:xfrm>
            <a:off x="815975" y="2858136"/>
            <a:ext cx="6267450" cy="933450"/>
          </a:xfrm>
          <a:prstGeom prst="roundRect">
            <a:avLst>
              <a:gd name="adj" fmla="val 7823"/>
            </a:avLst>
          </a:prstGeom>
          <a:solidFill>
            <a:srgbClr val="FDFCF9"/>
          </a:solidFill>
          <a:ln w="6350">
            <a:solidFill>
              <a:srgbClr val="E2DED4"/>
            </a:solidFill>
            <a:prstDash val="solid"/>
          </a:ln>
        </p:spPr>
      </p:sp>
      <p:sp>
        <p:nvSpPr>
          <p:cNvPr id="7" name="Text 5"/>
          <p:cNvSpPr/>
          <p:nvPr/>
        </p:nvSpPr>
        <p:spPr>
          <a:xfrm>
            <a:off x="1046480" y="3037839"/>
            <a:ext cx="598063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D2433"/>
                </a:solidFill>
                <a:latin typeface="Noto Sans" pitchFamily="34" charset="0"/>
                <a:ea typeface="Noto Sans" pitchFamily="34" charset="-122"/>
                <a:cs typeface="Noto Sans" pitchFamily="34" charset="-120"/>
              </a:rPr>
              <a:t>Eng katta:</a:t>
            </a:r>
            <a:r>
              <a:rPr lang="en-US" sz="1400" dirty="0">
                <a:solidFill>
                  <a:srgbClr val="1D2433"/>
                </a:solidFill>
                <a:latin typeface="Noto Sans" pitchFamily="34" charset="0"/>
                <a:ea typeface="Noto Sans" pitchFamily="34" charset="-122"/>
                <a:cs typeface="Noto Sans" pitchFamily="34" charset="-120"/>
              </a:rPr>
              <a:t> holatlar teng ehtimolli, Hₘₐₓ = log₂ N</a:t>
            </a:r>
            <a:endParaRPr lang="en-US" sz="1400" dirty="0"/>
          </a:p>
        </p:txBody>
      </p:sp>
      <p:sp>
        <p:nvSpPr>
          <p:cNvPr id="8" name="Text 6"/>
          <p:cNvSpPr/>
          <p:nvPr/>
        </p:nvSpPr>
        <p:spPr>
          <a:xfrm>
            <a:off x="1046480" y="3362961"/>
            <a:ext cx="598063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D2433"/>
                </a:solidFill>
                <a:latin typeface="Noto Sans" pitchFamily="34" charset="0"/>
                <a:ea typeface="Noto Sans" pitchFamily="34" charset="-122"/>
                <a:cs typeface="Noto Sans" pitchFamily="34" charset="-120"/>
              </a:rPr>
              <a:t>Nolga teng:</a:t>
            </a:r>
            <a:r>
              <a:rPr lang="en-US" sz="1400" dirty="0">
                <a:solidFill>
                  <a:srgbClr val="1D2433"/>
                </a:solidFill>
                <a:latin typeface="Noto Sans" pitchFamily="34" charset="0"/>
                <a:ea typeface="Noto Sans" pitchFamily="34" charset="-122"/>
                <a:cs typeface="Noto Sans" pitchFamily="34" charset="-120"/>
              </a:rPr>
              <a:t> holat oldindan aniq maʼlum, p = 1</a:t>
            </a:r>
            <a:endParaRPr lang="en-US" sz="1400" dirty="0"/>
          </a:p>
        </p:txBody>
      </p:sp>
      <p:sp>
        <p:nvSpPr>
          <p:cNvPr id="9" name="Shape 7"/>
          <p:cNvSpPr/>
          <p:nvPr/>
        </p:nvSpPr>
        <p:spPr>
          <a:xfrm>
            <a:off x="7442200" y="1854200"/>
            <a:ext cx="3937000" cy="2981960"/>
          </a:xfrm>
          <a:prstGeom prst="roundRect">
            <a:avLst>
              <a:gd name="adj" fmla="val 3407"/>
            </a:avLst>
          </a:prstGeom>
          <a:solidFill>
            <a:srgbClr val="16233B"/>
          </a:solidFill>
          <a:ln/>
        </p:spPr>
      </p:sp>
      <p:sp>
        <p:nvSpPr>
          <p:cNvPr id="10" name="Text 8"/>
          <p:cNvSpPr/>
          <p:nvPr/>
        </p:nvSpPr>
        <p:spPr>
          <a:xfrm>
            <a:off x="7696200" y="2108200"/>
            <a:ext cx="353187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0A46E"/>
                </a:solidFill>
                <a:latin typeface="Noto Sans" pitchFamily="34" charset="0"/>
                <a:ea typeface="Noto Sans" pitchFamily="34" charset="-122"/>
                <a:cs typeface="Noto Sans" pitchFamily="34" charset="-120"/>
              </a:rPr>
              <a:t>MISOL: DIAGNOSTIKA DATCHIGI</a:t>
            </a:r>
            <a:endParaRPr lang="en-US" sz="1200" dirty="0"/>
          </a:p>
        </p:txBody>
      </p:sp>
      <p:sp>
        <p:nvSpPr>
          <p:cNvPr id="11" name="Text 9"/>
          <p:cNvSpPr/>
          <p:nvPr/>
        </p:nvSpPr>
        <p:spPr>
          <a:xfrm>
            <a:off x="7696200" y="2448561"/>
            <a:ext cx="353187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5F3EE"/>
                </a:solidFill>
                <a:latin typeface="Noto Sans" pitchFamily="34" charset="0"/>
                <a:ea typeface="Noto Sans" pitchFamily="34" charset="-122"/>
                <a:cs typeface="Noto Sans" pitchFamily="34" charset="-120"/>
              </a:rPr>
              <a:t>«normal» p₁ = 0,9 · «nosozlik» p₂ = 0,1</a:t>
            </a:r>
            <a:endParaRPr lang="en-US" sz="1400" dirty="0"/>
          </a:p>
        </p:txBody>
      </p:sp>
      <p:sp>
        <p:nvSpPr>
          <p:cNvPr id="12" name="Text 10"/>
          <p:cNvSpPr/>
          <p:nvPr/>
        </p:nvSpPr>
        <p:spPr>
          <a:xfrm>
            <a:off x="7696200" y="2824479"/>
            <a:ext cx="3531870" cy="584200"/>
          </a:xfrm>
          <a:prstGeom prst="rect">
            <a:avLst/>
          </a:prstGeom>
          <a:noFill/>
          <a:ln/>
        </p:spPr>
        <p:txBody>
          <a:bodyPr wrap="square" lIns="0" tIns="0" rIns="0" bIns="0" rtlCol="0" anchor="t">
            <a:normAutofit/>
          </a:bodyPr>
          <a:lstStyle/>
          <a:p>
            <a:pPr algn="l" indent="0" marL="0">
              <a:lnSpc>
                <a:spcPts val="4400"/>
              </a:lnSpc>
              <a:buNone/>
            </a:pPr>
            <a:r>
              <a:rPr lang="en-US" sz="4000" b="1" dirty="0">
                <a:solidFill>
                  <a:srgbClr val="F0A46E"/>
                </a:solidFill>
                <a:latin typeface="Noto Sans" pitchFamily="34" charset="0"/>
                <a:ea typeface="Noto Sans" pitchFamily="34" charset="-122"/>
                <a:cs typeface="Noto Sans" pitchFamily="34" charset="-120"/>
              </a:rPr>
              <a:t>0,469 bit</a:t>
            </a:r>
            <a:endParaRPr lang="en-US" sz="4000" dirty="0"/>
          </a:p>
        </p:txBody>
      </p:sp>
      <p:sp>
        <p:nvSpPr>
          <p:cNvPr id="13" name="Text 11"/>
          <p:cNvSpPr/>
          <p:nvPr/>
        </p:nvSpPr>
        <p:spPr>
          <a:xfrm>
            <a:off x="7696200" y="3408679"/>
            <a:ext cx="353187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CFDB"/>
                </a:solidFill>
                <a:latin typeface="Noto Sans" pitchFamily="34" charset="0"/>
                <a:ea typeface="Noto Sans" pitchFamily="34" charset="-122"/>
                <a:cs typeface="Noto Sans" pitchFamily="34" charset="-120"/>
              </a:rPr>
              <a:t>oʻrtacha bir xabarda</a:t>
            </a:r>
            <a:endParaRPr lang="en-US" sz="1300" dirty="0"/>
          </a:p>
        </p:txBody>
      </p:sp>
      <p:sp>
        <p:nvSpPr>
          <p:cNvPr id="14" name="Text 12"/>
          <p:cNvSpPr/>
          <p:nvPr/>
        </p:nvSpPr>
        <p:spPr>
          <a:xfrm>
            <a:off x="7696200" y="3766821"/>
            <a:ext cx="3531870" cy="584200"/>
          </a:xfrm>
          <a:prstGeom prst="rect">
            <a:avLst/>
          </a:prstGeom>
          <a:noFill/>
          <a:ln/>
        </p:spPr>
        <p:txBody>
          <a:bodyPr wrap="square" lIns="0" tIns="0" rIns="0" bIns="0" rtlCol="0" anchor="t">
            <a:normAutofit/>
          </a:bodyPr>
          <a:lstStyle/>
          <a:p>
            <a:pPr algn="l" indent="0" marL="0">
              <a:lnSpc>
                <a:spcPts val="4400"/>
              </a:lnSpc>
              <a:buNone/>
            </a:pPr>
            <a:r>
              <a:rPr lang="en-US" sz="4000" b="1" dirty="0">
                <a:solidFill>
                  <a:srgbClr val="F5F3EE"/>
                </a:solidFill>
                <a:latin typeface="Noto Sans" pitchFamily="34" charset="0"/>
                <a:ea typeface="Noto Sans" pitchFamily="34" charset="-122"/>
                <a:cs typeface="Noto Sans" pitchFamily="34" charset="-120"/>
              </a:rPr>
              <a:t>3,32 bit</a:t>
            </a:r>
            <a:endParaRPr lang="en-US" sz="4000" dirty="0"/>
          </a:p>
        </p:txBody>
      </p:sp>
      <p:sp>
        <p:nvSpPr>
          <p:cNvPr id="15" name="Text 13"/>
          <p:cNvSpPr/>
          <p:nvPr/>
        </p:nvSpPr>
        <p:spPr>
          <a:xfrm>
            <a:off x="7696200" y="4351021"/>
            <a:ext cx="353187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CFDB"/>
                </a:solidFill>
                <a:latin typeface="Noto Sans" pitchFamily="34" charset="0"/>
                <a:ea typeface="Noto Sans" pitchFamily="34" charset="-122"/>
                <a:cs typeface="Noto Sans" pitchFamily="34" charset="-120"/>
              </a:rPr>
              <a:t>kamdan-kam «nosozlik» xabarida</a:t>
            </a:r>
            <a:endParaRPr lang="en-US" sz="1300" dirty="0"/>
          </a:p>
        </p:txBody>
      </p:sp>
      <p:sp>
        <p:nvSpPr>
          <p:cNvPr id="16" name="Text 14"/>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Maʼruza №2 · Informatsiya nazariyasi. Mexatron modullar va robotlar · 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A"/>
                </a:solidFill>
                <a:latin typeface="Noto Sans" pitchFamily="34" charset="0"/>
                <a:ea typeface="Noto Sans" pitchFamily="34" charset="-122"/>
                <a:cs typeface="Noto Sans" pitchFamily="34" charset="-120"/>
              </a:rPr>
              <a:t>AXBOROT MIQDORI</a:t>
            </a:r>
            <a:endParaRPr lang="en-US" sz="1200" dirty="0"/>
          </a:p>
        </p:txBody>
      </p:sp>
      <p:sp>
        <p:nvSpPr>
          <p:cNvPr id="3" name="Text 1"/>
          <p:cNvSpPr/>
          <p:nvPr>
            <p:ph type="title"/>
          </p:nvPr>
        </p:nvSpPr>
        <p:spPr>
          <a:xfrm>
            <a:off x="812800" y="1102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B"/>
                </a:solidFill>
                <a:latin typeface="Noto Sans" pitchFamily="34" charset="0"/>
                <a:ea typeface="Noto Sans" pitchFamily="34" charset="-122"/>
                <a:cs typeface="Noto Sans" pitchFamily="34" charset="-120"/>
              </a:rPr>
              <a:t>Oʻlchash natijasida olinadigan axborot</a:t>
            </a:r>
            <a:endParaRPr lang="en-US" sz="3200" dirty="0"/>
          </a:p>
        </p:txBody>
      </p:sp>
      <p:sp>
        <p:nvSpPr>
          <p:cNvPr id="4" name="Text 2"/>
          <p:cNvSpPr/>
          <p:nvPr/>
        </p:nvSpPr>
        <p:spPr>
          <a:xfrm>
            <a:off x="812800" y="1828800"/>
            <a:ext cx="593877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D6CB0"/>
                </a:solidFill>
                <a:latin typeface="Noto Sans" pitchFamily="34" charset="0"/>
                <a:ea typeface="Noto Sans" pitchFamily="34" charset="-122"/>
                <a:cs typeface="Noto Sans" pitchFamily="34" charset="-120"/>
              </a:rPr>
              <a:t>Noaniqlikning kamayishi</a:t>
            </a:r>
            <a:endParaRPr lang="en-US" sz="1200" dirty="0"/>
          </a:p>
        </p:txBody>
      </p:sp>
      <p:sp>
        <p:nvSpPr>
          <p:cNvPr id="5" name="Text 3"/>
          <p:cNvSpPr/>
          <p:nvPr/>
        </p:nvSpPr>
        <p:spPr>
          <a:xfrm>
            <a:off x="812800" y="2092961"/>
            <a:ext cx="5938774" cy="45212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1D2433"/>
                </a:solidFill>
                <a:latin typeface="Noto Sans" pitchFamily="34" charset="0"/>
                <a:ea typeface="Noto Sans" pitchFamily="34" charset="-122"/>
                <a:cs typeface="Noto Sans" pitchFamily="34" charset="-120"/>
              </a:rPr>
              <a:t>I = H₀ − H₁</a:t>
            </a:r>
            <a:endParaRPr lang="en-US" sz="2400" dirty="0"/>
          </a:p>
        </p:txBody>
      </p:sp>
      <p:sp>
        <p:nvSpPr>
          <p:cNvPr id="6" name="Text 4"/>
          <p:cNvSpPr/>
          <p:nvPr/>
        </p:nvSpPr>
        <p:spPr>
          <a:xfrm>
            <a:off x="812800" y="2672079"/>
            <a:ext cx="593877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D6CB0"/>
                </a:solidFill>
                <a:latin typeface="Noto Sans" pitchFamily="34" charset="0"/>
                <a:ea typeface="Noto Sans" pitchFamily="34" charset="-122"/>
                <a:cs typeface="Noto Sans" pitchFamily="34" charset="-120"/>
              </a:rPr>
              <a:t>Diapazon D, xatolik ± Δ</a:t>
            </a:r>
            <a:endParaRPr lang="en-US" sz="1200" dirty="0"/>
          </a:p>
        </p:txBody>
      </p:sp>
      <p:sp>
        <p:nvSpPr>
          <p:cNvPr id="7" name="Text 5"/>
          <p:cNvSpPr/>
          <p:nvPr/>
        </p:nvSpPr>
        <p:spPr>
          <a:xfrm>
            <a:off x="812800" y="2936239"/>
            <a:ext cx="5938774" cy="45212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1D2433"/>
                </a:solidFill>
                <a:latin typeface="Noto Sans" pitchFamily="34" charset="0"/>
                <a:ea typeface="Noto Sans" pitchFamily="34" charset="-122"/>
                <a:cs typeface="Noto Sans" pitchFamily="34" charset="-120"/>
              </a:rPr>
              <a:t>I = log₂ (D / 2Δ)</a:t>
            </a:r>
            <a:endParaRPr lang="en-US" sz="2400" dirty="0"/>
          </a:p>
        </p:txBody>
      </p:sp>
      <p:sp>
        <p:nvSpPr>
          <p:cNvPr id="8" name="Text 6"/>
          <p:cNvSpPr/>
          <p:nvPr/>
        </p:nvSpPr>
        <p:spPr>
          <a:xfrm>
            <a:off x="812800" y="3515361"/>
            <a:ext cx="593877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D2433"/>
                </a:solidFill>
                <a:latin typeface="Noto Sans" pitchFamily="34" charset="0"/>
                <a:ea typeface="Noto Sans" pitchFamily="34" charset="-122"/>
                <a:cs typeface="Noto Sans" pitchFamily="34" charset="-120"/>
              </a:rPr>
              <a:t>Oʻlchash diapazonni 2Δ kenglikdagi farqlanadigan oraliqlarga ajratadi.</a:t>
            </a:r>
            <a:endParaRPr lang="en-US" sz="1400" dirty="0"/>
          </a:p>
        </p:txBody>
      </p:sp>
      <p:sp>
        <p:nvSpPr>
          <p:cNvPr id="9" name="Shape 7"/>
          <p:cNvSpPr/>
          <p:nvPr/>
        </p:nvSpPr>
        <p:spPr>
          <a:xfrm>
            <a:off x="6937375" y="1831975"/>
            <a:ext cx="4438650" cy="2782570"/>
          </a:xfrm>
          <a:prstGeom prst="roundRect">
            <a:avLst>
              <a:gd name="adj" fmla="val 3537"/>
            </a:avLst>
          </a:prstGeom>
          <a:solidFill>
            <a:srgbClr val="FDFCF9"/>
          </a:solidFill>
          <a:ln w="6350">
            <a:solidFill>
              <a:srgbClr val="E2DED4"/>
            </a:solidFill>
            <a:prstDash val="solid"/>
          </a:ln>
        </p:spPr>
      </p:sp>
      <p:sp>
        <p:nvSpPr>
          <p:cNvPr id="10" name="Text 8"/>
          <p:cNvSpPr/>
          <p:nvPr/>
        </p:nvSpPr>
        <p:spPr>
          <a:xfrm>
            <a:off x="7193280" y="2062479"/>
            <a:ext cx="404464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5521A"/>
                </a:solidFill>
                <a:latin typeface="Noto Sans" pitchFamily="34" charset="0"/>
                <a:ea typeface="Noto Sans" pitchFamily="34" charset="-122"/>
                <a:cs typeface="Noto Sans" pitchFamily="34" charset="-120"/>
              </a:rPr>
              <a:t>MISOL: SILJISH DATCHIGI</a:t>
            </a:r>
            <a:endParaRPr lang="en-US" sz="1200" dirty="0"/>
          </a:p>
        </p:txBody>
      </p:sp>
      <p:sp>
        <p:nvSpPr>
          <p:cNvPr id="11" name="Text 9"/>
          <p:cNvSpPr/>
          <p:nvPr/>
        </p:nvSpPr>
        <p:spPr>
          <a:xfrm>
            <a:off x="7193280" y="2377439"/>
            <a:ext cx="4044645"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D2433"/>
                </a:solidFill>
                <a:latin typeface="Noto Sans" pitchFamily="34" charset="0"/>
                <a:ea typeface="Noto Sans" pitchFamily="34" charset="-122"/>
                <a:cs typeface="Noto Sans" pitchFamily="34" charset="-120"/>
              </a:rPr>
              <a:t>D = 100 mm, Δ = ± 0,05 mm → 100 / 0,1 = 1000 holat</a:t>
            </a:r>
            <a:endParaRPr lang="en-US" sz="1400" dirty="0"/>
          </a:p>
        </p:txBody>
      </p:sp>
      <p:sp>
        <p:nvSpPr>
          <p:cNvPr id="12" name="Text 10"/>
          <p:cNvSpPr/>
          <p:nvPr/>
        </p:nvSpPr>
        <p:spPr>
          <a:xfrm>
            <a:off x="7193280" y="2976879"/>
            <a:ext cx="4044645" cy="584200"/>
          </a:xfrm>
          <a:prstGeom prst="rect">
            <a:avLst/>
          </a:prstGeom>
          <a:noFill/>
          <a:ln/>
        </p:spPr>
        <p:txBody>
          <a:bodyPr wrap="square" lIns="0" tIns="0" rIns="0" bIns="0" rtlCol="0" anchor="t">
            <a:normAutofit/>
          </a:bodyPr>
          <a:lstStyle/>
          <a:p>
            <a:pPr algn="l" indent="0" marL="0">
              <a:lnSpc>
                <a:spcPts val="4400"/>
              </a:lnSpc>
              <a:buNone/>
            </a:pPr>
            <a:r>
              <a:rPr lang="en-US" sz="4000" b="1" dirty="0">
                <a:solidFill>
                  <a:srgbClr val="2D6CB0"/>
                </a:solidFill>
                <a:latin typeface="Noto Sans" pitchFamily="34" charset="0"/>
                <a:ea typeface="Noto Sans" pitchFamily="34" charset="-122"/>
                <a:cs typeface="Noto Sans" pitchFamily="34" charset="-120"/>
              </a:rPr>
              <a:t>9,97 bit</a:t>
            </a:r>
            <a:endParaRPr lang="en-US" sz="4000" dirty="0"/>
          </a:p>
        </p:txBody>
      </p:sp>
      <p:sp>
        <p:nvSpPr>
          <p:cNvPr id="13" name="Text 11"/>
          <p:cNvSpPr/>
          <p:nvPr/>
        </p:nvSpPr>
        <p:spPr>
          <a:xfrm>
            <a:off x="7193280" y="3637279"/>
            <a:ext cx="4044645"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D2433"/>
                </a:solidFill>
                <a:latin typeface="Noto Sans" pitchFamily="34" charset="0"/>
                <a:ea typeface="Noto Sans" pitchFamily="34" charset="-122"/>
                <a:cs typeface="Noto Sans" pitchFamily="34" charset="-120"/>
              </a:rPr>
              <a:t>Kamida </a:t>
            </a:r>
            <a:r>
              <a:rPr lang="en-US" sz="1400" b="1" dirty="0">
                <a:solidFill>
                  <a:srgbClr val="1D2433"/>
                </a:solidFill>
                <a:latin typeface="Noto Sans" pitchFamily="34" charset="0"/>
                <a:ea typeface="Noto Sans" pitchFamily="34" charset="-122"/>
                <a:cs typeface="Noto Sans" pitchFamily="34" charset="-120"/>
              </a:rPr>
              <a:t>10 razryadli ARO</a:t>
            </a:r>
            <a:r>
              <a:rPr lang="en-US" sz="1400" dirty="0">
                <a:solidFill>
                  <a:srgbClr val="1D2433"/>
                </a:solidFill>
                <a:latin typeface="Noto Sans" pitchFamily="34" charset="0"/>
                <a:ea typeface="Noto Sans" pitchFamily="34" charset="-122"/>
                <a:cs typeface="Noto Sans" pitchFamily="34" charset="-120"/>
              </a:rPr>
              <a:t> kerak. Kam razryad axborotni yoʻqotadi, ortiqchasi yangi axborot bermaydi.</a:t>
            </a:r>
            <a:endParaRPr lang="en-US" sz="1400" dirty="0"/>
          </a:p>
        </p:txBody>
      </p:sp>
      <p:sp>
        <p:nvSpPr>
          <p:cNvPr id="14" name="Text 12"/>
          <p:cNvSpPr/>
          <p:nvPr/>
        </p:nvSpPr>
        <p:spPr>
          <a:xfrm>
            <a:off x="812800" y="4897121"/>
            <a:ext cx="10566400" cy="589280"/>
          </a:xfrm>
          <a:prstGeom prst="roundRect">
            <a:avLst>
              <a:gd name="adj" fmla="val 12931"/>
            </a:avLst>
          </a:prstGeom>
          <a:solidFill>
            <a:srgbClr val="FBE9DC"/>
          </a:solidFill>
          <a:ln/>
        </p:spPr>
        <p:txBody>
          <a:bodyPr wrap="square" lIns="231682" tIns="130082" rIns="0" bIns="104682" rtlCol="0" anchor="t">
            <a:normAutofit/>
          </a:bodyPr>
          <a:lstStyle/>
          <a:p>
            <a:pPr algn="l" indent="0" marL="0">
              <a:lnSpc>
                <a:spcPts val="2240"/>
              </a:lnSpc>
              <a:buNone/>
            </a:pPr>
            <a:r>
              <a:rPr lang="en-US" sz="1600" b="1" dirty="0">
                <a:solidFill>
                  <a:srgbClr val="16233B"/>
                </a:solidFill>
                <a:latin typeface="Noto Sans" pitchFamily="34" charset="0"/>
                <a:ea typeface="Noto Sans" pitchFamily="34" charset="-122"/>
                <a:cs typeface="Noto Sans" pitchFamily="34" charset="-120"/>
              </a:rPr>
              <a:t>Xatolikni ikki marta kamaytirish axborotni atigi 1 bitga oshiradi.</a:t>
            </a:r>
            <a:endParaRPr lang="en-US" sz="1600" dirty="0"/>
          </a:p>
        </p:txBody>
      </p:sp>
      <p:sp>
        <p:nvSpPr>
          <p:cNvPr id="15" name="Text 13"/>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Maʼruza №2 · Informatsiya nazariyasi. Mexatron modullar va robotlar · 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A"/>
                </a:solidFill>
                <a:latin typeface="Noto Sans" pitchFamily="34" charset="0"/>
                <a:ea typeface="Noto Sans" pitchFamily="34" charset="-122"/>
                <a:cs typeface="Noto Sans" pitchFamily="34" charset="-120"/>
              </a:rPr>
              <a:t>SIGNAL VA SHOVQIN</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B"/>
                </a:solidFill>
                <a:latin typeface="Noto Sans" pitchFamily="34" charset="0"/>
                <a:ea typeface="Noto Sans" pitchFamily="34" charset="-122"/>
                <a:cs typeface="Noto Sans" pitchFamily="34" charset="-120"/>
              </a:rPr>
              <a:t>Signal/shovqin nisbati va kanal oʻtkazish qobiliyati</a:t>
            </a:r>
            <a:endParaRPr lang="en-US" sz="3200" dirty="0"/>
          </a:p>
        </p:txBody>
      </p:sp>
      <p:sp>
        <p:nvSpPr>
          <p:cNvPr id="4" name="Text 2"/>
          <p:cNvSpPr/>
          <p:nvPr/>
        </p:nvSpPr>
        <p:spPr>
          <a:xfrm>
            <a:off x="812800" y="1828800"/>
            <a:ext cx="698525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D6CB0"/>
                </a:solidFill>
                <a:latin typeface="Noto Sans" pitchFamily="34" charset="0"/>
                <a:ea typeface="Noto Sans" pitchFamily="34" charset="-122"/>
                <a:cs typeface="Noto Sans" pitchFamily="34" charset="-120"/>
              </a:rPr>
              <a:t>Signal/shovqin nisbati, dB</a:t>
            </a:r>
            <a:endParaRPr lang="en-US" sz="1200" dirty="0"/>
          </a:p>
        </p:txBody>
      </p:sp>
      <p:sp>
        <p:nvSpPr>
          <p:cNvPr id="5" name="Text 3"/>
          <p:cNvSpPr/>
          <p:nvPr/>
        </p:nvSpPr>
        <p:spPr>
          <a:xfrm>
            <a:off x="812800" y="2092958"/>
            <a:ext cx="6985254"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D2433"/>
                </a:solidFill>
                <a:latin typeface="Noto Sans" pitchFamily="34" charset="0"/>
                <a:ea typeface="Noto Sans" pitchFamily="34" charset="-122"/>
                <a:cs typeface="Noto Sans" pitchFamily="34" charset="-120"/>
              </a:rPr>
              <a:t>SNR = 10 · lg (Pₛ / Pₙ) = 20 · lg (Uₛ / Uₙ)</a:t>
            </a:r>
            <a:endParaRPr lang="en-US" sz="2000" dirty="0"/>
          </a:p>
        </p:txBody>
      </p:sp>
      <p:sp>
        <p:nvSpPr>
          <p:cNvPr id="6" name="Text 4"/>
          <p:cNvSpPr/>
          <p:nvPr/>
        </p:nvSpPr>
        <p:spPr>
          <a:xfrm>
            <a:off x="812800" y="2626358"/>
            <a:ext cx="698525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D6CB0"/>
                </a:solidFill>
                <a:latin typeface="Noto Sans" pitchFamily="34" charset="0"/>
                <a:ea typeface="Noto Sans" pitchFamily="34" charset="-122"/>
                <a:cs typeface="Noto Sans" pitchFamily="34" charset="-120"/>
              </a:rPr>
              <a:t>Shennon — Xartli teoremasi, bit/s</a:t>
            </a:r>
            <a:endParaRPr lang="en-US" sz="1200" dirty="0"/>
          </a:p>
        </p:txBody>
      </p:sp>
      <p:sp>
        <p:nvSpPr>
          <p:cNvPr id="7" name="Text 5"/>
          <p:cNvSpPr/>
          <p:nvPr/>
        </p:nvSpPr>
        <p:spPr>
          <a:xfrm>
            <a:off x="812800" y="2890521"/>
            <a:ext cx="6985254"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D2433"/>
                </a:solidFill>
                <a:latin typeface="Noto Sans" pitchFamily="34" charset="0"/>
                <a:ea typeface="Noto Sans" pitchFamily="34" charset="-122"/>
                <a:cs typeface="Noto Sans" pitchFamily="34" charset="-120"/>
              </a:rPr>
              <a:t>C = B · log₂ (1 + Pₛ / Pₙ)</a:t>
            </a:r>
            <a:endParaRPr lang="en-US" sz="2000" dirty="0"/>
          </a:p>
        </p:txBody>
      </p:sp>
      <p:sp>
        <p:nvSpPr>
          <p:cNvPr id="8" name="Text 6"/>
          <p:cNvSpPr/>
          <p:nvPr/>
        </p:nvSpPr>
        <p:spPr>
          <a:xfrm>
            <a:off x="812800" y="3423921"/>
            <a:ext cx="698525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D2433"/>
                </a:solidFill>
                <a:latin typeface="Noto Sans" pitchFamily="34" charset="0"/>
                <a:ea typeface="Noto Sans" pitchFamily="34" charset="-122"/>
                <a:cs typeface="Noto Sans" pitchFamily="34" charset="-120"/>
              </a:rPr>
              <a:t>60 dB — signal kuchlanishi shovqinnikidan 1000 marta katta.</a:t>
            </a:r>
            <a:endParaRPr lang="en-US" sz="1400" dirty="0"/>
          </a:p>
        </p:txBody>
      </p:sp>
      <p:sp>
        <p:nvSpPr>
          <p:cNvPr id="9" name="Shape 7"/>
          <p:cNvSpPr/>
          <p:nvPr/>
        </p:nvSpPr>
        <p:spPr>
          <a:xfrm>
            <a:off x="7950200" y="1828800"/>
            <a:ext cx="3429000" cy="2433320"/>
          </a:xfrm>
          <a:prstGeom prst="roundRect">
            <a:avLst>
              <a:gd name="adj" fmla="val 4175"/>
            </a:avLst>
          </a:prstGeom>
          <a:solidFill>
            <a:srgbClr val="16233B"/>
          </a:solidFill>
          <a:ln/>
        </p:spPr>
      </p:sp>
      <p:sp>
        <p:nvSpPr>
          <p:cNvPr id="10" name="Text 8"/>
          <p:cNvSpPr/>
          <p:nvPr/>
        </p:nvSpPr>
        <p:spPr>
          <a:xfrm>
            <a:off x="8204200" y="2082800"/>
            <a:ext cx="300863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0A46E"/>
                </a:solidFill>
                <a:latin typeface="Noto Sans" pitchFamily="34" charset="0"/>
                <a:ea typeface="Noto Sans" pitchFamily="34" charset="-122"/>
                <a:cs typeface="Noto Sans" pitchFamily="34" charset="-120"/>
              </a:rPr>
              <a:t>MISOL</a:t>
            </a:r>
            <a:endParaRPr lang="en-US" sz="1200" dirty="0"/>
          </a:p>
        </p:txBody>
      </p:sp>
      <p:sp>
        <p:nvSpPr>
          <p:cNvPr id="11" name="Text 9"/>
          <p:cNvSpPr/>
          <p:nvPr/>
        </p:nvSpPr>
        <p:spPr>
          <a:xfrm>
            <a:off x="8204200" y="2397758"/>
            <a:ext cx="300863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5F3EE"/>
                </a:solidFill>
                <a:latin typeface="Noto Sans" pitchFamily="34" charset="0"/>
                <a:ea typeface="Noto Sans" pitchFamily="34" charset="-122"/>
                <a:cs typeface="Noto Sans" pitchFamily="34" charset="-120"/>
              </a:rPr>
              <a:t>B = 1 kHz, SNR = 60 dB (Pₛ / Pₙ = 10⁶)</a:t>
            </a:r>
            <a:endParaRPr lang="en-US" sz="1400" dirty="0"/>
          </a:p>
        </p:txBody>
      </p:sp>
      <p:sp>
        <p:nvSpPr>
          <p:cNvPr id="12" name="Text 10"/>
          <p:cNvSpPr/>
          <p:nvPr/>
        </p:nvSpPr>
        <p:spPr>
          <a:xfrm>
            <a:off x="8204200" y="2997200"/>
            <a:ext cx="3008630"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F0A46E"/>
                </a:solidFill>
                <a:latin typeface="Noto Sans" pitchFamily="34" charset="0"/>
                <a:ea typeface="Noto Sans" pitchFamily="34" charset="-122"/>
                <a:cs typeface="Noto Sans" pitchFamily="34" charset="-120"/>
              </a:rPr>
              <a:t>19,9 kbit/s</a:t>
            </a:r>
            <a:endParaRPr lang="en-US" sz="3200" dirty="0"/>
          </a:p>
        </p:txBody>
      </p:sp>
      <p:sp>
        <p:nvSpPr>
          <p:cNvPr id="13" name="Text 11"/>
          <p:cNvSpPr/>
          <p:nvPr/>
        </p:nvSpPr>
        <p:spPr>
          <a:xfrm>
            <a:off x="8204200" y="3545842"/>
            <a:ext cx="300863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CFDB"/>
                </a:solidFill>
                <a:latin typeface="Noto Sans" pitchFamily="34" charset="0"/>
                <a:ea typeface="Noto Sans" pitchFamily="34" charset="-122"/>
                <a:cs typeface="Noto Sans" pitchFamily="34" charset="-120"/>
              </a:rPr>
              <a:t>kanal orqali xatosiz uzatish mumkin boʻlgan eng katta tezlik</a:t>
            </a:r>
            <a:endParaRPr lang="en-US" sz="1300" dirty="0"/>
          </a:p>
        </p:txBody>
      </p:sp>
      <p:sp>
        <p:nvSpPr>
          <p:cNvPr id="14" name="Text 12"/>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Maʼruza №2 · Informatsiya nazariyasi. Mexatron modullar va robotlar · 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A"/>
                </a:solidFill>
                <a:latin typeface="Noto Sans" pitchFamily="34" charset="0"/>
                <a:ea typeface="Noto Sans" pitchFamily="34" charset="-122"/>
                <a:cs typeface="Noto Sans" pitchFamily="34" charset="-120"/>
              </a:rPr>
              <a:t>DISKRETLASH VA KVANTLASH</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B"/>
                </a:solidFill>
                <a:latin typeface="Noto Sans" pitchFamily="34" charset="0"/>
                <a:ea typeface="Noto Sans" pitchFamily="34" charset="-122"/>
                <a:cs typeface="Noto Sans" pitchFamily="34" charset="-120"/>
              </a:rPr>
              <a:t>Kotelnikov teoremasi va chastota almashinuvi</a:t>
            </a:r>
            <a:endParaRPr lang="en-US" sz="3200" dirty="0"/>
          </a:p>
        </p:txBody>
      </p:sp>
      <p:sp>
        <p:nvSpPr>
          <p:cNvPr id="4" name="Text 2"/>
          <p:cNvSpPr/>
          <p:nvPr/>
        </p:nvSpPr>
        <p:spPr>
          <a:xfrm>
            <a:off x="812800" y="1778000"/>
            <a:ext cx="3662680" cy="723900"/>
          </a:xfrm>
          <a:prstGeom prst="rect">
            <a:avLst/>
          </a:prstGeom>
          <a:noFill/>
          <a:ln/>
        </p:spPr>
        <p:txBody>
          <a:bodyPr wrap="square" lIns="0" tIns="0" rIns="0" bIns="0" rtlCol="0" anchor="t">
            <a:normAutofit/>
          </a:bodyPr>
          <a:lstStyle/>
          <a:p>
            <a:pPr algn="l" indent="0" marL="0">
              <a:lnSpc>
                <a:spcPts val="2750"/>
              </a:lnSpc>
              <a:buNone/>
            </a:pPr>
            <a:r>
              <a:rPr lang="en-US" sz="2200" b="1" dirty="0">
                <a:solidFill>
                  <a:srgbClr val="16233B"/>
                </a:solidFill>
                <a:latin typeface="Noto Sans" pitchFamily="34" charset="0"/>
                <a:ea typeface="Noto Sans" pitchFamily="34" charset="-122"/>
                <a:cs typeface="Noto Sans" pitchFamily="34" charset="-120"/>
              </a:rPr>
              <a:t>Diskretlash chastotasi ≥ 2 · fₘₐₓ</a:t>
            </a:r>
            <a:endParaRPr lang="en-US" sz="2200" dirty="0"/>
          </a:p>
        </p:txBody>
      </p:sp>
      <p:sp>
        <p:nvSpPr>
          <p:cNvPr id="5" name="Text 3"/>
          <p:cNvSpPr/>
          <p:nvPr/>
        </p:nvSpPr>
        <p:spPr>
          <a:xfrm>
            <a:off x="4673600" y="1878329"/>
            <a:ext cx="690676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D2433"/>
                </a:solidFill>
                <a:latin typeface="Noto Sans" pitchFamily="34" charset="0"/>
                <a:ea typeface="Noto Sans" pitchFamily="34" charset="-122"/>
                <a:cs typeface="Noto Sans" pitchFamily="34" charset="-120"/>
              </a:rPr>
              <a:t>Spektri fₘₐₓ dan yuqori boʻlmagan signal diskret qiymatlari orqali toʻliq tiklanadi. Amaliyotda diskretlash chastotasi fₘₐₓ dan 5–10 marta katta olinadi.</a:t>
            </a:r>
            <a:endParaRPr lang="en-US" sz="1400" dirty="0"/>
          </a:p>
        </p:txBody>
      </p:sp>
      <p:pic>
        <p:nvPicPr>
          <p:cNvPr id="6" name="Image 0" descr="900 Hz chastotali sinusoida 1000 Hz chastotada diskretlanganda olingan nuqtalar 100 Hz chastotali soxta sinusoidada yotadi">    </p:cNvPr>
          <p:cNvPicPr>
            <a:picLocks noChangeAspect="1"/>
          </p:cNvPicPr>
          <p:nvPr/>
        </p:nvPicPr>
        <p:blipFill>
          <a:blip r:embed="rId1"/>
          <a:srcRect l="0" r="0" t="-33" b="-33"/>
          <a:stretch/>
        </p:blipFill>
        <p:spPr>
          <a:xfrm>
            <a:off x="812800" y="2705100"/>
            <a:ext cx="10566400" cy="2374900"/>
          </a:xfrm>
          <a:prstGeom prst="rect">
            <a:avLst/>
          </a:prstGeom>
        </p:spPr>
      </p:pic>
      <p:sp>
        <p:nvSpPr>
          <p:cNvPr id="7" name="Text 4"/>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Maʼruza №2 · Informatsiya nazariyasi. Mexatron modullar va robotlar · 10 · Manba: Bolton. Mechatronics, 4.2.1-boʻlim</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A"/>
                </a:solidFill>
                <a:latin typeface="Noto Sans" pitchFamily="34" charset="0"/>
                <a:ea typeface="Noto Sans" pitchFamily="34" charset="-122"/>
                <a:cs typeface="Noto Sans" pitchFamily="34" charset="-120"/>
              </a:rPr>
              <a:t>DISKRETLASH VA KVANTLASH</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B"/>
                </a:solidFill>
                <a:latin typeface="Noto Sans" pitchFamily="34" charset="0"/>
                <a:ea typeface="Noto Sans" pitchFamily="34" charset="-122"/>
                <a:cs typeface="Noto Sans" pitchFamily="34" charset="-120"/>
              </a:rPr>
              <a:t>Kvantlash: qadam, shovqin va razryadlar</a:t>
            </a:r>
            <a:endParaRPr lang="en-US" sz="3200" dirty="0"/>
          </a:p>
        </p:txBody>
      </p:sp>
      <p:sp>
        <p:nvSpPr>
          <p:cNvPr id="4" name="Text 2"/>
          <p:cNvSpPr/>
          <p:nvPr/>
        </p:nvSpPr>
        <p:spPr>
          <a:xfrm>
            <a:off x="812800" y="1828800"/>
            <a:ext cx="554634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D6CB0"/>
                </a:solidFill>
                <a:latin typeface="Noto Sans" pitchFamily="34" charset="0"/>
                <a:ea typeface="Noto Sans" pitchFamily="34" charset="-122"/>
                <a:cs typeface="Noto Sans" pitchFamily="34" charset="-120"/>
              </a:rPr>
              <a:t>Kvantlash qadami (N razryadli ARO)</a:t>
            </a:r>
            <a:endParaRPr lang="en-US" sz="1200" dirty="0"/>
          </a:p>
        </p:txBody>
      </p:sp>
      <p:sp>
        <p:nvSpPr>
          <p:cNvPr id="5" name="Text 3"/>
          <p:cNvSpPr/>
          <p:nvPr/>
        </p:nvSpPr>
        <p:spPr>
          <a:xfrm>
            <a:off x="812800" y="2092958"/>
            <a:ext cx="5546344"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D2433"/>
                </a:solidFill>
                <a:latin typeface="Noto Sans" pitchFamily="34" charset="0"/>
                <a:ea typeface="Noto Sans" pitchFamily="34" charset="-122"/>
                <a:cs typeface="Noto Sans" pitchFamily="34" charset="-120"/>
              </a:rPr>
              <a:t>q = Uₘₐₓ / 2ᴺ</a:t>
            </a:r>
            <a:endParaRPr lang="en-US" sz="2200" dirty="0"/>
          </a:p>
        </p:txBody>
      </p:sp>
      <p:sp>
        <p:nvSpPr>
          <p:cNvPr id="6" name="Text 4"/>
          <p:cNvSpPr/>
          <p:nvPr/>
        </p:nvSpPr>
        <p:spPr>
          <a:xfrm>
            <a:off x="812800" y="2636521"/>
            <a:ext cx="554634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D6CB0"/>
                </a:solidFill>
                <a:latin typeface="Noto Sans" pitchFamily="34" charset="0"/>
                <a:ea typeface="Noto Sans" pitchFamily="34" charset="-122"/>
                <a:cs typeface="Noto Sans" pitchFamily="34" charset="-120"/>
              </a:rPr>
              <a:t>Kvantlash shovqini</a:t>
            </a:r>
            <a:endParaRPr lang="en-US" sz="1200" dirty="0"/>
          </a:p>
        </p:txBody>
      </p:sp>
      <p:sp>
        <p:nvSpPr>
          <p:cNvPr id="7" name="Text 5"/>
          <p:cNvSpPr/>
          <p:nvPr/>
        </p:nvSpPr>
        <p:spPr>
          <a:xfrm>
            <a:off x="812800" y="2900679"/>
            <a:ext cx="5546344"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D2433"/>
                </a:solidFill>
                <a:latin typeface="Noto Sans" pitchFamily="34" charset="0"/>
                <a:ea typeface="Noto Sans" pitchFamily="34" charset="-122"/>
                <a:cs typeface="Noto Sans" pitchFamily="34" charset="-120"/>
              </a:rPr>
              <a:t>σ = q / √12</a:t>
            </a:r>
            <a:endParaRPr lang="en-US" sz="2200" dirty="0"/>
          </a:p>
        </p:txBody>
      </p:sp>
      <p:sp>
        <p:nvSpPr>
          <p:cNvPr id="8" name="Text 6"/>
          <p:cNvSpPr/>
          <p:nvPr/>
        </p:nvSpPr>
        <p:spPr>
          <a:xfrm>
            <a:off x="812800" y="3444242"/>
            <a:ext cx="554634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D6CB0"/>
                </a:solidFill>
                <a:latin typeface="Noto Sans" pitchFamily="34" charset="0"/>
                <a:ea typeface="Noto Sans" pitchFamily="34" charset="-122"/>
                <a:cs typeface="Noto Sans" pitchFamily="34" charset="-120"/>
              </a:rPr>
              <a:t>Ideal ARO uchun signal/shovqin</a:t>
            </a:r>
            <a:endParaRPr lang="en-US" sz="1200" dirty="0"/>
          </a:p>
        </p:txBody>
      </p:sp>
      <p:sp>
        <p:nvSpPr>
          <p:cNvPr id="9" name="Text 7"/>
          <p:cNvSpPr/>
          <p:nvPr/>
        </p:nvSpPr>
        <p:spPr>
          <a:xfrm>
            <a:off x="812800" y="3708400"/>
            <a:ext cx="5546344"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D2433"/>
                </a:solidFill>
                <a:latin typeface="Noto Sans" pitchFamily="34" charset="0"/>
                <a:ea typeface="Noto Sans" pitchFamily="34" charset="-122"/>
                <a:cs typeface="Noto Sans" pitchFamily="34" charset="-120"/>
              </a:rPr>
              <a:t>SNR ≈ 6,02 · N + 1,76 dB</a:t>
            </a:r>
            <a:endParaRPr lang="en-US" sz="2200" dirty="0"/>
          </a:p>
        </p:txBody>
      </p:sp>
      <p:sp>
        <p:nvSpPr>
          <p:cNvPr id="10" name="Text 8"/>
          <p:cNvSpPr/>
          <p:nvPr/>
        </p:nvSpPr>
        <p:spPr>
          <a:xfrm>
            <a:off x="6553200" y="1828800"/>
            <a:ext cx="49707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5521A"/>
                </a:solidFill>
                <a:latin typeface="Noto Sans" pitchFamily="34" charset="0"/>
                <a:ea typeface="Noto Sans" pitchFamily="34" charset="-122"/>
                <a:cs typeface="Noto Sans" pitchFamily="34" charset="-120"/>
              </a:rPr>
              <a:t>MISOL: 12 RAZRYAD, 10 V</a:t>
            </a:r>
            <a:endParaRPr lang="en-US" sz="1200" dirty="0"/>
          </a:p>
        </p:txBody>
      </p:sp>
      <p:sp>
        <p:nvSpPr>
          <p:cNvPr id="11" name="Shape 9"/>
          <p:cNvSpPr/>
          <p:nvPr/>
        </p:nvSpPr>
        <p:spPr>
          <a:xfrm>
            <a:off x="6556375" y="2146933"/>
            <a:ext cx="4819650" cy="755650"/>
          </a:xfrm>
          <a:prstGeom prst="roundRect">
            <a:avLst>
              <a:gd name="adj" fmla="val 9664"/>
            </a:avLst>
          </a:prstGeom>
          <a:solidFill>
            <a:srgbClr val="FDFCF9"/>
          </a:solidFill>
          <a:ln w="6350">
            <a:solidFill>
              <a:srgbClr val="E2DED4"/>
            </a:solidFill>
            <a:prstDash val="solid"/>
          </a:ln>
        </p:spPr>
      </p:sp>
      <p:sp>
        <p:nvSpPr>
          <p:cNvPr id="12" name="Text 10"/>
          <p:cNvSpPr/>
          <p:nvPr/>
        </p:nvSpPr>
        <p:spPr>
          <a:xfrm>
            <a:off x="6761480" y="2275842"/>
            <a:ext cx="2092960"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2D6CB0"/>
                </a:solidFill>
                <a:latin typeface="Noto Sans" pitchFamily="34" charset="0"/>
                <a:ea typeface="Noto Sans" pitchFamily="34" charset="-122"/>
                <a:cs typeface="Noto Sans" pitchFamily="34" charset="-120"/>
              </a:rPr>
              <a:t>2,44 mV</a:t>
            </a:r>
            <a:endParaRPr lang="en-US" sz="2800" dirty="0"/>
          </a:p>
        </p:txBody>
      </p:sp>
      <p:sp>
        <p:nvSpPr>
          <p:cNvPr id="13" name="Text 11"/>
          <p:cNvSpPr/>
          <p:nvPr/>
        </p:nvSpPr>
        <p:spPr>
          <a:xfrm>
            <a:off x="8971280" y="2409192"/>
            <a:ext cx="2265629"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433"/>
                </a:solidFill>
                <a:latin typeface="Noto Sans" pitchFamily="34" charset="0"/>
                <a:ea typeface="Noto Sans" pitchFamily="34" charset="-122"/>
                <a:cs typeface="Noto Sans" pitchFamily="34" charset="-120"/>
              </a:rPr>
              <a:t>kvantlash qadami</a:t>
            </a:r>
            <a:endParaRPr lang="en-US" sz="1300" dirty="0"/>
          </a:p>
        </p:txBody>
      </p:sp>
      <p:sp>
        <p:nvSpPr>
          <p:cNvPr id="14" name="Shape 12"/>
          <p:cNvSpPr/>
          <p:nvPr/>
        </p:nvSpPr>
        <p:spPr>
          <a:xfrm>
            <a:off x="6556375" y="3010533"/>
            <a:ext cx="4819650" cy="755650"/>
          </a:xfrm>
          <a:prstGeom prst="roundRect">
            <a:avLst>
              <a:gd name="adj" fmla="val 9664"/>
            </a:avLst>
          </a:prstGeom>
          <a:solidFill>
            <a:srgbClr val="FDFCF9"/>
          </a:solidFill>
          <a:ln w="6350">
            <a:solidFill>
              <a:srgbClr val="E2DED4"/>
            </a:solidFill>
            <a:prstDash val="solid"/>
          </a:ln>
        </p:spPr>
      </p:sp>
      <p:sp>
        <p:nvSpPr>
          <p:cNvPr id="15" name="Text 13"/>
          <p:cNvSpPr/>
          <p:nvPr/>
        </p:nvSpPr>
        <p:spPr>
          <a:xfrm>
            <a:off x="6761480" y="3139442"/>
            <a:ext cx="2092960"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2D6CB0"/>
                </a:solidFill>
                <a:latin typeface="Noto Sans" pitchFamily="34" charset="0"/>
                <a:ea typeface="Noto Sans" pitchFamily="34" charset="-122"/>
                <a:cs typeface="Noto Sans" pitchFamily="34" charset="-120"/>
              </a:rPr>
              <a:t>0,70 mV</a:t>
            </a:r>
            <a:endParaRPr lang="en-US" sz="2800" dirty="0"/>
          </a:p>
        </p:txBody>
      </p:sp>
      <p:sp>
        <p:nvSpPr>
          <p:cNvPr id="16" name="Text 14"/>
          <p:cNvSpPr/>
          <p:nvPr/>
        </p:nvSpPr>
        <p:spPr>
          <a:xfrm>
            <a:off x="8971280" y="3272792"/>
            <a:ext cx="2265629"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433"/>
                </a:solidFill>
                <a:latin typeface="Noto Sans" pitchFamily="34" charset="0"/>
                <a:ea typeface="Noto Sans" pitchFamily="34" charset="-122"/>
                <a:cs typeface="Noto Sans" pitchFamily="34" charset="-120"/>
              </a:rPr>
              <a:t>kvantlash shovqini</a:t>
            </a:r>
            <a:endParaRPr lang="en-US" sz="1300" dirty="0"/>
          </a:p>
        </p:txBody>
      </p:sp>
      <p:sp>
        <p:nvSpPr>
          <p:cNvPr id="17" name="Shape 15"/>
          <p:cNvSpPr/>
          <p:nvPr/>
        </p:nvSpPr>
        <p:spPr>
          <a:xfrm>
            <a:off x="6556375" y="3874133"/>
            <a:ext cx="4819650" cy="755650"/>
          </a:xfrm>
          <a:prstGeom prst="roundRect">
            <a:avLst>
              <a:gd name="adj" fmla="val 9664"/>
            </a:avLst>
          </a:prstGeom>
          <a:solidFill>
            <a:srgbClr val="FDFCF9"/>
          </a:solidFill>
          <a:ln w="6350">
            <a:solidFill>
              <a:srgbClr val="E2DED4"/>
            </a:solidFill>
            <a:prstDash val="solid"/>
          </a:ln>
        </p:spPr>
      </p:sp>
      <p:sp>
        <p:nvSpPr>
          <p:cNvPr id="18" name="Text 16"/>
          <p:cNvSpPr/>
          <p:nvPr/>
        </p:nvSpPr>
        <p:spPr>
          <a:xfrm>
            <a:off x="6761480" y="4003042"/>
            <a:ext cx="2092960"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B5521A"/>
                </a:solidFill>
                <a:latin typeface="Noto Sans" pitchFamily="34" charset="0"/>
                <a:ea typeface="Noto Sans" pitchFamily="34" charset="-122"/>
                <a:cs typeface="Noto Sans" pitchFamily="34" charset="-120"/>
              </a:rPr>
              <a:t>74 dB</a:t>
            </a:r>
            <a:endParaRPr lang="en-US" sz="2800" dirty="0"/>
          </a:p>
        </p:txBody>
      </p:sp>
      <p:sp>
        <p:nvSpPr>
          <p:cNvPr id="19" name="Text 17"/>
          <p:cNvSpPr/>
          <p:nvPr/>
        </p:nvSpPr>
        <p:spPr>
          <a:xfrm>
            <a:off x="8971280" y="4136392"/>
            <a:ext cx="2265629"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433"/>
                </a:solidFill>
                <a:latin typeface="Noto Sans" pitchFamily="34" charset="0"/>
                <a:ea typeface="Noto Sans" pitchFamily="34" charset="-122"/>
                <a:cs typeface="Noto Sans" pitchFamily="34" charset="-120"/>
              </a:rPr>
              <a:t>signal/shovqin nisbati</a:t>
            </a:r>
            <a:endParaRPr lang="en-US" sz="1300" dirty="0"/>
          </a:p>
        </p:txBody>
      </p:sp>
      <p:sp>
        <p:nvSpPr>
          <p:cNvPr id="20" name="Text 18"/>
          <p:cNvSpPr/>
          <p:nvPr/>
        </p:nvSpPr>
        <p:spPr>
          <a:xfrm>
            <a:off x="812800" y="4912358"/>
            <a:ext cx="10566400" cy="838200"/>
          </a:xfrm>
          <a:prstGeom prst="roundRect">
            <a:avLst>
              <a:gd name="adj" fmla="val 9091"/>
            </a:avLst>
          </a:prstGeom>
          <a:solidFill>
            <a:srgbClr val="FBE9DC"/>
          </a:solidFill>
          <a:ln/>
        </p:spPr>
        <p:txBody>
          <a:bodyPr wrap="square" lIns="231682" tIns="130082" rIns="0" bIns="104682" rtlCol="0" anchor="t">
            <a:normAutofit/>
          </a:bodyPr>
          <a:lstStyle/>
          <a:p>
            <a:pPr algn="l" indent="0" marL="0">
              <a:lnSpc>
                <a:spcPts val="2100"/>
              </a:lnSpc>
              <a:buNone/>
            </a:pPr>
            <a:r>
              <a:rPr lang="en-US" sz="1500" b="1" dirty="0">
                <a:solidFill>
                  <a:srgbClr val="16233B"/>
                </a:solidFill>
                <a:latin typeface="Noto Sans" pitchFamily="34" charset="0"/>
                <a:ea typeface="Noto Sans" pitchFamily="34" charset="-122"/>
                <a:cs typeface="Noto Sans" pitchFamily="34" charset="-120"/>
              </a:rPr>
              <a:t>Har bir razryad ≈ 6 dB qoʻshadi. Datchik shovqini q dan ancha katta boʻlsa, razryadni oshirish foyda bermaydi.</a:t>
            </a:r>
            <a:endParaRPr lang="en-US" sz="1500" dirty="0"/>
          </a:p>
        </p:txBody>
      </p:sp>
      <p:sp>
        <p:nvSpPr>
          <p:cNvPr id="21" name="Text 19"/>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Maʼruza №2 · Informatsiya nazariyasi. Mexatron modullar va robotlar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A"/>
                </a:solidFill>
                <a:latin typeface="Noto Sans" pitchFamily="34" charset="0"/>
                <a:ea typeface="Noto Sans" pitchFamily="34" charset="-122"/>
                <a:cs typeface="Noto Sans" pitchFamily="34" charset="-120"/>
              </a:rPr>
              <a:t>KODLASH</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B"/>
                </a:solidFill>
                <a:latin typeface="Noto Sans" pitchFamily="34" charset="0"/>
                <a:ea typeface="Noto Sans" pitchFamily="34" charset="-122"/>
                <a:cs typeface="Noto Sans" pitchFamily="34" charset="-120"/>
              </a:rPr>
              <a:t>Ikkilik kod va Grey kodi</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13560"/>
          <a:ext cx="3926840" cy="2708910"/>
        </p:xfrm>
        <a:graphic>
          <a:graphicData uri="http://schemas.openxmlformats.org/drawingml/2006/table">
            <a:tbl>
              <a:tblPr/>
              <a:tblGrid>
                <a:gridCol w="1308947"/>
                <a:gridCol w="1308947"/>
                <a:gridCol w="1308947"/>
              </a:tblGrid>
              <a:tr h="300990">
                <a:tc>
                  <a:txBody>
                    <a:bodyPr/>
                    <a:lstStyle/>
                    <a:p>
                      <a:pPr indent="0" marL="0">
                        <a:lnSpc>
                          <a:spcPts val="1820"/>
                        </a:lnSpc>
                        <a:buNone/>
                      </a:pPr>
                      <a:r>
                        <a:rPr lang="en-US" sz="1300" b="1" dirty="0">
                          <a:solidFill>
                            <a:srgbClr val="F5F3EE"/>
                          </a:solidFill>
                          <a:latin typeface="Noto Sans" pitchFamily="34" charset="0"/>
                          <a:ea typeface="Noto Sans" pitchFamily="34" charset="-122"/>
                          <a:cs typeface="Noto Sans" pitchFamily="34" charset="-120"/>
                        </a:rPr>
                        <a:t>Qiymat</a:t>
                      </a:r>
                      <a:endParaRPr lang="en-US" sz="1300" dirty="0">
                        <a:latin typeface="Noto Sans" charset="0"/>
                        <a:ea typeface="Noto Sans" charset="0"/>
                        <a:cs typeface="Noto Sans" charset="0"/>
                      </a:endParaRPr>
                    </a:p>
                  </a:txBody>
                  <a:tcPr marL="101600" marR="101600" marT="38100" marB="38100" anchor="t">
                    <a:lnL w="12700" cap="flat" cmpd="sng" algn="ctr">
                      <a:solidFill>
                        <a:srgbClr val="C4C2BE"/>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indent="0" marL="0">
                        <a:lnSpc>
                          <a:spcPts val="1820"/>
                        </a:lnSpc>
                        <a:buNone/>
                      </a:pPr>
                      <a:r>
                        <a:rPr lang="en-US" sz="1300" b="1" dirty="0">
                          <a:solidFill>
                            <a:srgbClr val="F5F3EE"/>
                          </a:solidFill>
                          <a:latin typeface="Noto Sans" pitchFamily="34" charset="0"/>
                          <a:ea typeface="Noto Sans" pitchFamily="34" charset="-122"/>
                          <a:cs typeface="Noto Sans" pitchFamily="34" charset="-120"/>
                        </a:rPr>
                        <a:t>Ikkilik</a:t>
                      </a:r>
                      <a:endParaRPr lang="en-US" sz="1300" dirty="0">
                        <a:latin typeface="Noto Sans" charset="0"/>
                        <a:ea typeface="Noto Sans" charset="0"/>
                        <a:cs typeface="Noto Sans" charset="0"/>
                      </a:endParaRPr>
                    </a:p>
                  </a:txBody>
                  <a:tcPr marL="101600" marR="101600" marT="38100" marB="38100"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indent="0" marL="0">
                        <a:lnSpc>
                          <a:spcPts val="1820"/>
                        </a:lnSpc>
                        <a:buNone/>
                      </a:pPr>
                      <a:r>
                        <a:rPr lang="en-US" sz="1300" b="1" dirty="0">
                          <a:solidFill>
                            <a:srgbClr val="F5F3EE"/>
                          </a:solidFill>
                          <a:latin typeface="Noto Sans" pitchFamily="34" charset="0"/>
                          <a:ea typeface="Noto Sans" pitchFamily="34" charset="-122"/>
                          <a:cs typeface="Noto Sans" pitchFamily="34" charset="-120"/>
                        </a:rPr>
                        <a:t>Grey</a:t>
                      </a:r>
                      <a:endParaRPr lang="en-US" sz="1300" dirty="0">
                        <a:latin typeface="Noto Sans" charset="0"/>
                        <a:ea typeface="Noto Sans" charset="0"/>
                        <a:cs typeface="Noto Sans" charset="0"/>
                      </a:endParaRPr>
                    </a:p>
                  </a:txBody>
                  <a:tcPr marL="101600" marR="101600" marT="38100" marB="38100"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r>
              <a:tr h="300990">
                <a:tc>
                  <a:txBody>
                    <a:bodyPr/>
                    <a:lstStyle/>
                    <a:p>
                      <a:pPr indent="0" marL="0">
                        <a:lnSpc>
                          <a:spcPts val="1820"/>
                        </a:lnSpc>
                        <a:buNone/>
                      </a:pPr>
                      <a:r>
                        <a:rPr lang="en-US" sz="1300" dirty="0">
                          <a:solidFill>
                            <a:srgbClr val="1D2433"/>
                          </a:solidFill>
                          <a:latin typeface="Noto Sans" pitchFamily="34" charset="0"/>
                          <a:ea typeface="Noto Sans" pitchFamily="34" charset="-122"/>
                          <a:cs typeface="Noto Sans" pitchFamily="34" charset="-120"/>
                        </a:rPr>
                        <a:t>0</a:t>
                      </a:r>
                      <a:endParaRPr lang="en-US" sz="1300" dirty="0">
                        <a:latin typeface="Noto Sans" charset="0"/>
                        <a:ea typeface="Noto Sans" charset="0"/>
                        <a:cs typeface="Noto Sans" charset="0"/>
                      </a:endParaRPr>
                    </a:p>
                  </a:txBody>
                  <a:tcPr marL="101600" marR="101600" marT="38100" marB="381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D2433"/>
                          </a:solidFill>
                          <a:latin typeface="Noto Sans" pitchFamily="34" charset="0"/>
                          <a:ea typeface="Noto Sans" pitchFamily="34" charset="-122"/>
                          <a:cs typeface="Noto Sans" pitchFamily="34" charset="-120"/>
                        </a:rPr>
                        <a:t>000</a:t>
                      </a:r>
                      <a:endParaRPr lang="en-US" sz="1300" dirty="0">
                        <a:latin typeface="Noto Sans" charset="0"/>
                        <a:ea typeface="Noto Sans" charset="0"/>
                        <a:cs typeface="Noto Sans" charset="0"/>
                      </a:endParaRPr>
                    </a:p>
                  </a:txBody>
                  <a:tcPr marL="101600" marR="101600" marT="38100" marB="381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B5521A"/>
                          </a:solidFill>
                          <a:latin typeface="Noto Sans" pitchFamily="34" charset="0"/>
                          <a:ea typeface="Noto Sans" pitchFamily="34" charset="-122"/>
                          <a:cs typeface="Noto Sans" pitchFamily="34" charset="-120"/>
                        </a:rPr>
                        <a:t>000</a:t>
                      </a:r>
                      <a:endParaRPr lang="en-US" sz="1300" dirty="0">
                        <a:latin typeface="Noto Sans" charset="0"/>
                        <a:ea typeface="Noto Sans" charset="0"/>
                        <a:cs typeface="Noto Sans" charset="0"/>
                      </a:endParaRPr>
                    </a:p>
                  </a:txBody>
                  <a:tcPr marL="101600" marR="101600" marT="38100" marB="381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00990">
                <a:tc>
                  <a:txBody>
                    <a:bodyPr/>
                    <a:lstStyle/>
                    <a:p>
                      <a:pPr indent="0" marL="0">
                        <a:lnSpc>
                          <a:spcPts val="1820"/>
                        </a:lnSpc>
                        <a:buNone/>
                      </a:pPr>
                      <a:r>
                        <a:rPr lang="en-US" sz="1300" dirty="0">
                          <a:solidFill>
                            <a:srgbClr val="1D2433"/>
                          </a:solidFill>
                          <a:latin typeface="Noto Sans" pitchFamily="34" charset="0"/>
                          <a:ea typeface="Noto Sans" pitchFamily="34" charset="-122"/>
                          <a:cs typeface="Noto Sans" pitchFamily="34" charset="-120"/>
                        </a:rPr>
                        <a:t>1</a:t>
                      </a:r>
                      <a:endParaRPr lang="en-US" sz="1300" dirty="0">
                        <a:latin typeface="Noto Sans" charset="0"/>
                        <a:ea typeface="Noto Sans" charset="0"/>
                        <a:cs typeface="Noto Sans" charset="0"/>
                      </a:endParaRPr>
                    </a:p>
                  </a:txBody>
                  <a:tcPr marL="101600" marR="101600" marT="38100" marB="381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D2433"/>
                          </a:solidFill>
                          <a:latin typeface="Noto Sans" pitchFamily="34" charset="0"/>
                          <a:ea typeface="Noto Sans" pitchFamily="34" charset="-122"/>
                          <a:cs typeface="Noto Sans" pitchFamily="34" charset="-120"/>
                        </a:rPr>
                        <a:t>001</a:t>
                      </a:r>
                      <a:endParaRPr lang="en-US" sz="1300" dirty="0">
                        <a:latin typeface="Noto Sans" charset="0"/>
                        <a:ea typeface="Noto Sans" charset="0"/>
                        <a:cs typeface="Noto Sans" charset="0"/>
                      </a:endParaRPr>
                    </a:p>
                  </a:txBody>
                  <a:tcPr marL="101600" marR="101600" marT="38100" marB="381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B5521A"/>
                          </a:solidFill>
                          <a:latin typeface="Noto Sans" pitchFamily="34" charset="0"/>
                          <a:ea typeface="Noto Sans" pitchFamily="34" charset="-122"/>
                          <a:cs typeface="Noto Sans" pitchFamily="34" charset="-120"/>
                        </a:rPr>
                        <a:t>001</a:t>
                      </a:r>
                      <a:endParaRPr lang="en-US" sz="1300" dirty="0">
                        <a:latin typeface="Noto Sans" charset="0"/>
                        <a:ea typeface="Noto Sans" charset="0"/>
                        <a:cs typeface="Noto Sans" charset="0"/>
                      </a:endParaRPr>
                    </a:p>
                  </a:txBody>
                  <a:tcPr marL="101600" marR="101600" marT="38100" marB="381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00990">
                <a:tc>
                  <a:txBody>
                    <a:bodyPr/>
                    <a:lstStyle/>
                    <a:p>
                      <a:pPr indent="0" marL="0">
                        <a:lnSpc>
                          <a:spcPts val="1820"/>
                        </a:lnSpc>
                        <a:buNone/>
                      </a:pPr>
                      <a:r>
                        <a:rPr lang="en-US" sz="1300" dirty="0">
                          <a:solidFill>
                            <a:srgbClr val="1D2433"/>
                          </a:solidFill>
                          <a:latin typeface="Noto Sans" pitchFamily="34" charset="0"/>
                          <a:ea typeface="Noto Sans" pitchFamily="34" charset="-122"/>
                          <a:cs typeface="Noto Sans" pitchFamily="34" charset="-120"/>
                        </a:rPr>
                        <a:t>2</a:t>
                      </a:r>
                      <a:endParaRPr lang="en-US" sz="1300" dirty="0">
                        <a:latin typeface="Noto Sans" charset="0"/>
                        <a:ea typeface="Noto Sans" charset="0"/>
                        <a:cs typeface="Noto Sans" charset="0"/>
                      </a:endParaRPr>
                    </a:p>
                  </a:txBody>
                  <a:tcPr marL="101600" marR="101600" marT="38100" marB="381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D2433"/>
                          </a:solidFill>
                          <a:latin typeface="Noto Sans" pitchFamily="34" charset="0"/>
                          <a:ea typeface="Noto Sans" pitchFamily="34" charset="-122"/>
                          <a:cs typeface="Noto Sans" pitchFamily="34" charset="-120"/>
                        </a:rPr>
                        <a:t>010</a:t>
                      </a:r>
                      <a:endParaRPr lang="en-US" sz="1300" dirty="0">
                        <a:latin typeface="Noto Sans" charset="0"/>
                        <a:ea typeface="Noto Sans" charset="0"/>
                        <a:cs typeface="Noto Sans" charset="0"/>
                      </a:endParaRPr>
                    </a:p>
                  </a:txBody>
                  <a:tcPr marL="101600" marR="101600" marT="38100" marB="381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B5521A"/>
                          </a:solidFill>
                          <a:latin typeface="Noto Sans" pitchFamily="34" charset="0"/>
                          <a:ea typeface="Noto Sans" pitchFamily="34" charset="-122"/>
                          <a:cs typeface="Noto Sans" pitchFamily="34" charset="-120"/>
                        </a:rPr>
                        <a:t>011</a:t>
                      </a:r>
                      <a:endParaRPr lang="en-US" sz="1300" dirty="0">
                        <a:latin typeface="Noto Sans" charset="0"/>
                        <a:ea typeface="Noto Sans" charset="0"/>
                        <a:cs typeface="Noto Sans" charset="0"/>
                      </a:endParaRPr>
                    </a:p>
                  </a:txBody>
                  <a:tcPr marL="101600" marR="101600" marT="38100" marB="381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00990">
                <a:tc>
                  <a:txBody>
                    <a:bodyPr/>
                    <a:lstStyle/>
                    <a:p>
                      <a:pPr indent="0" marL="0">
                        <a:lnSpc>
                          <a:spcPts val="1820"/>
                        </a:lnSpc>
                        <a:buNone/>
                      </a:pPr>
                      <a:r>
                        <a:rPr lang="en-US" sz="1300" dirty="0">
                          <a:solidFill>
                            <a:srgbClr val="1D2433"/>
                          </a:solidFill>
                          <a:latin typeface="Noto Sans" pitchFamily="34" charset="0"/>
                          <a:ea typeface="Noto Sans" pitchFamily="34" charset="-122"/>
                          <a:cs typeface="Noto Sans" pitchFamily="34" charset="-120"/>
                        </a:rPr>
                        <a:t>3</a:t>
                      </a:r>
                      <a:endParaRPr lang="en-US" sz="1300" dirty="0">
                        <a:latin typeface="Noto Sans" charset="0"/>
                        <a:ea typeface="Noto Sans" charset="0"/>
                        <a:cs typeface="Noto Sans" charset="0"/>
                      </a:endParaRPr>
                    </a:p>
                  </a:txBody>
                  <a:tcPr marL="101600" marR="101600" marT="38100" marB="381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D2433"/>
                          </a:solidFill>
                          <a:latin typeface="Noto Sans" pitchFamily="34" charset="0"/>
                          <a:ea typeface="Noto Sans" pitchFamily="34" charset="-122"/>
                          <a:cs typeface="Noto Sans" pitchFamily="34" charset="-120"/>
                        </a:rPr>
                        <a:t>011</a:t>
                      </a:r>
                      <a:endParaRPr lang="en-US" sz="1300" dirty="0">
                        <a:latin typeface="Noto Sans" charset="0"/>
                        <a:ea typeface="Noto Sans" charset="0"/>
                        <a:cs typeface="Noto Sans" charset="0"/>
                      </a:endParaRPr>
                    </a:p>
                  </a:txBody>
                  <a:tcPr marL="101600" marR="101600" marT="38100" marB="381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B5521A"/>
                          </a:solidFill>
                          <a:latin typeface="Noto Sans" pitchFamily="34" charset="0"/>
                          <a:ea typeface="Noto Sans" pitchFamily="34" charset="-122"/>
                          <a:cs typeface="Noto Sans" pitchFamily="34" charset="-120"/>
                        </a:rPr>
                        <a:t>010</a:t>
                      </a:r>
                      <a:endParaRPr lang="en-US" sz="1300" dirty="0">
                        <a:latin typeface="Noto Sans" charset="0"/>
                        <a:ea typeface="Noto Sans" charset="0"/>
                        <a:cs typeface="Noto Sans" charset="0"/>
                      </a:endParaRPr>
                    </a:p>
                  </a:txBody>
                  <a:tcPr marL="101600" marR="101600" marT="38100" marB="381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00990">
                <a:tc>
                  <a:txBody>
                    <a:bodyPr/>
                    <a:lstStyle/>
                    <a:p>
                      <a:pPr indent="0" marL="0">
                        <a:lnSpc>
                          <a:spcPts val="1820"/>
                        </a:lnSpc>
                        <a:buNone/>
                      </a:pPr>
                      <a:r>
                        <a:rPr lang="en-US" sz="1300" dirty="0">
                          <a:solidFill>
                            <a:srgbClr val="1D2433"/>
                          </a:solidFill>
                          <a:latin typeface="Noto Sans" pitchFamily="34" charset="0"/>
                          <a:ea typeface="Noto Sans" pitchFamily="34" charset="-122"/>
                          <a:cs typeface="Noto Sans" pitchFamily="34" charset="-120"/>
                        </a:rPr>
                        <a:t>4</a:t>
                      </a:r>
                      <a:endParaRPr lang="en-US" sz="1300" dirty="0">
                        <a:latin typeface="Noto Sans" charset="0"/>
                        <a:ea typeface="Noto Sans" charset="0"/>
                        <a:cs typeface="Noto Sans" charset="0"/>
                      </a:endParaRPr>
                    </a:p>
                  </a:txBody>
                  <a:tcPr marL="101600" marR="101600" marT="38100" marB="381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D2433"/>
                          </a:solidFill>
                          <a:latin typeface="Noto Sans" pitchFamily="34" charset="0"/>
                          <a:ea typeface="Noto Sans" pitchFamily="34" charset="-122"/>
                          <a:cs typeface="Noto Sans" pitchFamily="34" charset="-120"/>
                        </a:rPr>
                        <a:t>100</a:t>
                      </a:r>
                      <a:endParaRPr lang="en-US" sz="1300" dirty="0">
                        <a:latin typeface="Noto Sans" charset="0"/>
                        <a:ea typeface="Noto Sans" charset="0"/>
                        <a:cs typeface="Noto Sans" charset="0"/>
                      </a:endParaRPr>
                    </a:p>
                  </a:txBody>
                  <a:tcPr marL="101600" marR="101600" marT="38100" marB="381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B5521A"/>
                          </a:solidFill>
                          <a:latin typeface="Noto Sans" pitchFamily="34" charset="0"/>
                          <a:ea typeface="Noto Sans" pitchFamily="34" charset="-122"/>
                          <a:cs typeface="Noto Sans" pitchFamily="34" charset="-120"/>
                        </a:rPr>
                        <a:t>110</a:t>
                      </a:r>
                      <a:endParaRPr lang="en-US" sz="1300" dirty="0">
                        <a:latin typeface="Noto Sans" charset="0"/>
                        <a:ea typeface="Noto Sans" charset="0"/>
                        <a:cs typeface="Noto Sans" charset="0"/>
                      </a:endParaRPr>
                    </a:p>
                  </a:txBody>
                  <a:tcPr marL="101600" marR="101600" marT="38100" marB="381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00990">
                <a:tc>
                  <a:txBody>
                    <a:bodyPr/>
                    <a:lstStyle/>
                    <a:p>
                      <a:pPr indent="0" marL="0">
                        <a:lnSpc>
                          <a:spcPts val="1820"/>
                        </a:lnSpc>
                        <a:buNone/>
                      </a:pPr>
                      <a:r>
                        <a:rPr lang="en-US" sz="1300" dirty="0">
                          <a:solidFill>
                            <a:srgbClr val="1D2433"/>
                          </a:solidFill>
                          <a:latin typeface="Noto Sans" pitchFamily="34" charset="0"/>
                          <a:ea typeface="Noto Sans" pitchFamily="34" charset="-122"/>
                          <a:cs typeface="Noto Sans" pitchFamily="34" charset="-120"/>
                        </a:rPr>
                        <a:t>5</a:t>
                      </a:r>
                      <a:endParaRPr lang="en-US" sz="1300" dirty="0">
                        <a:latin typeface="Noto Sans" charset="0"/>
                        <a:ea typeface="Noto Sans" charset="0"/>
                        <a:cs typeface="Noto Sans" charset="0"/>
                      </a:endParaRPr>
                    </a:p>
                  </a:txBody>
                  <a:tcPr marL="101600" marR="101600" marT="38100" marB="381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D2433"/>
                          </a:solidFill>
                          <a:latin typeface="Noto Sans" pitchFamily="34" charset="0"/>
                          <a:ea typeface="Noto Sans" pitchFamily="34" charset="-122"/>
                          <a:cs typeface="Noto Sans" pitchFamily="34" charset="-120"/>
                        </a:rPr>
                        <a:t>101</a:t>
                      </a:r>
                      <a:endParaRPr lang="en-US" sz="1300" dirty="0">
                        <a:latin typeface="Noto Sans" charset="0"/>
                        <a:ea typeface="Noto Sans" charset="0"/>
                        <a:cs typeface="Noto Sans" charset="0"/>
                      </a:endParaRPr>
                    </a:p>
                  </a:txBody>
                  <a:tcPr marL="101600" marR="101600" marT="38100" marB="381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B5521A"/>
                          </a:solidFill>
                          <a:latin typeface="Noto Sans" pitchFamily="34" charset="0"/>
                          <a:ea typeface="Noto Sans" pitchFamily="34" charset="-122"/>
                          <a:cs typeface="Noto Sans" pitchFamily="34" charset="-120"/>
                        </a:rPr>
                        <a:t>111</a:t>
                      </a:r>
                      <a:endParaRPr lang="en-US" sz="1300" dirty="0">
                        <a:latin typeface="Noto Sans" charset="0"/>
                        <a:ea typeface="Noto Sans" charset="0"/>
                        <a:cs typeface="Noto Sans" charset="0"/>
                      </a:endParaRPr>
                    </a:p>
                  </a:txBody>
                  <a:tcPr marL="101600" marR="101600" marT="38100" marB="381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00990">
                <a:tc>
                  <a:txBody>
                    <a:bodyPr/>
                    <a:lstStyle/>
                    <a:p>
                      <a:pPr indent="0" marL="0">
                        <a:lnSpc>
                          <a:spcPts val="1820"/>
                        </a:lnSpc>
                        <a:buNone/>
                      </a:pPr>
                      <a:r>
                        <a:rPr lang="en-US" sz="1300" dirty="0">
                          <a:solidFill>
                            <a:srgbClr val="1D2433"/>
                          </a:solidFill>
                          <a:latin typeface="Noto Sans" pitchFamily="34" charset="0"/>
                          <a:ea typeface="Noto Sans" pitchFamily="34" charset="-122"/>
                          <a:cs typeface="Noto Sans" pitchFamily="34" charset="-120"/>
                        </a:rPr>
                        <a:t>6</a:t>
                      </a:r>
                      <a:endParaRPr lang="en-US" sz="1300" dirty="0">
                        <a:latin typeface="Noto Sans" charset="0"/>
                        <a:ea typeface="Noto Sans" charset="0"/>
                        <a:cs typeface="Noto Sans" charset="0"/>
                      </a:endParaRPr>
                    </a:p>
                  </a:txBody>
                  <a:tcPr marL="101600" marR="101600" marT="38100" marB="381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D2433"/>
                          </a:solidFill>
                          <a:latin typeface="Noto Sans" pitchFamily="34" charset="0"/>
                          <a:ea typeface="Noto Sans" pitchFamily="34" charset="-122"/>
                          <a:cs typeface="Noto Sans" pitchFamily="34" charset="-120"/>
                        </a:rPr>
                        <a:t>110</a:t>
                      </a:r>
                      <a:endParaRPr lang="en-US" sz="1300" dirty="0">
                        <a:latin typeface="Noto Sans" charset="0"/>
                        <a:ea typeface="Noto Sans" charset="0"/>
                        <a:cs typeface="Noto Sans" charset="0"/>
                      </a:endParaRPr>
                    </a:p>
                  </a:txBody>
                  <a:tcPr marL="101600" marR="101600" marT="38100" marB="381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B5521A"/>
                          </a:solidFill>
                          <a:latin typeface="Noto Sans" pitchFamily="34" charset="0"/>
                          <a:ea typeface="Noto Sans" pitchFamily="34" charset="-122"/>
                          <a:cs typeface="Noto Sans" pitchFamily="34" charset="-120"/>
                        </a:rPr>
                        <a:t>101</a:t>
                      </a:r>
                      <a:endParaRPr lang="en-US" sz="1300" dirty="0">
                        <a:latin typeface="Noto Sans" charset="0"/>
                        <a:ea typeface="Noto Sans" charset="0"/>
                        <a:cs typeface="Noto Sans" charset="0"/>
                      </a:endParaRPr>
                    </a:p>
                  </a:txBody>
                  <a:tcPr marL="101600" marR="101600" marT="38100" marB="381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00990">
                <a:tc>
                  <a:txBody>
                    <a:bodyPr/>
                    <a:lstStyle/>
                    <a:p>
                      <a:pPr indent="0" marL="0">
                        <a:lnSpc>
                          <a:spcPts val="1820"/>
                        </a:lnSpc>
                        <a:buNone/>
                      </a:pPr>
                      <a:r>
                        <a:rPr lang="en-US" sz="1300" dirty="0">
                          <a:solidFill>
                            <a:srgbClr val="1D2433"/>
                          </a:solidFill>
                          <a:latin typeface="Noto Sans" pitchFamily="34" charset="0"/>
                          <a:ea typeface="Noto Sans" pitchFamily="34" charset="-122"/>
                          <a:cs typeface="Noto Sans" pitchFamily="34" charset="-120"/>
                        </a:rPr>
                        <a:t>7</a:t>
                      </a:r>
                      <a:endParaRPr lang="en-US" sz="1300" dirty="0">
                        <a:latin typeface="Noto Sans" charset="0"/>
                        <a:ea typeface="Noto Sans" charset="0"/>
                        <a:cs typeface="Noto Sans" charset="0"/>
                      </a:endParaRPr>
                    </a:p>
                  </a:txBody>
                  <a:tcPr marL="101600" marR="101600" marT="38100" marB="381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D2433"/>
                          </a:solidFill>
                          <a:latin typeface="Noto Sans" pitchFamily="34" charset="0"/>
                          <a:ea typeface="Noto Sans" pitchFamily="34" charset="-122"/>
                          <a:cs typeface="Noto Sans" pitchFamily="34" charset="-120"/>
                        </a:rPr>
                        <a:t>111</a:t>
                      </a:r>
                      <a:endParaRPr lang="en-US" sz="1300" dirty="0">
                        <a:latin typeface="Noto Sans" charset="0"/>
                        <a:ea typeface="Noto Sans" charset="0"/>
                        <a:cs typeface="Noto Sans" charset="0"/>
                      </a:endParaRPr>
                    </a:p>
                  </a:txBody>
                  <a:tcPr marL="101600" marR="101600" marT="38100" marB="381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B5521A"/>
                          </a:solidFill>
                          <a:latin typeface="Noto Sans" pitchFamily="34" charset="0"/>
                          <a:ea typeface="Noto Sans" pitchFamily="34" charset="-122"/>
                          <a:cs typeface="Noto Sans" pitchFamily="34" charset="-120"/>
                        </a:rPr>
                        <a:t>100</a:t>
                      </a:r>
                      <a:endParaRPr lang="en-US" sz="1300" dirty="0">
                        <a:latin typeface="Noto Sans" charset="0"/>
                        <a:ea typeface="Noto Sans" charset="0"/>
                        <a:cs typeface="Noto Sans" charset="0"/>
                      </a:endParaRPr>
                    </a:p>
                  </a:txBody>
                  <a:tcPr marL="101600" marR="101600" marT="38100" marB="381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bl>
          </a:graphicData>
        </a:graphic>
      </p:graphicFrame>
      <p:sp>
        <p:nvSpPr>
          <p:cNvPr id="5" name="Text 2"/>
          <p:cNvSpPr/>
          <p:nvPr/>
        </p:nvSpPr>
        <p:spPr>
          <a:xfrm>
            <a:off x="5105400" y="1803400"/>
            <a:ext cx="646201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D6CB0"/>
                </a:solidFill>
                <a:latin typeface="Noto Sans" pitchFamily="34" charset="0"/>
                <a:ea typeface="Noto Sans" pitchFamily="34" charset="-122"/>
                <a:cs typeface="Noto Sans" pitchFamily="34" charset="-120"/>
              </a:rPr>
              <a:t>Ikkilikdan Greyga oʻtish</a:t>
            </a:r>
            <a:endParaRPr lang="en-US" sz="1200" dirty="0"/>
          </a:p>
        </p:txBody>
      </p:sp>
      <p:sp>
        <p:nvSpPr>
          <p:cNvPr id="6" name="Text 3"/>
          <p:cNvSpPr/>
          <p:nvPr/>
        </p:nvSpPr>
        <p:spPr>
          <a:xfrm>
            <a:off x="5105400" y="2067558"/>
            <a:ext cx="6462014" cy="45212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1D2433"/>
                </a:solidFill>
                <a:latin typeface="Noto Sans" pitchFamily="34" charset="0"/>
                <a:ea typeface="Noto Sans" pitchFamily="34" charset="-122"/>
                <a:cs typeface="Noto Sans" pitchFamily="34" charset="-120"/>
              </a:rPr>
              <a:t>gᵢ = bᵢ ⊕ bᵢ₊₁</a:t>
            </a:r>
            <a:endParaRPr lang="en-US" sz="2400" dirty="0"/>
          </a:p>
        </p:txBody>
      </p:sp>
      <p:sp>
        <p:nvSpPr>
          <p:cNvPr id="7" name="Text 4"/>
          <p:cNvSpPr/>
          <p:nvPr/>
        </p:nvSpPr>
        <p:spPr>
          <a:xfrm>
            <a:off x="5105400" y="2646679"/>
            <a:ext cx="646201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D2433"/>
                </a:solidFill>
                <a:latin typeface="Noto Sans" pitchFamily="34" charset="0"/>
                <a:ea typeface="Noto Sans" pitchFamily="34" charset="-122"/>
                <a:cs typeface="Noto Sans" pitchFamily="34" charset="-120"/>
              </a:rPr>
              <a:t>Grey kodida qoʻshni qiymatlar faqat </a:t>
            </a:r>
            <a:r>
              <a:rPr lang="en-US" sz="1400" b="1" dirty="0">
                <a:solidFill>
                  <a:srgbClr val="1D2433"/>
                </a:solidFill>
                <a:latin typeface="Noto Sans" pitchFamily="34" charset="0"/>
                <a:ea typeface="Noto Sans" pitchFamily="34" charset="-122"/>
                <a:cs typeface="Noto Sans" pitchFamily="34" charset="-120"/>
              </a:rPr>
              <a:t>bitta razryad</a:t>
            </a:r>
            <a:r>
              <a:rPr lang="en-US" sz="1400" dirty="0">
                <a:solidFill>
                  <a:srgbClr val="1D2433"/>
                </a:solidFill>
                <a:latin typeface="Noto Sans" pitchFamily="34" charset="0"/>
                <a:ea typeface="Noto Sans" pitchFamily="34" charset="-122"/>
                <a:cs typeface="Noto Sans" pitchFamily="34" charset="-120"/>
              </a:rPr>
              <a:t> bilan farq qiladi. Ikkilik kodda 0111 → 1000 oʻtishida toʻrttala razryad birdan oʻzgaradi.</a:t>
            </a:r>
            <a:endParaRPr lang="en-US" sz="1400" dirty="0"/>
          </a:p>
        </p:txBody>
      </p:sp>
      <p:sp>
        <p:nvSpPr>
          <p:cNvPr id="8" name="Shape 5"/>
          <p:cNvSpPr/>
          <p:nvPr/>
        </p:nvSpPr>
        <p:spPr>
          <a:xfrm>
            <a:off x="5105400" y="3296921"/>
            <a:ext cx="6273800" cy="1031240"/>
          </a:xfrm>
          <a:prstGeom prst="roundRect">
            <a:avLst>
              <a:gd name="adj" fmla="val 7389"/>
            </a:avLst>
          </a:prstGeom>
          <a:solidFill>
            <a:srgbClr val="E8EEF6"/>
          </a:solidFill>
          <a:ln/>
        </p:spPr>
      </p:sp>
      <p:sp>
        <p:nvSpPr>
          <p:cNvPr id="9" name="Text 6"/>
          <p:cNvSpPr/>
          <p:nvPr/>
        </p:nvSpPr>
        <p:spPr>
          <a:xfrm>
            <a:off x="5308600" y="3449321"/>
            <a:ext cx="6043422"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4F85"/>
                </a:solidFill>
                <a:latin typeface="Noto Sans" pitchFamily="34" charset="0"/>
                <a:ea typeface="Noto Sans" pitchFamily="34" charset="-122"/>
                <a:cs typeface="Noto Sans" pitchFamily="34" charset="-120"/>
              </a:rPr>
              <a:t>Absolyut enkoderda</a:t>
            </a:r>
            <a:endParaRPr lang="en-US" sz="1400" dirty="0"/>
          </a:p>
        </p:txBody>
      </p:sp>
      <p:sp>
        <p:nvSpPr>
          <p:cNvPr id="10" name="Text 7"/>
          <p:cNvSpPr/>
          <p:nvPr/>
        </p:nvSpPr>
        <p:spPr>
          <a:xfrm>
            <a:off x="5308600" y="3713479"/>
            <a:ext cx="604342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433"/>
                </a:solidFill>
                <a:latin typeface="Noto Sans" pitchFamily="34" charset="0"/>
                <a:ea typeface="Noto Sans" pitchFamily="34" charset="-122"/>
                <a:cs typeface="Noto Sans" pitchFamily="34" charset="-120"/>
              </a:rPr>
              <a:t>Yoʻlakchalar hech qachon mutlaqo bir vaqtda almashmaydi, Grey kodi esa oʻtishda notoʻgʻri qiymat oʻqilishini istisno qiladi</a:t>
            </a:r>
            <a:endParaRPr lang="en-US" sz="1300" dirty="0"/>
          </a:p>
        </p:txBody>
      </p:sp>
      <p:sp>
        <p:nvSpPr>
          <p:cNvPr id="11" name="Text 8"/>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Maʼruza №2 · Informatsiya nazariyasi. Mexatron modullar va robotlar · 12 · Manba: Bolton. Mechatronics, 2-bob</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233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0A46E"/>
                </a:solidFill>
                <a:latin typeface="Noto Sans" pitchFamily="34" charset="0"/>
                <a:ea typeface="Noto Sans" pitchFamily="34" charset="-122"/>
                <a:cs typeface="Noto Sans" pitchFamily="34" charset="-120"/>
              </a:rPr>
              <a:t>I QISM XULOSASI</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5F3EE"/>
                </a:solidFill>
                <a:latin typeface="Noto Sans" pitchFamily="34" charset="0"/>
                <a:ea typeface="Noto Sans" pitchFamily="34" charset="-122"/>
                <a:cs typeface="Noto Sans" pitchFamily="34" charset="-120"/>
              </a:rPr>
              <a:t>Datchik — axborot kanali</a:t>
            </a:r>
            <a:endParaRPr lang="en-US" sz="3200" dirty="0"/>
          </a:p>
        </p:txBody>
      </p:sp>
      <p:sp>
        <p:nvSpPr>
          <p:cNvPr id="4" name="Shape 2"/>
          <p:cNvSpPr/>
          <p:nvPr/>
        </p:nvSpPr>
        <p:spPr>
          <a:xfrm>
            <a:off x="812800" y="1917700"/>
            <a:ext cx="3352800" cy="0"/>
          </a:xfrm>
          <a:prstGeom prst="line">
            <a:avLst/>
          </a:prstGeom>
          <a:noFill/>
          <a:ln w="25400">
            <a:solidFill>
              <a:srgbClr val="F0A46E"/>
            </a:solidFill>
            <a:prstDash val="solid"/>
          </a:ln>
        </p:spPr>
      </p:sp>
      <p:sp>
        <p:nvSpPr>
          <p:cNvPr id="5" name="Text 3"/>
          <p:cNvSpPr/>
          <p:nvPr/>
        </p:nvSpPr>
        <p:spPr>
          <a:xfrm>
            <a:off x="812800" y="2108200"/>
            <a:ext cx="345338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0A46E"/>
                </a:solidFill>
                <a:latin typeface="Noto Sans" pitchFamily="34" charset="0"/>
                <a:ea typeface="Noto Sans" pitchFamily="34" charset="-122"/>
                <a:cs typeface="Noto Sans" pitchFamily="34" charset="-120"/>
              </a:rPr>
              <a:t>Aniqlik → bit</a:t>
            </a:r>
            <a:endParaRPr lang="en-US" sz="1800" dirty="0"/>
          </a:p>
        </p:txBody>
      </p:sp>
      <p:sp>
        <p:nvSpPr>
          <p:cNvPr id="6" name="Text 4"/>
          <p:cNvSpPr/>
          <p:nvPr/>
        </p:nvSpPr>
        <p:spPr>
          <a:xfrm>
            <a:off x="812800" y="2458721"/>
            <a:ext cx="345338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CFDB"/>
                </a:solidFill>
                <a:latin typeface="Noto Sans" pitchFamily="34" charset="0"/>
                <a:ea typeface="Noto Sans" pitchFamily="34" charset="-122"/>
                <a:cs typeface="Noto Sans" pitchFamily="34" charset="-120"/>
              </a:rPr>
              <a:t>Nisbiy aniqlik va shovqin bitta oʻlchashdagi axborotni belgilaydi</a:t>
            </a:r>
            <a:endParaRPr lang="en-US" sz="1400" dirty="0"/>
          </a:p>
        </p:txBody>
      </p:sp>
      <p:sp>
        <p:nvSpPr>
          <p:cNvPr id="7" name="Shape 5"/>
          <p:cNvSpPr/>
          <p:nvPr/>
        </p:nvSpPr>
        <p:spPr>
          <a:xfrm>
            <a:off x="4419600" y="1917700"/>
            <a:ext cx="3352800" cy="0"/>
          </a:xfrm>
          <a:prstGeom prst="line">
            <a:avLst/>
          </a:prstGeom>
          <a:noFill/>
          <a:ln w="25400">
            <a:solidFill>
              <a:srgbClr val="F0A46E"/>
            </a:solidFill>
            <a:prstDash val="solid"/>
          </a:ln>
        </p:spPr>
      </p:sp>
      <p:sp>
        <p:nvSpPr>
          <p:cNvPr id="8" name="Text 6"/>
          <p:cNvSpPr/>
          <p:nvPr/>
        </p:nvSpPr>
        <p:spPr>
          <a:xfrm>
            <a:off x="4419600" y="2108200"/>
            <a:ext cx="345338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0A46E"/>
                </a:solidFill>
                <a:latin typeface="Noto Sans" pitchFamily="34" charset="0"/>
                <a:ea typeface="Noto Sans" pitchFamily="34" charset="-122"/>
                <a:cs typeface="Noto Sans" pitchFamily="34" charset="-120"/>
              </a:rPr>
              <a:t>Tezlik → Kotelnikov</a:t>
            </a:r>
            <a:endParaRPr lang="en-US" sz="1800" dirty="0"/>
          </a:p>
        </p:txBody>
      </p:sp>
      <p:sp>
        <p:nvSpPr>
          <p:cNvPr id="9" name="Text 7"/>
          <p:cNvSpPr/>
          <p:nvPr/>
        </p:nvSpPr>
        <p:spPr>
          <a:xfrm>
            <a:off x="4419600" y="2458721"/>
            <a:ext cx="3453384"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CFDB"/>
                </a:solidFill>
                <a:latin typeface="Noto Sans" pitchFamily="34" charset="0"/>
                <a:ea typeface="Noto Sans" pitchFamily="34" charset="-122"/>
                <a:cs typeface="Noto Sans" pitchFamily="34" charset="-120"/>
              </a:rPr>
              <a:t>Diskretlash chastotasi signal spektrining yuqori chegarasidan kamida ikki marta katta</a:t>
            </a:r>
            <a:endParaRPr lang="en-US" sz="1400" dirty="0"/>
          </a:p>
        </p:txBody>
      </p:sp>
      <p:sp>
        <p:nvSpPr>
          <p:cNvPr id="10" name="Shape 8"/>
          <p:cNvSpPr/>
          <p:nvPr/>
        </p:nvSpPr>
        <p:spPr>
          <a:xfrm>
            <a:off x="8026400" y="1917700"/>
            <a:ext cx="3352800" cy="0"/>
          </a:xfrm>
          <a:prstGeom prst="line">
            <a:avLst/>
          </a:prstGeom>
          <a:noFill/>
          <a:ln w="25400">
            <a:solidFill>
              <a:srgbClr val="F0A46E"/>
            </a:solidFill>
            <a:prstDash val="solid"/>
          </a:ln>
        </p:spPr>
      </p:sp>
      <p:sp>
        <p:nvSpPr>
          <p:cNvPr id="11" name="Text 9"/>
          <p:cNvSpPr/>
          <p:nvPr/>
        </p:nvSpPr>
        <p:spPr>
          <a:xfrm>
            <a:off x="8026400" y="2108200"/>
            <a:ext cx="345338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0A46E"/>
                </a:solidFill>
                <a:latin typeface="Noto Sans" pitchFamily="34" charset="0"/>
                <a:ea typeface="Noto Sans" pitchFamily="34" charset="-122"/>
                <a:cs typeface="Noto Sans" pitchFamily="34" charset="-120"/>
              </a:rPr>
              <a:t>Ishonchlilik → kod</a:t>
            </a:r>
            <a:endParaRPr lang="en-US" sz="1800" dirty="0"/>
          </a:p>
        </p:txBody>
      </p:sp>
      <p:sp>
        <p:nvSpPr>
          <p:cNvPr id="12" name="Text 10"/>
          <p:cNvSpPr/>
          <p:nvPr/>
        </p:nvSpPr>
        <p:spPr>
          <a:xfrm>
            <a:off x="8026400" y="2458721"/>
            <a:ext cx="345338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CFDB"/>
                </a:solidFill>
                <a:latin typeface="Noto Sans" pitchFamily="34" charset="0"/>
                <a:ea typeface="Noto Sans" pitchFamily="34" charset="-122"/>
                <a:cs typeface="Noto Sans" pitchFamily="34" charset="-120"/>
              </a:rPr>
              <a:t>Grey kodi va ortiqcha kodlar axborotni xatosiz oʻqish va uzatishni taʼminlaydi</a:t>
            </a:r>
            <a:endParaRPr lang="en-US" sz="1400" dirty="0"/>
          </a:p>
        </p:txBody>
      </p:sp>
      <p:sp>
        <p:nvSpPr>
          <p:cNvPr id="13" name="Text 11"/>
          <p:cNvSpPr/>
          <p:nvPr/>
        </p:nvSpPr>
        <p:spPr>
          <a:xfrm>
            <a:off x="812800" y="3561079"/>
            <a:ext cx="9810750" cy="6654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F5F3EE"/>
                </a:solidFill>
                <a:latin typeface="Noto Sans" pitchFamily="34" charset="0"/>
                <a:ea typeface="Noto Sans" pitchFamily="34" charset="-122"/>
                <a:cs typeface="Noto Sans" pitchFamily="34" charset="-120"/>
              </a:rPr>
              <a:t>ARO razryadi va diskretlash chastotasi datchikning aniqligi, shovqini va tezligiga mos tanlanadi.</a:t>
            </a:r>
            <a:endParaRPr lang="en-US" sz="1800" dirty="0"/>
          </a:p>
        </p:txBody>
      </p:sp>
      <p:sp>
        <p:nvSpPr>
          <p:cNvPr id="14" name="Text 12"/>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3B5"/>
                </a:solidFill>
                <a:latin typeface="Noto Sans" pitchFamily="34" charset="0"/>
                <a:ea typeface="Noto Sans" pitchFamily="34" charset="-122"/>
                <a:cs typeface="Noto Sans" pitchFamily="34" charset="-120"/>
              </a:rPr>
              <a:t>Maʼruza №2 · Informatsiya nazariyasi. Mexatron modullar va robotlar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A"/>
                </a:solidFill>
                <a:latin typeface="Noto Sans" pitchFamily="34" charset="0"/>
                <a:ea typeface="Noto Sans" pitchFamily="34" charset="-122"/>
                <a:cs typeface="Noto Sans" pitchFamily="34" charset="-120"/>
              </a:rPr>
              <a:t>MEXATRON MODULLAR</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B"/>
                </a:solidFill>
                <a:latin typeface="Noto Sans" pitchFamily="34" charset="0"/>
                <a:ea typeface="Noto Sans" pitchFamily="34" charset="-122"/>
                <a:cs typeface="Noto Sans" pitchFamily="34" charset="-120"/>
              </a:rPr>
              <a:t>Integratsiya darajasi boʻyicha uch tur</a:t>
            </a:r>
            <a:endParaRPr lang="en-US" sz="3200" dirty="0"/>
          </a:p>
        </p:txBody>
      </p:sp>
      <p:sp>
        <p:nvSpPr>
          <p:cNvPr id="4" name="Shape 2"/>
          <p:cNvSpPr/>
          <p:nvPr/>
        </p:nvSpPr>
        <p:spPr>
          <a:xfrm>
            <a:off x="815975" y="1806575"/>
            <a:ext cx="2909570" cy="2142490"/>
          </a:xfrm>
          <a:prstGeom prst="roundRect">
            <a:avLst>
              <a:gd name="adj" fmla="val 4594"/>
            </a:avLst>
          </a:prstGeom>
          <a:solidFill>
            <a:srgbClr val="FDFCF9"/>
          </a:solidFill>
          <a:ln w="6350">
            <a:solidFill>
              <a:srgbClr val="E2DED4"/>
            </a:solidFill>
            <a:prstDash val="solid"/>
          </a:ln>
        </p:spPr>
      </p:sp>
      <p:sp>
        <p:nvSpPr>
          <p:cNvPr id="5" name="Text 3"/>
          <p:cNvSpPr/>
          <p:nvPr/>
        </p:nvSpPr>
        <p:spPr>
          <a:xfrm>
            <a:off x="1021080" y="2011679"/>
            <a:ext cx="257434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B7280"/>
                </a:solidFill>
                <a:latin typeface="Noto Sans" pitchFamily="34" charset="0"/>
                <a:ea typeface="Noto Sans" pitchFamily="34" charset="-122"/>
                <a:cs typeface="Noto Sans" pitchFamily="34" charset="-120"/>
              </a:rPr>
              <a:t>1-DARAJA</a:t>
            </a:r>
            <a:endParaRPr lang="en-US" sz="1200" dirty="0"/>
          </a:p>
        </p:txBody>
      </p:sp>
      <p:sp>
        <p:nvSpPr>
          <p:cNvPr id="6" name="Text 4"/>
          <p:cNvSpPr/>
          <p:nvPr/>
        </p:nvSpPr>
        <p:spPr>
          <a:xfrm>
            <a:off x="1021080" y="2313942"/>
            <a:ext cx="2574341"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D2433"/>
                </a:solidFill>
                <a:latin typeface="Noto Sans" pitchFamily="34" charset="0"/>
                <a:ea typeface="Noto Sans" pitchFamily="34" charset="-122"/>
                <a:cs typeface="Noto Sans" pitchFamily="34" charset="-120"/>
              </a:rPr>
              <a:t>Harakat moduli</a:t>
            </a:r>
            <a:endParaRPr lang="en-US" sz="1700" dirty="0"/>
          </a:p>
        </p:txBody>
      </p:sp>
      <p:sp>
        <p:nvSpPr>
          <p:cNvPr id="7" name="Text 5"/>
          <p:cNvSpPr/>
          <p:nvPr/>
        </p:nvSpPr>
        <p:spPr>
          <a:xfrm>
            <a:off x="1021080" y="2661921"/>
            <a:ext cx="2574341"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433"/>
                </a:solidFill>
                <a:latin typeface="Noto Sans" pitchFamily="34" charset="0"/>
                <a:ea typeface="Noto Sans" pitchFamily="34" charset="-122"/>
                <a:cs typeface="Noto Sans" pitchFamily="34" charset="-120"/>
              </a:rPr>
              <a:t>Dvigatel + mexanik uzatma (reduktor, vintli uzatma)</a:t>
            </a:r>
            <a:endParaRPr lang="en-US" sz="1300" dirty="0"/>
          </a:p>
        </p:txBody>
      </p:sp>
      <p:sp>
        <p:nvSpPr>
          <p:cNvPr id="8" name="Text 6"/>
          <p:cNvSpPr/>
          <p:nvPr/>
        </p:nvSpPr>
        <p:spPr>
          <a:xfrm>
            <a:off x="1021080" y="3213100"/>
            <a:ext cx="2574341" cy="256540"/>
          </a:xfrm>
          <a:prstGeom prst="rect">
            <a:avLst/>
          </a:prstGeom>
          <a:noFill/>
          <a:ln/>
        </p:spPr>
        <p:txBody>
          <a:bodyPr wrap="square" lIns="0" tIns="0" rIns="0" bIns="0" rtlCol="0" anchor="t">
            <a:normAutofit/>
          </a:bodyPr>
          <a:lstStyle/>
          <a:p>
            <a:pPr algn="l" indent="0" marL="0">
              <a:lnSpc>
                <a:spcPts val="1820"/>
              </a:lnSpc>
              <a:buNone/>
            </a:pPr>
            <a:r>
              <a:rPr lang="en-US" sz="1300" i="1" dirty="0">
                <a:solidFill>
                  <a:srgbClr val="4B5563"/>
                </a:solidFill>
                <a:latin typeface="Noto Sans" pitchFamily="34" charset="0"/>
                <a:ea typeface="Noto Sans" pitchFamily="34" charset="-122"/>
                <a:cs typeface="Noto Sans" pitchFamily="34" charset="-120"/>
              </a:rPr>
              <a:t>Misol: motor-reduktor</a:t>
            </a:r>
            <a:endParaRPr lang="en-US" sz="1300" dirty="0"/>
          </a:p>
        </p:txBody>
      </p:sp>
      <p:pic>
        <p:nvPicPr>
          <p:cNvPr id="9" name="Image 0" descr="arrow-right">    </p:cNvPr>
          <p:cNvPicPr>
            <a:picLocks noChangeAspect="1"/>
          </p:cNvPicPr>
          <p:nvPr/>
        </p:nvPicPr>
        <p:blipFill>
          <a:blip r:embed="rId1"/>
          <a:srcRect l="0" r="0" t="0" b="0"/>
          <a:stretch/>
        </p:blipFill>
        <p:spPr>
          <a:xfrm>
            <a:off x="4008120" y="2501900"/>
            <a:ext cx="355600" cy="279400"/>
          </a:xfrm>
          <a:prstGeom prst="rect">
            <a:avLst/>
          </a:prstGeom>
        </p:spPr>
      </p:pic>
      <p:sp>
        <p:nvSpPr>
          <p:cNvPr id="10" name="Text 7"/>
          <p:cNvSpPr/>
          <p:nvPr/>
        </p:nvSpPr>
        <p:spPr>
          <a:xfrm>
            <a:off x="3779520" y="2857500"/>
            <a:ext cx="812800" cy="42164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1F4F85"/>
                </a:solidFill>
                <a:latin typeface="Noto Sans" pitchFamily="34" charset="0"/>
                <a:ea typeface="Noto Sans" pitchFamily="34" charset="-122"/>
                <a:cs typeface="Noto Sans" pitchFamily="34" charset="-120"/>
              </a:rPr>
              <a:t>+ datchiklar</a:t>
            </a:r>
            <a:endParaRPr lang="en-US" sz="1200" dirty="0"/>
          </a:p>
        </p:txBody>
      </p:sp>
      <p:sp>
        <p:nvSpPr>
          <p:cNvPr id="11" name="Shape 8"/>
          <p:cNvSpPr/>
          <p:nvPr/>
        </p:nvSpPr>
        <p:spPr>
          <a:xfrm>
            <a:off x="4646295" y="1806575"/>
            <a:ext cx="2909570" cy="2142490"/>
          </a:xfrm>
          <a:prstGeom prst="roundRect">
            <a:avLst>
              <a:gd name="adj" fmla="val 4594"/>
            </a:avLst>
          </a:prstGeom>
          <a:solidFill>
            <a:srgbClr val="FDFCF9"/>
          </a:solidFill>
          <a:ln w="6350">
            <a:solidFill>
              <a:srgbClr val="E2DED4"/>
            </a:solidFill>
            <a:prstDash val="solid"/>
          </a:ln>
        </p:spPr>
      </p:sp>
      <p:sp>
        <p:nvSpPr>
          <p:cNvPr id="12" name="Text 9"/>
          <p:cNvSpPr/>
          <p:nvPr/>
        </p:nvSpPr>
        <p:spPr>
          <a:xfrm>
            <a:off x="4851400" y="2011679"/>
            <a:ext cx="257434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D6CB0"/>
                </a:solidFill>
                <a:latin typeface="Noto Sans" pitchFamily="34" charset="0"/>
                <a:ea typeface="Noto Sans" pitchFamily="34" charset="-122"/>
                <a:cs typeface="Noto Sans" pitchFamily="34" charset="-120"/>
              </a:rPr>
              <a:t>2-DARAJA</a:t>
            </a:r>
            <a:endParaRPr lang="en-US" sz="1200" dirty="0"/>
          </a:p>
        </p:txBody>
      </p:sp>
      <p:sp>
        <p:nvSpPr>
          <p:cNvPr id="13" name="Text 10"/>
          <p:cNvSpPr/>
          <p:nvPr/>
        </p:nvSpPr>
        <p:spPr>
          <a:xfrm>
            <a:off x="4851400" y="2313942"/>
            <a:ext cx="2574341" cy="5435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D2433"/>
                </a:solidFill>
                <a:latin typeface="Noto Sans" pitchFamily="34" charset="0"/>
                <a:ea typeface="Noto Sans" pitchFamily="34" charset="-122"/>
                <a:cs typeface="Noto Sans" pitchFamily="34" charset="-120"/>
              </a:rPr>
              <a:t>Mexatron harakat moduli</a:t>
            </a:r>
            <a:endParaRPr lang="en-US" sz="1700" dirty="0"/>
          </a:p>
        </p:txBody>
      </p:sp>
      <p:sp>
        <p:nvSpPr>
          <p:cNvPr id="14" name="Text 11"/>
          <p:cNvSpPr/>
          <p:nvPr/>
        </p:nvSpPr>
        <p:spPr>
          <a:xfrm>
            <a:off x="4851400" y="2921000"/>
            <a:ext cx="2574341"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433"/>
                </a:solidFill>
                <a:latin typeface="Noto Sans" pitchFamily="34" charset="0"/>
                <a:ea typeface="Noto Sans" pitchFamily="34" charset="-122"/>
                <a:cs typeface="Noto Sans" pitchFamily="34" charset="-120"/>
              </a:rPr>
              <a:t>+ enkoder, rezolver, tok va harorat datchiklari</a:t>
            </a:r>
            <a:endParaRPr lang="en-US" sz="1300" dirty="0"/>
          </a:p>
        </p:txBody>
      </p:sp>
      <p:sp>
        <p:nvSpPr>
          <p:cNvPr id="15" name="Text 12"/>
          <p:cNvSpPr/>
          <p:nvPr/>
        </p:nvSpPr>
        <p:spPr>
          <a:xfrm>
            <a:off x="4851400" y="3472179"/>
            <a:ext cx="2574341" cy="256540"/>
          </a:xfrm>
          <a:prstGeom prst="rect">
            <a:avLst/>
          </a:prstGeom>
          <a:noFill/>
          <a:ln/>
        </p:spPr>
        <p:txBody>
          <a:bodyPr wrap="square" lIns="0" tIns="0" rIns="0" bIns="0" rtlCol="0" anchor="t">
            <a:normAutofit/>
          </a:bodyPr>
          <a:lstStyle/>
          <a:p>
            <a:pPr algn="l" indent="0" marL="0">
              <a:lnSpc>
                <a:spcPts val="1820"/>
              </a:lnSpc>
              <a:buNone/>
            </a:pPr>
            <a:r>
              <a:rPr lang="en-US" sz="1300" i="1" dirty="0">
                <a:solidFill>
                  <a:srgbClr val="4B5563"/>
                </a:solidFill>
                <a:latin typeface="Noto Sans" pitchFamily="34" charset="0"/>
                <a:ea typeface="Noto Sans" pitchFamily="34" charset="-122"/>
                <a:cs typeface="Noto Sans" pitchFamily="34" charset="-120"/>
              </a:rPr>
              <a:t>Misol: enkoderli servodvigatel</a:t>
            </a:r>
            <a:endParaRPr lang="en-US" sz="1300" dirty="0"/>
          </a:p>
        </p:txBody>
      </p:sp>
      <p:pic>
        <p:nvPicPr>
          <p:cNvPr id="16" name="Image 1" descr="arrow-right">    </p:cNvPr>
          <p:cNvPicPr>
            <a:picLocks noChangeAspect="1"/>
          </p:cNvPicPr>
          <p:nvPr/>
        </p:nvPicPr>
        <p:blipFill>
          <a:blip r:embed="rId2"/>
          <a:srcRect l="0" r="0" t="0" b="0"/>
          <a:stretch/>
        </p:blipFill>
        <p:spPr>
          <a:xfrm>
            <a:off x="7838440" y="2501900"/>
            <a:ext cx="355600" cy="279400"/>
          </a:xfrm>
          <a:prstGeom prst="rect">
            <a:avLst/>
          </a:prstGeom>
        </p:spPr>
      </p:pic>
      <p:sp>
        <p:nvSpPr>
          <p:cNvPr id="17" name="Text 13"/>
          <p:cNvSpPr/>
          <p:nvPr/>
        </p:nvSpPr>
        <p:spPr>
          <a:xfrm>
            <a:off x="7607300" y="2857500"/>
            <a:ext cx="817880" cy="42164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B5521A"/>
                </a:solidFill>
                <a:latin typeface="Noto Sans" pitchFamily="34" charset="0"/>
                <a:ea typeface="Noto Sans" pitchFamily="34" charset="-122"/>
                <a:cs typeface="Noto Sans" pitchFamily="34" charset="-120"/>
              </a:rPr>
              <a:t>+ boshqaruv</a:t>
            </a:r>
            <a:endParaRPr lang="en-US" sz="1200" dirty="0"/>
          </a:p>
        </p:txBody>
      </p:sp>
      <p:sp>
        <p:nvSpPr>
          <p:cNvPr id="18" name="Shape 14"/>
          <p:cNvSpPr/>
          <p:nvPr/>
        </p:nvSpPr>
        <p:spPr>
          <a:xfrm>
            <a:off x="8473440" y="1803400"/>
            <a:ext cx="2905760" cy="2148840"/>
          </a:xfrm>
          <a:prstGeom prst="roundRect">
            <a:avLst>
              <a:gd name="adj" fmla="val 4728"/>
            </a:avLst>
          </a:prstGeom>
          <a:solidFill>
            <a:srgbClr val="16233B"/>
          </a:solidFill>
          <a:ln/>
        </p:spPr>
      </p:sp>
      <p:sp>
        <p:nvSpPr>
          <p:cNvPr id="19" name="Shape 15"/>
          <p:cNvSpPr/>
          <p:nvPr/>
        </p:nvSpPr>
        <p:spPr>
          <a:xfrm>
            <a:off x="8473440" y="1803400"/>
            <a:ext cx="2905760" cy="2148840"/>
          </a:xfrm>
          <a:custGeom>
            <a:avLst/>
            <a:gdLst/>
            <a:ahLst/>
            <a:cxnLst/>
            <a:rect l="l" t="t" r="r" b="b"/>
            <a:pathLst>
              <a:path w="2905760" h="2148840">
                <a:moveTo>
                  <a:pt x="0" y="101600"/>
                </a:moveTo>
                <a:lnTo>
                  <a:pt x="0" y="101600"/>
                </a:lnTo>
                <a:arcTo hR="101600" wR="101600" stAng="10800000" swAng="5400000"/>
                <a:lnTo>
                  <a:pt x="2804160" y="0"/>
                </a:lnTo>
                <a:arcTo hR="101600" wR="101600" stAng="16200000" swAng="5400000"/>
                <a:lnTo>
                  <a:pt x="2905760" y="101600"/>
                </a:lnTo>
                <a:arcTo hR="50800" wR="101600" stAng="0" swAng="-5400000"/>
                <a:lnTo>
                  <a:pt x="101600" y="50800"/>
                </a:lnTo>
                <a:arcTo hR="50800" wR="101600" stAng="16200000" swAng="-5400000"/>
                <a:close/>
              </a:path>
            </a:pathLst>
          </a:custGeom>
          <a:solidFill>
            <a:srgbClr val="D9692B"/>
          </a:solidFill>
          <a:ln/>
        </p:spPr>
      </p:sp>
      <p:sp>
        <p:nvSpPr>
          <p:cNvPr id="20" name="Text 16"/>
          <p:cNvSpPr/>
          <p:nvPr/>
        </p:nvSpPr>
        <p:spPr>
          <a:xfrm>
            <a:off x="8676640" y="2057400"/>
            <a:ext cx="257434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0A46E"/>
                </a:solidFill>
                <a:latin typeface="Noto Sans" pitchFamily="34" charset="0"/>
                <a:ea typeface="Noto Sans" pitchFamily="34" charset="-122"/>
                <a:cs typeface="Noto Sans" pitchFamily="34" charset="-120"/>
              </a:rPr>
              <a:t>3-DARAJA</a:t>
            </a:r>
            <a:endParaRPr lang="en-US" sz="1200" dirty="0"/>
          </a:p>
        </p:txBody>
      </p:sp>
      <p:sp>
        <p:nvSpPr>
          <p:cNvPr id="21" name="Text 17"/>
          <p:cNvSpPr/>
          <p:nvPr/>
        </p:nvSpPr>
        <p:spPr>
          <a:xfrm>
            <a:off x="8676640" y="2359658"/>
            <a:ext cx="2574341" cy="5435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5F3EE"/>
                </a:solidFill>
                <a:latin typeface="Noto Sans" pitchFamily="34" charset="0"/>
                <a:ea typeface="Noto Sans" pitchFamily="34" charset="-122"/>
                <a:cs typeface="Noto Sans" pitchFamily="34" charset="-120"/>
              </a:rPr>
              <a:t>Intellektual mexatron modul</a:t>
            </a:r>
            <a:endParaRPr lang="en-US" sz="1700" dirty="0"/>
          </a:p>
        </p:txBody>
      </p:sp>
      <p:sp>
        <p:nvSpPr>
          <p:cNvPr id="22" name="Text 18"/>
          <p:cNvSpPr/>
          <p:nvPr/>
        </p:nvSpPr>
        <p:spPr>
          <a:xfrm>
            <a:off x="8676640" y="2966721"/>
            <a:ext cx="2574341"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5F3EE"/>
                </a:solidFill>
                <a:latin typeface="Noto Sans" pitchFamily="34" charset="0"/>
                <a:ea typeface="Noto Sans" pitchFamily="34" charset="-122"/>
                <a:cs typeface="Noto Sans" pitchFamily="34" charset="-120"/>
              </a:rPr>
              <a:t>+ kontroller, drayver, tarmoq interfeysi</a:t>
            </a:r>
            <a:endParaRPr lang="en-US" sz="1300" dirty="0"/>
          </a:p>
        </p:txBody>
      </p:sp>
      <p:sp>
        <p:nvSpPr>
          <p:cNvPr id="23" name="Text 19"/>
          <p:cNvSpPr/>
          <p:nvPr/>
        </p:nvSpPr>
        <p:spPr>
          <a:xfrm>
            <a:off x="8676640" y="3517900"/>
            <a:ext cx="2574341" cy="256540"/>
          </a:xfrm>
          <a:prstGeom prst="rect">
            <a:avLst/>
          </a:prstGeom>
          <a:noFill/>
          <a:ln/>
        </p:spPr>
        <p:txBody>
          <a:bodyPr wrap="square" lIns="0" tIns="0" rIns="0" bIns="0" rtlCol="0" anchor="t">
            <a:normAutofit/>
          </a:bodyPr>
          <a:lstStyle/>
          <a:p>
            <a:pPr algn="l" indent="0" marL="0">
              <a:lnSpc>
                <a:spcPts val="1820"/>
              </a:lnSpc>
              <a:buNone/>
            </a:pPr>
            <a:r>
              <a:rPr lang="en-US" sz="1300" i="1" dirty="0">
                <a:solidFill>
                  <a:srgbClr val="C9CFDB"/>
                </a:solidFill>
                <a:latin typeface="Noto Sans" pitchFamily="34" charset="0"/>
                <a:ea typeface="Noto Sans" pitchFamily="34" charset="-122"/>
                <a:cs typeface="Noto Sans" pitchFamily="34" charset="-120"/>
              </a:rPr>
              <a:t>Misol: kobot boʻgʻini moduli</a:t>
            </a:r>
            <a:endParaRPr lang="en-US" sz="1300" dirty="0"/>
          </a:p>
        </p:txBody>
      </p:sp>
      <p:sp>
        <p:nvSpPr>
          <p:cNvPr id="24" name="Text 20"/>
          <p:cNvSpPr/>
          <p:nvPr/>
        </p:nvSpPr>
        <p:spPr>
          <a:xfrm>
            <a:off x="812800" y="4206242"/>
            <a:ext cx="10566400" cy="802640"/>
          </a:xfrm>
          <a:prstGeom prst="roundRect">
            <a:avLst>
              <a:gd name="adj" fmla="val 9494"/>
            </a:avLst>
          </a:prstGeom>
          <a:solidFill>
            <a:srgbClr val="E8EEF6"/>
          </a:solidFill>
          <a:ln/>
        </p:spPr>
        <p:txBody>
          <a:bodyPr wrap="square" lIns="231682" tIns="130082" rIns="0" bIns="104682" rtlCol="0" anchor="t">
            <a:normAutofit/>
          </a:bodyPr>
          <a:lstStyle/>
          <a:p>
            <a:pPr algn="l" indent="0" marL="0">
              <a:lnSpc>
                <a:spcPts val="1960"/>
              </a:lnSpc>
              <a:buNone/>
            </a:pPr>
            <a:r>
              <a:rPr lang="en-US" sz="1400" b="1" dirty="0">
                <a:solidFill>
                  <a:srgbClr val="1D2433"/>
                </a:solidFill>
                <a:latin typeface="Noto Sans" pitchFamily="34" charset="0"/>
                <a:ea typeface="Noto Sans" pitchFamily="34" charset="-122"/>
                <a:cs typeface="Noto Sans" pitchFamily="34" charset="-120"/>
              </a:rPr>
              <a:t>Kobot boʻgʻini:</a:t>
            </a:r>
            <a:r>
              <a:rPr lang="en-US" sz="1400" dirty="0">
                <a:solidFill>
                  <a:srgbClr val="1D2433"/>
                </a:solidFill>
                <a:latin typeface="Noto Sans" pitchFamily="34" charset="0"/>
                <a:ea typeface="Noto Sans" pitchFamily="34" charset="-122"/>
                <a:cs typeface="Noto Sans" pitchFamily="34" charset="-120"/>
              </a:rPr>
              <a:t> dvigatel, toʻlqinli reduktor, ikki enkoder (dvigatel va chiqish valida), moment datchigi, tormoz va drayver — bitta korpusda.</a:t>
            </a:r>
            <a:endParaRPr lang="en-US" sz="1400" dirty="0"/>
          </a:p>
        </p:txBody>
      </p:sp>
      <p:sp>
        <p:nvSpPr>
          <p:cNvPr id="25" name="Text 21"/>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Maʼruza №2 · Informatsiya nazariyasi. Mexatron modullar va robotlar · 14 · Tasnif: Yu. V. Podurayev</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A"/>
                </a:solidFill>
                <a:latin typeface="Noto Sans" pitchFamily="34" charset="0"/>
                <a:ea typeface="Noto Sans" pitchFamily="34" charset="-122"/>
                <a:cs typeface="Noto Sans" pitchFamily="34" charset="-120"/>
              </a:rPr>
              <a:t>MEXATRON MODULLAR</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B"/>
                </a:solidFill>
                <a:latin typeface="Noto Sans" pitchFamily="34" charset="0"/>
                <a:ea typeface="Noto Sans" pitchFamily="34" charset="-122"/>
                <a:cs typeface="Noto Sans" pitchFamily="34" charset="-120"/>
              </a:rPr>
              <a:t>Aylanma va chiziqli modullar</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13560"/>
          <a:ext cx="10556240" cy="3812540"/>
        </p:xfrm>
        <a:graphic>
          <a:graphicData uri="http://schemas.openxmlformats.org/drawingml/2006/table">
            <a:tbl>
              <a:tblPr/>
              <a:tblGrid>
                <a:gridCol w="3518747"/>
                <a:gridCol w="3518747"/>
                <a:gridCol w="3518747"/>
              </a:tblGrid>
              <a:tr h="385445">
                <a:tc>
                  <a:txBody>
                    <a:bodyPr/>
                    <a:lstStyle/>
                    <a:p>
                      <a:pPr indent="0" marL="0">
                        <a:lnSpc>
                          <a:spcPts val="1820"/>
                        </a:lnSpc>
                        <a:buNone/>
                      </a:pPr>
                      <a:r>
                        <a:rPr lang="en-US" sz="1300" b="1" dirty="0">
                          <a:solidFill>
                            <a:srgbClr val="F5F3EE"/>
                          </a:solidFill>
                          <a:latin typeface="Noto Sans" pitchFamily="34" charset="0"/>
                          <a:ea typeface="Noto Sans" pitchFamily="34" charset="-122"/>
                          <a:cs typeface="Noto Sans" pitchFamily="34" charset="-120"/>
                        </a:rPr>
                        <a:t>Modul</a:t>
                      </a:r>
                      <a:endParaRPr lang="en-US" sz="1300"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indent="0" marL="0">
                        <a:lnSpc>
                          <a:spcPts val="1820"/>
                        </a:lnSpc>
                        <a:buNone/>
                      </a:pPr>
                      <a:r>
                        <a:rPr lang="en-US" sz="1300" b="1" dirty="0">
                          <a:solidFill>
                            <a:srgbClr val="F5F3EE"/>
                          </a:solidFill>
                          <a:latin typeface="Noto Sans" pitchFamily="34" charset="0"/>
                          <a:ea typeface="Noto Sans" pitchFamily="34" charset="-122"/>
                          <a:cs typeface="Noto Sans" pitchFamily="34" charset="-120"/>
                        </a:rPr>
                        <a:t>Tarkibi va informatsion qurilmalari</a:t>
                      </a:r>
                      <a:endParaRPr lang="en-US" sz="1300" dirty="0">
                        <a:latin typeface="Noto Sans" charset="0"/>
                        <a:ea typeface="Noto Sans" charset="0"/>
                        <a:cs typeface="Noto Sans" charset="0"/>
                      </a:endParaRPr>
                    </a:p>
                  </a:txBody>
                  <a:tcPr marL="127000" marR="127000" marT="76200" marB="76200"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indent="0" marL="0">
                        <a:lnSpc>
                          <a:spcPts val="1820"/>
                        </a:lnSpc>
                        <a:buNone/>
                      </a:pPr>
                      <a:r>
                        <a:rPr lang="en-US" sz="1300" b="1" dirty="0">
                          <a:solidFill>
                            <a:srgbClr val="F5F3EE"/>
                          </a:solidFill>
                          <a:latin typeface="Noto Sans" pitchFamily="34" charset="0"/>
                          <a:ea typeface="Noto Sans" pitchFamily="34" charset="-122"/>
                          <a:cs typeface="Noto Sans" pitchFamily="34" charset="-120"/>
                        </a:rPr>
                        <a:t>Qoʻllanilishi</a:t>
                      </a:r>
                      <a:endParaRPr lang="en-US" sz="1300" dirty="0">
                        <a:latin typeface="Noto Sans" charset="0"/>
                        <a:ea typeface="Noto Sans" charset="0"/>
                        <a:cs typeface="Noto Sans" charset="0"/>
                      </a:endParaRPr>
                    </a:p>
                  </a:txBody>
                  <a:tcPr marL="127000" marR="127000" marT="76200" marB="76200"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r>
              <a:tr h="608330">
                <a:tc>
                  <a:txBody>
                    <a:bodyPr/>
                    <a:lstStyle/>
                    <a:p>
                      <a:pPr indent="0" marL="0">
                        <a:lnSpc>
                          <a:spcPts val="1820"/>
                        </a:lnSpc>
                        <a:buNone/>
                      </a:pPr>
                      <a:r>
                        <a:rPr lang="en-US" sz="1300" dirty="0">
                          <a:solidFill>
                            <a:srgbClr val="1D2433"/>
                          </a:solidFill>
                          <a:latin typeface="Noto Sans" pitchFamily="34" charset="0"/>
                          <a:ea typeface="Noto Sans" pitchFamily="34" charset="-122"/>
                          <a:cs typeface="Noto Sans" pitchFamily="34" charset="-120"/>
                        </a:rPr>
                        <a:t>Servodvigatel</a:t>
                      </a:r>
                      <a:endParaRPr lang="en-US" sz="1300"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D2433"/>
                          </a:solidFill>
                          <a:latin typeface="Noto Sans" pitchFamily="34" charset="0"/>
                          <a:ea typeface="Noto Sans" pitchFamily="34" charset="-122"/>
                          <a:cs typeface="Noto Sans" pitchFamily="34" charset="-120"/>
                        </a:rPr>
                        <a:t>Sinxron dvigatel, enkoder yoki rezolver, harorat datchigi</a:t>
                      </a:r>
                      <a:endParaRPr lang="en-US" sz="1300"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D2433"/>
                          </a:solidFill>
                          <a:latin typeface="Noto Sans" pitchFamily="34" charset="0"/>
                          <a:ea typeface="Noto Sans" pitchFamily="34" charset="-122"/>
                          <a:cs typeface="Noto Sans" pitchFamily="34" charset="-120"/>
                        </a:rPr>
                        <a:t>Dastgoh va robot yuritmalari</a:t>
                      </a:r>
                      <a:endParaRPr lang="en-US" sz="1300"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5445">
                <a:tc>
                  <a:txBody>
                    <a:bodyPr/>
                    <a:lstStyle/>
                    <a:p>
                      <a:pPr indent="0" marL="0">
                        <a:lnSpc>
                          <a:spcPts val="1820"/>
                        </a:lnSpc>
                        <a:buNone/>
                      </a:pPr>
                      <a:r>
                        <a:rPr lang="en-US" sz="1300" dirty="0">
                          <a:solidFill>
                            <a:srgbClr val="1D2433"/>
                          </a:solidFill>
                          <a:latin typeface="Noto Sans" pitchFamily="34" charset="0"/>
                          <a:ea typeface="Noto Sans" pitchFamily="34" charset="-122"/>
                          <a:cs typeface="Noto Sans" pitchFamily="34" charset="-120"/>
                        </a:rPr>
                        <a:t>Motor-reduktor</a:t>
                      </a:r>
                      <a:endParaRPr lang="en-US" sz="1300"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D2433"/>
                          </a:solidFill>
                          <a:latin typeface="Noto Sans" pitchFamily="34" charset="0"/>
                          <a:ea typeface="Noto Sans" pitchFamily="34" charset="-122"/>
                          <a:cs typeface="Noto Sans" pitchFamily="34" charset="-120"/>
                        </a:rPr>
                        <a:t>Dvigatel va reduktor; ixtiyoriy enkoder</a:t>
                      </a:r>
                      <a:endParaRPr lang="en-US" sz="1300"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D2433"/>
                          </a:solidFill>
                          <a:latin typeface="Noto Sans" pitchFamily="34" charset="0"/>
                          <a:ea typeface="Noto Sans" pitchFamily="34" charset="-122"/>
                          <a:cs typeface="Noto Sans" pitchFamily="34" charset="-120"/>
                        </a:rPr>
                        <a:t>Konveyerlar, mobil robotlar</a:t>
                      </a:r>
                      <a:endParaRPr lang="en-US" sz="1300"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608330">
                <a:tc>
                  <a:txBody>
                    <a:bodyPr/>
                    <a:lstStyle/>
                    <a:p>
                      <a:pPr indent="0" marL="0">
                        <a:lnSpc>
                          <a:spcPts val="1820"/>
                        </a:lnSpc>
                        <a:buNone/>
                      </a:pPr>
                      <a:r>
                        <a:rPr lang="en-US" sz="1300" dirty="0">
                          <a:solidFill>
                            <a:srgbClr val="1D2433"/>
                          </a:solidFill>
                          <a:latin typeface="Noto Sans" pitchFamily="34" charset="0"/>
                          <a:ea typeface="Noto Sans" pitchFamily="34" charset="-122"/>
                          <a:cs typeface="Noto Sans" pitchFamily="34" charset="-120"/>
                        </a:rPr>
                        <a:t>Robot boʻgʻini moduli</a:t>
                      </a:r>
                      <a:endParaRPr lang="en-US" sz="1300"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D2433"/>
                          </a:solidFill>
                          <a:latin typeface="Noto Sans" pitchFamily="34" charset="0"/>
                          <a:ea typeface="Noto Sans" pitchFamily="34" charset="-122"/>
                          <a:cs typeface="Noto Sans" pitchFamily="34" charset="-120"/>
                        </a:rPr>
                        <a:t>Toʻlqinli reduktor, ikki enkoder, moment datchigi, tormoz, drayver</a:t>
                      </a:r>
                      <a:endParaRPr lang="en-US" sz="1300"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D2433"/>
                          </a:solidFill>
                          <a:latin typeface="Noto Sans" pitchFamily="34" charset="0"/>
                          <a:ea typeface="Noto Sans" pitchFamily="34" charset="-122"/>
                          <a:cs typeface="Noto Sans" pitchFamily="34" charset="-120"/>
                        </a:rPr>
                        <a:t>Kollaborativ va servis robotlari</a:t>
                      </a:r>
                      <a:endParaRPr lang="en-US" sz="1300"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608330">
                <a:tc>
                  <a:txBody>
                    <a:bodyPr/>
                    <a:lstStyle/>
                    <a:p>
                      <a:pPr indent="0" marL="0">
                        <a:lnSpc>
                          <a:spcPts val="1820"/>
                        </a:lnSpc>
                        <a:buNone/>
                      </a:pPr>
                      <a:r>
                        <a:rPr lang="en-US" sz="1300" dirty="0">
                          <a:solidFill>
                            <a:srgbClr val="1D2433"/>
                          </a:solidFill>
                          <a:latin typeface="Noto Sans" pitchFamily="34" charset="0"/>
                          <a:ea typeface="Noto Sans" pitchFamily="34" charset="-122"/>
                          <a:cs typeface="Noto Sans" pitchFamily="34" charset="-120"/>
                        </a:rPr>
                        <a:t>Chiziqli modul</a:t>
                      </a:r>
                      <a:endParaRPr lang="en-US" sz="1300"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D2433"/>
                          </a:solidFill>
                          <a:latin typeface="Noto Sans" pitchFamily="34" charset="0"/>
                          <a:ea typeface="Noto Sans" pitchFamily="34" charset="-122"/>
                          <a:cs typeface="Noto Sans" pitchFamily="34" charset="-120"/>
                        </a:rPr>
                        <a:t>Sharikli vintli yoki tasmali uzatma, enkoder, chegara datchiklari</a:t>
                      </a:r>
                      <a:endParaRPr lang="en-US" sz="1300"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D2433"/>
                          </a:solidFill>
                          <a:latin typeface="Noto Sans" pitchFamily="34" charset="0"/>
                          <a:ea typeface="Noto Sans" pitchFamily="34" charset="-122"/>
                          <a:cs typeface="Noto Sans" pitchFamily="34" charset="-120"/>
                        </a:rPr>
                        <a:t>Dekart robotlari, 3D printerlar</a:t>
                      </a:r>
                      <a:endParaRPr lang="en-US" sz="1300"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608330">
                <a:tc>
                  <a:txBody>
                    <a:bodyPr/>
                    <a:lstStyle/>
                    <a:p>
                      <a:pPr indent="0" marL="0">
                        <a:lnSpc>
                          <a:spcPts val="1820"/>
                        </a:lnSpc>
                        <a:buNone/>
                      </a:pPr>
                      <a:r>
                        <a:rPr lang="en-US" sz="1300" dirty="0">
                          <a:solidFill>
                            <a:srgbClr val="1D2433"/>
                          </a:solidFill>
                          <a:latin typeface="Noto Sans" pitchFamily="34" charset="0"/>
                          <a:ea typeface="Noto Sans" pitchFamily="34" charset="-122"/>
                          <a:cs typeface="Noto Sans" pitchFamily="34" charset="-120"/>
                        </a:rPr>
                        <a:t>Chiziqli dvigatel</a:t>
                      </a:r>
                      <a:endParaRPr lang="en-US" sz="1300"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D2433"/>
                          </a:solidFill>
                          <a:latin typeface="Noto Sans" pitchFamily="34" charset="0"/>
                          <a:ea typeface="Noto Sans" pitchFamily="34" charset="-122"/>
                          <a:cs typeface="Noto Sans" pitchFamily="34" charset="-120"/>
                        </a:rPr>
                        <a:t>Uzatmasiz dvigatel, chiziqli optik yoki magnit shkala</a:t>
                      </a:r>
                      <a:endParaRPr lang="en-US" sz="1300"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D2433"/>
                          </a:solidFill>
                          <a:latin typeface="Noto Sans" pitchFamily="34" charset="0"/>
                          <a:ea typeface="Noto Sans" pitchFamily="34" charset="-122"/>
                          <a:cs typeface="Noto Sans" pitchFamily="34" charset="-120"/>
                        </a:rPr>
                        <a:t>Yuqori tezlikli aniq pozitsiyalash</a:t>
                      </a:r>
                      <a:endParaRPr lang="en-US" sz="1300"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608330">
                <a:tc>
                  <a:txBody>
                    <a:bodyPr/>
                    <a:lstStyle/>
                    <a:p>
                      <a:pPr indent="0" marL="0">
                        <a:lnSpc>
                          <a:spcPts val="1820"/>
                        </a:lnSpc>
                        <a:buNone/>
                      </a:pPr>
                      <a:r>
                        <a:rPr lang="en-US" sz="1300" dirty="0">
                          <a:solidFill>
                            <a:srgbClr val="1D2433"/>
                          </a:solidFill>
                          <a:latin typeface="Noto Sans" pitchFamily="34" charset="0"/>
                          <a:ea typeface="Noto Sans" pitchFamily="34" charset="-122"/>
                          <a:cs typeface="Noto Sans" pitchFamily="34" charset="-120"/>
                        </a:rPr>
                        <a:t>Motor-gʻildirak</a:t>
                      </a:r>
                      <a:endParaRPr lang="en-US" sz="1300"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D2433"/>
                          </a:solidFill>
                          <a:latin typeface="Noto Sans" pitchFamily="34" charset="0"/>
                          <a:ea typeface="Noto Sans" pitchFamily="34" charset="-122"/>
                          <a:cs typeface="Noto Sans" pitchFamily="34" charset="-120"/>
                        </a:rPr>
                        <a:t>Gʻildirak ichidagi dvigatel, Xoll datchiklari, enkoder</a:t>
                      </a:r>
                      <a:endParaRPr lang="en-US" sz="1300"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D2433"/>
                          </a:solidFill>
                          <a:latin typeface="Noto Sans" pitchFamily="34" charset="0"/>
                          <a:ea typeface="Noto Sans" pitchFamily="34" charset="-122"/>
                          <a:cs typeface="Noto Sans" pitchFamily="34" charset="-120"/>
                        </a:rPr>
                        <a:t>Mobil robotlar, elektr transport</a:t>
                      </a:r>
                      <a:endParaRPr lang="en-US" sz="1300"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bl>
          </a:graphicData>
        </a:graphic>
      </p:graphicFrame>
      <p:sp>
        <p:nvSpPr>
          <p:cNvPr id="5" name="Text 2"/>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Maʼruza №2 · Informatsiya nazariyasi. Mexatron modullar va robotlar · 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A"/>
                </a:solidFill>
                <a:latin typeface="Noto Sans" pitchFamily="34" charset="0"/>
                <a:ea typeface="Noto Sans" pitchFamily="34" charset="-122"/>
                <a:cs typeface="Noto Sans" pitchFamily="34" charset="-120"/>
              </a:rPr>
              <a:t>ROBOTLAR TASNIFI</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B"/>
                </a:solidFill>
                <a:latin typeface="Noto Sans" pitchFamily="34" charset="0"/>
                <a:ea typeface="Noto Sans" pitchFamily="34" charset="-122"/>
                <a:cs typeface="Noto Sans" pitchFamily="34" charset="-120"/>
              </a:rPr>
              <a:t>Qoʻllanish sohasi boʻyicha</a:t>
            </a:r>
            <a:endParaRPr lang="en-US" sz="3200" dirty="0"/>
          </a:p>
        </p:txBody>
      </p:sp>
      <p:sp>
        <p:nvSpPr>
          <p:cNvPr id="4" name="Shape 2"/>
          <p:cNvSpPr/>
          <p:nvPr/>
        </p:nvSpPr>
        <p:spPr>
          <a:xfrm>
            <a:off x="815975" y="1806575"/>
            <a:ext cx="3380317" cy="2762250"/>
          </a:xfrm>
          <a:prstGeom prst="roundRect">
            <a:avLst>
              <a:gd name="adj" fmla="val 3563"/>
            </a:avLst>
          </a:prstGeom>
          <a:solidFill>
            <a:srgbClr val="FDFCF9"/>
          </a:solidFill>
          <a:ln w="6350">
            <a:solidFill>
              <a:srgbClr val="E2DED4"/>
            </a:solidFill>
            <a:prstDash val="solid"/>
          </a:ln>
        </p:spPr>
      </p:sp>
      <p:sp>
        <p:nvSpPr>
          <p:cNvPr id="5" name="Text 3"/>
          <p:cNvSpPr/>
          <p:nvPr/>
        </p:nvSpPr>
        <p:spPr>
          <a:xfrm>
            <a:off x="1071880" y="2062485"/>
            <a:ext cx="295456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D6CB0"/>
                </a:solidFill>
                <a:latin typeface="Noto Sans" pitchFamily="34" charset="0"/>
                <a:ea typeface="Noto Sans" pitchFamily="34" charset="-122"/>
                <a:cs typeface="Noto Sans" pitchFamily="34" charset="-120"/>
              </a:rPr>
              <a:t>ISO 8373</a:t>
            </a:r>
            <a:endParaRPr lang="en-US" sz="1200" dirty="0"/>
          </a:p>
        </p:txBody>
      </p:sp>
      <p:sp>
        <p:nvSpPr>
          <p:cNvPr id="6" name="Text 4"/>
          <p:cNvSpPr/>
          <p:nvPr/>
        </p:nvSpPr>
        <p:spPr>
          <a:xfrm>
            <a:off x="1071880" y="2377442"/>
            <a:ext cx="295456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D2433"/>
                </a:solidFill>
                <a:latin typeface="Noto Sans" pitchFamily="34" charset="0"/>
                <a:ea typeface="Noto Sans" pitchFamily="34" charset="-122"/>
                <a:cs typeface="Noto Sans" pitchFamily="34" charset="-120"/>
              </a:rPr>
              <a:t>Sanoat robotlari</a:t>
            </a:r>
            <a:endParaRPr lang="en-US" sz="1800" dirty="0"/>
          </a:p>
        </p:txBody>
      </p:sp>
      <p:sp>
        <p:nvSpPr>
          <p:cNvPr id="7" name="Text 5"/>
          <p:cNvSpPr/>
          <p:nvPr/>
        </p:nvSpPr>
        <p:spPr>
          <a:xfrm>
            <a:off x="1071880" y="2753358"/>
            <a:ext cx="2954562"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D2433"/>
                </a:solidFill>
                <a:latin typeface="Noto Sans" pitchFamily="34" charset="0"/>
                <a:ea typeface="Noto Sans" pitchFamily="34" charset="-122"/>
                <a:cs typeface="Noto Sans" pitchFamily="34" charset="-120"/>
              </a:rPr>
              <a:t>Avtomatik boshqariladigan, qayta dasturlanadigan, koʻp maqsadli, uch va undan ortiq oʻqli manipulyator</a:t>
            </a:r>
            <a:endParaRPr lang="en-US" sz="1400" dirty="0"/>
          </a:p>
        </p:txBody>
      </p:sp>
      <p:sp>
        <p:nvSpPr>
          <p:cNvPr id="8" name="Text 6"/>
          <p:cNvSpPr/>
          <p:nvPr/>
        </p:nvSpPr>
        <p:spPr>
          <a:xfrm>
            <a:off x="1071880" y="3850642"/>
            <a:ext cx="295456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B5563"/>
                </a:solidFill>
                <a:latin typeface="Noto Sans" pitchFamily="34" charset="0"/>
                <a:ea typeface="Noto Sans" pitchFamily="34" charset="-122"/>
                <a:cs typeface="Noto Sans" pitchFamily="34" charset="-120"/>
              </a:rPr>
              <a:t>Payvandlash, boʻyash, yigʻish, yuklash, qadoqlash</a:t>
            </a:r>
            <a:endParaRPr lang="en-US" sz="1300" dirty="0"/>
          </a:p>
        </p:txBody>
      </p:sp>
      <p:sp>
        <p:nvSpPr>
          <p:cNvPr id="9" name="Shape 7"/>
          <p:cNvSpPr/>
          <p:nvPr/>
        </p:nvSpPr>
        <p:spPr>
          <a:xfrm>
            <a:off x="4405842" y="1806575"/>
            <a:ext cx="3380317" cy="2762250"/>
          </a:xfrm>
          <a:prstGeom prst="roundRect">
            <a:avLst>
              <a:gd name="adj" fmla="val 3563"/>
            </a:avLst>
          </a:prstGeom>
          <a:solidFill>
            <a:srgbClr val="FDFCF9"/>
          </a:solidFill>
          <a:ln w="6350">
            <a:solidFill>
              <a:srgbClr val="E2DED4"/>
            </a:solidFill>
            <a:prstDash val="solid"/>
          </a:ln>
        </p:spPr>
      </p:sp>
      <p:sp>
        <p:nvSpPr>
          <p:cNvPr id="10" name="Text 8"/>
          <p:cNvSpPr/>
          <p:nvPr/>
        </p:nvSpPr>
        <p:spPr>
          <a:xfrm>
            <a:off x="4661746" y="2062485"/>
            <a:ext cx="295456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D6CB0"/>
                </a:solidFill>
                <a:latin typeface="Noto Sans" pitchFamily="34" charset="0"/>
                <a:ea typeface="Noto Sans" pitchFamily="34" charset="-122"/>
                <a:cs typeface="Noto Sans" pitchFamily="34" charset="-120"/>
              </a:rPr>
              <a:t>ISO 8373</a:t>
            </a:r>
            <a:endParaRPr lang="en-US" sz="1200" dirty="0"/>
          </a:p>
        </p:txBody>
      </p:sp>
      <p:sp>
        <p:nvSpPr>
          <p:cNvPr id="11" name="Text 9"/>
          <p:cNvSpPr/>
          <p:nvPr/>
        </p:nvSpPr>
        <p:spPr>
          <a:xfrm>
            <a:off x="4661746" y="2377442"/>
            <a:ext cx="295456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D2433"/>
                </a:solidFill>
                <a:latin typeface="Noto Sans" pitchFamily="34" charset="0"/>
                <a:ea typeface="Noto Sans" pitchFamily="34" charset="-122"/>
                <a:cs typeface="Noto Sans" pitchFamily="34" charset="-120"/>
              </a:rPr>
              <a:t>Servis robotlari</a:t>
            </a:r>
            <a:endParaRPr lang="en-US" sz="1800" dirty="0"/>
          </a:p>
        </p:txBody>
      </p:sp>
      <p:sp>
        <p:nvSpPr>
          <p:cNvPr id="12" name="Text 10"/>
          <p:cNvSpPr/>
          <p:nvPr/>
        </p:nvSpPr>
        <p:spPr>
          <a:xfrm>
            <a:off x="4661746" y="2753358"/>
            <a:ext cx="2954562"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D2433"/>
                </a:solidFill>
                <a:latin typeface="Noto Sans" pitchFamily="34" charset="0"/>
                <a:ea typeface="Noto Sans" pitchFamily="34" charset="-122"/>
                <a:cs typeface="Noto Sans" pitchFamily="34" charset="-120"/>
              </a:rPr>
              <a:t>Sanoat avtomatlashtirishidan tashqari sohalarda inson yoki uskuna uchun foydali ish bajaradi</a:t>
            </a:r>
            <a:endParaRPr lang="en-US" sz="1400" dirty="0"/>
          </a:p>
        </p:txBody>
      </p:sp>
      <p:sp>
        <p:nvSpPr>
          <p:cNvPr id="13" name="Text 11"/>
          <p:cNvSpPr/>
          <p:nvPr/>
        </p:nvSpPr>
        <p:spPr>
          <a:xfrm>
            <a:off x="4661746" y="3601715"/>
            <a:ext cx="2954562" cy="71882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B5563"/>
                </a:solidFill>
                <a:latin typeface="Noto Sans" pitchFamily="34" charset="0"/>
                <a:ea typeface="Noto Sans" pitchFamily="34" charset="-122"/>
                <a:cs typeface="Noto Sans" pitchFamily="34" charset="-120"/>
              </a:rPr>
              <a:t>Professional:</a:t>
            </a:r>
            <a:r>
              <a:rPr lang="en-US" sz="1300" dirty="0">
                <a:solidFill>
                  <a:srgbClr val="4B5563"/>
                </a:solidFill>
                <a:latin typeface="Noto Sans" pitchFamily="34" charset="0"/>
                <a:ea typeface="Noto Sans" pitchFamily="34" charset="-122"/>
                <a:cs typeface="Noto Sans" pitchFamily="34" charset="-120"/>
              </a:rPr>
              <a:t> tibbiyot, logistika, qishloq xoʻjaligi. </a:t>
            </a:r>
            <a:r>
              <a:rPr lang="en-US" sz="1300" b="1" dirty="0">
                <a:solidFill>
                  <a:srgbClr val="4B5563"/>
                </a:solidFill>
                <a:latin typeface="Noto Sans" pitchFamily="34" charset="0"/>
                <a:ea typeface="Noto Sans" pitchFamily="34" charset="-122"/>
                <a:cs typeface="Noto Sans" pitchFamily="34" charset="-120"/>
              </a:rPr>
              <a:t>Maishiy:</a:t>
            </a:r>
            <a:r>
              <a:rPr lang="en-US" sz="1300" dirty="0">
                <a:solidFill>
                  <a:srgbClr val="4B5563"/>
                </a:solidFill>
                <a:latin typeface="Noto Sans" pitchFamily="34" charset="0"/>
                <a:ea typeface="Noto Sans" pitchFamily="34" charset="-122"/>
                <a:cs typeface="Noto Sans" pitchFamily="34" charset="-120"/>
              </a:rPr>
              <a:t> changyutgich robotlar</a:t>
            </a:r>
            <a:endParaRPr lang="en-US" sz="1300" dirty="0"/>
          </a:p>
        </p:txBody>
      </p:sp>
      <p:sp>
        <p:nvSpPr>
          <p:cNvPr id="14" name="Shape 12"/>
          <p:cNvSpPr/>
          <p:nvPr/>
        </p:nvSpPr>
        <p:spPr>
          <a:xfrm>
            <a:off x="7995708" y="1806575"/>
            <a:ext cx="3380317" cy="2762250"/>
          </a:xfrm>
          <a:prstGeom prst="roundRect">
            <a:avLst>
              <a:gd name="adj" fmla="val 3563"/>
            </a:avLst>
          </a:prstGeom>
          <a:solidFill>
            <a:srgbClr val="FDFCF9"/>
          </a:solidFill>
          <a:ln w="6350">
            <a:solidFill>
              <a:srgbClr val="E2DED4"/>
            </a:solidFill>
            <a:prstDash val="solid"/>
          </a:ln>
        </p:spPr>
      </p:sp>
      <p:sp>
        <p:nvSpPr>
          <p:cNvPr id="15" name="Text 13"/>
          <p:cNvSpPr/>
          <p:nvPr/>
        </p:nvSpPr>
        <p:spPr>
          <a:xfrm>
            <a:off x="8251613" y="2062485"/>
            <a:ext cx="295456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5521A"/>
                </a:solidFill>
                <a:latin typeface="Noto Sans" pitchFamily="34" charset="0"/>
                <a:ea typeface="Noto Sans" pitchFamily="34" charset="-122"/>
                <a:cs typeface="Noto Sans" pitchFamily="34" charset="-120"/>
              </a:rPr>
              <a:t>ALOHIDA GURUH</a:t>
            </a:r>
            <a:endParaRPr lang="en-US" sz="1200" dirty="0"/>
          </a:p>
        </p:txBody>
      </p:sp>
      <p:sp>
        <p:nvSpPr>
          <p:cNvPr id="16" name="Text 14"/>
          <p:cNvSpPr/>
          <p:nvPr/>
        </p:nvSpPr>
        <p:spPr>
          <a:xfrm>
            <a:off x="8251613" y="2377442"/>
            <a:ext cx="295456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D2433"/>
                </a:solidFill>
                <a:latin typeface="Noto Sans" pitchFamily="34" charset="0"/>
                <a:ea typeface="Noto Sans" pitchFamily="34" charset="-122"/>
                <a:cs typeface="Noto Sans" pitchFamily="34" charset="-120"/>
              </a:rPr>
              <a:t>Maxsus robotlar</a:t>
            </a:r>
            <a:endParaRPr lang="en-US" sz="1800" dirty="0"/>
          </a:p>
        </p:txBody>
      </p:sp>
      <p:sp>
        <p:nvSpPr>
          <p:cNvPr id="17" name="Text 15"/>
          <p:cNvSpPr/>
          <p:nvPr/>
        </p:nvSpPr>
        <p:spPr>
          <a:xfrm>
            <a:off x="8251613" y="2753358"/>
            <a:ext cx="295456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D2433"/>
                </a:solidFill>
                <a:latin typeface="Noto Sans" pitchFamily="34" charset="0"/>
                <a:ea typeface="Noto Sans" pitchFamily="34" charset="-122"/>
                <a:cs typeface="Noto Sans" pitchFamily="34" charset="-120"/>
              </a:rPr>
              <a:t>Ekstremal sharoitlarda ishlaydigan robotlar</a:t>
            </a:r>
            <a:endParaRPr lang="en-US" sz="1400" dirty="0"/>
          </a:p>
        </p:txBody>
      </p:sp>
      <p:sp>
        <p:nvSpPr>
          <p:cNvPr id="18" name="Text 16"/>
          <p:cNvSpPr/>
          <p:nvPr/>
        </p:nvSpPr>
        <p:spPr>
          <a:xfrm>
            <a:off x="8251613" y="3352800"/>
            <a:ext cx="295456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B5563"/>
                </a:solidFill>
                <a:latin typeface="Noto Sans" pitchFamily="34" charset="0"/>
                <a:ea typeface="Noto Sans" pitchFamily="34" charset="-122"/>
                <a:cs typeface="Noto Sans" pitchFamily="34" charset="-120"/>
              </a:rPr>
              <a:t>Kosmik, suv osti, harbiy, avariya-qutqaruv, yadro energetikasi</a:t>
            </a:r>
            <a:endParaRPr lang="en-US" sz="1300" dirty="0"/>
          </a:p>
        </p:txBody>
      </p:sp>
      <p:sp>
        <p:nvSpPr>
          <p:cNvPr id="19" name="Text 17"/>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Maʼruza №2 · Informatsiya nazariyasi. Mexatron modullar va robotlar · 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A"/>
                </a:solidFill>
                <a:latin typeface="Noto Sans" pitchFamily="34" charset="0"/>
                <a:ea typeface="Noto Sans" pitchFamily="34" charset="-122"/>
                <a:cs typeface="Noto Sans" pitchFamily="34" charset="-120"/>
              </a:rPr>
              <a:t>ROBOTLAR TASNIFI</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B"/>
                </a:solidFill>
                <a:latin typeface="Noto Sans" pitchFamily="34" charset="0"/>
                <a:ea typeface="Noto Sans" pitchFamily="34" charset="-122"/>
                <a:cs typeface="Noto Sans" pitchFamily="34" charset="-120"/>
              </a:rPr>
              <a:t>Boshqarish usuli va avtonomlik darajasi boʻyicha</a:t>
            </a:r>
            <a:endParaRPr lang="en-US" sz="3200" dirty="0"/>
          </a:p>
        </p:txBody>
      </p:sp>
      <p:sp>
        <p:nvSpPr>
          <p:cNvPr id="4" name="Text 2"/>
          <p:cNvSpPr/>
          <p:nvPr/>
        </p:nvSpPr>
        <p:spPr>
          <a:xfrm>
            <a:off x="812800" y="18034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D2433"/>
                </a:solidFill>
                <a:latin typeface="Noto Sans" pitchFamily="34" charset="0"/>
                <a:ea typeface="Noto Sans" pitchFamily="34" charset="-122"/>
                <a:cs typeface="Noto Sans" pitchFamily="34" charset="-120"/>
              </a:rPr>
              <a:t>Avlodlar boʻyicha: </a:t>
            </a:r>
            <a:r>
              <a:rPr lang="en-US" sz="1500" b="1" dirty="0">
                <a:solidFill>
                  <a:srgbClr val="1D2433"/>
                </a:solidFill>
                <a:latin typeface="Noto Sans" pitchFamily="34" charset="0"/>
                <a:ea typeface="Noto Sans" pitchFamily="34" charset="-122"/>
                <a:cs typeface="Noto Sans" pitchFamily="34" charset="-120"/>
              </a:rPr>
              <a:t>dasturiy</a:t>
            </a:r>
            <a:r>
              <a:rPr lang="en-US" sz="1500" dirty="0">
                <a:solidFill>
                  <a:srgbClr val="1D2433"/>
                </a:solidFill>
                <a:latin typeface="Noto Sans" pitchFamily="34" charset="0"/>
                <a:ea typeface="Noto Sans" pitchFamily="34" charset="-122"/>
                <a:cs typeface="Noto Sans" pitchFamily="34" charset="-120"/>
              </a:rPr>
              <a:t>, </a:t>
            </a:r>
            <a:r>
              <a:rPr lang="en-US" sz="1500" b="1" dirty="0">
                <a:solidFill>
                  <a:srgbClr val="1D2433"/>
                </a:solidFill>
                <a:latin typeface="Noto Sans" pitchFamily="34" charset="0"/>
                <a:ea typeface="Noto Sans" pitchFamily="34" charset="-122"/>
                <a:cs typeface="Noto Sans" pitchFamily="34" charset="-120"/>
              </a:rPr>
              <a:t>adaptiv</a:t>
            </a:r>
            <a:r>
              <a:rPr lang="en-US" sz="1500" dirty="0">
                <a:solidFill>
                  <a:srgbClr val="1D2433"/>
                </a:solidFill>
                <a:latin typeface="Noto Sans" pitchFamily="34" charset="0"/>
                <a:ea typeface="Noto Sans" pitchFamily="34" charset="-122"/>
                <a:cs typeface="Noto Sans" pitchFamily="34" charset="-120"/>
              </a:rPr>
              <a:t> va </a:t>
            </a:r>
            <a:r>
              <a:rPr lang="en-US" sz="1500" b="1" dirty="0">
                <a:solidFill>
                  <a:srgbClr val="1D2433"/>
                </a:solidFill>
                <a:latin typeface="Noto Sans" pitchFamily="34" charset="0"/>
                <a:ea typeface="Noto Sans" pitchFamily="34" charset="-122"/>
                <a:cs typeface="Noto Sans" pitchFamily="34" charset="-120"/>
              </a:rPr>
              <a:t>intellektual</a:t>
            </a:r>
            <a:r>
              <a:rPr lang="en-US" sz="1500" dirty="0">
                <a:solidFill>
                  <a:srgbClr val="1D2433"/>
                </a:solidFill>
                <a:latin typeface="Noto Sans" pitchFamily="34" charset="0"/>
                <a:ea typeface="Noto Sans" pitchFamily="34" charset="-122"/>
                <a:cs typeface="Noto Sans" pitchFamily="34" charset="-120"/>
              </a:rPr>
              <a:t> robotlar. Inson ishtiroki boʻyicha:</a:t>
            </a:r>
            <a:endParaRPr lang="en-US" sz="1500" dirty="0"/>
          </a:p>
        </p:txBody>
      </p:sp>
      <p:sp>
        <p:nvSpPr>
          <p:cNvPr id="5" name="Shape 3"/>
          <p:cNvSpPr/>
          <p:nvPr/>
        </p:nvSpPr>
        <p:spPr>
          <a:xfrm>
            <a:off x="815975" y="2327275"/>
            <a:ext cx="3417570" cy="1804670"/>
          </a:xfrm>
          <a:prstGeom prst="roundRect">
            <a:avLst>
              <a:gd name="adj" fmla="val 5454"/>
            </a:avLst>
          </a:prstGeom>
          <a:solidFill>
            <a:srgbClr val="FDFCF9"/>
          </a:solidFill>
          <a:ln w="6350">
            <a:solidFill>
              <a:srgbClr val="E2DED4"/>
            </a:solidFill>
            <a:prstDash val="solid"/>
          </a:ln>
        </p:spPr>
      </p:sp>
      <p:sp>
        <p:nvSpPr>
          <p:cNvPr id="6" name="Text 4"/>
          <p:cNvSpPr/>
          <p:nvPr/>
        </p:nvSpPr>
        <p:spPr>
          <a:xfrm>
            <a:off x="1046480" y="2557785"/>
            <a:ext cx="3045257"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D2433"/>
                </a:solidFill>
                <a:latin typeface="Noto Sans" pitchFamily="34" charset="0"/>
                <a:ea typeface="Noto Sans" pitchFamily="34" charset="-122"/>
                <a:cs typeface="Noto Sans" pitchFamily="34" charset="-120"/>
              </a:rPr>
              <a:t>Teleoperatsion</a:t>
            </a:r>
            <a:endParaRPr lang="en-US" sz="1700" dirty="0"/>
          </a:p>
        </p:txBody>
      </p:sp>
      <p:sp>
        <p:nvSpPr>
          <p:cNvPr id="7" name="Text 5"/>
          <p:cNvSpPr/>
          <p:nvPr/>
        </p:nvSpPr>
        <p:spPr>
          <a:xfrm>
            <a:off x="1046480" y="2905758"/>
            <a:ext cx="3045257"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433"/>
                </a:solidFill>
                <a:latin typeface="Noto Sans" pitchFamily="34" charset="0"/>
                <a:ea typeface="Noto Sans" pitchFamily="34" charset="-122"/>
                <a:cs typeface="Noto Sans" pitchFamily="34" charset="-120"/>
              </a:rPr>
              <a:t>Operator harakatni real vaqtda boshqaradi; robot unga tasvir va kuch haqida axborot qaytaradi</a:t>
            </a:r>
            <a:endParaRPr lang="en-US" sz="1300" dirty="0"/>
          </a:p>
        </p:txBody>
      </p:sp>
      <p:sp>
        <p:nvSpPr>
          <p:cNvPr id="8" name="Text 6"/>
          <p:cNvSpPr/>
          <p:nvPr/>
        </p:nvSpPr>
        <p:spPr>
          <a:xfrm>
            <a:off x="1046480" y="3688085"/>
            <a:ext cx="3045257" cy="23876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4B5563"/>
                </a:solidFill>
                <a:latin typeface="Noto Sans" pitchFamily="34" charset="0"/>
                <a:ea typeface="Noto Sans" pitchFamily="34" charset="-122"/>
                <a:cs typeface="Noto Sans" pitchFamily="34" charset="-120"/>
              </a:rPr>
              <a:t>Jarrohlik robotlari, suv osti apparatlari</a:t>
            </a:r>
            <a:endParaRPr lang="en-US" sz="1200" dirty="0"/>
          </a:p>
        </p:txBody>
      </p:sp>
      <p:sp>
        <p:nvSpPr>
          <p:cNvPr id="9" name="Shape 7"/>
          <p:cNvSpPr/>
          <p:nvPr/>
        </p:nvSpPr>
        <p:spPr>
          <a:xfrm>
            <a:off x="4392295" y="2327275"/>
            <a:ext cx="3417570" cy="1804670"/>
          </a:xfrm>
          <a:prstGeom prst="roundRect">
            <a:avLst>
              <a:gd name="adj" fmla="val 5454"/>
            </a:avLst>
          </a:prstGeom>
          <a:solidFill>
            <a:srgbClr val="FDFCF9"/>
          </a:solidFill>
          <a:ln w="6350">
            <a:solidFill>
              <a:srgbClr val="E2DED4"/>
            </a:solidFill>
            <a:prstDash val="solid"/>
          </a:ln>
        </p:spPr>
      </p:sp>
      <p:sp>
        <p:nvSpPr>
          <p:cNvPr id="10" name="Text 8"/>
          <p:cNvSpPr/>
          <p:nvPr/>
        </p:nvSpPr>
        <p:spPr>
          <a:xfrm>
            <a:off x="4622800" y="2557785"/>
            <a:ext cx="3045257"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D2433"/>
                </a:solidFill>
                <a:latin typeface="Noto Sans" pitchFamily="34" charset="0"/>
                <a:ea typeface="Noto Sans" pitchFamily="34" charset="-122"/>
                <a:cs typeface="Noto Sans" pitchFamily="34" charset="-120"/>
              </a:rPr>
              <a:t>Yarim avtonom</a:t>
            </a:r>
            <a:endParaRPr lang="en-US" sz="1700" dirty="0"/>
          </a:p>
        </p:txBody>
      </p:sp>
      <p:sp>
        <p:nvSpPr>
          <p:cNvPr id="11" name="Text 9"/>
          <p:cNvSpPr/>
          <p:nvPr/>
        </p:nvSpPr>
        <p:spPr>
          <a:xfrm>
            <a:off x="4622800" y="2905758"/>
            <a:ext cx="3045257"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433"/>
                </a:solidFill>
                <a:latin typeface="Noto Sans" pitchFamily="34" charset="0"/>
                <a:ea typeface="Noto Sans" pitchFamily="34" charset="-122"/>
                <a:cs typeface="Noto Sans" pitchFamily="34" charset="-120"/>
              </a:rPr>
              <a:t>Operator umumiy topshiriq beradi, oddiy harakatlarni robot oʻzi bajaradi</a:t>
            </a:r>
            <a:endParaRPr lang="en-US" sz="1300" dirty="0"/>
          </a:p>
        </p:txBody>
      </p:sp>
      <p:sp>
        <p:nvSpPr>
          <p:cNvPr id="12" name="Text 10"/>
          <p:cNvSpPr/>
          <p:nvPr/>
        </p:nvSpPr>
        <p:spPr>
          <a:xfrm>
            <a:off x="4622800" y="3456942"/>
            <a:ext cx="3045257" cy="23876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4B5563"/>
                </a:solidFill>
                <a:latin typeface="Noto Sans" pitchFamily="34" charset="0"/>
                <a:ea typeface="Noto Sans" pitchFamily="34" charset="-122"/>
                <a:cs typeface="Noto Sans" pitchFamily="34" charset="-120"/>
              </a:rPr>
              <a:t>Ombor robotlari, inspeksiya robotlari</a:t>
            </a:r>
            <a:endParaRPr lang="en-US" sz="1200" dirty="0"/>
          </a:p>
        </p:txBody>
      </p:sp>
      <p:sp>
        <p:nvSpPr>
          <p:cNvPr id="13" name="Shape 11"/>
          <p:cNvSpPr/>
          <p:nvPr/>
        </p:nvSpPr>
        <p:spPr>
          <a:xfrm>
            <a:off x="7965440" y="2324100"/>
            <a:ext cx="3413760" cy="1811020"/>
          </a:xfrm>
          <a:prstGeom prst="roundRect">
            <a:avLst>
              <a:gd name="adj" fmla="val 5610"/>
            </a:avLst>
          </a:prstGeom>
          <a:solidFill>
            <a:srgbClr val="16233B"/>
          </a:solidFill>
          <a:ln/>
        </p:spPr>
      </p:sp>
      <p:sp>
        <p:nvSpPr>
          <p:cNvPr id="14" name="Shape 12"/>
          <p:cNvSpPr/>
          <p:nvPr/>
        </p:nvSpPr>
        <p:spPr>
          <a:xfrm>
            <a:off x="7965440" y="2324100"/>
            <a:ext cx="3413760" cy="1811020"/>
          </a:xfrm>
          <a:custGeom>
            <a:avLst/>
            <a:gdLst/>
            <a:ahLst/>
            <a:cxnLst/>
            <a:rect l="l" t="t" r="r" b="b"/>
            <a:pathLst>
              <a:path w="3413760" h="1811020">
                <a:moveTo>
                  <a:pt x="0" y="101600"/>
                </a:moveTo>
                <a:lnTo>
                  <a:pt x="0" y="101600"/>
                </a:lnTo>
                <a:arcTo hR="101600" wR="101600" stAng="10800000" swAng="5400000"/>
                <a:lnTo>
                  <a:pt x="3312160" y="0"/>
                </a:lnTo>
                <a:arcTo hR="101600" wR="101600" stAng="16200000" swAng="5400000"/>
                <a:lnTo>
                  <a:pt x="3413760" y="101600"/>
                </a:lnTo>
                <a:arcTo hR="50800" wR="101600" stAng="0" swAng="-5400000"/>
                <a:lnTo>
                  <a:pt x="101600" y="50800"/>
                </a:lnTo>
                <a:arcTo hR="50800" wR="101600" stAng="16200000" swAng="-5400000"/>
                <a:close/>
              </a:path>
            </a:pathLst>
          </a:custGeom>
          <a:solidFill>
            <a:srgbClr val="D9692B"/>
          </a:solidFill>
          <a:ln/>
        </p:spPr>
      </p:sp>
      <p:sp>
        <p:nvSpPr>
          <p:cNvPr id="15" name="Text 13"/>
          <p:cNvSpPr/>
          <p:nvPr/>
        </p:nvSpPr>
        <p:spPr>
          <a:xfrm>
            <a:off x="8194040" y="2603500"/>
            <a:ext cx="3045257"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0A46E"/>
                </a:solidFill>
                <a:latin typeface="Noto Sans" pitchFamily="34" charset="0"/>
                <a:ea typeface="Noto Sans" pitchFamily="34" charset="-122"/>
                <a:cs typeface="Noto Sans" pitchFamily="34" charset="-120"/>
              </a:rPr>
              <a:t>Avtonom</a:t>
            </a:r>
            <a:endParaRPr lang="en-US" sz="1700" dirty="0"/>
          </a:p>
        </p:txBody>
      </p:sp>
      <p:sp>
        <p:nvSpPr>
          <p:cNvPr id="16" name="Text 14"/>
          <p:cNvSpPr/>
          <p:nvPr/>
        </p:nvSpPr>
        <p:spPr>
          <a:xfrm>
            <a:off x="8194040" y="2951485"/>
            <a:ext cx="3045257"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5F3EE"/>
                </a:solidFill>
                <a:latin typeface="Noto Sans" pitchFamily="34" charset="0"/>
                <a:ea typeface="Noto Sans" pitchFamily="34" charset="-122"/>
                <a:cs typeface="Noto Sans" pitchFamily="34" charset="-120"/>
              </a:rPr>
              <a:t>Topshiriqni inson aralashuvisiz, oʻz datchiklari axboroti asosida bajaradi</a:t>
            </a:r>
            <a:endParaRPr lang="en-US" sz="1300" dirty="0"/>
          </a:p>
        </p:txBody>
      </p:sp>
      <p:sp>
        <p:nvSpPr>
          <p:cNvPr id="17" name="Text 15"/>
          <p:cNvSpPr/>
          <p:nvPr/>
        </p:nvSpPr>
        <p:spPr>
          <a:xfrm>
            <a:off x="8194040" y="3502658"/>
            <a:ext cx="3045257" cy="23876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C9CFDB"/>
                </a:solidFill>
                <a:latin typeface="Noto Sans" pitchFamily="34" charset="0"/>
                <a:ea typeface="Noto Sans" pitchFamily="34" charset="-122"/>
                <a:cs typeface="Noto Sans" pitchFamily="34" charset="-120"/>
              </a:rPr>
              <a:t>Avtonom avtomobil, AMR, dron</a:t>
            </a:r>
            <a:endParaRPr lang="en-US" sz="1200" dirty="0"/>
          </a:p>
        </p:txBody>
      </p:sp>
      <p:sp>
        <p:nvSpPr>
          <p:cNvPr id="18" name="Text 16"/>
          <p:cNvSpPr/>
          <p:nvPr/>
        </p:nvSpPr>
        <p:spPr>
          <a:xfrm>
            <a:off x="812800" y="4389115"/>
            <a:ext cx="2196888"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B5563"/>
                </a:solidFill>
                <a:latin typeface="Noto Sans" pitchFamily="34" charset="0"/>
                <a:ea typeface="Noto Sans" pitchFamily="34" charset="-122"/>
                <a:cs typeface="Noto Sans" pitchFamily="34" charset="-120"/>
              </a:rPr>
              <a:t>Inson ishtiroki kamayadi</a:t>
            </a:r>
            <a:endParaRPr lang="en-US" sz="1300" dirty="0"/>
          </a:p>
        </p:txBody>
      </p:sp>
      <p:pic>
        <p:nvPicPr>
          <p:cNvPr id="19" name="Image 0" descr="arrow-right">    </p:cNvPr>
          <p:cNvPicPr>
            <a:picLocks noChangeAspect="1"/>
          </p:cNvPicPr>
          <p:nvPr/>
        </p:nvPicPr>
        <p:blipFill>
          <a:blip r:embed="rId1"/>
          <a:srcRect l="-7" r="-7" t="0" b="0"/>
          <a:stretch/>
        </p:blipFill>
        <p:spPr>
          <a:xfrm>
            <a:off x="3009688" y="4403092"/>
            <a:ext cx="5461741" cy="203200"/>
          </a:xfrm>
          <a:prstGeom prst="rect">
            <a:avLst/>
          </a:prstGeom>
        </p:spPr>
      </p:pic>
      <p:sp>
        <p:nvSpPr>
          <p:cNvPr id="20" name="Text 17"/>
          <p:cNvSpPr/>
          <p:nvPr/>
        </p:nvSpPr>
        <p:spPr>
          <a:xfrm>
            <a:off x="8623829" y="4389115"/>
            <a:ext cx="3306445"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5521A"/>
                </a:solidFill>
                <a:latin typeface="Noto Sans" pitchFamily="34" charset="0"/>
                <a:ea typeface="Noto Sans" pitchFamily="34" charset="-122"/>
                <a:cs typeface="Noto Sans" pitchFamily="34" charset="-120"/>
              </a:rPr>
              <a:t>Informatsion tizimga talab ortadi</a:t>
            </a:r>
            <a:endParaRPr lang="en-US" sz="1300" dirty="0"/>
          </a:p>
        </p:txBody>
      </p:sp>
      <p:sp>
        <p:nvSpPr>
          <p:cNvPr id="21" name="Text 18"/>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Maʼruza №2 · Informatsiya nazariyasi. Mexatron modullar va robotlar · 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A"/>
                </a:solidFill>
                <a:latin typeface="Noto Sans" pitchFamily="34" charset="0"/>
                <a:ea typeface="Noto Sans" pitchFamily="34" charset="-122"/>
                <a:cs typeface="Noto Sans" pitchFamily="34" charset="-120"/>
              </a:rPr>
              <a:t>ROBOTLAR TASNIFI</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B"/>
                </a:solidFill>
                <a:latin typeface="Noto Sans" pitchFamily="34" charset="0"/>
                <a:ea typeface="Noto Sans" pitchFamily="34" charset="-122"/>
                <a:cs typeface="Noto Sans" pitchFamily="34" charset="-120"/>
              </a:rPr>
              <a:t>Harakatlanish usuli boʻyicha</a:t>
            </a:r>
            <a:endParaRPr lang="en-US" sz="3200" dirty="0"/>
          </a:p>
        </p:txBody>
      </p:sp>
      <p:sp>
        <p:nvSpPr>
          <p:cNvPr id="4" name="Shape 2"/>
          <p:cNvSpPr/>
          <p:nvPr/>
        </p:nvSpPr>
        <p:spPr>
          <a:xfrm>
            <a:off x="812800" y="1803400"/>
            <a:ext cx="2794000" cy="3116580"/>
          </a:xfrm>
          <a:prstGeom prst="roundRect">
            <a:avLst>
              <a:gd name="adj" fmla="val 3636"/>
            </a:avLst>
          </a:prstGeom>
          <a:solidFill>
            <a:srgbClr val="16233B"/>
          </a:solidFill>
          <a:ln/>
        </p:spPr>
      </p:sp>
      <p:sp>
        <p:nvSpPr>
          <p:cNvPr id="5" name="Text 3"/>
          <p:cNvSpPr/>
          <p:nvPr/>
        </p:nvSpPr>
        <p:spPr>
          <a:xfrm>
            <a:off x="1066800" y="2057400"/>
            <a:ext cx="23545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0A46E"/>
                </a:solidFill>
                <a:latin typeface="Noto Sans" pitchFamily="34" charset="0"/>
                <a:ea typeface="Noto Sans" pitchFamily="34" charset="-122"/>
                <a:cs typeface="Noto Sans" pitchFamily="34" charset="-120"/>
              </a:rPr>
              <a:t>STATSIONAR</a:t>
            </a:r>
            <a:endParaRPr lang="en-US" sz="1200" dirty="0"/>
          </a:p>
        </p:txBody>
      </p:sp>
      <p:sp>
        <p:nvSpPr>
          <p:cNvPr id="6" name="Text 4"/>
          <p:cNvSpPr/>
          <p:nvPr/>
        </p:nvSpPr>
        <p:spPr>
          <a:xfrm>
            <a:off x="1066800" y="2372358"/>
            <a:ext cx="235458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5F3EE"/>
                </a:solidFill>
                <a:latin typeface="Noto Sans" pitchFamily="34" charset="0"/>
                <a:ea typeface="Noto Sans" pitchFamily="34" charset="-122"/>
                <a:cs typeface="Noto Sans" pitchFamily="34" charset="-120"/>
              </a:rPr>
              <a:t>Manipulyatorlar</a:t>
            </a:r>
            <a:endParaRPr lang="en-US" sz="1800" dirty="0"/>
          </a:p>
        </p:txBody>
      </p:sp>
      <p:sp>
        <p:nvSpPr>
          <p:cNvPr id="7" name="Text 5"/>
          <p:cNvSpPr/>
          <p:nvPr/>
        </p:nvSpPr>
        <p:spPr>
          <a:xfrm>
            <a:off x="1066800" y="2748285"/>
            <a:ext cx="2354580"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CFDB"/>
                </a:solidFill>
                <a:latin typeface="Noto Sans" pitchFamily="34" charset="0"/>
                <a:ea typeface="Noto Sans" pitchFamily="34" charset="-122"/>
                <a:cs typeface="Noto Sans" pitchFamily="34" charset="-120"/>
              </a:rPr>
              <a:t>Asosi qoʻzgʻalmas; ishchi zona robot oʻlchamlari bilan cheklangan</a:t>
            </a:r>
            <a:endParaRPr lang="en-US" sz="1300" dirty="0"/>
          </a:p>
        </p:txBody>
      </p:sp>
      <p:sp>
        <p:nvSpPr>
          <p:cNvPr id="8" name="Text 6"/>
          <p:cNvSpPr/>
          <p:nvPr/>
        </p:nvSpPr>
        <p:spPr>
          <a:xfrm>
            <a:off x="1066800" y="3543300"/>
            <a:ext cx="235458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CFDB"/>
                </a:solidFill>
                <a:latin typeface="Noto Sans" pitchFamily="34" charset="0"/>
                <a:ea typeface="Noto Sans" pitchFamily="34" charset="-122"/>
                <a:cs typeface="Noto Sans" pitchFamily="34" charset="-120"/>
              </a:rPr>
              <a:t>Mobil platformaga oʻrnatilsa — </a:t>
            </a:r>
            <a:r>
              <a:rPr lang="en-US" sz="1300" b="1" dirty="0">
                <a:solidFill>
                  <a:srgbClr val="F5F3EE"/>
                </a:solidFill>
                <a:latin typeface="Noto Sans" pitchFamily="34" charset="0"/>
                <a:ea typeface="Noto Sans" pitchFamily="34" charset="-122"/>
                <a:cs typeface="Noto Sans" pitchFamily="34" charset="-120"/>
              </a:rPr>
              <a:t>mobil manipulyator</a:t>
            </a:r>
            <a:endParaRPr lang="en-US" sz="1300" dirty="0"/>
          </a:p>
        </p:txBody>
      </p:sp>
      <p:sp>
        <p:nvSpPr>
          <p:cNvPr id="9" name="Text 7"/>
          <p:cNvSpPr/>
          <p:nvPr/>
        </p:nvSpPr>
        <p:spPr>
          <a:xfrm>
            <a:off x="3810000" y="1803400"/>
            <a:ext cx="779627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D6CB0"/>
                </a:solidFill>
                <a:latin typeface="Noto Sans" pitchFamily="34" charset="0"/>
                <a:ea typeface="Noto Sans" pitchFamily="34" charset="-122"/>
                <a:cs typeface="Noto Sans" pitchFamily="34" charset="-120"/>
              </a:rPr>
              <a:t>MOBIL ROBOTLAR</a:t>
            </a:r>
            <a:endParaRPr lang="en-US" sz="1200" dirty="0"/>
          </a:p>
        </p:txBody>
      </p:sp>
      <p:sp>
        <p:nvSpPr>
          <p:cNvPr id="10" name="Shape 8"/>
          <p:cNvSpPr/>
          <p:nvPr/>
        </p:nvSpPr>
        <p:spPr>
          <a:xfrm>
            <a:off x="3813175" y="2121533"/>
            <a:ext cx="3727450" cy="788670"/>
          </a:xfrm>
          <a:prstGeom prst="roundRect">
            <a:avLst>
              <a:gd name="adj" fmla="val 9259"/>
            </a:avLst>
          </a:prstGeom>
          <a:solidFill>
            <a:srgbClr val="FDFCF9"/>
          </a:solidFill>
          <a:ln w="6350">
            <a:solidFill>
              <a:srgbClr val="E2DED4"/>
            </a:solidFill>
            <a:prstDash val="solid"/>
          </a:ln>
        </p:spPr>
      </p:sp>
      <p:sp>
        <p:nvSpPr>
          <p:cNvPr id="11" name="Text 9"/>
          <p:cNvSpPr/>
          <p:nvPr/>
        </p:nvSpPr>
        <p:spPr>
          <a:xfrm>
            <a:off x="3992880" y="2275842"/>
            <a:ext cx="346908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D2433"/>
                </a:solidFill>
                <a:latin typeface="Noto Sans" pitchFamily="34" charset="0"/>
                <a:ea typeface="Noto Sans" pitchFamily="34" charset="-122"/>
                <a:cs typeface="Noto Sans" pitchFamily="34" charset="-120"/>
              </a:rPr>
              <a:t>Gʻildirakli</a:t>
            </a:r>
            <a:endParaRPr lang="en-US" sz="1500" dirty="0"/>
          </a:p>
        </p:txBody>
      </p:sp>
      <p:sp>
        <p:nvSpPr>
          <p:cNvPr id="12" name="Text 10"/>
          <p:cNvSpPr/>
          <p:nvPr/>
        </p:nvSpPr>
        <p:spPr>
          <a:xfrm>
            <a:off x="3992880" y="2542542"/>
            <a:ext cx="346908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2433"/>
                </a:solidFill>
                <a:latin typeface="Noto Sans" pitchFamily="34" charset="0"/>
                <a:ea typeface="Noto Sans" pitchFamily="34" charset="-122"/>
                <a:cs typeface="Noto Sans" pitchFamily="34" charset="-120"/>
              </a:rPr>
              <a:t>AGV, AMR, avtonom avtomobillar</a:t>
            </a:r>
            <a:endParaRPr lang="en-US" sz="1200" dirty="0"/>
          </a:p>
        </p:txBody>
      </p:sp>
      <p:sp>
        <p:nvSpPr>
          <p:cNvPr id="13" name="Shape 11"/>
          <p:cNvSpPr/>
          <p:nvPr/>
        </p:nvSpPr>
        <p:spPr>
          <a:xfrm>
            <a:off x="7648575" y="2121533"/>
            <a:ext cx="3727450" cy="788670"/>
          </a:xfrm>
          <a:prstGeom prst="roundRect">
            <a:avLst>
              <a:gd name="adj" fmla="val 9259"/>
            </a:avLst>
          </a:prstGeom>
          <a:solidFill>
            <a:srgbClr val="FDFCF9"/>
          </a:solidFill>
          <a:ln w="6350">
            <a:solidFill>
              <a:srgbClr val="E2DED4"/>
            </a:solidFill>
            <a:prstDash val="solid"/>
          </a:ln>
        </p:spPr>
      </p:sp>
      <p:sp>
        <p:nvSpPr>
          <p:cNvPr id="14" name="Text 12"/>
          <p:cNvSpPr/>
          <p:nvPr/>
        </p:nvSpPr>
        <p:spPr>
          <a:xfrm>
            <a:off x="7828280" y="2275842"/>
            <a:ext cx="346908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D2433"/>
                </a:solidFill>
                <a:latin typeface="Noto Sans" pitchFamily="34" charset="0"/>
                <a:ea typeface="Noto Sans" pitchFamily="34" charset="-122"/>
                <a:cs typeface="Noto Sans" pitchFamily="34" charset="-120"/>
              </a:rPr>
              <a:t>Tirtilli</a:t>
            </a:r>
            <a:endParaRPr lang="en-US" sz="1500" dirty="0"/>
          </a:p>
        </p:txBody>
      </p:sp>
      <p:sp>
        <p:nvSpPr>
          <p:cNvPr id="15" name="Text 13"/>
          <p:cNvSpPr/>
          <p:nvPr/>
        </p:nvSpPr>
        <p:spPr>
          <a:xfrm>
            <a:off x="7828280" y="2542542"/>
            <a:ext cx="346908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2433"/>
                </a:solidFill>
                <a:latin typeface="Noto Sans" pitchFamily="34" charset="0"/>
                <a:ea typeface="Noto Sans" pitchFamily="34" charset="-122"/>
                <a:cs typeface="Noto Sans" pitchFamily="34" charset="-120"/>
              </a:rPr>
              <a:t>Notekis joylar: qutqaruv, harbiy robotlar</a:t>
            </a:r>
            <a:endParaRPr lang="en-US" sz="1200" dirty="0"/>
          </a:p>
        </p:txBody>
      </p:sp>
      <p:sp>
        <p:nvSpPr>
          <p:cNvPr id="16" name="Shape 14"/>
          <p:cNvSpPr/>
          <p:nvPr/>
        </p:nvSpPr>
        <p:spPr>
          <a:xfrm>
            <a:off x="3813175" y="3018160"/>
            <a:ext cx="3727450" cy="1002030"/>
          </a:xfrm>
          <a:prstGeom prst="roundRect">
            <a:avLst>
              <a:gd name="adj" fmla="val 7288"/>
            </a:avLst>
          </a:prstGeom>
          <a:solidFill>
            <a:srgbClr val="FDFCF9"/>
          </a:solidFill>
          <a:ln w="6350">
            <a:solidFill>
              <a:srgbClr val="E2DED4"/>
            </a:solidFill>
            <a:prstDash val="solid"/>
          </a:ln>
        </p:spPr>
      </p:sp>
      <p:sp>
        <p:nvSpPr>
          <p:cNvPr id="17" name="Text 15"/>
          <p:cNvSpPr/>
          <p:nvPr/>
        </p:nvSpPr>
        <p:spPr>
          <a:xfrm>
            <a:off x="3992880" y="3172458"/>
            <a:ext cx="346908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D2433"/>
                </a:solidFill>
                <a:latin typeface="Noto Sans" pitchFamily="34" charset="0"/>
                <a:ea typeface="Noto Sans" pitchFamily="34" charset="-122"/>
                <a:cs typeface="Noto Sans" pitchFamily="34" charset="-120"/>
              </a:rPr>
              <a:t>Yuruvchi</a:t>
            </a:r>
            <a:endParaRPr lang="en-US" sz="1500" dirty="0"/>
          </a:p>
        </p:txBody>
      </p:sp>
      <p:sp>
        <p:nvSpPr>
          <p:cNvPr id="18" name="Text 16"/>
          <p:cNvSpPr/>
          <p:nvPr/>
        </p:nvSpPr>
        <p:spPr>
          <a:xfrm>
            <a:off x="3992880" y="3439158"/>
            <a:ext cx="346908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2433"/>
                </a:solidFill>
                <a:latin typeface="Noto Sans" pitchFamily="34" charset="0"/>
                <a:ea typeface="Noto Sans" pitchFamily="34" charset="-122"/>
                <a:cs typeface="Noto Sans" pitchFamily="34" charset="-120"/>
              </a:rPr>
              <a:t>Gumanoid va toʻrt oyoqli; muvozanat uchun murakkab datchiklar</a:t>
            </a:r>
            <a:endParaRPr lang="en-US" sz="1200" dirty="0"/>
          </a:p>
        </p:txBody>
      </p:sp>
      <p:sp>
        <p:nvSpPr>
          <p:cNvPr id="19" name="Shape 17"/>
          <p:cNvSpPr/>
          <p:nvPr/>
        </p:nvSpPr>
        <p:spPr>
          <a:xfrm>
            <a:off x="7648575" y="3018160"/>
            <a:ext cx="3727450" cy="1002030"/>
          </a:xfrm>
          <a:prstGeom prst="roundRect">
            <a:avLst>
              <a:gd name="adj" fmla="val 7288"/>
            </a:avLst>
          </a:prstGeom>
          <a:solidFill>
            <a:srgbClr val="FDFCF9"/>
          </a:solidFill>
          <a:ln w="6350">
            <a:solidFill>
              <a:srgbClr val="E2DED4"/>
            </a:solidFill>
            <a:prstDash val="solid"/>
          </a:ln>
        </p:spPr>
      </p:sp>
      <p:sp>
        <p:nvSpPr>
          <p:cNvPr id="20" name="Text 18"/>
          <p:cNvSpPr/>
          <p:nvPr/>
        </p:nvSpPr>
        <p:spPr>
          <a:xfrm>
            <a:off x="7828280" y="3172458"/>
            <a:ext cx="346908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D2433"/>
                </a:solidFill>
                <a:latin typeface="Noto Sans" pitchFamily="34" charset="0"/>
                <a:ea typeface="Noto Sans" pitchFamily="34" charset="-122"/>
                <a:cs typeface="Noto Sans" pitchFamily="34" charset="-120"/>
              </a:rPr>
              <a:t>Uchuvchi</a:t>
            </a:r>
            <a:endParaRPr lang="en-US" sz="1500" dirty="0"/>
          </a:p>
        </p:txBody>
      </p:sp>
      <p:sp>
        <p:nvSpPr>
          <p:cNvPr id="21" name="Text 19"/>
          <p:cNvSpPr/>
          <p:nvPr/>
        </p:nvSpPr>
        <p:spPr>
          <a:xfrm>
            <a:off x="7828280" y="3439158"/>
            <a:ext cx="346908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2433"/>
                </a:solidFill>
                <a:latin typeface="Noto Sans" pitchFamily="34" charset="0"/>
                <a:ea typeface="Noto Sans" pitchFamily="34" charset="-122"/>
                <a:cs typeface="Noto Sans" pitchFamily="34" charset="-120"/>
              </a:rPr>
              <a:t>Uchuvchisiz uchish apparatlari (dronlar)</a:t>
            </a:r>
            <a:endParaRPr lang="en-US" sz="1200" dirty="0"/>
          </a:p>
        </p:txBody>
      </p:sp>
      <p:sp>
        <p:nvSpPr>
          <p:cNvPr id="22" name="Shape 20"/>
          <p:cNvSpPr/>
          <p:nvPr/>
        </p:nvSpPr>
        <p:spPr>
          <a:xfrm>
            <a:off x="3813175" y="4128133"/>
            <a:ext cx="3727450" cy="788670"/>
          </a:xfrm>
          <a:prstGeom prst="roundRect">
            <a:avLst>
              <a:gd name="adj" fmla="val 9259"/>
            </a:avLst>
          </a:prstGeom>
          <a:solidFill>
            <a:srgbClr val="FDFCF9"/>
          </a:solidFill>
          <a:ln w="6350">
            <a:solidFill>
              <a:srgbClr val="E2DED4"/>
            </a:solidFill>
            <a:prstDash val="solid"/>
          </a:ln>
        </p:spPr>
      </p:sp>
      <p:sp>
        <p:nvSpPr>
          <p:cNvPr id="23" name="Text 21"/>
          <p:cNvSpPr/>
          <p:nvPr/>
        </p:nvSpPr>
        <p:spPr>
          <a:xfrm>
            <a:off x="3992880" y="4282442"/>
            <a:ext cx="346908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D2433"/>
                </a:solidFill>
                <a:latin typeface="Noto Sans" pitchFamily="34" charset="0"/>
                <a:ea typeface="Noto Sans" pitchFamily="34" charset="-122"/>
                <a:cs typeface="Noto Sans" pitchFamily="34" charset="-120"/>
              </a:rPr>
              <a:t>Suzuvchi</a:t>
            </a:r>
            <a:endParaRPr lang="en-US" sz="1500" dirty="0"/>
          </a:p>
        </p:txBody>
      </p:sp>
      <p:sp>
        <p:nvSpPr>
          <p:cNvPr id="24" name="Text 22"/>
          <p:cNvSpPr/>
          <p:nvPr/>
        </p:nvSpPr>
        <p:spPr>
          <a:xfrm>
            <a:off x="3992880" y="4549142"/>
            <a:ext cx="346908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2433"/>
                </a:solidFill>
                <a:latin typeface="Noto Sans" pitchFamily="34" charset="0"/>
                <a:ea typeface="Noto Sans" pitchFamily="34" charset="-122"/>
                <a:cs typeface="Noto Sans" pitchFamily="34" charset="-120"/>
              </a:rPr>
              <a:t>Suv usti va suv osti robotlari</a:t>
            </a:r>
            <a:endParaRPr lang="en-US" sz="1200" dirty="0"/>
          </a:p>
        </p:txBody>
      </p:sp>
      <p:sp>
        <p:nvSpPr>
          <p:cNvPr id="25" name="Text 23"/>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Maʼruza №2 · Informatsiya nazariyasi. Mexatron modullar va robotlar · 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A"/>
                </a:solidFill>
                <a:latin typeface="Noto Sans" pitchFamily="34" charset="0"/>
                <a:ea typeface="Noto Sans" pitchFamily="34" charset="-122"/>
                <a:cs typeface="Noto Sans" pitchFamily="34" charset="-120"/>
              </a:rPr>
              <a:t>MANIPULYATORLAR</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B"/>
                </a:solidFill>
                <a:latin typeface="Noto Sans" pitchFamily="34" charset="0"/>
                <a:ea typeface="Noto Sans" pitchFamily="34" charset="-122"/>
                <a:cs typeface="Noto Sans" pitchFamily="34" charset="-120"/>
              </a:rPr>
              <a:t>Erkinlik darajalari soni</a:t>
            </a:r>
            <a:endParaRPr lang="en-US" sz="3200" dirty="0"/>
          </a:p>
        </p:txBody>
      </p:sp>
      <p:sp>
        <p:nvSpPr>
          <p:cNvPr id="4" name="Text 2"/>
          <p:cNvSpPr/>
          <p:nvPr/>
        </p:nvSpPr>
        <p:spPr>
          <a:xfrm>
            <a:off x="812800" y="1828800"/>
            <a:ext cx="724687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D6CB0"/>
                </a:solidFill>
                <a:latin typeface="Noto Sans" pitchFamily="34" charset="0"/>
                <a:ea typeface="Noto Sans" pitchFamily="34" charset="-122"/>
                <a:cs typeface="Noto Sans" pitchFamily="34" charset="-120"/>
              </a:rPr>
              <a:t>Somov — Malishev formulasi</a:t>
            </a:r>
            <a:endParaRPr lang="en-US" sz="1200" dirty="0"/>
          </a:p>
        </p:txBody>
      </p:sp>
      <p:sp>
        <p:nvSpPr>
          <p:cNvPr id="5" name="Text 3"/>
          <p:cNvSpPr/>
          <p:nvPr/>
        </p:nvSpPr>
        <p:spPr>
          <a:xfrm>
            <a:off x="812800" y="2092958"/>
            <a:ext cx="7246874"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D2433"/>
                </a:solidFill>
                <a:latin typeface="Noto Sans" pitchFamily="34" charset="0"/>
                <a:ea typeface="Noto Sans" pitchFamily="34" charset="-122"/>
                <a:cs typeface="Noto Sans" pitchFamily="34" charset="-120"/>
              </a:rPr>
              <a:t>W = 6n − 5p₅ − 4p₄ − 3p₃ − 2p₂ − p₁</a:t>
            </a:r>
            <a:endParaRPr lang="en-US" sz="2200" dirty="0"/>
          </a:p>
        </p:txBody>
      </p:sp>
      <p:sp>
        <p:nvSpPr>
          <p:cNvPr id="6" name="Text 4"/>
          <p:cNvSpPr/>
          <p:nvPr/>
        </p:nvSpPr>
        <p:spPr>
          <a:xfrm>
            <a:off x="812800" y="2636515"/>
            <a:ext cx="724687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D2433"/>
                </a:solidFill>
                <a:latin typeface="Noto Sans" pitchFamily="34" charset="0"/>
                <a:ea typeface="Noto Sans" pitchFamily="34" charset="-122"/>
                <a:cs typeface="Noto Sans" pitchFamily="34" charset="-120"/>
              </a:rPr>
              <a:t>n</a:t>
            </a:r>
            <a:r>
              <a:rPr lang="en-US" sz="1400" dirty="0">
                <a:solidFill>
                  <a:srgbClr val="1D2433"/>
                </a:solidFill>
                <a:latin typeface="Noto Sans" pitchFamily="34" charset="0"/>
                <a:ea typeface="Noto Sans" pitchFamily="34" charset="-122"/>
                <a:cs typeface="Noto Sans" pitchFamily="34" charset="-120"/>
              </a:rPr>
              <a:t> — harakatlanuvchi zvenolar soni, </a:t>
            </a:r>
            <a:r>
              <a:rPr lang="en-US" sz="1400" b="1" dirty="0">
                <a:solidFill>
                  <a:srgbClr val="1D2433"/>
                </a:solidFill>
                <a:latin typeface="Noto Sans" pitchFamily="34" charset="0"/>
                <a:ea typeface="Noto Sans" pitchFamily="34" charset="-122"/>
                <a:cs typeface="Noto Sans" pitchFamily="34" charset="-120"/>
              </a:rPr>
              <a:t>pₖ</a:t>
            </a:r>
            <a:r>
              <a:rPr lang="en-US" sz="1400" dirty="0">
                <a:solidFill>
                  <a:srgbClr val="1D2433"/>
                </a:solidFill>
                <a:latin typeface="Noto Sans" pitchFamily="34" charset="0"/>
                <a:ea typeface="Noto Sans" pitchFamily="34" charset="-122"/>
                <a:cs typeface="Noto Sans" pitchFamily="34" charset="-120"/>
              </a:rPr>
              <a:t> — k-sinf kinematik juftlar soni</a:t>
            </a:r>
            <a:endParaRPr lang="en-US" sz="1400" dirty="0"/>
          </a:p>
        </p:txBody>
      </p:sp>
      <p:sp>
        <p:nvSpPr>
          <p:cNvPr id="7" name="Text 5"/>
          <p:cNvSpPr/>
          <p:nvPr/>
        </p:nvSpPr>
        <p:spPr>
          <a:xfrm>
            <a:off x="812800" y="3037842"/>
            <a:ext cx="724687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D2433"/>
                </a:solidFill>
                <a:latin typeface="Noto Sans" pitchFamily="34" charset="0"/>
                <a:ea typeface="Noto Sans" pitchFamily="34" charset="-122"/>
                <a:cs typeface="Noto Sans" pitchFamily="34" charset="-120"/>
              </a:rPr>
              <a:t>Robotlarda asosan 5-sinf juftlar: aylanma (R) va ilgarilanma (P) boʻgʻinlar</a:t>
            </a:r>
            <a:endParaRPr lang="en-US" sz="1400" dirty="0"/>
          </a:p>
        </p:txBody>
      </p:sp>
      <p:sp>
        <p:nvSpPr>
          <p:cNvPr id="8" name="Shape 6"/>
          <p:cNvSpPr/>
          <p:nvPr/>
        </p:nvSpPr>
        <p:spPr>
          <a:xfrm>
            <a:off x="815975" y="3442333"/>
            <a:ext cx="7029450" cy="892810"/>
          </a:xfrm>
          <a:prstGeom prst="roundRect">
            <a:avLst>
              <a:gd name="adj" fmla="val 8179"/>
            </a:avLst>
          </a:prstGeom>
          <a:solidFill>
            <a:srgbClr val="FDFCF9"/>
          </a:solidFill>
          <a:ln w="6350">
            <a:solidFill>
              <a:srgbClr val="E2DED4"/>
            </a:solidFill>
            <a:prstDash val="solid"/>
          </a:ln>
        </p:spPr>
      </p:sp>
      <p:sp>
        <p:nvSpPr>
          <p:cNvPr id="9" name="Text 7"/>
          <p:cNvSpPr/>
          <p:nvPr/>
        </p:nvSpPr>
        <p:spPr>
          <a:xfrm>
            <a:off x="1021080" y="3596642"/>
            <a:ext cx="681781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5521A"/>
                </a:solidFill>
                <a:latin typeface="Noto Sans" pitchFamily="34" charset="0"/>
                <a:ea typeface="Noto Sans" pitchFamily="34" charset="-122"/>
                <a:cs typeface="Noto Sans" pitchFamily="34" charset="-120"/>
              </a:rPr>
              <a:t>MISOL: 6 TA AYLANMA BOʻGʻIN</a:t>
            </a:r>
            <a:endParaRPr lang="en-US" sz="1200" dirty="0"/>
          </a:p>
        </p:txBody>
      </p:sp>
      <p:sp>
        <p:nvSpPr>
          <p:cNvPr id="10" name="Text 8"/>
          <p:cNvSpPr/>
          <p:nvPr/>
        </p:nvSpPr>
        <p:spPr>
          <a:xfrm>
            <a:off x="1021080" y="3860800"/>
            <a:ext cx="6817817"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D2433"/>
                </a:solidFill>
                <a:latin typeface="Noto Sans" pitchFamily="34" charset="0"/>
                <a:ea typeface="Noto Sans" pitchFamily="34" charset="-122"/>
                <a:cs typeface="Noto Sans" pitchFamily="34" charset="-120"/>
              </a:rPr>
              <a:t>n = 6, p₅ = 6 → W = 36 − 30 = 6</a:t>
            </a:r>
            <a:endParaRPr lang="en-US" sz="1800" dirty="0"/>
          </a:p>
        </p:txBody>
      </p:sp>
      <p:sp>
        <p:nvSpPr>
          <p:cNvPr id="11" name="Shape 9"/>
          <p:cNvSpPr/>
          <p:nvPr/>
        </p:nvSpPr>
        <p:spPr>
          <a:xfrm>
            <a:off x="8204200" y="1828800"/>
            <a:ext cx="3175000" cy="3126740"/>
          </a:xfrm>
          <a:prstGeom prst="roundRect">
            <a:avLst>
              <a:gd name="adj" fmla="val 3249"/>
            </a:avLst>
          </a:prstGeom>
          <a:solidFill>
            <a:srgbClr val="16233B"/>
          </a:solidFill>
          <a:ln/>
        </p:spPr>
      </p:sp>
      <p:sp>
        <p:nvSpPr>
          <p:cNvPr id="12" name="Text 10"/>
          <p:cNvSpPr/>
          <p:nvPr/>
        </p:nvSpPr>
        <p:spPr>
          <a:xfrm>
            <a:off x="8509000" y="2133600"/>
            <a:ext cx="2642362"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F0A46E"/>
                </a:solidFill>
                <a:latin typeface="Noto Sans" pitchFamily="34" charset="0"/>
                <a:ea typeface="Noto Sans" pitchFamily="34" charset="-122"/>
                <a:cs typeface="Noto Sans" pitchFamily="34" charset="-120"/>
              </a:rPr>
              <a:t>6</a:t>
            </a:r>
            <a:endParaRPr lang="en-US" sz="8000" dirty="0"/>
          </a:p>
        </p:txBody>
      </p:sp>
      <p:sp>
        <p:nvSpPr>
          <p:cNvPr id="13" name="Text 11"/>
          <p:cNvSpPr/>
          <p:nvPr/>
        </p:nvSpPr>
        <p:spPr>
          <a:xfrm>
            <a:off x="8509000" y="3251200"/>
            <a:ext cx="2642362"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5F3EE"/>
                </a:solidFill>
                <a:latin typeface="Noto Sans" pitchFamily="34" charset="0"/>
                <a:ea typeface="Noto Sans" pitchFamily="34" charset="-122"/>
                <a:cs typeface="Noto Sans" pitchFamily="34" charset="-120"/>
              </a:rPr>
              <a:t>erkinlik darajasi — fazoda jismning holati va yoʻnalishini toʻliq belgilash uchun</a:t>
            </a:r>
            <a:endParaRPr lang="en-US" sz="1500" dirty="0"/>
          </a:p>
        </p:txBody>
      </p:sp>
      <p:sp>
        <p:nvSpPr>
          <p:cNvPr id="14" name="Text 12"/>
          <p:cNvSpPr/>
          <p:nvPr/>
        </p:nvSpPr>
        <p:spPr>
          <a:xfrm>
            <a:off x="8509000" y="4419600"/>
            <a:ext cx="264236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CFDB"/>
                </a:solidFill>
                <a:latin typeface="Noto Sans" pitchFamily="34" charset="0"/>
                <a:ea typeface="Noto Sans" pitchFamily="34" charset="-122"/>
                <a:cs typeface="Noto Sans" pitchFamily="34" charset="-120"/>
              </a:rPr>
              <a:t>3 ta siljish + 3 ta burilish</a:t>
            </a:r>
            <a:endParaRPr lang="en-US" sz="1300" dirty="0"/>
          </a:p>
        </p:txBody>
      </p:sp>
      <p:sp>
        <p:nvSpPr>
          <p:cNvPr id="15" name="Text 13"/>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Maʼruza №2 · Informatsiya nazariyasi. Mexatron modullar va robotlar · 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A"/>
                </a:solidFill>
                <a:latin typeface="Noto Sans" pitchFamily="34" charset="0"/>
                <a:ea typeface="Noto Sans" pitchFamily="34" charset="-122"/>
                <a:cs typeface="Noto Sans" pitchFamily="34" charset="-120"/>
              </a:rPr>
              <a:t>MANIPULYATORLAR</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B"/>
                </a:solidFill>
                <a:latin typeface="Noto Sans" pitchFamily="34" charset="0"/>
                <a:ea typeface="Noto Sans" pitchFamily="34" charset="-122"/>
                <a:cs typeface="Noto Sans" pitchFamily="34" charset="-120"/>
              </a:rPr>
              <a:t>Kinematik tuzilish boʻyicha turlar</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13560"/>
          <a:ext cx="10556240" cy="3952240"/>
        </p:xfrm>
        <a:graphic>
          <a:graphicData uri="http://schemas.openxmlformats.org/drawingml/2006/table">
            <a:tbl>
              <a:tblPr/>
              <a:tblGrid>
                <a:gridCol w="2639060"/>
                <a:gridCol w="2639060"/>
                <a:gridCol w="2639060"/>
                <a:gridCol w="2639060"/>
              </a:tblGrid>
              <a:tr h="309880">
                <a:tc>
                  <a:txBody>
                    <a:bodyPr/>
                    <a:lstStyle/>
                    <a:p>
                      <a:pPr indent="0" marL="0">
                        <a:lnSpc>
                          <a:spcPts val="1680"/>
                        </a:lnSpc>
                        <a:buNone/>
                      </a:pPr>
                      <a:r>
                        <a:rPr lang="en-US" sz="1200" b="1" dirty="0">
                          <a:solidFill>
                            <a:srgbClr val="F5F3EE"/>
                          </a:solidFill>
                          <a:latin typeface="Noto Sans" pitchFamily="34" charset="0"/>
                          <a:ea typeface="Noto Sans" pitchFamily="34" charset="-122"/>
                          <a:cs typeface="Noto Sans" pitchFamily="34" charset="-120"/>
                        </a:rPr>
                        <a:t>Turi</a:t>
                      </a:r>
                      <a:endParaRPr lang="en-US" sz="1200" dirty="0">
                        <a:latin typeface="Noto Sans" charset="0"/>
                        <a:ea typeface="Noto Sans" charset="0"/>
                        <a:cs typeface="Noto Sans" charset="0"/>
                      </a:endParaRPr>
                    </a:p>
                  </a:txBody>
                  <a:tcPr marL="127000" marR="127000" marT="50800" marB="50800" anchor="t">
                    <a:lnL w="12700" cap="flat" cmpd="sng" algn="ctr">
                      <a:solidFill>
                        <a:srgbClr val="C4C2BE"/>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indent="0" marL="0">
                        <a:lnSpc>
                          <a:spcPts val="1680"/>
                        </a:lnSpc>
                        <a:buNone/>
                      </a:pPr>
                      <a:r>
                        <a:rPr lang="en-US" sz="1200" b="1" dirty="0">
                          <a:solidFill>
                            <a:srgbClr val="F5F3EE"/>
                          </a:solidFill>
                          <a:latin typeface="Noto Sans" pitchFamily="34" charset="0"/>
                          <a:ea typeface="Noto Sans" pitchFamily="34" charset="-122"/>
                          <a:cs typeface="Noto Sans" pitchFamily="34" charset="-120"/>
                        </a:rPr>
                        <a:t>Boʻgʻinlar</a:t>
                      </a:r>
                      <a:endParaRPr lang="en-US" sz="1200" dirty="0">
                        <a:latin typeface="Noto Sans" charset="0"/>
                        <a:ea typeface="Noto Sans" charset="0"/>
                        <a:cs typeface="Noto Sans" charset="0"/>
                      </a:endParaRPr>
                    </a:p>
                  </a:txBody>
                  <a:tcPr marL="127000" marR="127000" marT="50800" marB="50800"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indent="0" marL="0">
                        <a:lnSpc>
                          <a:spcPts val="1680"/>
                        </a:lnSpc>
                        <a:buNone/>
                      </a:pPr>
                      <a:r>
                        <a:rPr lang="en-US" sz="1200" b="1" dirty="0">
                          <a:solidFill>
                            <a:srgbClr val="F5F3EE"/>
                          </a:solidFill>
                          <a:latin typeface="Noto Sans" pitchFamily="34" charset="0"/>
                          <a:ea typeface="Noto Sans" pitchFamily="34" charset="-122"/>
                          <a:cs typeface="Noto Sans" pitchFamily="34" charset="-120"/>
                        </a:rPr>
                        <a:t>Ishchi zona</a:t>
                      </a:r>
                      <a:endParaRPr lang="en-US" sz="1200" dirty="0">
                        <a:latin typeface="Noto Sans" charset="0"/>
                        <a:ea typeface="Noto Sans" charset="0"/>
                        <a:cs typeface="Noto Sans" charset="0"/>
                      </a:endParaRPr>
                    </a:p>
                  </a:txBody>
                  <a:tcPr marL="127000" marR="127000" marT="50800" marB="50800"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indent="0" marL="0">
                        <a:lnSpc>
                          <a:spcPts val="1680"/>
                        </a:lnSpc>
                        <a:buNone/>
                      </a:pPr>
                      <a:r>
                        <a:rPr lang="en-US" sz="1200" b="1" dirty="0">
                          <a:solidFill>
                            <a:srgbClr val="F5F3EE"/>
                          </a:solidFill>
                          <a:latin typeface="Noto Sans" pitchFamily="34" charset="0"/>
                          <a:ea typeface="Noto Sans" pitchFamily="34" charset="-122"/>
                          <a:cs typeface="Noto Sans" pitchFamily="34" charset="-120"/>
                        </a:rPr>
                        <a:t>Xususiyatlari va qoʻllanilishi</a:t>
                      </a:r>
                      <a:endParaRPr lang="en-US" sz="1200" dirty="0">
                        <a:latin typeface="Noto Sans" charset="0"/>
                        <a:ea typeface="Noto Sans" charset="0"/>
                        <a:cs typeface="Noto Sans" charset="0"/>
                      </a:endParaRPr>
                    </a:p>
                  </a:txBody>
                  <a:tcPr marL="127000" marR="127000" marT="50800" marB="50800"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r>
              <a:tr h="706120">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Dekart (portal)</a:t>
                      </a:r>
                      <a:endParaRPr lang="en-US" sz="1200" dirty="0">
                        <a:latin typeface="Noto Sans" charset="0"/>
                        <a:ea typeface="Noto Sans" charset="0"/>
                        <a:cs typeface="Noto Sans" charset="0"/>
                      </a:endParaRPr>
                    </a:p>
                  </a:txBody>
                  <a:tcPr marL="127000" marR="127000" marT="50800" marB="508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B5521A"/>
                          </a:solidFill>
                          <a:latin typeface="Noto Sans" pitchFamily="34" charset="0"/>
                          <a:ea typeface="Noto Sans" pitchFamily="34" charset="-122"/>
                          <a:cs typeface="Noto Sans" pitchFamily="34" charset="-120"/>
                        </a:rPr>
                        <a:t>PPP</a:t>
                      </a:r>
                      <a:endParaRPr lang="en-US" sz="1200" dirty="0">
                        <a:latin typeface="Noto Sans" charset="0"/>
                        <a:ea typeface="Noto Sans" charset="0"/>
                        <a:cs typeface="Noto Sans" charset="0"/>
                      </a:endParaRPr>
                    </a:p>
                  </a:txBody>
                  <a:tcPr marL="127000" marR="127000" marT="50800" marB="508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Parallelepiped</a:t>
                      </a:r>
                      <a:endParaRPr lang="en-US" sz="1200" dirty="0">
                        <a:latin typeface="Noto Sans" charset="0"/>
                        <a:ea typeface="Noto Sans" charset="0"/>
                        <a:cs typeface="Noto Sans" charset="0"/>
                      </a:endParaRPr>
                    </a:p>
                  </a:txBody>
                  <a:tcPr marL="127000" marR="127000" marT="50800" marB="508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Bikr, juda katta boʻlishi mumkin, teskari kinematika oddiy; portal tizimlari, 3D chop etish</a:t>
                      </a:r>
                      <a:endParaRPr lang="en-US" sz="1200" dirty="0">
                        <a:latin typeface="Noto Sans" charset="0"/>
                        <a:ea typeface="Noto Sans" charset="0"/>
                        <a:cs typeface="Noto Sans" charset="0"/>
                      </a:endParaRPr>
                    </a:p>
                  </a:txBody>
                  <a:tcPr marL="127000" marR="127000" marT="50800" marB="508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508000">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Silindrik</a:t>
                      </a:r>
                      <a:endParaRPr lang="en-US" sz="1200" dirty="0">
                        <a:latin typeface="Noto Sans" charset="0"/>
                        <a:ea typeface="Noto Sans" charset="0"/>
                        <a:cs typeface="Noto Sans" charset="0"/>
                      </a:endParaRPr>
                    </a:p>
                  </a:txBody>
                  <a:tcPr marL="127000" marR="127000" marT="50800" marB="508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B5521A"/>
                          </a:solidFill>
                          <a:latin typeface="Noto Sans" pitchFamily="34" charset="0"/>
                          <a:ea typeface="Noto Sans" pitchFamily="34" charset="-122"/>
                          <a:cs typeface="Noto Sans" pitchFamily="34" charset="-120"/>
                        </a:rPr>
                        <a:t>RPP</a:t>
                      </a:r>
                      <a:endParaRPr lang="en-US" sz="1200" dirty="0">
                        <a:latin typeface="Noto Sans" charset="0"/>
                        <a:ea typeface="Noto Sans" charset="0"/>
                        <a:cs typeface="Noto Sans" charset="0"/>
                      </a:endParaRPr>
                    </a:p>
                  </a:txBody>
                  <a:tcPr marL="127000" marR="127000" marT="50800" marB="508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Silindr</a:t>
                      </a:r>
                      <a:endParaRPr lang="en-US" sz="1200" dirty="0">
                        <a:latin typeface="Noto Sans" charset="0"/>
                        <a:ea typeface="Noto Sans" charset="0"/>
                        <a:cs typeface="Noto Sans" charset="0"/>
                      </a:endParaRPr>
                    </a:p>
                  </a:txBody>
                  <a:tcPr marL="127000" marR="127000" marT="50800" marB="508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Vertikal siljish va radial chiqish; yuklash-tushirish</a:t>
                      </a:r>
                      <a:endParaRPr lang="en-US" sz="1200" dirty="0">
                        <a:latin typeface="Noto Sans" charset="0"/>
                        <a:ea typeface="Noto Sans" charset="0"/>
                        <a:cs typeface="Noto Sans" charset="0"/>
                      </a:endParaRPr>
                    </a:p>
                  </a:txBody>
                  <a:tcPr marL="127000" marR="127000" marT="50800" marB="508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09880">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Sferik</a:t>
                      </a:r>
                      <a:endParaRPr lang="en-US" sz="1200" dirty="0">
                        <a:latin typeface="Noto Sans" charset="0"/>
                        <a:ea typeface="Noto Sans" charset="0"/>
                        <a:cs typeface="Noto Sans" charset="0"/>
                      </a:endParaRPr>
                    </a:p>
                  </a:txBody>
                  <a:tcPr marL="127000" marR="127000" marT="50800" marB="508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B5521A"/>
                          </a:solidFill>
                          <a:latin typeface="Noto Sans" pitchFamily="34" charset="0"/>
                          <a:ea typeface="Noto Sans" pitchFamily="34" charset="-122"/>
                          <a:cs typeface="Noto Sans" pitchFamily="34" charset="-120"/>
                        </a:rPr>
                        <a:t>RRP</a:t>
                      </a:r>
                      <a:endParaRPr lang="en-US" sz="1200" dirty="0">
                        <a:latin typeface="Noto Sans" charset="0"/>
                        <a:ea typeface="Noto Sans" charset="0"/>
                        <a:cs typeface="Noto Sans" charset="0"/>
                      </a:endParaRPr>
                    </a:p>
                  </a:txBody>
                  <a:tcPr marL="127000" marR="127000" marT="50800" marB="508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Sfera qismi</a:t>
                      </a:r>
                      <a:endParaRPr lang="en-US" sz="1200" dirty="0">
                        <a:latin typeface="Noto Sans" charset="0"/>
                        <a:ea typeface="Noto Sans" charset="0"/>
                        <a:cs typeface="Noto Sans" charset="0"/>
                      </a:endParaRPr>
                    </a:p>
                  </a:txBody>
                  <a:tcPr marL="127000" marR="127000" marT="50800" marB="508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Tirsak oʻrnida teleskopik boʻgʻin</a:t>
                      </a:r>
                      <a:endParaRPr lang="en-US" sz="1200" dirty="0">
                        <a:latin typeface="Noto Sans" charset="0"/>
                        <a:ea typeface="Noto Sans" charset="0"/>
                        <a:cs typeface="Noto Sans" charset="0"/>
                      </a:endParaRPr>
                    </a:p>
                  </a:txBody>
                  <a:tcPr marL="127000" marR="127000" marT="50800" marB="508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706120">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SCARA</a:t>
                      </a:r>
                      <a:endParaRPr lang="en-US" sz="1200" dirty="0">
                        <a:latin typeface="Noto Sans" charset="0"/>
                        <a:ea typeface="Noto Sans" charset="0"/>
                        <a:cs typeface="Noto Sans" charset="0"/>
                      </a:endParaRPr>
                    </a:p>
                  </a:txBody>
                  <a:tcPr marL="127000" marR="127000" marT="50800" marB="508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B5521A"/>
                          </a:solidFill>
                          <a:latin typeface="Noto Sans" pitchFamily="34" charset="0"/>
                          <a:ea typeface="Noto Sans" pitchFamily="34" charset="-122"/>
                          <a:cs typeface="Noto Sans" pitchFamily="34" charset="-120"/>
                        </a:rPr>
                        <a:t>RRP (+R)</a:t>
                      </a:r>
                      <a:endParaRPr lang="en-US" sz="1200" dirty="0">
                        <a:latin typeface="Noto Sans" charset="0"/>
                        <a:ea typeface="Noto Sans" charset="0"/>
                        <a:cs typeface="Noto Sans" charset="0"/>
                      </a:endParaRPr>
                    </a:p>
                  </a:txBody>
                  <a:tcPr marL="127000" marR="127000" marT="50800" marB="508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Silindr qismi</a:t>
                      </a:r>
                      <a:endParaRPr lang="en-US" sz="1200" dirty="0">
                        <a:latin typeface="Noto Sans" charset="0"/>
                        <a:ea typeface="Noto Sans" charset="0"/>
                        <a:cs typeface="Noto Sans" charset="0"/>
                      </a:endParaRPr>
                    </a:p>
                  </a:txBody>
                  <a:tcPr marL="127000" marR="127000" marT="50800" marB="508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Boʻgʻinlar yuk ogʻirligini koʻtarmaydi, juda tez; tekislikdagi yigʻish</a:t>
                      </a:r>
                      <a:endParaRPr lang="en-US" sz="1200" dirty="0">
                        <a:latin typeface="Noto Sans" charset="0"/>
                        <a:ea typeface="Noto Sans" charset="0"/>
                        <a:cs typeface="Noto Sans" charset="0"/>
                      </a:endParaRPr>
                    </a:p>
                  </a:txBody>
                  <a:tcPr marL="127000" marR="127000" marT="50800" marB="508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706120">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Burchakli (antropomorf)</a:t>
                      </a:r>
                      <a:endParaRPr lang="en-US" sz="1200" dirty="0">
                        <a:latin typeface="Noto Sans" charset="0"/>
                        <a:ea typeface="Noto Sans" charset="0"/>
                        <a:cs typeface="Noto Sans" charset="0"/>
                      </a:endParaRPr>
                    </a:p>
                  </a:txBody>
                  <a:tcPr marL="127000" marR="127000" marT="50800" marB="508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B5521A"/>
                          </a:solidFill>
                          <a:latin typeface="Noto Sans" pitchFamily="34" charset="0"/>
                          <a:ea typeface="Noto Sans" pitchFamily="34" charset="-122"/>
                          <a:cs typeface="Noto Sans" pitchFamily="34" charset="-120"/>
                        </a:rPr>
                        <a:t>RRR</a:t>
                      </a:r>
                      <a:endParaRPr lang="en-US" sz="1200" dirty="0">
                        <a:latin typeface="Noto Sans" charset="0"/>
                        <a:ea typeface="Noto Sans" charset="0"/>
                        <a:cs typeface="Noto Sans" charset="0"/>
                      </a:endParaRPr>
                    </a:p>
                  </a:txBody>
                  <a:tcPr marL="127000" marR="127000" marT="50800" marB="508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Sfera qismi</a:t>
                      </a:r>
                      <a:endParaRPr lang="en-US" sz="1200" dirty="0">
                        <a:latin typeface="Noto Sans" charset="0"/>
                        <a:ea typeface="Noto Sans" charset="0"/>
                        <a:cs typeface="Noto Sans" charset="0"/>
                      </a:endParaRPr>
                    </a:p>
                  </a:txBody>
                  <a:tcPr marL="127000" marR="127000" marT="50800" marB="508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Ishchi zonaga kam xalaqit beradi, tor joylarga kiradi; eng universal</a:t>
                      </a:r>
                      <a:endParaRPr lang="en-US" sz="1200" dirty="0">
                        <a:latin typeface="Noto Sans" charset="0"/>
                        <a:ea typeface="Noto Sans" charset="0"/>
                        <a:cs typeface="Noto Sans" charset="0"/>
                      </a:endParaRPr>
                    </a:p>
                  </a:txBody>
                  <a:tcPr marL="127000" marR="127000" marT="50800" marB="508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706120">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Parallel (delta)</a:t>
                      </a:r>
                      <a:endParaRPr lang="en-US" sz="1200" dirty="0">
                        <a:latin typeface="Noto Sans" charset="0"/>
                        <a:ea typeface="Noto Sans" charset="0"/>
                        <a:cs typeface="Noto Sans" charset="0"/>
                      </a:endParaRPr>
                    </a:p>
                  </a:txBody>
                  <a:tcPr marL="127000" marR="127000" marT="50800" marB="508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B5521A"/>
                          </a:solidFill>
                          <a:latin typeface="Noto Sans" pitchFamily="34" charset="0"/>
                          <a:ea typeface="Noto Sans" pitchFamily="34" charset="-122"/>
                          <a:cs typeface="Noto Sans" pitchFamily="34" charset="-120"/>
                        </a:rPr>
                        <a:t>Yopiq zanjir</a:t>
                      </a:r>
                      <a:endParaRPr lang="en-US" sz="1200" dirty="0">
                        <a:latin typeface="Noto Sans" charset="0"/>
                        <a:ea typeface="Noto Sans" charset="0"/>
                        <a:cs typeface="Noto Sans" charset="0"/>
                      </a:endParaRPr>
                    </a:p>
                  </a:txBody>
                  <a:tcPr marL="127000" marR="127000" marT="50800" marB="508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Kichik, gumbazsimon</a:t>
                      </a:r>
                      <a:endParaRPr lang="en-US" sz="1200" dirty="0">
                        <a:latin typeface="Noto Sans" charset="0"/>
                        <a:ea typeface="Noto Sans" charset="0"/>
                        <a:cs typeface="Noto Sans" charset="0"/>
                      </a:endParaRPr>
                    </a:p>
                  </a:txBody>
                  <a:tcPr marL="127000" marR="127000" marT="50800" marB="508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Yuqori bikrlik va tezlik; oziq-ovqat va farmatsevtikada saralash</a:t>
                      </a:r>
                      <a:endParaRPr lang="en-US" sz="1200" dirty="0">
                        <a:latin typeface="Noto Sans" charset="0"/>
                        <a:ea typeface="Noto Sans" charset="0"/>
                        <a:cs typeface="Noto Sans" charset="0"/>
                      </a:endParaRPr>
                    </a:p>
                  </a:txBody>
                  <a:tcPr marL="127000" marR="127000" marT="50800" marB="508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bl>
          </a:graphicData>
        </a:graphic>
      </p:graphicFrame>
      <p:sp>
        <p:nvSpPr>
          <p:cNvPr id="5" name="Text 2"/>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Maʼruza №2 · Informatsiya nazariyasi. Mexatron modullar va robotlar · 20 · Manba: Craig. Introduction to Robotics, 8.3-boʻlim</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A"/>
                </a:solidFill>
                <a:latin typeface="Noto Sans" pitchFamily="34" charset="0"/>
                <a:ea typeface="Noto Sans" pitchFamily="34" charset="-122"/>
                <a:cs typeface="Noto Sans" pitchFamily="34" charset="-120"/>
              </a:rPr>
              <a:t>ROBOTLAR VA DATCHIKLAR</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B"/>
                </a:solidFill>
                <a:latin typeface="Noto Sans" pitchFamily="34" charset="0"/>
                <a:ea typeface="Noto Sans" pitchFamily="34" charset="-122"/>
                <a:cs typeface="Noto Sans" pitchFamily="34" charset="-120"/>
              </a:rPr>
              <a:t>Robot turlari va ularning datchiklari</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13560"/>
          <a:ext cx="10556240" cy="2961640"/>
        </p:xfrm>
        <a:graphic>
          <a:graphicData uri="http://schemas.openxmlformats.org/drawingml/2006/table">
            <a:tbl>
              <a:tblPr/>
              <a:tblGrid>
                <a:gridCol w="3518747"/>
                <a:gridCol w="3518747"/>
                <a:gridCol w="3518747"/>
              </a:tblGrid>
              <a:tr h="309880">
                <a:tc>
                  <a:txBody>
                    <a:bodyPr/>
                    <a:lstStyle/>
                    <a:p>
                      <a:pPr indent="0" marL="0">
                        <a:lnSpc>
                          <a:spcPts val="1680"/>
                        </a:lnSpc>
                        <a:buNone/>
                      </a:pPr>
                      <a:r>
                        <a:rPr lang="en-US" sz="1200" b="1" dirty="0">
                          <a:solidFill>
                            <a:srgbClr val="F5F3EE"/>
                          </a:solidFill>
                          <a:latin typeface="Noto Sans" pitchFamily="34" charset="0"/>
                          <a:ea typeface="Noto Sans" pitchFamily="34" charset="-122"/>
                          <a:cs typeface="Noto Sans" pitchFamily="34" charset="-120"/>
                        </a:rPr>
                        <a:t>Robot turi</a:t>
                      </a:r>
                      <a:endParaRPr lang="en-US" sz="1200" dirty="0">
                        <a:latin typeface="Noto Sans" charset="0"/>
                        <a:ea typeface="Noto Sans" charset="0"/>
                        <a:cs typeface="Noto Sans" charset="0"/>
                      </a:endParaRPr>
                    </a:p>
                  </a:txBody>
                  <a:tcPr marL="127000" marR="127000" marT="50800" marB="50800" anchor="t">
                    <a:lnL w="12700" cap="flat" cmpd="sng" algn="ctr">
                      <a:solidFill>
                        <a:srgbClr val="C4C2BE"/>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indent="0" marL="0">
                        <a:lnSpc>
                          <a:spcPts val="1680"/>
                        </a:lnSpc>
                        <a:buNone/>
                      </a:pPr>
                      <a:r>
                        <a:rPr lang="en-US" sz="1200" b="1" dirty="0">
                          <a:solidFill>
                            <a:srgbClr val="F5F3EE"/>
                          </a:solidFill>
                          <a:latin typeface="Noto Sans" pitchFamily="34" charset="0"/>
                          <a:ea typeface="Noto Sans" pitchFamily="34" charset="-122"/>
                          <a:cs typeface="Noto Sans" pitchFamily="34" charset="-120"/>
                        </a:rPr>
                        <a:t>Ichki holat datchiklari</a:t>
                      </a:r>
                      <a:endParaRPr lang="en-US" sz="1200" dirty="0">
                        <a:latin typeface="Noto Sans" charset="0"/>
                        <a:ea typeface="Noto Sans" charset="0"/>
                        <a:cs typeface="Noto Sans" charset="0"/>
                      </a:endParaRPr>
                    </a:p>
                  </a:txBody>
                  <a:tcPr marL="127000" marR="127000" marT="50800" marB="50800"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indent="0" marL="0">
                        <a:lnSpc>
                          <a:spcPts val="1680"/>
                        </a:lnSpc>
                        <a:buNone/>
                      </a:pPr>
                      <a:r>
                        <a:rPr lang="en-US" sz="1200" b="1" dirty="0">
                          <a:solidFill>
                            <a:srgbClr val="F5F3EE"/>
                          </a:solidFill>
                          <a:latin typeface="Noto Sans" pitchFamily="34" charset="0"/>
                          <a:ea typeface="Noto Sans" pitchFamily="34" charset="-122"/>
                          <a:cs typeface="Noto Sans" pitchFamily="34" charset="-120"/>
                        </a:rPr>
                        <a:t>Tashqi muhit datchiklari</a:t>
                      </a:r>
                      <a:endParaRPr lang="en-US" sz="1200" dirty="0">
                        <a:latin typeface="Noto Sans" charset="0"/>
                        <a:ea typeface="Noto Sans" charset="0"/>
                        <a:cs typeface="Noto Sans" charset="0"/>
                      </a:endParaRPr>
                    </a:p>
                  </a:txBody>
                  <a:tcPr marL="127000" marR="127000" marT="50800" marB="50800"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r>
              <a:tr h="508000">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Sanoat manipulyatori</a:t>
                      </a:r>
                      <a:endParaRPr lang="en-US" sz="1200" dirty="0">
                        <a:latin typeface="Noto Sans" charset="0"/>
                        <a:ea typeface="Noto Sans" charset="0"/>
                        <a:cs typeface="Noto Sans" charset="0"/>
                      </a:endParaRPr>
                    </a:p>
                  </a:txBody>
                  <a:tcPr marL="127000" marR="127000" marT="50800" marB="508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Boʻgʻin enkoderlari, chegara datchiklari, dvigatel toki</a:t>
                      </a:r>
                      <a:endParaRPr lang="en-US" sz="1200" dirty="0">
                        <a:latin typeface="Noto Sans" charset="0"/>
                        <a:ea typeface="Noto Sans" charset="0"/>
                        <a:cs typeface="Noto Sans" charset="0"/>
                      </a:endParaRPr>
                    </a:p>
                  </a:txBody>
                  <a:tcPr marL="127000" marR="127000" marT="50800" marB="508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Kuch-moment datchigi, kamera, yorugʻlik pardalari</a:t>
                      </a:r>
                      <a:endParaRPr lang="en-US" sz="1200" dirty="0">
                        <a:latin typeface="Noto Sans" charset="0"/>
                        <a:ea typeface="Noto Sans" charset="0"/>
                        <a:cs typeface="Noto Sans" charset="0"/>
                      </a:endParaRPr>
                    </a:p>
                  </a:txBody>
                  <a:tcPr marL="127000" marR="127000" marT="50800" marB="508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508000">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Kollaborativ robot</a:t>
                      </a:r>
                      <a:endParaRPr lang="en-US" sz="1200" dirty="0">
                        <a:latin typeface="Noto Sans" charset="0"/>
                        <a:ea typeface="Noto Sans" charset="0"/>
                        <a:cs typeface="Noto Sans" charset="0"/>
                      </a:endParaRPr>
                    </a:p>
                  </a:txBody>
                  <a:tcPr marL="127000" marR="127000" marT="50800" marB="508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Ikki tomonlama enkoderlar, boʻgʻin moment datchiklari</a:t>
                      </a:r>
                      <a:endParaRPr lang="en-US" sz="1200" dirty="0">
                        <a:latin typeface="Noto Sans" charset="0"/>
                        <a:ea typeface="Noto Sans" charset="0"/>
                        <a:cs typeface="Noto Sans" charset="0"/>
                      </a:endParaRPr>
                    </a:p>
                  </a:txBody>
                  <a:tcPr marL="127000" marR="127000" marT="50800" marB="508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Yaqinlik datchiklari, kamera, taktil qoplama</a:t>
                      </a:r>
                      <a:endParaRPr lang="en-US" sz="1200" dirty="0">
                        <a:latin typeface="Noto Sans" charset="0"/>
                        <a:ea typeface="Noto Sans" charset="0"/>
                        <a:cs typeface="Noto Sans" charset="0"/>
                      </a:endParaRPr>
                    </a:p>
                  </a:txBody>
                  <a:tcPr marL="127000" marR="127000" marT="50800" marB="508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09880">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AGV / AMR</a:t>
                      </a:r>
                      <a:endParaRPr lang="en-US" sz="1200" dirty="0">
                        <a:latin typeface="Noto Sans" charset="0"/>
                        <a:ea typeface="Noto Sans" charset="0"/>
                        <a:cs typeface="Noto Sans" charset="0"/>
                      </a:endParaRPr>
                    </a:p>
                  </a:txBody>
                  <a:tcPr marL="127000" marR="127000" marT="50800" marB="508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Gʻildirak enkoderlari (odometriya), IMU</a:t>
                      </a:r>
                      <a:endParaRPr lang="en-US" sz="1200" dirty="0">
                        <a:latin typeface="Noto Sans" charset="0"/>
                        <a:ea typeface="Noto Sans" charset="0"/>
                        <a:cs typeface="Noto Sans" charset="0"/>
                      </a:endParaRPr>
                    </a:p>
                  </a:txBody>
                  <a:tcPr marL="127000" marR="127000" marT="50800" marB="508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LiDAR, ultratovush datchiklari, kamera</a:t>
                      </a:r>
                      <a:endParaRPr lang="en-US" sz="1200" dirty="0">
                        <a:latin typeface="Noto Sans" charset="0"/>
                        <a:ea typeface="Noto Sans" charset="0"/>
                        <a:cs typeface="Noto Sans" charset="0"/>
                      </a:endParaRPr>
                    </a:p>
                  </a:txBody>
                  <a:tcPr marL="127000" marR="127000" marT="50800" marB="508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09880">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Dron</a:t>
                      </a:r>
                      <a:endParaRPr lang="en-US" sz="1200" dirty="0">
                        <a:latin typeface="Noto Sans" charset="0"/>
                        <a:ea typeface="Noto Sans" charset="0"/>
                        <a:cs typeface="Noto Sans" charset="0"/>
                      </a:endParaRPr>
                    </a:p>
                  </a:txBody>
                  <a:tcPr marL="127000" marR="127000" marT="50800" marB="508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IMU, magnitometr, barometr</a:t>
                      </a:r>
                      <a:endParaRPr lang="en-US" sz="1200" dirty="0">
                        <a:latin typeface="Noto Sans" charset="0"/>
                        <a:ea typeface="Noto Sans" charset="0"/>
                        <a:cs typeface="Noto Sans" charset="0"/>
                      </a:endParaRPr>
                    </a:p>
                  </a:txBody>
                  <a:tcPr marL="127000" marR="127000" marT="50800" marB="508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GNSS, kamera, masofa oʻlchagich</a:t>
                      </a:r>
                      <a:endParaRPr lang="en-US" sz="1200" dirty="0">
                        <a:latin typeface="Noto Sans" charset="0"/>
                        <a:ea typeface="Noto Sans" charset="0"/>
                        <a:cs typeface="Noto Sans" charset="0"/>
                      </a:endParaRPr>
                    </a:p>
                  </a:txBody>
                  <a:tcPr marL="127000" marR="127000" marT="50800" marB="508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508000">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Avtonom avtomobil</a:t>
                      </a:r>
                      <a:endParaRPr lang="en-US" sz="1200" dirty="0">
                        <a:latin typeface="Noto Sans" charset="0"/>
                        <a:ea typeface="Noto Sans" charset="0"/>
                        <a:cs typeface="Noto Sans" charset="0"/>
                      </a:endParaRPr>
                    </a:p>
                  </a:txBody>
                  <a:tcPr marL="127000" marR="127000" marT="50800" marB="508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Gʻildirak tezligi datchiklari, IMU, rul burchagi datchigi</a:t>
                      </a:r>
                      <a:endParaRPr lang="en-US" sz="1200" dirty="0">
                        <a:latin typeface="Noto Sans" charset="0"/>
                        <a:ea typeface="Noto Sans" charset="0"/>
                        <a:cs typeface="Noto Sans" charset="0"/>
                      </a:endParaRPr>
                    </a:p>
                  </a:txBody>
                  <a:tcPr marL="127000" marR="127000" marT="50800" marB="508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Kameralar, radarlar, LiDAR, ultratovush, GNSS</a:t>
                      </a:r>
                      <a:endParaRPr lang="en-US" sz="1200" dirty="0">
                        <a:latin typeface="Noto Sans" charset="0"/>
                        <a:ea typeface="Noto Sans" charset="0"/>
                        <a:cs typeface="Noto Sans" charset="0"/>
                      </a:endParaRPr>
                    </a:p>
                  </a:txBody>
                  <a:tcPr marL="127000" marR="127000" marT="50800" marB="508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508000">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Yuruvchi robot</a:t>
                      </a:r>
                      <a:endParaRPr lang="en-US" sz="1200" dirty="0">
                        <a:latin typeface="Noto Sans" charset="0"/>
                        <a:ea typeface="Noto Sans" charset="0"/>
                        <a:cs typeface="Noto Sans" charset="0"/>
                      </a:endParaRPr>
                    </a:p>
                  </a:txBody>
                  <a:tcPr marL="127000" marR="127000" marT="50800" marB="508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Boʻgʻin enkoderlari, IMU, oyoq kuch datchiklari</a:t>
                      </a:r>
                      <a:endParaRPr lang="en-US" sz="1200" dirty="0">
                        <a:latin typeface="Noto Sans" charset="0"/>
                        <a:ea typeface="Noto Sans" charset="0"/>
                        <a:cs typeface="Noto Sans" charset="0"/>
                      </a:endParaRPr>
                    </a:p>
                  </a:txBody>
                  <a:tcPr marL="127000" marR="127000" marT="50800" marB="508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Chuqurlik kameralari, LiDAR</a:t>
                      </a:r>
                      <a:endParaRPr lang="en-US" sz="1200" dirty="0">
                        <a:latin typeface="Noto Sans" charset="0"/>
                        <a:ea typeface="Noto Sans" charset="0"/>
                        <a:cs typeface="Noto Sans" charset="0"/>
                      </a:endParaRPr>
                    </a:p>
                  </a:txBody>
                  <a:tcPr marL="127000" marR="127000" marT="50800" marB="508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bl>
          </a:graphicData>
        </a:graphic>
      </p:graphicFrame>
      <p:sp>
        <p:nvSpPr>
          <p:cNvPr id="5" name="Text 2"/>
          <p:cNvSpPr/>
          <p:nvPr/>
        </p:nvSpPr>
        <p:spPr>
          <a:xfrm>
            <a:off x="812800" y="5029200"/>
            <a:ext cx="10566400" cy="502920"/>
          </a:xfrm>
          <a:prstGeom prst="roundRect">
            <a:avLst>
              <a:gd name="adj" fmla="val 15152"/>
            </a:avLst>
          </a:prstGeom>
          <a:solidFill>
            <a:srgbClr val="FBE9DC"/>
          </a:solidFill>
          <a:ln/>
        </p:spPr>
        <p:txBody>
          <a:bodyPr wrap="square" lIns="231682" tIns="104682" rIns="0" bIns="79282" rtlCol="0" anchor="t">
            <a:normAutofit/>
          </a:bodyPr>
          <a:lstStyle/>
          <a:p>
            <a:pPr algn="l" indent="0" marL="0">
              <a:lnSpc>
                <a:spcPts val="1960"/>
              </a:lnSpc>
              <a:buNone/>
            </a:pPr>
            <a:r>
              <a:rPr lang="en-US" sz="1400" b="1" dirty="0">
                <a:solidFill>
                  <a:srgbClr val="16233B"/>
                </a:solidFill>
                <a:latin typeface="Noto Sans" pitchFamily="34" charset="0"/>
                <a:ea typeface="Noto Sans" pitchFamily="34" charset="-122"/>
                <a:cs typeface="Noto Sans" pitchFamily="34" charset="-120"/>
              </a:rPr>
              <a:t>Ichki datchiklar hamma robotda bor; tashqi datchiklar tarkibi muhit qanchalik oʻzgaruvchanligiga bogʻliq.</a:t>
            </a:r>
            <a:endParaRPr lang="en-US" sz="1400" dirty="0"/>
          </a:p>
        </p:txBody>
      </p:sp>
      <p:sp>
        <p:nvSpPr>
          <p:cNvPr id="6" name="Text 3"/>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Maʼruza №2 · Informatsiya nazariyasi. Mexatron modullar va robotlar · 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6233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0A46E"/>
                </a:solidFill>
                <a:latin typeface="Noto Sans" pitchFamily="34" charset="0"/>
                <a:ea typeface="Noto Sans" pitchFamily="34" charset="-122"/>
                <a:cs typeface="Noto Sans" pitchFamily="34" charset="-120"/>
              </a:rPr>
              <a:t>XULOSA</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5F3EE"/>
                </a:solidFill>
                <a:latin typeface="Noto Sans" pitchFamily="34" charset="0"/>
                <a:ea typeface="Noto Sans" pitchFamily="34" charset="-122"/>
                <a:cs typeface="Noto Sans" pitchFamily="34" charset="-120"/>
              </a:rPr>
              <a:t>Axborot, modul va robot</a:t>
            </a:r>
            <a:endParaRPr lang="en-US" sz="3200" dirty="0"/>
          </a:p>
        </p:txBody>
      </p:sp>
      <p:sp>
        <p:nvSpPr>
          <p:cNvPr id="4" name="Shape 2"/>
          <p:cNvSpPr/>
          <p:nvPr/>
        </p:nvSpPr>
        <p:spPr>
          <a:xfrm>
            <a:off x="812800" y="1866900"/>
            <a:ext cx="3352800" cy="0"/>
          </a:xfrm>
          <a:prstGeom prst="line">
            <a:avLst/>
          </a:prstGeom>
          <a:noFill/>
          <a:ln w="25400">
            <a:solidFill>
              <a:srgbClr val="F0A46E"/>
            </a:solidFill>
            <a:prstDash val="solid"/>
          </a:ln>
        </p:spPr>
      </p:sp>
      <p:sp>
        <p:nvSpPr>
          <p:cNvPr id="5" name="Text 3"/>
          <p:cNvSpPr/>
          <p:nvPr/>
        </p:nvSpPr>
        <p:spPr>
          <a:xfrm>
            <a:off x="812800" y="2057400"/>
            <a:ext cx="3453384"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0A46E"/>
                </a:solidFill>
                <a:latin typeface="Noto Sans" pitchFamily="34" charset="0"/>
                <a:ea typeface="Noto Sans" pitchFamily="34" charset="-122"/>
                <a:cs typeface="Noto Sans" pitchFamily="34" charset="-120"/>
              </a:rPr>
              <a:t>Informatsiya nazariyasi</a:t>
            </a:r>
            <a:endParaRPr lang="en-US" sz="1700" dirty="0"/>
          </a:p>
        </p:txBody>
      </p:sp>
      <p:sp>
        <p:nvSpPr>
          <p:cNvPr id="6" name="Text 4"/>
          <p:cNvSpPr/>
          <p:nvPr/>
        </p:nvSpPr>
        <p:spPr>
          <a:xfrm>
            <a:off x="812800" y="2392685"/>
            <a:ext cx="345338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CFDB"/>
                </a:solidFill>
                <a:latin typeface="Noto Sans" pitchFamily="34" charset="0"/>
                <a:ea typeface="Noto Sans" pitchFamily="34" charset="-122"/>
                <a:cs typeface="Noto Sans" pitchFamily="34" charset="-120"/>
              </a:rPr>
              <a:t>Datchikni miqdoriy baholash tili: bit, entropiya, SNR, oʻtkazish qobiliyati</a:t>
            </a:r>
            <a:endParaRPr lang="en-US" sz="1400" dirty="0"/>
          </a:p>
        </p:txBody>
      </p:sp>
      <p:sp>
        <p:nvSpPr>
          <p:cNvPr id="7" name="Shape 5"/>
          <p:cNvSpPr/>
          <p:nvPr/>
        </p:nvSpPr>
        <p:spPr>
          <a:xfrm>
            <a:off x="4419600" y="1866900"/>
            <a:ext cx="3352800" cy="0"/>
          </a:xfrm>
          <a:prstGeom prst="line">
            <a:avLst/>
          </a:prstGeom>
          <a:noFill/>
          <a:ln w="25400">
            <a:solidFill>
              <a:srgbClr val="F0A46E"/>
            </a:solidFill>
            <a:prstDash val="solid"/>
          </a:ln>
        </p:spPr>
      </p:sp>
      <p:sp>
        <p:nvSpPr>
          <p:cNvPr id="8" name="Text 6"/>
          <p:cNvSpPr/>
          <p:nvPr/>
        </p:nvSpPr>
        <p:spPr>
          <a:xfrm>
            <a:off x="4419600" y="2057400"/>
            <a:ext cx="3453384"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0A46E"/>
                </a:solidFill>
                <a:latin typeface="Noto Sans" pitchFamily="34" charset="0"/>
                <a:ea typeface="Noto Sans" pitchFamily="34" charset="-122"/>
                <a:cs typeface="Noto Sans" pitchFamily="34" charset="-120"/>
              </a:rPr>
              <a:t>Mexatron modullar</a:t>
            </a:r>
            <a:endParaRPr lang="en-US" sz="1700" dirty="0"/>
          </a:p>
        </p:txBody>
      </p:sp>
      <p:sp>
        <p:nvSpPr>
          <p:cNvPr id="9" name="Text 7"/>
          <p:cNvSpPr/>
          <p:nvPr/>
        </p:nvSpPr>
        <p:spPr>
          <a:xfrm>
            <a:off x="4419600" y="2392685"/>
            <a:ext cx="345338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CFDB"/>
                </a:solidFill>
                <a:latin typeface="Noto Sans" pitchFamily="34" charset="0"/>
                <a:ea typeface="Noto Sans" pitchFamily="34" charset="-122"/>
                <a:cs typeface="Noto Sans" pitchFamily="34" charset="-120"/>
              </a:rPr>
              <a:t>Harakat moduli → mexatron harakat moduli → intellektual modul</a:t>
            </a:r>
            <a:endParaRPr lang="en-US" sz="1400" dirty="0"/>
          </a:p>
        </p:txBody>
      </p:sp>
      <p:sp>
        <p:nvSpPr>
          <p:cNvPr id="10" name="Shape 8"/>
          <p:cNvSpPr/>
          <p:nvPr/>
        </p:nvSpPr>
        <p:spPr>
          <a:xfrm>
            <a:off x="8026400" y="1866900"/>
            <a:ext cx="3352800" cy="0"/>
          </a:xfrm>
          <a:prstGeom prst="line">
            <a:avLst/>
          </a:prstGeom>
          <a:noFill/>
          <a:ln w="25400">
            <a:solidFill>
              <a:srgbClr val="F0A46E"/>
            </a:solidFill>
            <a:prstDash val="solid"/>
          </a:ln>
        </p:spPr>
      </p:sp>
      <p:sp>
        <p:nvSpPr>
          <p:cNvPr id="11" name="Text 9"/>
          <p:cNvSpPr/>
          <p:nvPr/>
        </p:nvSpPr>
        <p:spPr>
          <a:xfrm>
            <a:off x="8026400" y="2057400"/>
            <a:ext cx="3453384"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0A46E"/>
                </a:solidFill>
                <a:latin typeface="Noto Sans" pitchFamily="34" charset="0"/>
                <a:ea typeface="Noto Sans" pitchFamily="34" charset="-122"/>
                <a:cs typeface="Noto Sans" pitchFamily="34" charset="-120"/>
              </a:rPr>
              <a:t>Robotlar</a:t>
            </a:r>
            <a:endParaRPr lang="en-US" sz="1700" dirty="0"/>
          </a:p>
        </p:txBody>
      </p:sp>
      <p:sp>
        <p:nvSpPr>
          <p:cNvPr id="12" name="Text 10"/>
          <p:cNvSpPr/>
          <p:nvPr/>
        </p:nvSpPr>
        <p:spPr>
          <a:xfrm>
            <a:off x="8026400" y="2392685"/>
            <a:ext cx="345338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CFDB"/>
                </a:solidFill>
                <a:latin typeface="Noto Sans" pitchFamily="34" charset="0"/>
                <a:ea typeface="Noto Sans" pitchFamily="34" charset="-122"/>
                <a:cs typeface="Noto Sans" pitchFamily="34" charset="-120"/>
              </a:rPr>
              <a:t>Soha, boshqarish, harakatlanish va kinematika boʻyicha tasnif</a:t>
            </a:r>
            <a:endParaRPr lang="en-US" sz="1400" dirty="0"/>
          </a:p>
        </p:txBody>
      </p:sp>
      <p:sp>
        <p:nvSpPr>
          <p:cNvPr id="13" name="Text 11"/>
          <p:cNvSpPr/>
          <p:nvPr/>
        </p:nvSpPr>
        <p:spPr>
          <a:xfrm>
            <a:off x="812800" y="3195315"/>
            <a:ext cx="1020318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F5F3EE"/>
                </a:solidFill>
                <a:latin typeface="Noto Sans" pitchFamily="34" charset="0"/>
                <a:ea typeface="Noto Sans" pitchFamily="34" charset="-122"/>
                <a:cs typeface="Noto Sans" pitchFamily="34" charset="-120"/>
              </a:rPr>
              <a:t>Robot qanchalik avtonom boʻlsa, uning informatsion qurilmalari majmuasi shunchalik murakkab boʻladi.</a:t>
            </a:r>
            <a:endParaRPr lang="en-US" sz="2000" dirty="0"/>
          </a:p>
        </p:txBody>
      </p:sp>
      <p:sp>
        <p:nvSpPr>
          <p:cNvPr id="14" name="Text 12"/>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3B5"/>
                </a:solidFill>
                <a:latin typeface="Noto Sans" pitchFamily="34" charset="0"/>
                <a:ea typeface="Noto Sans" pitchFamily="34" charset="-122"/>
                <a:cs typeface="Noto Sans" pitchFamily="34" charset="-120"/>
              </a:rPr>
              <a:t>Maʼruza №2 · Informatsiya nazariyasi. Mexatron modullar va robotlar · 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A"/>
                </a:solidFill>
                <a:latin typeface="Noto Sans" pitchFamily="34" charset="0"/>
                <a:ea typeface="Noto Sans" pitchFamily="34" charset="-122"/>
                <a:cs typeface="Noto Sans" pitchFamily="34" charset="-120"/>
              </a:rPr>
              <a:t>YAKUN</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B"/>
                </a:solidFill>
                <a:latin typeface="Noto Sans" pitchFamily="34" charset="0"/>
                <a:ea typeface="Noto Sans" pitchFamily="34" charset="-122"/>
                <a:cs typeface="Noto Sans" pitchFamily="34" charset="-120"/>
              </a:rPr>
              <a:t>Nazorat savollari</a:t>
            </a:r>
            <a:endParaRPr lang="en-US" sz="3200" dirty="0"/>
          </a:p>
        </p:txBody>
      </p:sp>
      <p:sp>
        <p:nvSpPr>
          <p:cNvPr id="4" name="Text 2"/>
          <p:cNvSpPr/>
          <p:nvPr/>
        </p:nvSpPr>
        <p:spPr>
          <a:xfrm>
            <a:off x="910590" y="1803400"/>
            <a:ext cx="5126228" cy="1643380"/>
          </a:xfrm>
          <a:prstGeom prst="rect">
            <a:avLst/>
          </a:prstGeom>
          <a:noFill/>
          <a:ln/>
        </p:spPr>
        <p:txBody>
          <a:bodyPr wrap="square" lIns="0" tIns="0" rIns="0" bIns="0" rtlCol="0" anchor="t">
            <a:normAutofit/>
          </a:bodyPr>
          <a:lstStyle/>
          <a:p>
            <a:pPr algn="l" marL="181610" indent="-181610">
              <a:lnSpc>
                <a:spcPts val="1820"/>
              </a:lnSpc>
              <a:buSzPct val="100000"/>
              <a:buFontTx/>
              <a:buAutoNum type="arabicPeriod" startAt="1"/>
            </a:pPr>
            <a:r>
              <a:rPr lang="en-US" sz="1300" dirty="0">
                <a:solidFill>
                  <a:srgbClr val="1D2433"/>
                </a:solidFill>
                <a:latin typeface="Noto Sans" pitchFamily="34" charset="0"/>
                <a:ea typeface="Noto Sans" pitchFamily="34" charset="-122"/>
                <a:cs typeface="Noto Sans" pitchFamily="34" charset="-120"/>
              </a:rPr>
              <a:t>Axborot, xabar va signal tushunchalarini taʼriflang.</a:t>
            </a:r>
            <a:endParaRPr lang="en-US" sz="1300" dirty="0"/>
          </a:p>
          <a:p>
            <a:pPr algn="l" marL="181610" indent="-181610">
              <a:lnSpc>
                <a:spcPts val="1820"/>
              </a:lnSpc>
              <a:buSzPct val="100000"/>
              <a:buFontTx/>
              <a:buAutoNum type="arabicPeriod" startAt="1"/>
            </a:pPr>
            <a:r>
              <a:rPr lang="en-US" sz="1300" dirty="0">
                <a:solidFill>
                  <a:srgbClr val="1D2433"/>
                </a:solidFill>
                <a:latin typeface="Noto Sans" pitchFamily="34" charset="0"/>
                <a:ea typeface="Noto Sans" pitchFamily="34" charset="-122"/>
                <a:cs typeface="Noto Sans" pitchFamily="34" charset="-120"/>
              </a:rPr>
              <a:t>Shennon boʻyicha axborot uzatish tizimini robotga qoʻllang.</a:t>
            </a:r>
            <a:endParaRPr lang="en-US" sz="1300" dirty="0"/>
          </a:p>
          <a:p>
            <a:pPr algn="l" marL="181610" indent="-181610">
              <a:lnSpc>
                <a:spcPts val="1820"/>
              </a:lnSpc>
              <a:buSzPct val="100000"/>
              <a:buFontTx/>
              <a:buAutoNum type="arabicPeriod" startAt="1"/>
            </a:pPr>
            <a:r>
              <a:rPr lang="en-US" sz="1300" dirty="0">
                <a:solidFill>
                  <a:srgbClr val="1D2433"/>
                </a:solidFill>
                <a:latin typeface="Noto Sans" pitchFamily="34" charset="0"/>
                <a:ea typeface="Noto Sans" pitchFamily="34" charset="-122"/>
                <a:cs typeface="Noto Sans" pitchFamily="34" charset="-120"/>
              </a:rPr>
              <a:t>Xartli va Shennon formulalari qanday farqlanadi?</a:t>
            </a:r>
            <a:endParaRPr lang="en-US" sz="1300" dirty="0"/>
          </a:p>
          <a:p>
            <a:pPr algn="l" marL="181610" indent="-181610">
              <a:lnSpc>
                <a:spcPts val="1820"/>
              </a:lnSpc>
              <a:buSzPct val="100000"/>
              <a:buFontTx/>
              <a:buAutoNum type="arabicPeriod" startAt="1"/>
            </a:pPr>
            <a:r>
              <a:rPr lang="en-US" sz="1300" dirty="0">
                <a:solidFill>
                  <a:srgbClr val="1D2433"/>
                </a:solidFill>
                <a:latin typeface="Noto Sans" pitchFamily="34" charset="0"/>
                <a:ea typeface="Noto Sans" pitchFamily="34" charset="-122"/>
                <a:cs typeface="Noto Sans" pitchFamily="34" charset="-120"/>
              </a:rPr>
              <a:t>0…360°, ± 0,1° datchik qancha axborot beradi? Necha razryadli ARO kerak?</a:t>
            </a:r>
            <a:endParaRPr lang="en-US" sz="1300" dirty="0"/>
          </a:p>
          <a:p>
            <a:pPr algn="l" marL="181610" indent="-181610">
              <a:lnSpc>
                <a:spcPts val="1820"/>
              </a:lnSpc>
              <a:buSzPct val="100000"/>
              <a:buFontTx/>
              <a:buAutoNum type="arabicPeriod" startAt="1"/>
            </a:pPr>
            <a:r>
              <a:rPr lang="en-US" sz="1300" dirty="0">
                <a:solidFill>
                  <a:srgbClr val="1D2433"/>
                </a:solidFill>
                <a:latin typeface="Noto Sans" pitchFamily="34" charset="0"/>
                <a:ea typeface="Noto Sans" pitchFamily="34" charset="-122"/>
                <a:cs typeface="Noto Sans" pitchFamily="34" charset="-120"/>
              </a:rPr>
              <a:t>SNR va kanal oʻtkazish qobiliyati qanday bogʻlangan?</a:t>
            </a:r>
            <a:endParaRPr lang="en-US" sz="1300" dirty="0"/>
          </a:p>
          <a:p>
            <a:pPr algn="l" marL="181610" indent="-181610">
              <a:lnSpc>
                <a:spcPts val="1820"/>
              </a:lnSpc>
              <a:buSzPct val="100000"/>
              <a:buFontTx/>
              <a:buAutoNum type="arabicPeriod" startAt="1"/>
            </a:pPr>
            <a:r>
              <a:rPr lang="en-US" sz="1300" dirty="0">
                <a:solidFill>
                  <a:srgbClr val="1D2433"/>
                </a:solidFill>
                <a:latin typeface="Noto Sans" pitchFamily="34" charset="0"/>
                <a:ea typeface="Noto Sans" pitchFamily="34" charset="-122"/>
                <a:cs typeface="Noto Sans" pitchFamily="34" charset="-120"/>
              </a:rPr>
              <a:t>Kotelnikov teoremasi va chastota almashinuvini tushuntiring.</a:t>
            </a:r>
            <a:endParaRPr lang="en-US" sz="1300" dirty="0"/>
          </a:p>
        </p:txBody>
      </p:sp>
      <p:sp>
        <p:nvSpPr>
          <p:cNvPr id="5" name="Text 3"/>
          <p:cNvSpPr/>
          <p:nvPr/>
        </p:nvSpPr>
        <p:spPr>
          <a:xfrm>
            <a:off x="6396990" y="1803400"/>
            <a:ext cx="5126228" cy="1643380"/>
          </a:xfrm>
          <a:prstGeom prst="rect">
            <a:avLst/>
          </a:prstGeom>
          <a:noFill/>
          <a:ln/>
        </p:spPr>
        <p:txBody>
          <a:bodyPr wrap="square" lIns="0" tIns="0" rIns="0" bIns="0" rtlCol="0" anchor="t">
            <a:normAutofit/>
          </a:bodyPr>
          <a:lstStyle/>
          <a:p>
            <a:pPr algn="l" marL="181610" indent="-181610">
              <a:lnSpc>
                <a:spcPts val="1820"/>
              </a:lnSpc>
              <a:buSzPct val="100000"/>
              <a:buFontTx/>
              <a:buAutoNum type="arabicPeriod" startAt="1"/>
            </a:pPr>
            <a:r>
              <a:rPr lang="en-US" sz="1300" dirty="0">
                <a:solidFill>
                  <a:srgbClr val="1D2433"/>
                </a:solidFill>
                <a:latin typeface="Noto Sans" pitchFamily="34" charset="0"/>
                <a:ea typeface="Noto Sans" pitchFamily="34" charset="-122"/>
                <a:cs typeface="Noto Sans" pitchFamily="34" charset="-120"/>
              </a:rPr>
              <a:t>ARO razryadi, kvantlash qadami va shovqini bogʻliqligini yozing.</a:t>
            </a:r>
            <a:endParaRPr lang="en-US" sz="1300" dirty="0"/>
          </a:p>
          <a:p>
            <a:pPr algn="l" marL="181610" indent="-181610">
              <a:lnSpc>
                <a:spcPts val="1820"/>
              </a:lnSpc>
              <a:buSzPct val="100000"/>
              <a:buFontTx/>
              <a:buAutoNum type="arabicPeriod" startAt="1"/>
            </a:pPr>
            <a:r>
              <a:rPr lang="en-US" sz="1300" dirty="0">
                <a:solidFill>
                  <a:srgbClr val="1D2433"/>
                </a:solidFill>
                <a:latin typeface="Noto Sans" pitchFamily="34" charset="0"/>
                <a:ea typeface="Noto Sans" pitchFamily="34" charset="-122"/>
                <a:cs typeface="Noto Sans" pitchFamily="34" charset="-120"/>
              </a:rPr>
              <a:t>Absolyut enkoderda nima uchun Grey kodi qoʻllanadi?</a:t>
            </a:r>
            <a:endParaRPr lang="en-US" sz="1300" dirty="0"/>
          </a:p>
          <a:p>
            <a:pPr algn="l" marL="181610" indent="-181610">
              <a:lnSpc>
                <a:spcPts val="1820"/>
              </a:lnSpc>
              <a:buSzPct val="100000"/>
              <a:buFontTx/>
              <a:buAutoNum type="arabicPeriod" startAt="1"/>
            </a:pPr>
            <a:r>
              <a:rPr lang="en-US" sz="1300" dirty="0">
                <a:solidFill>
                  <a:srgbClr val="1D2433"/>
                </a:solidFill>
                <a:latin typeface="Noto Sans" pitchFamily="34" charset="0"/>
                <a:ea typeface="Noto Sans" pitchFamily="34" charset="-122"/>
                <a:cs typeface="Noto Sans" pitchFamily="34" charset="-120"/>
              </a:rPr>
              <a:t>Mexatron modullarning uch darajasini farqlang.</a:t>
            </a:r>
            <a:endParaRPr lang="en-US" sz="1300" dirty="0"/>
          </a:p>
          <a:p>
            <a:pPr algn="l" marL="181610" indent="-181610">
              <a:lnSpc>
                <a:spcPts val="1820"/>
              </a:lnSpc>
              <a:buSzPct val="100000"/>
              <a:buFontTx/>
              <a:buAutoNum type="arabicPeriod" startAt="1"/>
            </a:pPr>
            <a:r>
              <a:rPr lang="en-US" sz="1300" dirty="0">
                <a:solidFill>
                  <a:srgbClr val="1D2433"/>
                </a:solidFill>
                <a:latin typeface="Noto Sans" pitchFamily="34" charset="0"/>
                <a:ea typeface="Noto Sans" pitchFamily="34" charset="-122"/>
                <a:cs typeface="Noto Sans" pitchFamily="34" charset="-120"/>
              </a:rPr>
              <a:t>ISO 8373 boʻyicha sanoat va servis robotlarini taʼriflang.</a:t>
            </a:r>
            <a:endParaRPr lang="en-US" sz="1300" dirty="0"/>
          </a:p>
          <a:p>
            <a:pPr algn="l" marL="181610" indent="-181610">
              <a:lnSpc>
                <a:spcPts val="1820"/>
              </a:lnSpc>
              <a:buSzPct val="100000"/>
              <a:buFontTx/>
              <a:buAutoNum type="arabicPeriod" startAt="1"/>
            </a:pPr>
            <a:r>
              <a:rPr lang="en-US" sz="1300" dirty="0">
                <a:solidFill>
                  <a:srgbClr val="1D2433"/>
                </a:solidFill>
                <a:latin typeface="Noto Sans" pitchFamily="34" charset="0"/>
                <a:ea typeface="Noto Sans" pitchFamily="34" charset="-122"/>
                <a:cs typeface="Noto Sans" pitchFamily="34" charset="-120"/>
              </a:rPr>
              <a:t>Manipulyatorlarning kinematik turlarini taqqoslang.</a:t>
            </a:r>
            <a:endParaRPr lang="en-US" sz="1300" dirty="0"/>
          </a:p>
          <a:p>
            <a:pPr algn="l" marL="181610" indent="-181610">
              <a:lnSpc>
                <a:spcPts val="1820"/>
              </a:lnSpc>
              <a:buSzPct val="100000"/>
              <a:buFontTx/>
              <a:buAutoNum type="arabicPeriod" startAt="1"/>
            </a:pPr>
            <a:r>
              <a:rPr lang="en-US" sz="1300" dirty="0">
                <a:solidFill>
                  <a:srgbClr val="1D2433"/>
                </a:solidFill>
                <a:latin typeface="Noto Sans" pitchFamily="34" charset="0"/>
                <a:ea typeface="Noto Sans" pitchFamily="34" charset="-122"/>
                <a:cs typeface="Noto Sans" pitchFamily="34" charset="-120"/>
              </a:rPr>
              <a:t>AMR va sanoat manipulyatori datchiklari nega farq qiladi?</a:t>
            </a:r>
            <a:endParaRPr lang="en-US" sz="1300" dirty="0"/>
          </a:p>
        </p:txBody>
      </p:sp>
      <p:sp>
        <p:nvSpPr>
          <p:cNvPr id="6" name="Text 4"/>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Maʼruza №2 · Informatsiya nazariyasi. Mexatron modullar va robotlar · 23 · Adabiyot: Bolton; Regtien, Dertien; Bishop (ed.); Craig; Podurayev</a:t>
            </a:r>
            <a:endParaRPr lang="en-US" sz="1200" dirty="0"/>
          </a:p>
        </p:txBody>
      </p:sp>
    </p:spTree>
  </p:cSld>
  <p:clrMapOvr>
    <a:masterClrMapping/>
  </p:clrMapOvr>
</p:sld>
</file>

<file path=ppt/theme/theme1.xml><?xml version="1.0" encoding="utf-8"?>
<a:theme xmlns:a="http://schemas.openxmlformats.org/drawingml/2006/main" name="Maʼruza №2. Informatsiya nazariyasi. Mexatron modullar va robotlar turlari">
  <a:themeElements>
    <a:clrScheme name="Maʼruza №2. Informatsiya nazariyasi. Mexatron modullar va robotlar turlari">
      <a:dk1>
        <a:srgbClr val="16233B"/>
      </a:dk1>
      <a:lt1>
        <a:srgbClr val="F5F3EE"/>
      </a:lt1>
      <a:dk2>
        <a:srgbClr val="4E5768"/>
      </a:dk2>
      <a:lt2>
        <a:srgbClr val="DFDEDC"/>
      </a:lt2>
      <a:accent1>
        <a:srgbClr val="B5521A"/>
      </a:accent1>
      <a:accent2>
        <a:srgbClr val="2D6CB0"/>
      </a:accent2>
      <a:accent3>
        <a:srgbClr val="F0A46E"/>
      </a:accent3>
      <a:accent4>
        <a:srgbClr val="1F4F85"/>
      </a:accent4>
      <a:accent5>
        <a:srgbClr val="D9692B"/>
      </a:accent5>
      <a:accent6>
        <a:srgbClr val="6B7280"/>
      </a:accent6>
      <a:hlink>
        <a:srgbClr val="0563C1"/>
      </a:hlink>
      <a:folHlink>
        <a:srgbClr val="954F72"/>
      </a:folHlink>
    </a:clrScheme>
    <a:fontScheme name="Maʼruza №2. Informatsiya nazariyasi. Mexatron modullar va robotlar turlari">
      <a:majorFont>
        <a:latin typeface="Noto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Maʼruza №2. Informatsiya nazariyasi. Mexatron modullar va robotlar turlari</dc:title>
  <dc:subject/>
  <dc:creator/>
  <cp:lastModifiedBy/>
  <cp:revision>1</cp:revision>
  <dcterms:created xsi:type="dcterms:W3CDTF">2026-10-14T05:57:41Z</dcterms:created>
  <dcterms:modified xsi:type="dcterms:W3CDTF">2026-10-14T05:57:41Z</dcterms:modified>
</cp:coreProperties>
</file>