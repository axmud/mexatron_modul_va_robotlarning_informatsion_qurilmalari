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Mashgʻulotning mavzusi bilan tanishtiring. Bugun mexatron modul va robotning qanchalik aniq ishlashini qanday raqamlar bilan ifodalash mumkinligini koʻrib chiqamiz.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Mashgʻulot oxirida talabalar datchik va robot uchun asosiy aniqlik koʻrsatkichlarini mustaqil hisoblay olishi kerak. Hisobot tarkibi: maqsad, nazariy qism, topshiriq boʻyicha hisoblar, xulosa.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Asosiy fikr: robot pozitsiyasini datchik oʻlchaydi, lekin ishchi organning haqiqiy holatiga reduktor lyufti, zvenolar egilishi va harorat ham taʼsir qiladi. Shuning uchun mexatron modulning metrologik tavsiflari ikki darajada koʻriladi: alohida datchik va butun modul yoki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Statik tavsiflar kirish kattaligi oʻzgarmas yoki juda sekin oʻzgarganda, dinamik tavsiflar esa kirish tez oʻzgarganda oʻlchash vositasining xatti-harakatini ifodalaydi. Ishlash sharoiti tavsiflari tashqi taʼsirlar tufayli qoʻshimcha xatolikni belgilaydi.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Yₙ — normalovchi qiymat, odatda chiqish signali diapazoni (full scale). Ruxsat qobiliyati va aniqlik turli tushunchalar: enkoder juda kichik qadamni sezishi mumkin, lekin oʻrnatish xatosi tufayli aniqligi past boʻlishi mumkin. σ — takroriy oʻlchashlarning oʻrtacha kvadratik chetlanishi.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Gisterezis mexanik datchiklarda ishqalanish va elastik elementlar, magnit datchiklarda esa materialning magnitlanish xossalari tufayli paydo boʻladi. Reduktorli yuritmada lyuft ham gisterezisga oʻxshash natija beradi: yoʻnalish oʻzgarganda chiqish val biroz kechikib harakatlanadi.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Misol uchun: termojuftning vaqt doimiysi bir necha soniya boʻlsa, tez oʻzgaruvchi haroratni u kechikib koʻrsatadi. Robot yuritmasida datchikning oʻtkazish polosasi boshqaruv konturi polosasidan sezilarli darajada keng boʻlishi kerak, aks holda datchik kechikishi tizim barqarorligini yomonlashtiradi.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Aniqlik klassi misolidan xulosa: datchikni shunday tanlash kerakki, oʻlchanadigan qiymat diapazonning yuqori qismida boʻlsin. Kichik qiymatni katta diapazonli datchik bilan oʻlchash nisbiy xatolikni oshiradi.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Talabalardan soʻrang: qaysi holatni kalibrlash bilan tuzatish mumkin? Javob: ikkinchi holat. Sistematik siljishni kompensatsiya qilish mumkin, tarqoqlikni esa kalibrlash yoʻqota olmaydi. Shuning uchun sanoat robotlarida takrorlanuvchanlik odatda aniqlikdan ancha yaxshi boʻladi.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Ishlab chiqaruvchilar robot pasportida odatda pozitsiyalash takrorlanuvchanligini (RP) koʻrsatadi. Aniqlik (AP) robot oʻrnatilgan joy, asbob kalibrlash va kinematik modelga bogʻliq boʻlgani uchun foydalanuvchi tomonidan alohida oʻlchanadi va kalibrlash orqali yaxshilanadi. Bundan tashqari pasport tavsiflari: nominal yuk, ishchi zona, erkinlik darajalari soni, maksimal tezlik.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 — sistematik xatolik: nuqtalar markazi buyruq nuqtasidan qancha siljigan. RP — tasodifiy xatolik: nuqtalar markaz atrofida qanchalik tarqoq. 3σ olinishi normal taqsimotda natijalarning taxminan 99,7 foizi shu chegarada boʻlishini anglatadi. Oʻlchash koordinatalari robot asosi bilan bogʻlangan koordinatalar tizimida olinadi.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9283 boʻyicha P2…P5 nuqtalar diagonallarda burchaklardan diagonal uzunligining taxminan 10 foizi masofasida olinadi. Oʻlchash vositasining xatoligi robotning kutilayotgan RP qiymatidan bir necha marta kichik boʻlishi kerak, aks holda oʻlchash vositasining oʻzi natijani buzadi. Amaliy mashgʻulotda lazer treker boʻlmasa, indikatorli oʻlchagichlar bilan soddalashtirilgan tajriba qilish mumkin. Robot pultidagi koordinatalar bu maqsadga yaramaydi: ular enkoderlar asosida hisoblanadi va ishchi organning haqiqiy holatini koʻrsatmaydi.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Toʻliq yopiq konturda chiqish valiga ikkinchi enkoder oʻrnatiladi, shunda reduktor xatoliklari ham oʻlchanadi. Lekin bu narxni oshiradi va boshqaruvni murakkablashtiradi. Keyingi slaydda enkoder ruxsat qobiliyati bilan lyuftning taʼsirini raqamlarda solishtiramiz.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Hisob tartibi: kvadratur rejimda enkoder har bir impulsning ikki fronti va ikki kanalini hisobga oladi, shuning uchun bir aylanishda 4N = 10000 ta qadam. 1 yoy daqiqasi = 1/60 gradus = 2,91 · 10⁻⁴ rad. Kichik burchaklar uchun yoy uzunligi L · Δθ. Xulosa: yuqori ruxsatli enkoder oʻz-oʻzidan yuqori aniqlik bermaydi. Lyuftsiz reduktorlar (toʻlqinli, sikloidal) yoki chiqish valida qoʻshimcha enkoder kerak.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Hisoblashni talabalar bilan birga bosqichma-bosqich bajaring. x boʻyicha oʻrtacha siljish +0,13 mm, z boʻyicha −0,10 mm: aynan shu sistematik siljish AP ni hosil qiladi. AP = √(0,130² + 0,045² + 0,103²) ≈ 0,172 mm. Nuqtalar baritsentr atrofida taxminan 0,04 mm ichida tarqalgan, shuning uchun RP kichik. Jadvaldagi qiymatlar oʻquv maqsadida tuzilgan.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olchash.csv faylida har bir qatorda bitta oʻlchash: x, y, z vergul bilan ajratilgan. Talabalar dasturni Jupyter yoki istalgan Python muhitida ishga tushirib, oldingi slayddagi qoʻlda hisoblangan natija bilan solishtirishlari kerak. Qoʻshimcha topshiriq: matplotlib yordamida nuqtalar va baritsentrni xy tekisligida chizish.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1-topshiriq javoblari (oʻqituvchi uchun): eng kichik kvadratlar usulida S ≈ 0,0993 V/mm, ozod had ≈ 0,035 V. Eng katta chetlanish Δmax ≈ 0,029 V, chiziqlilik xatosi ≈ 0,57 % (chiqish diapazoni 4,99 V ga nisbatan). ADC qadami 5 V / 1024 ≈ 4,88 mV, demak ruxsat qobiliyati ≈ 4,88 mV / 0,0993 V/mm ≈ 0,049 mm. 2- va 3-topshiriqlar uchun variant maʼlumotlarini oʻqituvchi beradi.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Savollar hisobot himoyasida ogʻzaki beriladi. Har bir talabaga 2 ta savol: bittasi nazariy (1–6), bittasi hisobga oid (7–8).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692B"/>
          </a:solidFill>
          <a:ln/>
        </p:spPr>
      </p:sp>
      <p:sp>
        <p:nvSpPr>
          <p:cNvPr id="3" name="Text 1"/>
          <p:cNvSpPr/>
          <p:nvPr/>
        </p:nvSpPr>
        <p:spPr>
          <a:xfrm>
            <a:off x="812800" y="161417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A46E"/>
                </a:solidFill>
                <a:latin typeface="Noto Sans" pitchFamily="34" charset="0"/>
                <a:ea typeface="Noto Sans" pitchFamily="34" charset="-122"/>
                <a:cs typeface="Noto Sans" pitchFamily="34" charset="-120"/>
              </a:rPr>
              <a:t>AMALIYOT MASHGʻULOTI №[_]</a:t>
            </a:r>
            <a:endParaRPr lang="en-US" sz="1400" dirty="0"/>
          </a:p>
        </p:txBody>
      </p:sp>
      <p:sp>
        <p:nvSpPr>
          <p:cNvPr id="4" name="Text 2"/>
          <p:cNvSpPr/>
          <p:nvPr>
            <p:ph type="title"/>
          </p:nvPr>
        </p:nvSpPr>
        <p:spPr>
          <a:xfrm>
            <a:off x="812800" y="2117090"/>
            <a:ext cx="9810750" cy="203708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3EE"/>
                </a:solidFill>
                <a:latin typeface="Noto Sans" pitchFamily="34" charset="0"/>
                <a:ea typeface="Noto Sans" pitchFamily="34" charset="-122"/>
                <a:cs typeface="Noto Sans" pitchFamily="34" charset="-120"/>
              </a:rPr>
              <a:t>Mexatron modullar va robotlarning metrologik tavsiflari bilan tanishish</a:t>
            </a:r>
            <a:endParaRPr lang="en-US" sz="4800" dirty="0"/>
          </a:p>
        </p:txBody>
      </p:sp>
      <p:sp>
        <p:nvSpPr>
          <p:cNvPr id="5" name="Shape 3"/>
          <p:cNvSpPr/>
          <p:nvPr/>
        </p:nvSpPr>
        <p:spPr>
          <a:xfrm>
            <a:off x="812800" y="4382770"/>
            <a:ext cx="1270000" cy="38100"/>
          </a:xfrm>
          <a:prstGeom prst="rect">
            <a:avLst/>
          </a:prstGeom>
          <a:solidFill>
            <a:srgbClr val="D9692B"/>
          </a:solidFill>
          <a:ln/>
        </p:spPr>
      </p:sp>
      <p:sp>
        <p:nvSpPr>
          <p:cNvPr id="6" name="Text 4"/>
          <p:cNvSpPr/>
          <p:nvPr/>
        </p:nvSpPr>
        <p:spPr>
          <a:xfrm>
            <a:off x="812800" y="4674870"/>
            <a:ext cx="91567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FDB"/>
                </a:solidFill>
                <a:latin typeface="Noto Sans" pitchFamily="34" charset="0"/>
                <a:ea typeface="Noto Sans" pitchFamily="34" charset="-122"/>
                <a:cs typeface="Noto Sans" pitchFamily="34" charset="-120"/>
              </a:rPr>
              <a:t>Oʻlchash vositalari va robotlarning aniqlik koʻrsatkichlari: taʼriflar, ISO 9283 boʻyicha baholash, hisoblash misollari</a:t>
            </a:r>
            <a:endParaRPr lang="en-US" sz="1600" dirty="0"/>
          </a:p>
        </p:txBody>
      </p:sp>
      <p:sp>
        <p:nvSpPr>
          <p:cNvPr id="7" name="Text 5"/>
          <p:cNvSpPr/>
          <p:nvPr/>
        </p:nvSpPr>
        <p:spPr>
          <a:xfrm>
            <a:off x="812800" y="62382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[Fan nomi] · [Oʻqituvchi F.I.Sh.]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KIRISH</a:t>
            </a:r>
            <a:endParaRPr lang="en-US" sz="1200" dirty="0"/>
          </a:p>
        </p:txBody>
      </p:sp>
      <p:sp>
        <p:nvSpPr>
          <p:cNvPr id="3" name="Text 1"/>
          <p:cNvSpPr/>
          <p:nvPr>
            <p:ph type="title"/>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Ishning maqsadi</a:t>
            </a:r>
            <a:endParaRPr lang="en-US" sz="3200" dirty="0"/>
          </a:p>
        </p:txBody>
      </p:sp>
      <p:sp>
        <p:nvSpPr>
          <p:cNvPr id="4" name="Text 2"/>
          <p:cNvSpPr/>
          <p:nvPr/>
        </p:nvSpPr>
        <p:spPr>
          <a:xfrm>
            <a:off x="812800" y="1854200"/>
            <a:ext cx="9810750" cy="98552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D2433"/>
                </a:solidFill>
                <a:latin typeface="Noto Sans" pitchFamily="34" charset="0"/>
                <a:ea typeface="Noto Sans" pitchFamily="34" charset="-122"/>
                <a:cs typeface="Noto Sans" pitchFamily="34" charset="-120"/>
              </a:rPr>
              <a:t>Mexatron modullar va robotlarning asosiy metrologik tavsiflari bilan tanishish, ularni aniqlash usullarini oʻrganish hamda oʻlchash natijalari asosida aniqlik koʻrsatkichlarini hisoblash koʻnikmasini egallash.</a:t>
            </a:r>
            <a:endParaRPr lang="en-US" sz="1800" dirty="0"/>
          </a:p>
        </p:txBody>
      </p:sp>
      <p:sp>
        <p:nvSpPr>
          <p:cNvPr id="5" name="Shape 3"/>
          <p:cNvSpPr/>
          <p:nvPr/>
        </p:nvSpPr>
        <p:spPr>
          <a:xfrm>
            <a:off x="815975" y="3122295"/>
            <a:ext cx="2482850" cy="2035810"/>
          </a:xfrm>
          <a:prstGeom prst="roundRect">
            <a:avLst>
              <a:gd name="adj" fmla="val 4835"/>
            </a:avLst>
          </a:prstGeom>
          <a:solidFill>
            <a:srgbClr val="FDFCF9"/>
          </a:solidFill>
          <a:ln w="6350">
            <a:solidFill>
              <a:srgbClr val="E2DED4"/>
            </a:solidFill>
            <a:prstDash val="solid"/>
          </a:ln>
        </p:spPr>
      </p:sp>
      <p:sp>
        <p:nvSpPr>
          <p:cNvPr id="6" name="Text 4"/>
          <p:cNvSpPr/>
          <p:nvPr/>
        </p:nvSpPr>
        <p:spPr>
          <a:xfrm>
            <a:off x="1071880" y="3378200"/>
            <a:ext cx="2030171"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D9692B"/>
                </a:solidFill>
                <a:latin typeface="Noto Sans" pitchFamily="34" charset="0"/>
                <a:ea typeface="Noto Sans" pitchFamily="34" charset="-122"/>
                <a:cs typeface="Noto Sans" pitchFamily="34" charset="-120"/>
              </a:rPr>
              <a:t>1</a:t>
            </a:r>
            <a:endParaRPr lang="en-US" sz="2400" dirty="0"/>
          </a:p>
        </p:txBody>
      </p:sp>
      <p:sp>
        <p:nvSpPr>
          <p:cNvPr id="7" name="Text 5"/>
          <p:cNvSpPr/>
          <p:nvPr/>
        </p:nvSpPr>
        <p:spPr>
          <a:xfrm>
            <a:off x="1071880" y="3906520"/>
            <a:ext cx="203017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Statik va dinamik tavsiflarning taʼriflarini oʻrganish</a:t>
            </a:r>
            <a:endParaRPr lang="en-US" sz="1400" dirty="0"/>
          </a:p>
        </p:txBody>
      </p:sp>
      <p:sp>
        <p:nvSpPr>
          <p:cNvPr id="8" name="Shape 6"/>
          <p:cNvSpPr/>
          <p:nvPr/>
        </p:nvSpPr>
        <p:spPr>
          <a:xfrm>
            <a:off x="3508375" y="3122295"/>
            <a:ext cx="2482850" cy="2035810"/>
          </a:xfrm>
          <a:prstGeom prst="roundRect">
            <a:avLst>
              <a:gd name="adj" fmla="val 4835"/>
            </a:avLst>
          </a:prstGeom>
          <a:solidFill>
            <a:srgbClr val="FDFCF9"/>
          </a:solidFill>
          <a:ln w="6350">
            <a:solidFill>
              <a:srgbClr val="E2DED4"/>
            </a:solidFill>
            <a:prstDash val="solid"/>
          </a:ln>
        </p:spPr>
      </p:sp>
      <p:sp>
        <p:nvSpPr>
          <p:cNvPr id="9" name="Text 7"/>
          <p:cNvSpPr/>
          <p:nvPr/>
        </p:nvSpPr>
        <p:spPr>
          <a:xfrm>
            <a:off x="3764280" y="3378200"/>
            <a:ext cx="2030171"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D9692B"/>
                </a:solidFill>
                <a:latin typeface="Noto Sans" pitchFamily="34" charset="0"/>
                <a:ea typeface="Noto Sans" pitchFamily="34" charset="-122"/>
                <a:cs typeface="Noto Sans" pitchFamily="34" charset="-120"/>
              </a:rPr>
              <a:t>2</a:t>
            </a:r>
            <a:endParaRPr lang="en-US" sz="2400" dirty="0"/>
          </a:p>
        </p:txBody>
      </p:sp>
      <p:sp>
        <p:nvSpPr>
          <p:cNvPr id="10" name="Text 8"/>
          <p:cNvSpPr/>
          <p:nvPr/>
        </p:nvSpPr>
        <p:spPr>
          <a:xfrm>
            <a:off x="3764280" y="3906520"/>
            <a:ext cx="203017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Xatolik turlari va aniqlik klassini farqlash</a:t>
            </a:r>
            <a:endParaRPr lang="en-US" sz="1400" dirty="0"/>
          </a:p>
        </p:txBody>
      </p:sp>
      <p:sp>
        <p:nvSpPr>
          <p:cNvPr id="11" name="Shape 9"/>
          <p:cNvSpPr/>
          <p:nvPr/>
        </p:nvSpPr>
        <p:spPr>
          <a:xfrm>
            <a:off x="6200775" y="3122295"/>
            <a:ext cx="2482850" cy="2035810"/>
          </a:xfrm>
          <a:prstGeom prst="roundRect">
            <a:avLst>
              <a:gd name="adj" fmla="val 4835"/>
            </a:avLst>
          </a:prstGeom>
          <a:solidFill>
            <a:srgbClr val="FDFCF9"/>
          </a:solidFill>
          <a:ln w="6350">
            <a:solidFill>
              <a:srgbClr val="E2DED4"/>
            </a:solidFill>
            <a:prstDash val="solid"/>
          </a:ln>
        </p:spPr>
      </p:sp>
      <p:sp>
        <p:nvSpPr>
          <p:cNvPr id="12" name="Text 10"/>
          <p:cNvSpPr/>
          <p:nvPr/>
        </p:nvSpPr>
        <p:spPr>
          <a:xfrm>
            <a:off x="6456680" y="3378200"/>
            <a:ext cx="2030171"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D9692B"/>
                </a:solidFill>
                <a:latin typeface="Noto Sans" pitchFamily="34" charset="0"/>
                <a:ea typeface="Noto Sans" pitchFamily="34" charset="-122"/>
                <a:cs typeface="Noto Sans" pitchFamily="34" charset="-120"/>
              </a:rPr>
              <a:t>3</a:t>
            </a:r>
            <a:endParaRPr lang="en-US" sz="2400" dirty="0"/>
          </a:p>
        </p:txBody>
      </p:sp>
      <p:sp>
        <p:nvSpPr>
          <p:cNvPr id="13" name="Text 11"/>
          <p:cNvSpPr/>
          <p:nvPr/>
        </p:nvSpPr>
        <p:spPr>
          <a:xfrm>
            <a:off x="6456680" y="3906520"/>
            <a:ext cx="203017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ISO 9283 boʻyicha robotning AP va RP koʻrsatkichlarini hisoblash</a:t>
            </a:r>
            <a:endParaRPr lang="en-US" sz="1400" dirty="0"/>
          </a:p>
        </p:txBody>
      </p:sp>
      <p:sp>
        <p:nvSpPr>
          <p:cNvPr id="14" name="Shape 12"/>
          <p:cNvSpPr/>
          <p:nvPr/>
        </p:nvSpPr>
        <p:spPr>
          <a:xfrm>
            <a:off x="8893175" y="3122295"/>
            <a:ext cx="2482850" cy="2035810"/>
          </a:xfrm>
          <a:prstGeom prst="roundRect">
            <a:avLst>
              <a:gd name="adj" fmla="val 4835"/>
            </a:avLst>
          </a:prstGeom>
          <a:solidFill>
            <a:srgbClr val="FDFCF9"/>
          </a:solidFill>
          <a:ln w="6350">
            <a:solidFill>
              <a:srgbClr val="E2DED4"/>
            </a:solidFill>
            <a:prstDash val="solid"/>
          </a:ln>
        </p:spPr>
      </p:sp>
      <p:sp>
        <p:nvSpPr>
          <p:cNvPr id="15" name="Text 13"/>
          <p:cNvSpPr/>
          <p:nvPr/>
        </p:nvSpPr>
        <p:spPr>
          <a:xfrm>
            <a:off x="9149080" y="3378200"/>
            <a:ext cx="2030171"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D9692B"/>
                </a:solidFill>
                <a:latin typeface="Noto Sans" pitchFamily="34" charset="0"/>
                <a:ea typeface="Noto Sans" pitchFamily="34" charset="-122"/>
                <a:cs typeface="Noto Sans" pitchFamily="34" charset="-120"/>
              </a:rPr>
              <a:t>4</a:t>
            </a:r>
            <a:endParaRPr lang="en-US" sz="2400" dirty="0"/>
          </a:p>
        </p:txBody>
      </p:sp>
      <p:sp>
        <p:nvSpPr>
          <p:cNvPr id="16" name="Text 14"/>
          <p:cNvSpPr/>
          <p:nvPr/>
        </p:nvSpPr>
        <p:spPr>
          <a:xfrm>
            <a:off x="9149080" y="3906520"/>
            <a:ext cx="203017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Natijalarni tahlil qilib, hisobot tayyorlash</a:t>
            </a:r>
            <a:endParaRPr lang="en-US" sz="140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ASOSIY TUSHUNCHALAR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Oʻlchash, oʻlchash vositasi va metrologik tavsif</a:t>
            </a:r>
            <a:endParaRPr lang="en-US" sz="3200" dirty="0"/>
          </a:p>
        </p:txBody>
      </p:sp>
      <p:sp>
        <p:nvSpPr>
          <p:cNvPr id="4" name="Shape 2"/>
          <p:cNvSpPr/>
          <p:nvPr/>
        </p:nvSpPr>
        <p:spPr>
          <a:xfrm>
            <a:off x="815975" y="1857375"/>
            <a:ext cx="3380317" cy="1883410"/>
          </a:xfrm>
          <a:prstGeom prst="roundRect">
            <a:avLst>
              <a:gd name="adj" fmla="val 5226"/>
            </a:avLst>
          </a:prstGeom>
          <a:solidFill>
            <a:srgbClr val="FDFCF9"/>
          </a:solidFill>
          <a:ln w="6350">
            <a:solidFill>
              <a:srgbClr val="E2DED4"/>
            </a:solidFill>
            <a:prstDash val="solid"/>
          </a:ln>
        </p:spPr>
      </p:sp>
      <p:sp>
        <p:nvSpPr>
          <p:cNvPr id="5" name="Text 3"/>
          <p:cNvSpPr/>
          <p:nvPr/>
        </p:nvSpPr>
        <p:spPr>
          <a:xfrm>
            <a:off x="1071880" y="211328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B"/>
                </a:solidFill>
                <a:latin typeface="Noto Sans" pitchFamily="34" charset="0"/>
                <a:ea typeface="Noto Sans" pitchFamily="34" charset="-122"/>
                <a:cs typeface="Noto Sans" pitchFamily="34" charset="-120"/>
              </a:rPr>
              <a:t>Oʻlchash</a:t>
            </a:r>
            <a:endParaRPr lang="en-US" sz="1800" dirty="0"/>
          </a:p>
        </p:txBody>
      </p:sp>
      <p:sp>
        <p:nvSpPr>
          <p:cNvPr id="6" name="Text 4"/>
          <p:cNvSpPr/>
          <p:nvPr/>
        </p:nvSpPr>
        <p:spPr>
          <a:xfrm>
            <a:off x="1071880" y="2489200"/>
            <a:ext cx="295456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Fizik kattalik qiymatini maxsus texnik vositalar yordamida tajriba yoʻli bilan aniqlash jarayoni.</a:t>
            </a:r>
            <a:endParaRPr lang="en-US" sz="1400" dirty="0"/>
          </a:p>
        </p:txBody>
      </p:sp>
      <p:sp>
        <p:nvSpPr>
          <p:cNvPr id="7" name="Shape 5"/>
          <p:cNvSpPr/>
          <p:nvPr/>
        </p:nvSpPr>
        <p:spPr>
          <a:xfrm>
            <a:off x="4405842" y="1857375"/>
            <a:ext cx="3380317" cy="1883410"/>
          </a:xfrm>
          <a:prstGeom prst="roundRect">
            <a:avLst>
              <a:gd name="adj" fmla="val 5226"/>
            </a:avLst>
          </a:prstGeom>
          <a:solidFill>
            <a:srgbClr val="FDFCF9"/>
          </a:solidFill>
          <a:ln w="6350">
            <a:solidFill>
              <a:srgbClr val="E2DED4"/>
            </a:solidFill>
            <a:prstDash val="solid"/>
          </a:ln>
        </p:spPr>
      </p:sp>
      <p:sp>
        <p:nvSpPr>
          <p:cNvPr id="8" name="Text 6"/>
          <p:cNvSpPr/>
          <p:nvPr/>
        </p:nvSpPr>
        <p:spPr>
          <a:xfrm>
            <a:off x="4661746" y="211328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B"/>
                </a:solidFill>
                <a:latin typeface="Noto Sans" pitchFamily="34" charset="0"/>
                <a:ea typeface="Noto Sans" pitchFamily="34" charset="-122"/>
                <a:cs typeface="Noto Sans" pitchFamily="34" charset="-120"/>
              </a:rPr>
              <a:t>Oʻlchash vositasi</a:t>
            </a:r>
            <a:endParaRPr lang="en-US" sz="1800" dirty="0"/>
          </a:p>
        </p:txBody>
      </p:sp>
      <p:sp>
        <p:nvSpPr>
          <p:cNvPr id="9" name="Text 7"/>
          <p:cNvSpPr/>
          <p:nvPr/>
        </p:nvSpPr>
        <p:spPr>
          <a:xfrm>
            <a:off x="4661746" y="2489200"/>
            <a:ext cx="295456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Oʻlchash uchun moʻljallangan va normalangan metrologik tavsiflarga ega texnik vosita: datchik, asbob, oʻlchash tizimi.</a:t>
            </a:r>
            <a:endParaRPr lang="en-US" sz="1400" dirty="0"/>
          </a:p>
        </p:txBody>
      </p:sp>
      <p:sp>
        <p:nvSpPr>
          <p:cNvPr id="10" name="Shape 8"/>
          <p:cNvSpPr/>
          <p:nvPr/>
        </p:nvSpPr>
        <p:spPr>
          <a:xfrm>
            <a:off x="7995708" y="1857375"/>
            <a:ext cx="3380317" cy="1883410"/>
          </a:xfrm>
          <a:prstGeom prst="roundRect">
            <a:avLst>
              <a:gd name="adj" fmla="val 5226"/>
            </a:avLst>
          </a:prstGeom>
          <a:solidFill>
            <a:srgbClr val="FDFCF9"/>
          </a:solidFill>
          <a:ln w="6350">
            <a:solidFill>
              <a:srgbClr val="E2DED4"/>
            </a:solidFill>
            <a:prstDash val="solid"/>
          </a:ln>
        </p:spPr>
      </p:sp>
      <p:sp>
        <p:nvSpPr>
          <p:cNvPr id="11" name="Text 9"/>
          <p:cNvSpPr/>
          <p:nvPr/>
        </p:nvSpPr>
        <p:spPr>
          <a:xfrm>
            <a:off x="8251613" y="211328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3B"/>
                </a:solidFill>
                <a:latin typeface="Noto Sans" pitchFamily="34" charset="0"/>
                <a:ea typeface="Noto Sans" pitchFamily="34" charset="-122"/>
                <a:cs typeface="Noto Sans" pitchFamily="34" charset="-120"/>
              </a:rPr>
              <a:t>Metrologik tavsif</a:t>
            </a:r>
            <a:endParaRPr lang="en-US" sz="1800" dirty="0"/>
          </a:p>
        </p:txBody>
      </p:sp>
      <p:sp>
        <p:nvSpPr>
          <p:cNvPr id="12" name="Text 10"/>
          <p:cNvSpPr/>
          <p:nvPr/>
        </p:nvSpPr>
        <p:spPr>
          <a:xfrm>
            <a:off x="8251613" y="2489200"/>
            <a:ext cx="295456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Oʻlchash natijasi va uning xatoligiga taʼsir qiluvchi xossani miqdoriy ifodalovchi koʻrsatkich.</a:t>
            </a:r>
            <a:endParaRPr lang="en-US" sz="1400" dirty="0"/>
          </a:p>
        </p:txBody>
      </p:sp>
      <p:sp>
        <p:nvSpPr>
          <p:cNvPr id="13" name="Text 11"/>
          <p:cNvSpPr/>
          <p:nvPr/>
        </p:nvSpPr>
        <p:spPr>
          <a:xfrm>
            <a:off x="812800" y="4048761"/>
            <a:ext cx="10566400" cy="1153160"/>
          </a:xfrm>
          <a:prstGeom prst="roundRect">
            <a:avLst>
              <a:gd name="adj" fmla="val 8811"/>
            </a:avLst>
          </a:prstGeom>
          <a:solidFill>
            <a:srgbClr val="E8EEF6"/>
          </a:solidFill>
          <a:ln/>
        </p:spPr>
        <p:txBody>
          <a:bodyPr wrap="square" lIns="224242" tIns="173442" rIns="0" bIns="148042"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Mexatron modulda</a:t>
            </a:r>
            <a:r>
              <a:rPr lang="en-US" sz="1400" dirty="0">
                <a:solidFill>
                  <a:srgbClr val="1D2433"/>
                </a:solidFill>
                <a:latin typeface="Noto Sans" pitchFamily="34" charset="0"/>
                <a:ea typeface="Noto Sans" pitchFamily="34" charset="-122"/>
                <a:cs typeface="Noto Sans" pitchFamily="34" charset="-120"/>
              </a:rPr>
              <a:t> mexanik qism (dvigatel, uzatma), axborot qismi (enkoder, rezolver, tok va kuch-moment datchiklari) hamda boshqaruv qismi bitta konstruksiyada birlashgan. Shuning uchun uning aniqligini datchiklar ham, mexanika ham belgilaydi.</a:t>
            </a:r>
            <a:endParaRPr lang="en-US" sz="1400" dirty="0"/>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ASOSIY TUSHUNCHALAR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Metrologik tavsiflar tasnifi</a:t>
            </a:r>
            <a:endParaRPr lang="en-US" sz="3200" dirty="0"/>
          </a:p>
        </p:txBody>
      </p:sp>
      <p:sp>
        <p:nvSpPr>
          <p:cNvPr id="4" name="Shape 2"/>
          <p:cNvSpPr/>
          <p:nvPr/>
        </p:nvSpPr>
        <p:spPr>
          <a:xfrm>
            <a:off x="815975" y="1857375"/>
            <a:ext cx="2482850" cy="2513330"/>
          </a:xfrm>
          <a:prstGeom prst="roundRect">
            <a:avLst>
              <a:gd name="adj" fmla="val 3964"/>
            </a:avLst>
          </a:prstGeom>
          <a:solidFill>
            <a:srgbClr val="FDFCF9"/>
          </a:solidFill>
          <a:ln w="6350">
            <a:solidFill>
              <a:srgbClr val="E2DED4"/>
            </a:solidFill>
            <a:prstDash val="solid"/>
          </a:ln>
        </p:spPr>
      </p:sp>
      <p:sp>
        <p:nvSpPr>
          <p:cNvPr id="5" name="Text 3"/>
          <p:cNvSpPr/>
          <p:nvPr/>
        </p:nvSpPr>
        <p:spPr>
          <a:xfrm>
            <a:off x="1071880" y="2113280"/>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6CB0"/>
                </a:solidFill>
                <a:latin typeface="Noto Sans" pitchFamily="34" charset="0"/>
                <a:ea typeface="Noto Sans" pitchFamily="34" charset="-122"/>
                <a:cs typeface="Noto Sans" pitchFamily="34" charset="-120"/>
              </a:rPr>
              <a:t>Statik</a:t>
            </a:r>
            <a:endParaRPr lang="en-US" sz="1800" dirty="0"/>
          </a:p>
        </p:txBody>
      </p:sp>
      <p:sp>
        <p:nvSpPr>
          <p:cNvPr id="6" name="Text 4"/>
          <p:cNvSpPr/>
          <p:nvPr/>
        </p:nvSpPr>
        <p:spPr>
          <a:xfrm>
            <a:off x="1092962" y="2514600"/>
            <a:ext cx="2002993" cy="1625600"/>
          </a:xfrm>
          <a:prstGeom prst="rect">
            <a:avLst/>
          </a:prstGeom>
          <a:noFill/>
          <a:ln/>
        </p:spPr>
        <p:txBody>
          <a:bodyPr wrap="square" lIns="0" tIns="0" rIns="0" bIns="0" rtlCol="0" anchor="t">
            <a:normAutofit/>
          </a:bodyPr>
          <a:lstStyle/>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Oʻlchash diapazoni</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Sezgirlik</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Ruxsat qobiliyati</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Chiziqlilik</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Gisterezis</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Takrorlanuvchanlik</a:t>
            </a:r>
            <a:endParaRPr lang="en-US" sz="1400" dirty="0"/>
          </a:p>
        </p:txBody>
      </p:sp>
      <p:sp>
        <p:nvSpPr>
          <p:cNvPr id="7" name="Shape 5"/>
          <p:cNvSpPr/>
          <p:nvPr/>
        </p:nvSpPr>
        <p:spPr>
          <a:xfrm>
            <a:off x="3508375" y="1857375"/>
            <a:ext cx="2482850" cy="2513330"/>
          </a:xfrm>
          <a:prstGeom prst="roundRect">
            <a:avLst>
              <a:gd name="adj" fmla="val 3964"/>
            </a:avLst>
          </a:prstGeom>
          <a:solidFill>
            <a:srgbClr val="FDFCF9"/>
          </a:solidFill>
          <a:ln w="6350">
            <a:solidFill>
              <a:srgbClr val="E2DED4"/>
            </a:solidFill>
            <a:prstDash val="solid"/>
          </a:ln>
        </p:spPr>
      </p:sp>
      <p:sp>
        <p:nvSpPr>
          <p:cNvPr id="8" name="Text 6"/>
          <p:cNvSpPr/>
          <p:nvPr/>
        </p:nvSpPr>
        <p:spPr>
          <a:xfrm>
            <a:off x="3764280" y="2113280"/>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6CB0"/>
                </a:solidFill>
                <a:latin typeface="Noto Sans" pitchFamily="34" charset="0"/>
                <a:ea typeface="Noto Sans" pitchFamily="34" charset="-122"/>
                <a:cs typeface="Noto Sans" pitchFamily="34" charset="-120"/>
              </a:rPr>
              <a:t>Dinamik</a:t>
            </a:r>
            <a:endParaRPr lang="en-US" sz="1800" dirty="0"/>
          </a:p>
        </p:txBody>
      </p:sp>
      <p:sp>
        <p:nvSpPr>
          <p:cNvPr id="9" name="Text 7"/>
          <p:cNvSpPr/>
          <p:nvPr/>
        </p:nvSpPr>
        <p:spPr>
          <a:xfrm>
            <a:off x="3785362" y="2514600"/>
            <a:ext cx="2002993" cy="1358900"/>
          </a:xfrm>
          <a:prstGeom prst="rect">
            <a:avLst/>
          </a:prstGeom>
          <a:noFill/>
          <a:ln/>
        </p:spPr>
        <p:txBody>
          <a:bodyPr wrap="square" lIns="0" tIns="0" rIns="0" bIns="0" rtlCol="0" anchor="t">
            <a:normAutofit/>
          </a:bodyPr>
          <a:lstStyle/>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Vaqt doimiysi</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Javob vaqti</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Oʻtkazish polosasi</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Kechikish</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Oʻtib ketish</a:t>
            </a:r>
            <a:endParaRPr lang="en-US" sz="1400" dirty="0"/>
          </a:p>
        </p:txBody>
      </p:sp>
      <p:sp>
        <p:nvSpPr>
          <p:cNvPr id="10" name="Shape 8"/>
          <p:cNvSpPr/>
          <p:nvPr/>
        </p:nvSpPr>
        <p:spPr>
          <a:xfrm>
            <a:off x="6200775" y="1857375"/>
            <a:ext cx="2482850" cy="2513330"/>
          </a:xfrm>
          <a:prstGeom prst="roundRect">
            <a:avLst>
              <a:gd name="adj" fmla="val 3964"/>
            </a:avLst>
          </a:prstGeom>
          <a:solidFill>
            <a:srgbClr val="FDFCF9"/>
          </a:solidFill>
          <a:ln w="6350">
            <a:solidFill>
              <a:srgbClr val="E2DED4"/>
            </a:solidFill>
            <a:prstDash val="solid"/>
          </a:ln>
        </p:spPr>
      </p:sp>
      <p:sp>
        <p:nvSpPr>
          <p:cNvPr id="11" name="Text 9"/>
          <p:cNvSpPr/>
          <p:nvPr/>
        </p:nvSpPr>
        <p:spPr>
          <a:xfrm>
            <a:off x="6456680" y="2113280"/>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521A"/>
                </a:solidFill>
                <a:latin typeface="Noto Sans" pitchFamily="34" charset="0"/>
                <a:ea typeface="Noto Sans" pitchFamily="34" charset="-122"/>
                <a:cs typeface="Noto Sans" pitchFamily="34" charset="-120"/>
              </a:rPr>
              <a:t>Xatolik</a:t>
            </a:r>
            <a:endParaRPr lang="en-US" sz="1800" dirty="0"/>
          </a:p>
        </p:txBody>
      </p:sp>
      <p:sp>
        <p:nvSpPr>
          <p:cNvPr id="12" name="Text 10"/>
          <p:cNvSpPr/>
          <p:nvPr/>
        </p:nvSpPr>
        <p:spPr>
          <a:xfrm>
            <a:off x="6477762" y="2514600"/>
            <a:ext cx="2002993" cy="1358900"/>
          </a:xfrm>
          <a:prstGeom prst="rect">
            <a:avLst/>
          </a:prstGeom>
          <a:noFill/>
          <a:ln/>
        </p:spPr>
        <p:txBody>
          <a:bodyPr wrap="square" lIns="0" tIns="0" rIns="0" bIns="0" rtlCol="0" anchor="t">
            <a:normAutofit/>
          </a:bodyPr>
          <a:lstStyle/>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Absolyut</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Nisbiy</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Keltirilgan</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Aniqlik klassi</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Nol siljishi (dreyf)</a:t>
            </a:r>
            <a:endParaRPr lang="en-US" sz="1400" dirty="0"/>
          </a:p>
        </p:txBody>
      </p:sp>
      <p:sp>
        <p:nvSpPr>
          <p:cNvPr id="13" name="Shape 11"/>
          <p:cNvSpPr/>
          <p:nvPr/>
        </p:nvSpPr>
        <p:spPr>
          <a:xfrm>
            <a:off x="8893175" y="1857375"/>
            <a:ext cx="2482850" cy="2513330"/>
          </a:xfrm>
          <a:prstGeom prst="roundRect">
            <a:avLst>
              <a:gd name="adj" fmla="val 3964"/>
            </a:avLst>
          </a:prstGeom>
          <a:solidFill>
            <a:srgbClr val="FDFCF9"/>
          </a:solidFill>
          <a:ln w="6350">
            <a:solidFill>
              <a:srgbClr val="E2DED4"/>
            </a:solidFill>
            <a:prstDash val="solid"/>
          </a:ln>
        </p:spPr>
      </p:sp>
      <p:sp>
        <p:nvSpPr>
          <p:cNvPr id="14" name="Text 12"/>
          <p:cNvSpPr/>
          <p:nvPr/>
        </p:nvSpPr>
        <p:spPr>
          <a:xfrm>
            <a:off x="9149080" y="2113280"/>
            <a:ext cx="20301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521A"/>
                </a:solidFill>
                <a:latin typeface="Noto Sans" pitchFamily="34" charset="0"/>
                <a:ea typeface="Noto Sans" pitchFamily="34" charset="-122"/>
                <a:cs typeface="Noto Sans" pitchFamily="34" charset="-120"/>
              </a:rPr>
              <a:t>Ishlash sharoiti</a:t>
            </a:r>
            <a:endParaRPr lang="en-US" sz="1800" dirty="0"/>
          </a:p>
        </p:txBody>
      </p:sp>
      <p:sp>
        <p:nvSpPr>
          <p:cNvPr id="15" name="Text 13"/>
          <p:cNvSpPr/>
          <p:nvPr/>
        </p:nvSpPr>
        <p:spPr>
          <a:xfrm>
            <a:off x="9170162" y="2514600"/>
            <a:ext cx="2002993" cy="1625600"/>
          </a:xfrm>
          <a:prstGeom prst="rect">
            <a:avLst/>
          </a:prstGeom>
          <a:noFill/>
          <a:ln/>
        </p:spPr>
        <p:txBody>
          <a:bodyPr wrap="square" lIns="0" tIns="0" rIns="0" bIns="0" rtlCol="0" anchor="t">
            <a:normAutofit/>
          </a:bodyPr>
          <a:lstStyle/>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Harorat</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Namlik</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Vibratsiya</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Taʼminot kuchlanishi</a:t>
            </a:r>
            <a:endParaRPr lang="en-US" sz="1400" dirty="0"/>
          </a:p>
          <a:p>
            <a:pPr algn="l" marL="182118" indent="-182118">
              <a:lnSpc>
                <a:spcPts val="2100"/>
              </a:lnSpc>
              <a:buSzPct val="100000"/>
              <a:buChar char="•"/>
            </a:pPr>
            <a:r>
              <a:rPr lang="en-US" sz="1400" dirty="0">
                <a:solidFill>
                  <a:srgbClr val="1D2433"/>
                </a:solidFill>
                <a:latin typeface="Noto Sans" pitchFamily="34" charset="0"/>
                <a:ea typeface="Noto Sans" pitchFamily="34" charset="-122"/>
                <a:cs typeface="Noto Sans" pitchFamily="34" charset="-120"/>
              </a:rPr>
              <a:t>Elektromagnit xalaqit</a:t>
            </a:r>
            <a:endParaRPr lang="en-US" sz="14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11561"/>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B5521A"/>
                </a:solidFill>
                <a:latin typeface="Noto Sans" pitchFamily="34" charset="0"/>
                <a:ea typeface="Noto Sans" pitchFamily="34" charset="-122"/>
                <a:cs typeface="Noto Sans" pitchFamily="34" charset="-120"/>
              </a:rPr>
              <a:t>STATIK TAVSIFLAR</a:t>
            </a:r>
            <a:endParaRPr lang="en-US" sz="1050" dirty="0"/>
          </a:p>
        </p:txBody>
      </p:sp>
      <p:sp>
        <p:nvSpPr>
          <p:cNvPr id="3" name="Text 1"/>
          <p:cNvSpPr/>
          <p:nvPr>
            <p:ph type="title"/>
          </p:nvPr>
        </p:nvSpPr>
        <p:spPr>
          <a:xfrm>
            <a:off x="812800" y="1075162"/>
            <a:ext cx="10883392" cy="415396"/>
          </a:xfrm>
          <a:prstGeom prst="rect">
            <a:avLst/>
          </a:prstGeom>
          <a:noFill/>
          <a:ln/>
        </p:spPr>
        <p:txBody>
          <a:bodyPr wrap="square" lIns="0" tIns="0" rIns="0" bIns="0" rtlCol="0" anchor="t">
            <a:normAutofit/>
          </a:bodyPr>
          <a:lstStyle/>
          <a:p>
            <a:pPr algn="l" indent="0" marL="0">
              <a:lnSpc>
                <a:spcPts val="3069"/>
              </a:lnSpc>
              <a:buNone/>
            </a:pPr>
            <a:r>
              <a:rPr lang="en-US" sz="2790" b="1" i="0" dirty="0">
                <a:solidFill>
                  <a:srgbClr val="16233B"/>
                </a:solidFill>
                <a:latin typeface="Noto Sans" pitchFamily="34" charset="0"/>
                <a:ea typeface="Noto Sans" pitchFamily="34" charset="-122"/>
                <a:cs typeface="Noto Sans" pitchFamily="34" charset="-120"/>
              </a:rPr>
              <a:t>Datchikning asosiy statik tavsiflari</a:t>
            </a:r>
            <a:endParaRPr lang="en-US" sz="279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29317"/>
          <a:ext cx="10556240" cy="4112683"/>
        </p:xfrm>
        <a:graphic>
          <a:graphicData uri="http://schemas.openxmlformats.org/drawingml/2006/table">
            <a:tbl>
              <a:tblPr/>
              <a:tblGrid>
                <a:gridCol w="3518747"/>
                <a:gridCol w="3518747"/>
                <a:gridCol w="3518747"/>
              </a:tblGrid>
              <a:tr h="367242">
                <a:tc>
                  <a:txBody>
                    <a:bodyPr/>
                    <a:lstStyle/>
                    <a:p>
                      <a:pPr indent="0" marL="0">
                        <a:lnSpc>
                          <a:spcPts val="1598"/>
                        </a:lnSpc>
                        <a:buNone/>
                      </a:pPr>
                      <a:r>
                        <a:rPr lang="en-US" sz="1142" b="1" dirty="0">
                          <a:solidFill>
                            <a:srgbClr val="F5F3EE"/>
                          </a:solidFill>
                          <a:latin typeface="Noto Sans" pitchFamily="34" charset="0"/>
                          <a:ea typeface="Noto Sans" pitchFamily="34" charset="-122"/>
                          <a:cs typeface="Noto Sans" pitchFamily="34" charset="-120"/>
                        </a:rPr>
                        <a:t>Tavsif</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598"/>
                        </a:lnSpc>
                        <a:buNone/>
                      </a:pPr>
                      <a:r>
                        <a:rPr lang="en-US" sz="1142" b="1" dirty="0">
                          <a:solidFill>
                            <a:srgbClr val="F5F3EE"/>
                          </a:solidFill>
                          <a:latin typeface="Noto Sans" pitchFamily="34" charset="0"/>
                          <a:ea typeface="Noto Sans" pitchFamily="34" charset="-122"/>
                          <a:cs typeface="Noto Sans" pitchFamily="34" charset="-120"/>
                        </a:rPr>
                        <a:t>Taʼrif</a:t>
                      </a:r>
                      <a:endParaRPr lang="en-US" sz="1142" dirty="0">
                        <a:latin typeface="Noto Sans" charset="0"/>
                        <a:ea typeface="Noto Sans" charset="0"/>
                        <a:cs typeface="Noto Sans" charset="0"/>
                      </a:endParaRPr>
                    </a:p>
                  </a:txBody>
                  <a:tcPr marL="127000" marR="127000" marT="76200" marB="762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598"/>
                        </a:lnSpc>
                        <a:buNone/>
                      </a:pPr>
                      <a:r>
                        <a:rPr lang="en-US" sz="1142" b="1" dirty="0">
                          <a:solidFill>
                            <a:srgbClr val="F5F3EE"/>
                          </a:solidFill>
                          <a:latin typeface="Noto Sans" pitchFamily="34" charset="0"/>
                          <a:ea typeface="Noto Sans" pitchFamily="34" charset="-122"/>
                          <a:cs typeface="Noto Sans" pitchFamily="34" charset="-120"/>
                        </a:rPr>
                        <a:t>Ifodasi</a:t>
                      </a:r>
                      <a:endParaRPr lang="en-US" sz="1142" dirty="0">
                        <a:latin typeface="Noto Sans" charset="0"/>
                        <a:ea typeface="Noto Sans" charset="0"/>
                        <a:cs typeface="Noto Sans" charset="0"/>
                      </a:endParaRPr>
                    </a:p>
                  </a:txBody>
                  <a:tcPr marL="127000" marR="127000" marT="76200" marB="762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563033">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Oʻlchash diapazoni</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Normalangan xatolik bilan oʻlchanadigan qiymatlar oraligʻi</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Xₘᵢₙ … Xₘₐₓ</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67242">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Sezgirlik</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Chiqish oʻzgarishining kirish oʻzgarishiga nisbati</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S = ΔY / ΔX</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63033">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Ruxsat qobiliyati</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Chiqishda sezilarli oʻzgarish beradigan kirishning eng kichik oʻzgarishi</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ΔXₘᵢₙ, masalan 360° / N</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63033">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Chiziqlilik xatosi</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Real tavsifning toʻgʻri chiziqdan eng katta chetlanishi</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Δₘₐₓ / Yₙ · 100 %</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63033">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Gisterezis</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Kirish ortib va kamayib borgandagi chiqishlar farqi</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ΔHₘₐₓ / Yₙ · 100 %</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63033">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Takrorlanuvchanlik</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Bir xil sharoitdagi takroriy oʻlchashlar natijalarining yaqinligi</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 3σ</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63033">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Nol siljishi (dreyf)</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Kirish oʻzgarmaganda chiqishning vaqt yoki harorat bilan oʻzgarishi</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598"/>
                        </a:lnSpc>
                        <a:buNone/>
                      </a:pPr>
                      <a:r>
                        <a:rPr lang="en-US" sz="1142" dirty="0">
                          <a:solidFill>
                            <a:srgbClr val="1D2433"/>
                          </a:solidFill>
                          <a:latin typeface="Noto Sans" pitchFamily="34" charset="0"/>
                          <a:ea typeface="Noto Sans" pitchFamily="34" charset="-122"/>
                          <a:cs typeface="Noto Sans" pitchFamily="34" charset="-120"/>
                        </a:rPr>
                        <a:t>ΔY₀ / ΔT</a:t>
                      </a:r>
                      <a:endParaRPr lang="en-US" sz="1142"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05 · Manba: Regtien, Dertien. Sensors for Mechatronics, 3.1-boʻlim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STATIK TAVSIFLAR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Real tavsif: chiziqsizlik va gisterezis</a:t>
            </a:r>
            <a:endParaRPr lang="en-US" sz="3200" dirty="0"/>
          </a:p>
        </p:txBody>
      </p:sp>
      <p:pic>
        <p:nvPicPr>
          <p:cNvPr id="4" name="Image 0" descr="Datchikning ideal va real statik tavsifi, chiziqlilik xatosi va gisterezis koʻrsatilgan grafik">    </p:cNvPr>
          <p:cNvPicPr>
            <a:picLocks noChangeAspect="1"/>
          </p:cNvPicPr>
          <p:nvPr/>
        </p:nvPicPr>
        <p:blipFill>
          <a:blip r:embed="rId1"/>
          <a:srcRect l="0" r="0" t="0" b="0"/>
          <a:stretch/>
        </p:blipFill>
        <p:spPr>
          <a:xfrm>
            <a:off x="812800" y="1752600"/>
            <a:ext cx="5461000" cy="3759200"/>
          </a:xfrm>
          <a:prstGeom prst="rect">
            <a:avLst/>
          </a:prstGeom>
        </p:spPr>
      </p:pic>
      <p:sp>
        <p:nvSpPr>
          <p:cNvPr id="5" name="Shape 2"/>
          <p:cNvSpPr/>
          <p:nvPr/>
        </p:nvSpPr>
        <p:spPr>
          <a:xfrm>
            <a:off x="6581775" y="2030096"/>
            <a:ext cx="4794250" cy="885190"/>
          </a:xfrm>
          <a:prstGeom prst="roundRect">
            <a:avLst>
              <a:gd name="adj" fmla="val 8250"/>
            </a:avLst>
          </a:prstGeom>
          <a:solidFill>
            <a:srgbClr val="FDFCF9"/>
          </a:solidFill>
          <a:ln w="6350">
            <a:solidFill>
              <a:srgbClr val="E2DED4"/>
            </a:solidFill>
            <a:prstDash val="solid"/>
          </a:ln>
        </p:spPr>
      </p:sp>
      <p:sp>
        <p:nvSpPr>
          <p:cNvPr id="6" name="Text 3"/>
          <p:cNvSpPr/>
          <p:nvPr/>
        </p:nvSpPr>
        <p:spPr>
          <a:xfrm>
            <a:off x="6786880" y="2209800"/>
            <a:ext cx="45155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Sezgirlik</a:t>
            </a:r>
            <a:endParaRPr lang="en-US" sz="1600" dirty="0"/>
          </a:p>
        </p:txBody>
      </p:sp>
      <p:sp>
        <p:nvSpPr>
          <p:cNvPr id="7" name="Text 4"/>
          <p:cNvSpPr/>
          <p:nvPr/>
        </p:nvSpPr>
        <p:spPr>
          <a:xfrm>
            <a:off x="6786880" y="2504439"/>
            <a:ext cx="451556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Ideal chiziqning qiyaligi: S = ΔY / ΔX</a:t>
            </a:r>
            <a:endParaRPr lang="en-US" sz="1300" dirty="0"/>
          </a:p>
        </p:txBody>
      </p:sp>
      <p:sp>
        <p:nvSpPr>
          <p:cNvPr id="8" name="Shape 5"/>
          <p:cNvSpPr/>
          <p:nvPr/>
        </p:nvSpPr>
        <p:spPr>
          <a:xfrm>
            <a:off x="6581775" y="3074036"/>
            <a:ext cx="4794250" cy="1116330"/>
          </a:xfrm>
          <a:prstGeom prst="roundRect">
            <a:avLst>
              <a:gd name="adj" fmla="val 6542"/>
            </a:avLst>
          </a:prstGeom>
          <a:solidFill>
            <a:srgbClr val="FDFCF9"/>
          </a:solidFill>
          <a:ln w="6350">
            <a:solidFill>
              <a:srgbClr val="E2DED4"/>
            </a:solidFill>
            <a:prstDash val="solid"/>
          </a:ln>
        </p:spPr>
      </p:sp>
      <p:sp>
        <p:nvSpPr>
          <p:cNvPr id="9" name="Text 6"/>
          <p:cNvSpPr/>
          <p:nvPr/>
        </p:nvSpPr>
        <p:spPr>
          <a:xfrm>
            <a:off x="6786880" y="3253739"/>
            <a:ext cx="45155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Chiziqlilik xatosi</a:t>
            </a:r>
            <a:endParaRPr lang="en-US" sz="1600" dirty="0"/>
          </a:p>
        </p:txBody>
      </p:sp>
      <p:sp>
        <p:nvSpPr>
          <p:cNvPr id="10" name="Text 7"/>
          <p:cNvSpPr/>
          <p:nvPr/>
        </p:nvSpPr>
        <p:spPr>
          <a:xfrm>
            <a:off x="6786880" y="3548379"/>
            <a:ext cx="451556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Real egri chiziq bilan ideal chiziq orasidagi eng katta farq Δₘₐₓ</a:t>
            </a:r>
            <a:endParaRPr lang="en-US" sz="1300" dirty="0"/>
          </a:p>
        </p:txBody>
      </p:sp>
      <p:sp>
        <p:nvSpPr>
          <p:cNvPr id="11" name="Shape 8"/>
          <p:cNvSpPr/>
          <p:nvPr/>
        </p:nvSpPr>
        <p:spPr>
          <a:xfrm>
            <a:off x="6581775" y="4349114"/>
            <a:ext cx="4794250" cy="885190"/>
          </a:xfrm>
          <a:prstGeom prst="roundRect">
            <a:avLst>
              <a:gd name="adj" fmla="val 8250"/>
            </a:avLst>
          </a:prstGeom>
          <a:solidFill>
            <a:srgbClr val="FDFCF9"/>
          </a:solidFill>
          <a:ln w="6350">
            <a:solidFill>
              <a:srgbClr val="E2DED4"/>
            </a:solidFill>
            <a:prstDash val="solid"/>
          </a:ln>
        </p:spPr>
      </p:sp>
      <p:sp>
        <p:nvSpPr>
          <p:cNvPr id="12" name="Text 9"/>
          <p:cNvSpPr/>
          <p:nvPr/>
        </p:nvSpPr>
        <p:spPr>
          <a:xfrm>
            <a:off x="6786880" y="4528821"/>
            <a:ext cx="451556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Gisterezis</a:t>
            </a:r>
            <a:endParaRPr lang="en-US" sz="1600" dirty="0"/>
          </a:p>
        </p:txBody>
      </p:sp>
      <p:sp>
        <p:nvSpPr>
          <p:cNvPr id="13" name="Text 10"/>
          <p:cNvSpPr/>
          <p:nvPr/>
        </p:nvSpPr>
        <p:spPr>
          <a:xfrm>
            <a:off x="6786880" y="4823461"/>
            <a:ext cx="451556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Bir xil X uchun ikki yoʻnalishdagi chiqishlar farqi ΔH</a:t>
            </a:r>
            <a:endParaRPr lang="en-US" sz="1300" dirty="0"/>
          </a:p>
        </p:txBody>
      </p:sp>
      <p:sp>
        <p:nvSpPr>
          <p:cNvPr id="14"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DINAMIK TAVSIFLAR</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Birinchi tartibli datchikning pogʻonali javobi</a:t>
            </a:r>
            <a:endParaRPr lang="en-US" sz="3200" dirty="0"/>
          </a:p>
        </p:txBody>
      </p:sp>
      <p:pic>
        <p:nvPicPr>
          <p:cNvPr id="4" name="Image 0" descr="Birinchi tartibli datchikning pogʻonali kirishga javobi, vaqt doimiysi tau va javob vaqti belgilangan">    </p:cNvPr>
          <p:cNvPicPr>
            <a:picLocks noChangeAspect="1"/>
          </p:cNvPicPr>
          <p:nvPr/>
        </p:nvPicPr>
        <p:blipFill>
          <a:blip r:embed="rId1"/>
          <a:srcRect l="0" r="0" t="0" b="0"/>
          <a:stretch/>
        </p:blipFill>
        <p:spPr>
          <a:xfrm>
            <a:off x="812800" y="1760221"/>
            <a:ext cx="5588000" cy="3632200"/>
          </a:xfrm>
          <a:prstGeom prst="rect">
            <a:avLst/>
          </a:prstGeom>
        </p:spPr>
      </p:pic>
      <p:sp>
        <p:nvSpPr>
          <p:cNvPr id="5" name="Text 2"/>
          <p:cNvSpPr/>
          <p:nvPr/>
        </p:nvSpPr>
        <p:spPr>
          <a:xfrm>
            <a:off x="6705600" y="1752600"/>
            <a:ext cx="481380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233B"/>
                </a:solidFill>
                <a:latin typeface="Noto Sans" pitchFamily="34" charset="0"/>
                <a:ea typeface="Noto Sans" pitchFamily="34" charset="-122"/>
                <a:cs typeface="Noto Sans" pitchFamily="34" charset="-120"/>
              </a:rPr>
              <a:t>y(t) = K · [1 − exp(−t / τ)]</a:t>
            </a:r>
            <a:endParaRPr lang="en-US" sz="1600" dirty="0"/>
          </a:p>
        </p:txBody>
      </p:sp>
      <p:sp>
        <p:nvSpPr>
          <p:cNvPr id="6" name="Shape 3"/>
          <p:cNvSpPr/>
          <p:nvPr/>
        </p:nvSpPr>
        <p:spPr>
          <a:xfrm>
            <a:off x="6708775" y="2192654"/>
            <a:ext cx="4667250" cy="885190"/>
          </a:xfrm>
          <a:prstGeom prst="roundRect">
            <a:avLst>
              <a:gd name="adj" fmla="val 8250"/>
            </a:avLst>
          </a:prstGeom>
          <a:solidFill>
            <a:srgbClr val="FDFCF9"/>
          </a:solidFill>
          <a:ln w="6350">
            <a:solidFill>
              <a:srgbClr val="E2DED4"/>
            </a:solidFill>
            <a:prstDash val="solid"/>
          </a:ln>
        </p:spPr>
      </p:sp>
      <p:sp>
        <p:nvSpPr>
          <p:cNvPr id="7" name="Text 4"/>
          <p:cNvSpPr/>
          <p:nvPr/>
        </p:nvSpPr>
        <p:spPr>
          <a:xfrm>
            <a:off x="6913880" y="2372361"/>
            <a:ext cx="43847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Vaqt doimiysi τ</a:t>
            </a:r>
            <a:endParaRPr lang="en-US" sz="1600" dirty="0"/>
          </a:p>
        </p:txBody>
      </p:sp>
      <p:sp>
        <p:nvSpPr>
          <p:cNvPr id="8" name="Text 5"/>
          <p:cNvSpPr/>
          <p:nvPr/>
        </p:nvSpPr>
        <p:spPr>
          <a:xfrm>
            <a:off x="6913880" y="2667000"/>
            <a:ext cx="438475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Chiqish barqaror qiymatning 63,2 % iga yetgan vaqt</a:t>
            </a:r>
            <a:endParaRPr lang="en-US" sz="1300" dirty="0"/>
          </a:p>
        </p:txBody>
      </p:sp>
      <p:sp>
        <p:nvSpPr>
          <p:cNvPr id="9" name="Shape 6"/>
          <p:cNvSpPr/>
          <p:nvPr/>
        </p:nvSpPr>
        <p:spPr>
          <a:xfrm>
            <a:off x="6708775" y="3236596"/>
            <a:ext cx="4667250" cy="885190"/>
          </a:xfrm>
          <a:prstGeom prst="roundRect">
            <a:avLst>
              <a:gd name="adj" fmla="val 8250"/>
            </a:avLst>
          </a:prstGeom>
          <a:solidFill>
            <a:srgbClr val="FDFCF9"/>
          </a:solidFill>
          <a:ln w="6350">
            <a:solidFill>
              <a:srgbClr val="E2DED4"/>
            </a:solidFill>
            <a:prstDash val="solid"/>
          </a:ln>
        </p:spPr>
      </p:sp>
      <p:sp>
        <p:nvSpPr>
          <p:cNvPr id="10" name="Text 7"/>
          <p:cNvSpPr/>
          <p:nvPr/>
        </p:nvSpPr>
        <p:spPr>
          <a:xfrm>
            <a:off x="6913880" y="3416300"/>
            <a:ext cx="43847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Javob vaqti tⱼ</a:t>
            </a:r>
            <a:endParaRPr lang="en-US" sz="1600" dirty="0"/>
          </a:p>
        </p:txBody>
      </p:sp>
      <p:sp>
        <p:nvSpPr>
          <p:cNvPr id="11" name="Text 8"/>
          <p:cNvSpPr/>
          <p:nvPr/>
        </p:nvSpPr>
        <p:spPr>
          <a:xfrm>
            <a:off x="6913880" y="3710939"/>
            <a:ext cx="438475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Chiqish 95 % ga yetgan vaqt, taxminan 3τ</a:t>
            </a:r>
            <a:endParaRPr lang="en-US" sz="1300" dirty="0"/>
          </a:p>
        </p:txBody>
      </p:sp>
      <p:sp>
        <p:nvSpPr>
          <p:cNvPr id="12" name="Shape 9"/>
          <p:cNvSpPr/>
          <p:nvPr/>
        </p:nvSpPr>
        <p:spPr>
          <a:xfrm>
            <a:off x="6708775" y="4280536"/>
            <a:ext cx="4667250" cy="1116330"/>
          </a:xfrm>
          <a:prstGeom prst="roundRect">
            <a:avLst>
              <a:gd name="adj" fmla="val 6542"/>
            </a:avLst>
          </a:prstGeom>
          <a:solidFill>
            <a:srgbClr val="FDFCF9"/>
          </a:solidFill>
          <a:ln w="6350">
            <a:solidFill>
              <a:srgbClr val="E2DED4"/>
            </a:solidFill>
            <a:prstDash val="solid"/>
          </a:ln>
        </p:spPr>
      </p:sp>
      <p:sp>
        <p:nvSpPr>
          <p:cNvPr id="13" name="Text 10"/>
          <p:cNvSpPr/>
          <p:nvPr/>
        </p:nvSpPr>
        <p:spPr>
          <a:xfrm>
            <a:off x="6913880" y="4460239"/>
            <a:ext cx="438475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Oʻtkazish polosasi</a:t>
            </a:r>
            <a:endParaRPr lang="en-US" sz="1600" dirty="0"/>
          </a:p>
        </p:txBody>
      </p:sp>
      <p:sp>
        <p:nvSpPr>
          <p:cNvPr id="14" name="Text 11"/>
          <p:cNvSpPr/>
          <p:nvPr/>
        </p:nvSpPr>
        <p:spPr>
          <a:xfrm>
            <a:off x="6913880" y="4754879"/>
            <a:ext cx="43847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Kesish chastotasi f = 1 / (2πτ), amplituda −3 dB ga kamayadi</a:t>
            </a:r>
            <a:endParaRPr lang="en-US" sz="1300" dirty="0"/>
          </a:p>
        </p:txBody>
      </p:sp>
      <p:sp>
        <p:nvSpPr>
          <p:cNvPr id="15"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6643"/>
          </a:xfrm>
          <a:prstGeom prst="rect">
            <a:avLst/>
          </a:prstGeom>
          <a:noFill/>
          <a:ln/>
        </p:spPr>
        <p:txBody>
          <a:bodyPr wrap="square" lIns="0" tIns="0" rIns="0" bIns="0" rtlCol="0" anchor="t">
            <a:normAutofit/>
          </a:bodyPr>
          <a:lstStyle/>
          <a:p>
            <a:pPr algn="l" indent="0" marL="0">
              <a:lnSpc>
                <a:spcPts val="1670"/>
              </a:lnSpc>
              <a:buNone/>
            </a:pPr>
            <a:r>
              <a:rPr lang="en-US" sz="1193" b="1" spc="100" kern="0" dirty="0">
                <a:solidFill>
                  <a:srgbClr val="B5521A"/>
                </a:solidFill>
                <a:latin typeface="Noto Sans" pitchFamily="34" charset="0"/>
                <a:ea typeface="Noto Sans" pitchFamily="34" charset="-122"/>
                <a:cs typeface="Noto Sans" pitchFamily="34" charset="-120"/>
              </a:rPr>
              <a:t>XATOLIKLAR</a:t>
            </a:r>
            <a:endParaRPr lang="en-US" sz="1193" dirty="0"/>
          </a:p>
        </p:txBody>
      </p:sp>
      <p:sp>
        <p:nvSpPr>
          <p:cNvPr id="3" name="Text 1"/>
          <p:cNvSpPr/>
          <p:nvPr>
            <p:ph type="title"/>
          </p:nvPr>
        </p:nvSpPr>
        <p:spPr>
          <a:xfrm>
            <a:off x="812800" y="1100243"/>
            <a:ext cx="10883392" cy="46810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Oʻlchash xatoligining ifodalanishi va turlari</a:t>
            </a:r>
            <a:endParaRPr lang="en-US" sz="3200" dirty="0"/>
          </a:p>
        </p:txBody>
      </p:sp>
      <p:sp>
        <p:nvSpPr>
          <p:cNvPr id="4" name="Shape 2"/>
          <p:cNvSpPr/>
          <p:nvPr/>
        </p:nvSpPr>
        <p:spPr>
          <a:xfrm>
            <a:off x="815975" y="1800120"/>
            <a:ext cx="5149850" cy="1121410"/>
          </a:xfrm>
          <a:custGeom>
            <a:avLst/>
            <a:gdLst/>
            <a:ahLst/>
            <a:cxnLst/>
            <a:rect l="l" t="t" r="r" b="b"/>
            <a:pathLst>
              <a:path w="5149850" h="1121410">
                <a:moveTo>
                  <a:pt x="73025" y="0"/>
                </a:moveTo>
                <a:lnTo>
                  <a:pt x="5076825" y="0"/>
                </a:lnTo>
                <a:arcTo hR="73025" wR="73025" stAng="16200000" swAng="5400000"/>
                <a:lnTo>
                  <a:pt x="5149850" y="1121410"/>
                </a:lnTo>
                <a:lnTo>
                  <a:pt x="0" y="1121410"/>
                </a:lnTo>
                <a:lnTo>
                  <a:pt x="0" y="73025"/>
                </a:lnTo>
                <a:arcTo hR="73025" wR="73025" stAng="10800000" swAng="5400000"/>
                <a:close/>
              </a:path>
            </a:pathLst>
          </a:custGeom>
          <a:solidFill>
            <a:srgbClr val="FDFCF9"/>
          </a:solidFill>
          <a:ln w="6350">
            <a:solidFill>
              <a:srgbClr val="E2DED4"/>
            </a:solidFill>
            <a:prstDash val="solid"/>
          </a:ln>
        </p:spPr>
      </p:sp>
      <p:sp>
        <p:nvSpPr>
          <p:cNvPr id="5" name="Text 3"/>
          <p:cNvSpPr/>
          <p:nvPr/>
        </p:nvSpPr>
        <p:spPr>
          <a:xfrm>
            <a:off x="1021080" y="1954423"/>
            <a:ext cx="488182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6CB0"/>
                </a:solidFill>
                <a:latin typeface="Noto Sans" pitchFamily="34" charset="0"/>
                <a:ea typeface="Noto Sans" pitchFamily="34" charset="-122"/>
                <a:cs typeface="Noto Sans" pitchFamily="34" charset="-120"/>
              </a:rPr>
              <a:t>Absolyut xatolik</a:t>
            </a:r>
            <a:endParaRPr lang="en-US" sz="1400" dirty="0"/>
          </a:p>
        </p:txBody>
      </p:sp>
      <p:sp>
        <p:nvSpPr>
          <p:cNvPr id="6" name="Text 4"/>
          <p:cNvSpPr/>
          <p:nvPr/>
        </p:nvSpPr>
        <p:spPr>
          <a:xfrm>
            <a:off x="1021080" y="2218584"/>
            <a:ext cx="488182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2433"/>
                </a:solidFill>
                <a:latin typeface="Noto Sans" pitchFamily="34" charset="0"/>
                <a:ea typeface="Noto Sans" pitchFamily="34" charset="-122"/>
                <a:cs typeface="Noto Sans" pitchFamily="34" charset="-120"/>
              </a:rPr>
              <a:t>Δ = Xₒ − Xₕ</a:t>
            </a:r>
            <a:endParaRPr lang="en-US" sz="1600" dirty="0"/>
          </a:p>
        </p:txBody>
      </p:sp>
      <p:sp>
        <p:nvSpPr>
          <p:cNvPr id="7" name="Text 5"/>
          <p:cNvSpPr/>
          <p:nvPr/>
        </p:nvSpPr>
        <p:spPr>
          <a:xfrm>
            <a:off x="1021080" y="2553863"/>
            <a:ext cx="48818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Noto Sans" pitchFamily="34" charset="0"/>
                <a:ea typeface="Noto Sans" pitchFamily="34" charset="-122"/>
                <a:cs typeface="Noto Sans" pitchFamily="34" charset="-120"/>
              </a:rPr>
              <a:t>Xₒ — oʻlchangan, Xₕ — haqiqiy qiymat</a:t>
            </a:r>
            <a:endParaRPr lang="en-US" sz="1200" dirty="0"/>
          </a:p>
        </p:txBody>
      </p:sp>
      <p:sp>
        <p:nvSpPr>
          <p:cNvPr id="8" name="Shape 6"/>
          <p:cNvSpPr/>
          <p:nvPr/>
        </p:nvSpPr>
        <p:spPr>
          <a:xfrm>
            <a:off x="812800" y="2924705"/>
            <a:ext cx="5156200" cy="858520"/>
          </a:xfrm>
          <a:prstGeom prst="rect">
            <a:avLst/>
          </a:prstGeom>
          <a:solidFill>
            <a:srgbClr val="FDFCF9"/>
          </a:solidFill>
          <a:ln/>
        </p:spPr>
      </p:sp>
      <p:sp>
        <p:nvSpPr>
          <p:cNvPr id="9" name="Shape 7"/>
          <p:cNvSpPr/>
          <p:nvPr/>
        </p:nvSpPr>
        <p:spPr>
          <a:xfrm>
            <a:off x="5965825" y="2924705"/>
            <a:ext cx="0" cy="858520"/>
          </a:xfrm>
          <a:prstGeom prst="line">
            <a:avLst/>
          </a:prstGeom>
          <a:noFill/>
          <a:ln w="6350">
            <a:solidFill>
              <a:srgbClr val="E2DED4"/>
            </a:solidFill>
            <a:prstDash val="solid"/>
          </a:ln>
        </p:spPr>
      </p:sp>
      <p:sp>
        <p:nvSpPr>
          <p:cNvPr id="10" name="Shape 8"/>
          <p:cNvSpPr/>
          <p:nvPr/>
        </p:nvSpPr>
        <p:spPr>
          <a:xfrm>
            <a:off x="812800" y="3780050"/>
            <a:ext cx="5156200" cy="0"/>
          </a:xfrm>
          <a:prstGeom prst="line">
            <a:avLst/>
          </a:prstGeom>
          <a:noFill/>
          <a:ln w="6350">
            <a:solidFill>
              <a:srgbClr val="E2DED4"/>
            </a:solidFill>
            <a:prstDash val="solid"/>
          </a:ln>
        </p:spPr>
      </p:sp>
      <p:sp>
        <p:nvSpPr>
          <p:cNvPr id="11" name="Shape 9"/>
          <p:cNvSpPr/>
          <p:nvPr/>
        </p:nvSpPr>
        <p:spPr>
          <a:xfrm>
            <a:off x="815975" y="2924705"/>
            <a:ext cx="0" cy="858520"/>
          </a:xfrm>
          <a:prstGeom prst="line">
            <a:avLst/>
          </a:prstGeom>
          <a:noFill/>
          <a:ln w="6350">
            <a:solidFill>
              <a:srgbClr val="E2DED4"/>
            </a:solidFill>
            <a:prstDash val="solid"/>
          </a:ln>
        </p:spPr>
      </p:sp>
      <p:sp>
        <p:nvSpPr>
          <p:cNvPr id="12" name="Text 10"/>
          <p:cNvSpPr/>
          <p:nvPr/>
        </p:nvSpPr>
        <p:spPr>
          <a:xfrm>
            <a:off x="1021080" y="3077105"/>
            <a:ext cx="488182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6CB0"/>
                </a:solidFill>
                <a:latin typeface="Noto Sans" pitchFamily="34" charset="0"/>
                <a:ea typeface="Noto Sans" pitchFamily="34" charset="-122"/>
                <a:cs typeface="Noto Sans" pitchFamily="34" charset="-120"/>
              </a:rPr>
              <a:t>Nisbiy xatolik</a:t>
            </a:r>
            <a:endParaRPr lang="en-US" sz="1400" dirty="0"/>
          </a:p>
        </p:txBody>
      </p:sp>
      <p:sp>
        <p:nvSpPr>
          <p:cNvPr id="13" name="Text 11"/>
          <p:cNvSpPr/>
          <p:nvPr/>
        </p:nvSpPr>
        <p:spPr>
          <a:xfrm>
            <a:off x="1021080" y="3341263"/>
            <a:ext cx="488182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2433"/>
                </a:solidFill>
                <a:latin typeface="Noto Sans" pitchFamily="34" charset="0"/>
                <a:ea typeface="Noto Sans" pitchFamily="34" charset="-122"/>
                <a:cs typeface="Noto Sans" pitchFamily="34" charset="-120"/>
              </a:rPr>
              <a:t>δ = Δ / Xₕ · 100 %</a:t>
            </a:r>
            <a:endParaRPr lang="en-US" sz="1600" dirty="0"/>
          </a:p>
        </p:txBody>
      </p:sp>
      <p:sp>
        <p:nvSpPr>
          <p:cNvPr id="14" name="Shape 12"/>
          <p:cNvSpPr/>
          <p:nvPr/>
        </p:nvSpPr>
        <p:spPr>
          <a:xfrm>
            <a:off x="812800" y="3783223"/>
            <a:ext cx="5156200" cy="1122680"/>
          </a:xfrm>
          <a:custGeom>
            <a:avLst/>
            <a:gdLst/>
            <a:ahLst/>
            <a:cxnLst/>
            <a:rect l="l" t="t" r="r" b="b"/>
            <a:pathLst>
              <a:path w="5156200" h="1122680">
                <a:moveTo>
                  <a:pt x="0" y="0"/>
                </a:moveTo>
                <a:lnTo>
                  <a:pt x="5156200" y="0"/>
                </a:lnTo>
                <a:lnTo>
                  <a:pt x="5156200" y="1046480"/>
                </a:lnTo>
                <a:arcTo hR="76200" wR="76200" stAng="0" swAng="5400000"/>
                <a:lnTo>
                  <a:pt x="76200" y="1122680"/>
                </a:lnTo>
                <a:arcTo hR="76200" wR="76200" stAng="5400000" swAng="5400000"/>
                <a:lnTo>
                  <a:pt x="0" y="0"/>
                </a:lnTo>
                <a:close/>
              </a:path>
            </a:pathLst>
          </a:custGeom>
          <a:solidFill>
            <a:srgbClr val="FDFCF9"/>
          </a:solidFill>
          <a:ln/>
        </p:spPr>
      </p:sp>
      <p:sp>
        <p:nvSpPr>
          <p:cNvPr id="15" name="Shape 13"/>
          <p:cNvSpPr/>
          <p:nvPr/>
        </p:nvSpPr>
        <p:spPr>
          <a:xfrm>
            <a:off x="812800" y="3783223"/>
            <a:ext cx="5156200" cy="1122680"/>
          </a:xfrm>
          <a:custGeom>
            <a:avLst/>
            <a:gdLst/>
            <a:ahLst/>
            <a:cxnLst/>
            <a:rect l="l" t="t" r="r" b="b"/>
            <a:pathLst>
              <a:path w="5156200" h="1122680">
                <a:moveTo>
                  <a:pt x="5149850" y="0"/>
                </a:moveTo>
                <a:lnTo>
                  <a:pt x="5156200" y="0"/>
                </a:lnTo>
                <a:lnTo>
                  <a:pt x="5156200" y="1046480"/>
                </a:lnTo>
                <a:arcTo hR="76200" wR="76200" stAng="0" swAng="5400000"/>
                <a:lnTo>
                  <a:pt x="76200" y="1122680"/>
                </a:lnTo>
                <a:arcTo hR="76200" wR="76200" stAng="5400000" swAng="5400000"/>
                <a:lnTo>
                  <a:pt x="0" y="0"/>
                </a:lnTo>
                <a:lnTo>
                  <a:pt x="6350" y="0"/>
                </a:lnTo>
                <a:lnTo>
                  <a:pt x="6350" y="1046480"/>
                </a:lnTo>
                <a:arcTo hR="69850" wR="69850" stAng="10800000" swAng="-5400000"/>
                <a:lnTo>
                  <a:pt x="5080000" y="1116330"/>
                </a:lnTo>
                <a:arcTo hR="69850" wR="69850" stAng="5400000" swAng="-5400000"/>
                <a:lnTo>
                  <a:pt x="5149850" y="0"/>
                </a:lnTo>
                <a:close/>
              </a:path>
            </a:pathLst>
          </a:custGeom>
          <a:solidFill>
            <a:srgbClr val="E2DED4"/>
          </a:solidFill>
          <a:ln/>
        </p:spPr>
      </p:sp>
      <p:sp>
        <p:nvSpPr>
          <p:cNvPr id="16" name="Text 14"/>
          <p:cNvSpPr/>
          <p:nvPr/>
        </p:nvSpPr>
        <p:spPr>
          <a:xfrm>
            <a:off x="1021080" y="3935623"/>
            <a:ext cx="488182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6CB0"/>
                </a:solidFill>
                <a:latin typeface="Noto Sans" pitchFamily="34" charset="0"/>
                <a:ea typeface="Noto Sans" pitchFamily="34" charset="-122"/>
                <a:cs typeface="Noto Sans" pitchFamily="34" charset="-120"/>
              </a:rPr>
              <a:t>Keltirilgan xatolik</a:t>
            </a:r>
            <a:endParaRPr lang="en-US" sz="1400" dirty="0"/>
          </a:p>
        </p:txBody>
      </p:sp>
      <p:sp>
        <p:nvSpPr>
          <p:cNvPr id="17" name="Text 15"/>
          <p:cNvSpPr/>
          <p:nvPr/>
        </p:nvSpPr>
        <p:spPr>
          <a:xfrm>
            <a:off x="1021080" y="4199787"/>
            <a:ext cx="488182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2433"/>
                </a:solidFill>
                <a:latin typeface="Noto Sans" pitchFamily="34" charset="0"/>
                <a:ea typeface="Noto Sans" pitchFamily="34" charset="-122"/>
                <a:cs typeface="Noto Sans" pitchFamily="34" charset="-120"/>
              </a:rPr>
              <a:t>γ = Δ / Xₙ · 100 %</a:t>
            </a:r>
            <a:endParaRPr lang="en-US" sz="1600" dirty="0"/>
          </a:p>
        </p:txBody>
      </p:sp>
      <p:sp>
        <p:nvSpPr>
          <p:cNvPr id="18" name="Text 16"/>
          <p:cNvSpPr/>
          <p:nvPr/>
        </p:nvSpPr>
        <p:spPr>
          <a:xfrm>
            <a:off x="1021080" y="4535066"/>
            <a:ext cx="48818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Noto Sans" pitchFamily="34" charset="0"/>
                <a:ea typeface="Noto Sans" pitchFamily="34" charset="-122"/>
                <a:cs typeface="Noto Sans" pitchFamily="34" charset="-120"/>
              </a:rPr>
              <a:t>Xₙ — normalovchi qiymat (odatda diapazon)</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33160" y="1807105"/>
          <a:ext cx="5146040" cy="2629641"/>
        </p:xfrm>
        <a:graphic>
          <a:graphicData uri="http://schemas.openxmlformats.org/drawingml/2006/table">
            <a:tbl>
              <a:tblPr/>
              <a:tblGrid>
                <a:gridCol w="2573020"/>
                <a:gridCol w="2573020"/>
              </a:tblGrid>
              <a:tr h="382693">
                <a:tc>
                  <a:txBody>
                    <a:bodyPr/>
                    <a:lstStyle/>
                    <a:p>
                      <a:pPr indent="0" marL="0">
                        <a:lnSpc>
                          <a:spcPts val="1797"/>
                        </a:lnSpc>
                        <a:buNone/>
                      </a:pPr>
                      <a:r>
                        <a:rPr lang="en-US" sz="1284" b="1" dirty="0">
                          <a:solidFill>
                            <a:srgbClr val="F5F3EE"/>
                          </a:solidFill>
                          <a:latin typeface="Noto Sans" pitchFamily="34" charset="0"/>
                          <a:ea typeface="Noto Sans" pitchFamily="34" charset="-122"/>
                          <a:cs typeface="Noto Sans" pitchFamily="34" charset="-120"/>
                        </a:rPr>
                        <a:t>Turi</a:t>
                      </a:r>
                      <a:endParaRPr lang="en-US" sz="1284"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797"/>
                        </a:lnSpc>
                        <a:buNone/>
                      </a:pPr>
                      <a:r>
                        <a:rPr lang="en-US" sz="1284" b="1" dirty="0">
                          <a:solidFill>
                            <a:srgbClr val="F5F3EE"/>
                          </a:solidFill>
                          <a:latin typeface="Noto Sans" pitchFamily="34" charset="0"/>
                          <a:ea typeface="Noto Sans" pitchFamily="34" charset="-122"/>
                          <a:cs typeface="Noto Sans" pitchFamily="34" charset="-120"/>
                        </a:rPr>
                        <a:t>Xususiyati</a:t>
                      </a:r>
                      <a:endParaRPr lang="en-US" sz="1284" dirty="0">
                        <a:latin typeface="Noto Sans" charset="0"/>
                        <a:ea typeface="Noto Sans" charset="0"/>
                        <a:cs typeface="Noto Sans" charset="0"/>
                      </a:endParaRPr>
                    </a:p>
                  </a:txBody>
                  <a:tcPr marL="127000" marR="127000" marT="76200" marB="762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822113">
                <a:tc>
                  <a:txBody>
                    <a:bodyPr/>
                    <a:lstStyle/>
                    <a:p>
                      <a:pPr indent="0" marL="0">
                        <a:lnSpc>
                          <a:spcPts val="1797"/>
                        </a:lnSpc>
                        <a:buNone/>
                      </a:pPr>
                      <a:r>
                        <a:rPr lang="en-US" sz="1284" dirty="0">
                          <a:solidFill>
                            <a:srgbClr val="1D2433"/>
                          </a:solidFill>
                          <a:latin typeface="Noto Sans" pitchFamily="34" charset="0"/>
                          <a:ea typeface="Noto Sans" pitchFamily="34" charset="-122"/>
                          <a:cs typeface="Noto Sans" pitchFamily="34" charset="-120"/>
                        </a:rPr>
                        <a:t>Sistematik</a:t>
                      </a:r>
                      <a:endParaRPr lang="en-US" sz="1284"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97"/>
                        </a:lnSpc>
                        <a:buNone/>
                      </a:pPr>
                      <a:r>
                        <a:rPr lang="en-US" sz="1284" dirty="0">
                          <a:solidFill>
                            <a:srgbClr val="1D2433"/>
                          </a:solidFill>
                          <a:latin typeface="Noto Sans" pitchFamily="34" charset="0"/>
                          <a:ea typeface="Noto Sans" pitchFamily="34" charset="-122"/>
                          <a:cs typeface="Noto Sans" pitchFamily="34" charset="-120"/>
                        </a:rPr>
                        <a:t>Doimiy yoki qonuniy oʻzgaradi; kalibrlash bilan tuzatiladi</a:t>
                      </a:r>
                      <a:endParaRPr lang="en-US" sz="1284"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02827">
                <a:tc>
                  <a:txBody>
                    <a:bodyPr/>
                    <a:lstStyle/>
                    <a:p>
                      <a:pPr indent="0" marL="0">
                        <a:lnSpc>
                          <a:spcPts val="1797"/>
                        </a:lnSpc>
                        <a:buNone/>
                      </a:pPr>
                      <a:r>
                        <a:rPr lang="en-US" sz="1284" dirty="0">
                          <a:solidFill>
                            <a:srgbClr val="1D2433"/>
                          </a:solidFill>
                          <a:latin typeface="Noto Sans" pitchFamily="34" charset="0"/>
                          <a:ea typeface="Noto Sans" pitchFamily="34" charset="-122"/>
                          <a:cs typeface="Noto Sans" pitchFamily="34" charset="-120"/>
                        </a:rPr>
                        <a:t>Tasodifiy</a:t>
                      </a:r>
                      <a:endParaRPr lang="en-US" sz="1284"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97"/>
                        </a:lnSpc>
                        <a:buNone/>
                      </a:pPr>
                      <a:r>
                        <a:rPr lang="en-US" sz="1284" dirty="0">
                          <a:solidFill>
                            <a:srgbClr val="1D2433"/>
                          </a:solidFill>
                          <a:latin typeface="Noto Sans" pitchFamily="34" charset="0"/>
                          <a:ea typeface="Noto Sans" pitchFamily="34" charset="-122"/>
                          <a:cs typeface="Noto Sans" pitchFamily="34" charset="-120"/>
                        </a:rPr>
                        <a:t>Oldindan aytib boʻlmaydi; statistik baholanadi (σ)</a:t>
                      </a:r>
                      <a:endParaRPr lang="en-US" sz="1284"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822007">
                <a:tc>
                  <a:txBody>
                    <a:bodyPr/>
                    <a:lstStyle/>
                    <a:p>
                      <a:pPr indent="0" marL="0">
                        <a:lnSpc>
                          <a:spcPts val="1797"/>
                        </a:lnSpc>
                        <a:buNone/>
                      </a:pPr>
                      <a:r>
                        <a:rPr lang="en-US" sz="1284" dirty="0">
                          <a:solidFill>
                            <a:srgbClr val="1D2433"/>
                          </a:solidFill>
                          <a:latin typeface="Noto Sans" pitchFamily="34" charset="0"/>
                          <a:ea typeface="Noto Sans" pitchFamily="34" charset="-122"/>
                          <a:cs typeface="Noto Sans" pitchFamily="34" charset="-120"/>
                        </a:rPr>
                        <a:t>Qoʻpol</a:t>
                      </a:r>
                      <a:endParaRPr lang="en-US" sz="1284"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97"/>
                        </a:lnSpc>
                        <a:buNone/>
                      </a:pPr>
                      <a:r>
                        <a:rPr lang="en-US" sz="1284" dirty="0">
                          <a:solidFill>
                            <a:srgbClr val="1D2433"/>
                          </a:solidFill>
                          <a:latin typeface="Noto Sans" pitchFamily="34" charset="0"/>
                          <a:ea typeface="Noto Sans" pitchFamily="34" charset="-122"/>
                          <a:cs typeface="Noto Sans" pitchFamily="34" charset="-120"/>
                        </a:rPr>
                        <a:t>Natijani keskin buzadi; natijalardan chiqarib tashlanadi</a:t>
                      </a:r>
                      <a:endParaRPr lang="en-US" sz="1284"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20" name="Shape 17"/>
          <p:cNvSpPr/>
          <p:nvPr/>
        </p:nvSpPr>
        <p:spPr>
          <a:xfrm>
            <a:off x="6223000" y="4589146"/>
            <a:ext cx="5156200" cy="1252855"/>
          </a:xfrm>
          <a:prstGeom prst="roundRect">
            <a:avLst>
              <a:gd name="adj" fmla="val 6082"/>
            </a:avLst>
          </a:prstGeom>
          <a:solidFill>
            <a:srgbClr val="FBE9DC"/>
          </a:solidFill>
          <a:ln/>
        </p:spPr>
      </p:sp>
      <p:sp>
        <p:nvSpPr>
          <p:cNvPr id="21" name="Text 18"/>
          <p:cNvSpPr/>
          <p:nvPr/>
        </p:nvSpPr>
        <p:spPr>
          <a:xfrm>
            <a:off x="6426200" y="4741546"/>
            <a:ext cx="4892294" cy="236538"/>
          </a:xfrm>
          <a:prstGeom prst="rect">
            <a:avLst/>
          </a:prstGeom>
          <a:noFill/>
          <a:ln/>
        </p:spPr>
        <p:txBody>
          <a:bodyPr wrap="square" lIns="0" tIns="0" rIns="0" bIns="0" rtlCol="0" anchor="t">
            <a:normAutofit/>
          </a:bodyPr>
          <a:lstStyle/>
          <a:p>
            <a:pPr algn="l" indent="0" marL="0">
              <a:lnSpc>
                <a:spcPts val="1670"/>
              </a:lnSpc>
              <a:buNone/>
            </a:pPr>
            <a:r>
              <a:rPr lang="en-US" sz="1391" b="1" dirty="0">
                <a:solidFill>
                  <a:srgbClr val="8F3F12"/>
                </a:solidFill>
                <a:latin typeface="Noto Sans" pitchFamily="34" charset="0"/>
                <a:ea typeface="Noto Sans" pitchFamily="34" charset="-122"/>
                <a:cs typeface="Noto Sans" pitchFamily="34" charset="-120"/>
              </a:rPr>
              <a:t>Aniqlik klassi</a:t>
            </a:r>
            <a:endParaRPr lang="en-US" sz="1391" dirty="0"/>
          </a:p>
        </p:txBody>
      </p:sp>
      <p:sp>
        <p:nvSpPr>
          <p:cNvPr id="22" name="Text 19"/>
          <p:cNvSpPr/>
          <p:nvPr/>
        </p:nvSpPr>
        <p:spPr>
          <a:xfrm>
            <a:off x="6426200" y="5003484"/>
            <a:ext cx="4892294" cy="711518"/>
          </a:xfrm>
          <a:prstGeom prst="rect">
            <a:avLst/>
          </a:prstGeom>
          <a:noFill/>
          <a:ln/>
        </p:spPr>
        <p:txBody>
          <a:bodyPr wrap="square" lIns="0" tIns="0" rIns="0" bIns="0" rtlCol="0" anchor="t">
            <a:normAutofit/>
          </a:bodyPr>
          <a:lstStyle/>
          <a:p>
            <a:pPr algn="l" indent="0" marL="0">
              <a:lnSpc>
                <a:spcPts val="1803"/>
              </a:lnSpc>
              <a:buNone/>
            </a:pPr>
            <a:r>
              <a:rPr lang="en-US" sz="1288" dirty="0">
                <a:solidFill>
                  <a:srgbClr val="1D2433"/>
                </a:solidFill>
                <a:latin typeface="Noto Sans" pitchFamily="34" charset="0"/>
                <a:ea typeface="Noto Sans" pitchFamily="34" charset="-122"/>
                <a:cs typeface="Noto Sans" pitchFamily="34" charset="-120"/>
              </a:rPr>
              <a:t>Klass 0,5 — keltirilgan xatolik ±0,5 % dan oshmaydi. Diapazoni 0…100 mm datchikda |Δ| ≤ 0,5 mm, demak 10 mm ni oʻlchashda nisbiy xatolik 5 % gacha yetadi.</a:t>
            </a:r>
            <a:endParaRPr lang="en-US" sz="1288" dirty="0"/>
          </a:p>
        </p:txBody>
      </p:sp>
      <p:sp>
        <p:nvSpPr>
          <p:cNvPr id="23" name="Text 2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46E"/>
                </a:solidFill>
                <a:latin typeface="Noto Sans" pitchFamily="34" charset="0"/>
                <a:ea typeface="Noto Sans" pitchFamily="34" charset="-122"/>
                <a:cs typeface="Noto Sans" pitchFamily="34" charset="-120"/>
              </a:rPr>
              <a:t>MUHIM FARQ</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Noto Sans" pitchFamily="34" charset="0"/>
                <a:ea typeface="Noto Sans" pitchFamily="34" charset="-122"/>
                <a:cs typeface="Noto Sans" pitchFamily="34" charset="-120"/>
              </a:rPr>
              <a:t>Aniqlik va takrorlanuvchanlik</a:t>
            </a:r>
            <a:endParaRPr lang="en-US" sz="3200" dirty="0"/>
          </a:p>
        </p:txBody>
      </p:sp>
      <p:pic>
        <p:nvPicPr>
          <p:cNvPr id="4" name="Image 0" descr="Toʻrtta nishon: aniq va takrorlanuvchan; takrorlanuvchan lekin aniq emas; oʻrtacha aniq lekin takrorlanuvchan emas; na aniq na takrorlanuvchan">    </p:cNvPr>
          <p:cNvPicPr>
            <a:picLocks noChangeAspect="1"/>
          </p:cNvPicPr>
          <p:nvPr/>
        </p:nvPicPr>
        <p:blipFill>
          <a:blip r:embed="rId1"/>
          <a:srcRect l="0" r="0" t="-13" b="-13"/>
          <a:stretch/>
        </p:blipFill>
        <p:spPr>
          <a:xfrm>
            <a:off x="812800" y="1803400"/>
            <a:ext cx="10566400" cy="3168650"/>
          </a:xfrm>
          <a:prstGeom prst="rect">
            <a:avLst/>
          </a:prstGeom>
        </p:spPr>
      </p:pic>
      <p:sp>
        <p:nvSpPr>
          <p:cNvPr id="5" name="Text 2"/>
          <p:cNvSpPr/>
          <p:nvPr/>
        </p:nvSpPr>
        <p:spPr>
          <a:xfrm>
            <a:off x="812800" y="5226050"/>
            <a:ext cx="1046480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A46E"/>
                </a:solidFill>
                <a:latin typeface="Noto Sans" pitchFamily="34" charset="0"/>
                <a:ea typeface="Noto Sans" pitchFamily="34" charset="-122"/>
                <a:cs typeface="Noto Sans" pitchFamily="34" charset="-120"/>
              </a:rPr>
              <a:t>Aniqlik</a:t>
            </a:r>
            <a:r>
              <a:rPr lang="en-US" sz="1600" dirty="0">
                <a:solidFill>
                  <a:srgbClr val="C9CFDB"/>
                </a:solidFill>
                <a:latin typeface="Noto Sans" pitchFamily="34" charset="0"/>
                <a:ea typeface="Noto Sans" pitchFamily="34" charset="-122"/>
                <a:cs typeface="Noto Sans" pitchFamily="34" charset="-120"/>
              </a:rPr>
              <a:t> — natijalar oʻrtachasining haqiqiy qiymatga yaqinligi. </a:t>
            </a:r>
            <a:r>
              <a:rPr lang="en-US" sz="1600" dirty="0">
                <a:solidFill>
                  <a:srgbClr val="F0A46E"/>
                </a:solidFill>
                <a:latin typeface="Noto Sans" pitchFamily="34" charset="0"/>
                <a:ea typeface="Noto Sans" pitchFamily="34" charset="-122"/>
                <a:cs typeface="Noto Sans" pitchFamily="34" charset="-120"/>
              </a:rPr>
              <a:t>Takrorlanuvchanlik</a:t>
            </a:r>
            <a:r>
              <a:rPr lang="en-US" sz="1600" dirty="0">
                <a:solidFill>
                  <a:srgbClr val="C9CFDB"/>
                </a:solidFill>
                <a:latin typeface="Noto Sans" pitchFamily="34" charset="0"/>
                <a:ea typeface="Noto Sans" pitchFamily="34" charset="-122"/>
                <a:cs typeface="Noto Sans" pitchFamily="34" charset="-120"/>
              </a:rPr>
              <a:t> — natijalarning bir-biriga yaqinligi.</a:t>
            </a:r>
            <a:endParaRPr lang="en-US" sz="16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Mexatron modullar va robotlarning metrologik tavsiflari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18123"/>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B5521A"/>
                </a:solidFill>
                <a:latin typeface="Noto Sans" pitchFamily="34" charset="0"/>
                <a:ea typeface="Noto Sans" pitchFamily="34" charset="-122"/>
                <a:cs typeface="Noto Sans" pitchFamily="34" charset="-120"/>
              </a:rPr>
              <a:t>ROBOTLAR</a:t>
            </a:r>
            <a:endParaRPr lang="en-US" sz="1088" dirty="0"/>
          </a:p>
        </p:txBody>
      </p:sp>
      <p:sp>
        <p:nvSpPr>
          <p:cNvPr id="3" name="Text 1"/>
          <p:cNvSpPr/>
          <p:nvPr>
            <p:ph type="title"/>
          </p:nvPr>
        </p:nvSpPr>
        <p:spPr>
          <a:xfrm>
            <a:off x="812800" y="1081720"/>
            <a:ext cx="10883392" cy="429154"/>
          </a:xfrm>
          <a:prstGeom prst="rect">
            <a:avLst/>
          </a:prstGeom>
          <a:noFill/>
          <a:ln/>
        </p:spPr>
        <p:txBody>
          <a:bodyPr wrap="square" lIns="0" tIns="0" rIns="0" bIns="0" rtlCol="0" anchor="t">
            <a:normAutofit/>
          </a:bodyPr>
          <a:lstStyle/>
          <a:p>
            <a:pPr algn="l" indent="0" marL="0">
              <a:lnSpc>
                <a:spcPts val="3223"/>
              </a:lnSpc>
              <a:buNone/>
            </a:pPr>
            <a:r>
              <a:rPr lang="en-US" sz="2930" b="1" i="0" dirty="0">
                <a:solidFill>
                  <a:srgbClr val="16233B"/>
                </a:solidFill>
                <a:latin typeface="Noto Sans" pitchFamily="34" charset="0"/>
                <a:ea typeface="Noto Sans" pitchFamily="34" charset="-122"/>
                <a:cs typeface="Noto Sans" pitchFamily="34" charset="-120"/>
              </a:rPr>
              <a:t>ISO 9283 boʻyicha robotning ishlash tavsiflari</a:t>
            </a:r>
            <a:endParaRPr lang="en-US" sz="293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49638"/>
          <a:ext cx="10556240" cy="4092363"/>
        </p:xfrm>
        <a:graphic>
          <a:graphicData uri="http://schemas.openxmlformats.org/drawingml/2006/table">
            <a:tbl>
              <a:tblPr/>
              <a:tblGrid>
                <a:gridCol w="3518747"/>
                <a:gridCol w="3518747"/>
                <a:gridCol w="3518747"/>
              </a:tblGrid>
              <a:tr h="373592">
                <a:tc>
                  <a:txBody>
                    <a:bodyPr/>
                    <a:lstStyle/>
                    <a:p>
                      <a:pPr indent="0" marL="0">
                        <a:lnSpc>
                          <a:spcPts val="1723"/>
                        </a:lnSpc>
                        <a:buNone/>
                      </a:pPr>
                      <a:r>
                        <a:rPr lang="en-US" sz="1231" b="1" dirty="0">
                          <a:solidFill>
                            <a:srgbClr val="F5F3EE"/>
                          </a:solidFill>
                          <a:latin typeface="Noto Sans" pitchFamily="34" charset="0"/>
                          <a:ea typeface="Noto Sans" pitchFamily="34" charset="-122"/>
                          <a:cs typeface="Noto Sans" pitchFamily="34" charset="-120"/>
                        </a:rPr>
                        <a:t>Koʻrsatkich</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723"/>
                        </a:lnSpc>
                        <a:buNone/>
                      </a:pPr>
                      <a:r>
                        <a:rPr lang="en-US" sz="1231" b="1" dirty="0">
                          <a:solidFill>
                            <a:srgbClr val="F5F3EE"/>
                          </a:solidFill>
                          <a:latin typeface="Noto Sans" pitchFamily="34" charset="0"/>
                          <a:ea typeface="Noto Sans" pitchFamily="34" charset="-122"/>
                          <a:cs typeface="Noto Sans" pitchFamily="34" charset="-120"/>
                        </a:rPr>
                        <a:t>Belgi</a:t>
                      </a:r>
                      <a:endParaRPr lang="en-US" sz="1231" dirty="0">
                        <a:latin typeface="Noto Sans" charset="0"/>
                        <a:ea typeface="Noto Sans" charset="0"/>
                        <a:cs typeface="Noto Sans" charset="0"/>
                      </a:endParaRPr>
                    </a:p>
                  </a:txBody>
                  <a:tcPr marL="127000" marR="127000" marT="76200" marB="762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723"/>
                        </a:lnSpc>
                        <a:buNone/>
                      </a:pPr>
                      <a:r>
                        <a:rPr lang="en-US" sz="1231" b="1" dirty="0">
                          <a:solidFill>
                            <a:srgbClr val="F5F3EE"/>
                          </a:solidFill>
                          <a:latin typeface="Noto Sans" pitchFamily="34" charset="0"/>
                          <a:ea typeface="Noto Sans" pitchFamily="34" charset="-122"/>
                          <a:cs typeface="Noto Sans" pitchFamily="34" charset="-120"/>
                        </a:rPr>
                        <a:t>Mazmuni</a:t>
                      </a:r>
                      <a:endParaRPr lang="en-US" sz="1231" dirty="0">
                        <a:latin typeface="Noto Sans" charset="0"/>
                        <a:ea typeface="Noto Sans" charset="0"/>
                        <a:cs typeface="Noto Sans" charset="0"/>
                      </a:endParaRPr>
                    </a:p>
                  </a:txBody>
                  <a:tcPr marL="127000" marR="127000" marT="76200" marB="762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795655">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Pozitsiyalash aniqligi</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B5521A"/>
                          </a:solidFill>
                          <a:latin typeface="Noto Sans" pitchFamily="34" charset="0"/>
                          <a:ea typeface="Noto Sans" pitchFamily="34" charset="-122"/>
                          <a:cs typeface="Noto Sans" pitchFamily="34" charset="-120"/>
                        </a:rPr>
                        <a:t>AP</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Buyruq pozitsiyasi bilan erishilgan pozitsiyalar oʻrtachasi (baritsentr) orasidagi masofa</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84623">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Pozitsiyalash takrorlanuvchanligi</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B5521A"/>
                          </a:solidFill>
                          <a:latin typeface="Noto Sans" pitchFamily="34" charset="0"/>
                          <a:ea typeface="Noto Sans" pitchFamily="34" charset="-122"/>
                          <a:cs typeface="Noto Sans" pitchFamily="34" charset="-120"/>
                        </a:rPr>
                        <a:t>RP</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Bitta nuqtaga takroriy yondashishda erishilgan pozitsiyalarning tarqoqligi</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84623">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Trayektoriya aniqligi</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2D6CB0"/>
                          </a:solidFill>
                          <a:latin typeface="Noto Sans" pitchFamily="34" charset="0"/>
                          <a:ea typeface="Noto Sans" pitchFamily="34" charset="-122"/>
                          <a:cs typeface="Noto Sans" pitchFamily="34" charset="-120"/>
                        </a:rPr>
                        <a:t>AT</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Buyruq trayektoriyasidan oʻrtacha haqiqiy trayektoriyaning eng katta chetlanishi</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84623">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Trayektoriya takrorlanuvchanligi</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2D6CB0"/>
                          </a:solidFill>
                          <a:latin typeface="Noto Sans" pitchFamily="34" charset="0"/>
                          <a:ea typeface="Noto Sans" pitchFamily="34" charset="-122"/>
                          <a:cs typeface="Noto Sans" pitchFamily="34" charset="-120"/>
                        </a:rPr>
                        <a:t>RT</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Bitta trayektoriyani takroriy bajarishdagi tarqoqlik</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84623">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Barqarorlashish vaqti</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Nuqtaga kelgandan keyin tebranishlar belgilangan chegara ichiga tushguncha vaqt</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84623">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Oʻtib ketish</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23"/>
                        </a:lnSpc>
                        <a:buNone/>
                      </a:pPr>
                      <a:r>
                        <a:rPr lang="en-US" sz="1231" dirty="0">
                          <a:solidFill>
                            <a:srgbClr val="1D2433"/>
                          </a:solidFill>
                          <a:latin typeface="Noto Sans" pitchFamily="34" charset="0"/>
                          <a:ea typeface="Noto Sans" pitchFamily="34" charset="-122"/>
                          <a:cs typeface="Noto Sans" pitchFamily="34" charset="-120"/>
                        </a:rPr>
                        <a:t>Toʻxtashda buyruq nuqtasidan oʻtib ketishning eng katta qiymati</a:t>
                      </a:r>
                      <a:endParaRPr lang="en-US" sz="1231" dirty="0">
                        <a:latin typeface="Noto Sans" charset="0"/>
                        <a:ea typeface="Noto Sans" charset="0"/>
                        <a:cs typeface="Noto Sans" charset="0"/>
                      </a:endParaRPr>
                    </a:p>
                  </a:txBody>
                  <a:tcPr marL="127000" marR="1270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024879"/>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10 · ISO 9283: Manipulating industrial robots — Performance criteria and related test methods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ROBOTLAR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AP va RP ni hisoblash</a:t>
            </a:r>
            <a:endParaRPr lang="en-US" sz="3200" dirty="0"/>
          </a:p>
        </p:txBody>
      </p:sp>
      <p:sp>
        <p:nvSpPr>
          <p:cNvPr id="4" name="Text 2"/>
          <p:cNvSpPr/>
          <p:nvPr/>
        </p:nvSpPr>
        <p:spPr>
          <a:xfrm>
            <a:off x="812800" y="1860550"/>
            <a:ext cx="66451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1. Baritsentr (n ta oʻlchash oʻrtachasi)</a:t>
            </a:r>
            <a:endParaRPr lang="en-US" sz="1200" dirty="0"/>
          </a:p>
        </p:txBody>
      </p:sp>
      <p:sp>
        <p:nvSpPr>
          <p:cNvPr id="5" name="Text 3"/>
          <p:cNvSpPr/>
          <p:nvPr/>
        </p:nvSpPr>
        <p:spPr>
          <a:xfrm>
            <a:off x="812800" y="2112008"/>
            <a:ext cx="664514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2433"/>
                </a:solidFill>
                <a:latin typeface="Noto Sans" pitchFamily="34" charset="0"/>
                <a:ea typeface="Noto Sans" pitchFamily="34" charset="-122"/>
                <a:cs typeface="Noto Sans" pitchFamily="34" charset="-120"/>
              </a:rPr>
              <a:t>x̄ = (1/n) · Σ xᵢ , ȳ va z̄ ham shunday</a:t>
            </a:r>
            <a:endParaRPr lang="en-US" sz="1600" dirty="0"/>
          </a:p>
        </p:txBody>
      </p:sp>
      <p:sp>
        <p:nvSpPr>
          <p:cNvPr id="6" name="Text 4"/>
          <p:cNvSpPr/>
          <p:nvPr/>
        </p:nvSpPr>
        <p:spPr>
          <a:xfrm>
            <a:off x="812800" y="2536192"/>
            <a:ext cx="66451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21A"/>
                </a:solidFill>
                <a:latin typeface="Noto Sans" pitchFamily="34" charset="0"/>
                <a:ea typeface="Noto Sans" pitchFamily="34" charset="-122"/>
                <a:cs typeface="Noto Sans" pitchFamily="34" charset="-120"/>
              </a:rPr>
              <a:t>2. Pozitsiyalash aniqligi</a:t>
            </a:r>
            <a:endParaRPr lang="en-US" sz="1200" dirty="0"/>
          </a:p>
        </p:txBody>
      </p:sp>
      <p:sp>
        <p:nvSpPr>
          <p:cNvPr id="7" name="Text 5"/>
          <p:cNvSpPr/>
          <p:nvPr/>
        </p:nvSpPr>
        <p:spPr>
          <a:xfrm>
            <a:off x="812800" y="2787650"/>
            <a:ext cx="664514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2433"/>
                </a:solidFill>
                <a:latin typeface="Noto Sans" pitchFamily="34" charset="0"/>
                <a:ea typeface="Noto Sans" pitchFamily="34" charset="-122"/>
                <a:cs typeface="Noto Sans" pitchFamily="34" charset="-120"/>
              </a:rPr>
              <a:t>AP = √[(x̄ − x₀)² + (ȳ − y₀)² + (z̄ − z₀)²]</a:t>
            </a:r>
            <a:endParaRPr lang="en-US" sz="1600" dirty="0"/>
          </a:p>
        </p:txBody>
      </p:sp>
      <p:sp>
        <p:nvSpPr>
          <p:cNvPr id="8" name="Text 6"/>
          <p:cNvSpPr/>
          <p:nvPr/>
        </p:nvSpPr>
        <p:spPr>
          <a:xfrm>
            <a:off x="812800" y="3211829"/>
            <a:ext cx="66451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3. Har bir nuqtadan baritsentrgacha masofa</a:t>
            </a:r>
            <a:endParaRPr lang="en-US" sz="1200" dirty="0"/>
          </a:p>
        </p:txBody>
      </p:sp>
      <p:sp>
        <p:nvSpPr>
          <p:cNvPr id="9" name="Text 7"/>
          <p:cNvSpPr/>
          <p:nvPr/>
        </p:nvSpPr>
        <p:spPr>
          <a:xfrm>
            <a:off x="812800" y="3463292"/>
            <a:ext cx="664514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2433"/>
                </a:solidFill>
                <a:latin typeface="Noto Sans" pitchFamily="34" charset="0"/>
                <a:ea typeface="Noto Sans" pitchFamily="34" charset="-122"/>
                <a:cs typeface="Noto Sans" pitchFamily="34" charset="-120"/>
              </a:rPr>
              <a:t>lᵢ = √[(xᵢ − x̄)² + (yᵢ − ȳ)² + (zᵢ − z̄)²]</a:t>
            </a:r>
            <a:endParaRPr lang="en-US" sz="1600" dirty="0"/>
          </a:p>
        </p:txBody>
      </p:sp>
      <p:sp>
        <p:nvSpPr>
          <p:cNvPr id="10" name="Text 8"/>
          <p:cNvSpPr/>
          <p:nvPr/>
        </p:nvSpPr>
        <p:spPr>
          <a:xfrm>
            <a:off x="812800" y="3887471"/>
            <a:ext cx="66451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4. Oʻrtacha va standart chetlanish</a:t>
            </a:r>
            <a:endParaRPr lang="en-US" sz="1200" dirty="0"/>
          </a:p>
        </p:txBody>
      </p:sp>
      <p:sp>
        <p:nvSpPr>
          <p:cNvPr id="11" name="Text 9"/>
          <p:cNvSpPr/>
          <p:nvPr/>
        </p:nvSpPr>
        <p:spPr>
          <a:xfrm>
            <a:off x="812800" y="4138929"/>
            <a:ext cx="664514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2433"/>
                </a:solidFill>
                <a:latin typeface="Noto Sans" pitchFamily="34" charset="0"/>
                <a:ea typeface="Noto Sans" pitchFamily="34" charset="-122"/>
                <a:cs typeface="Noto Sans" pitchFamily="34" charset="-120"/>
              </a:rPr>
              <a:t>l̄ = (1/n) · Σ lᵢ , σ = √[Σ(lᵢ − l̄)² / (n − 1)]</a:t>
            </a:r>
            <a:endParaRPr lang="en-US" sz="1600" dirty="0"/>
          </a:p>
        </p:txBody>
      </p:sp>
      <p:sp>
        <p:nvSpPr>
          <p:cNvPr id="12" name="Shape 10"/>
          <p:cNvSpPr/>
          <p:nvPr/>
        </p:nvSpPr>
        <p:spPr>
          <a:xfrm>
            <a:off x="812800" y="4563108"/>
            <a:ext cx="6451600" cy="739140"/>
          </a:xfrm>
          <a:prstGeom prst="roundRect">
            <a:avLst>
              <a:gd name="adj" fmla="val 10309"/>
            </a:avLst>
          </a:prstGeom>
          <a:solidFill>
            <a:srgbClr val="FBE9DC"/>
          </a:solidFill>
          <a:ln/>
        </p:spPr>
      </p:sp>
      <p:sp>
        <p:nvSpPr>
          <p:cNvPr id="13" name="Text 11"/>
          <p:cNvSpPr/>
          <p:nvPr/>
        </p:nvSpPr>
        <p:spPr>
          <a:xfrm>
            <a:off x="965200" y="4664708"/>
            <a:ext cx="633120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2"/>
                </a:solidFill>
                <a:latin typeface="Noto Sans" pitchFamily="34" charset="0"/>
                <a:ea typeface="Noto Sans" pitchFamily="34" charset="-122"/>
                <a:cs typeface="Noto Sans" pitchFamily="34" charset="-120"/>
              </a:rPr>
              <a:t>5. Pozitsiyalash takrorlanuvchanligi</a:t>
            </a:r>
            <a:endParaRPr lang="en-US" sz="1200" dirty="0"/>
          </a:p>
        </p:txBody>
      </p:sp>
      <p:sp>
        <p:nvSpPr>
          <p:cNvPr id="14" name="Text 12"/>
          <p:cNvSpPr/>
          <p:nvPr/>
        </p:nvSpPr>
        <p:spPr>
          <a:xfrm>
            <a:off x="965200" y="4916171"/>
            <a:ext cx="63312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2433"/>
                </a:solidFill>
                <a:latin typeface="Noto Sans" pitchFamily="34" charset="0"/>
                <a:ea typeface="Noto Sans" pitchFamily="34" charset="-122"/>
                <a:cs typeface="Noto Sans" pitchFamily="34" charset="-120"/>
              </a:rPr>
              <a:t>RP = l̄ + 3σ</a:t>
            </a:r>
            <a:endParaRPr lang="en-US" sz="1600" dirty="0"/>
          </a:p>
        </p:txBody>
      </p:sp>
      <p:pic>
        <p:nvPicPr>
          <p:cNvPr id="15" name="Image 0" descr="Buyruq nuqtasi P0, erishilgan nuqtalar toʻplami, baritsentr G, AP masofasi va RP radiusli sfera">    </p:cNvPr>
          <p:cNvPicPr>
            <a:picLocks noChangeAspect="1"/>
          </p:cNvPicPr>
          <p:nvPr/>
        </p:nvPicPr>
        <p:blipFill>
          <a:blip r:embed="rId1"/>
          <a:srcRect l="0" r="0" t="0" b="0"/>
          <a:stretch/>
        </p:blipFill>
        <p:spPr>
          <a:xfrm>
            <a:off x="7569200" y="1803400"/>
            <a:ext cx="3810000" cy="3556000"/>
          </a:xfrm>
          <a:prstGeom prst="rect">
            <a:avLst/>
          </a:prstGeom>
        </p:spPr>
      </p:pic>
      <p:sp>
        <p:nvSpPr>
          <p:cNvPr id="16"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ROBOTLAR</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Sinov tartibi: kub va beshta nuqta</a:t>
            </a:r>
            <a:endParaRPr lang="en-US" sz="3200" dirty="0"/>
          </a:p>
        </p:txBody>
      </p:sp>
      <p:pic>
        <p:nvPicPr>
          <p:cNvPr id="4" name="Image 0" descr="Ishchi zonadagi sinov kubi, uning diagonal tekisligi va P1 dan P5 gacha boʻlgan sinov nuqtalari">    </p:cNvPr>
          <p:cNvPicPr>
            <a:picLocks noChangeAspect="1"/>
          </p:cNvPicPr>
          <p:nvPr/>
        </p:nvPicPr>
        <p:blipFill>
          <a:blip r:embed="rId1"/>
          <a:srcRect l="0" r="0" t="0" b="0"/>
          <a:stretch/>
        </p:blipFill>
        <p:spPr>
          <a:xfrm>
            <a:off x="812800" y="1803400"/>
            <a:ext cx="4318000" cy="3587750"/>
          </a:xfrm>
          <a:prstGeom prst="rect">
            <a:avLst/>
          </a:prstGeom>
        </p:spPr>
      </p:pic>
      <p:sp>
        <p:nvSpPr>
          <p:cNvPr id="5" name="Text 2"/>
          <p:cNvSpPr/>
          <p:nvPr/>
        </p:nvSpPr>
        <p:spPr>
          <a:xfrm>
            <a:off x="5486400" y="2372996"/>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D9692B"/>
                </a:solidFill>
                <a:latin typeface="Noto Sans" pitchFamily="34" charset="0"/>
                <a:ea typeface="Noto Sans" pitchFamily="34" charset="-122"/>
                <a:cs typeface="Noto Sans" pitchFamily="34" charset="-120"/>
              </a:rPr>
              <a:t>1</a:t>
            </a:r>
            <a:endParaRPr lang="en-US" sz="1800" dirty="0"/>
          </a:p>
        </p:txBody>
      </p:sp>
      <p:sp>
        <p:nvSpPr>
          <p:cNvPr id="6" name="Text 3"/>
          <p:cNvSpPr/>
          <p:nvPr/>
        </p:nvSpPr>
        <p:spPr>
          <a:xfrm>
            <a:off x="5918200" y="2372996"/>
            <a:ext cx="56248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Sinov kubi ishchi zonaning eng koʻp foydalaniladigan qismiga joylashtiriladi</a:t>
            </a:r>
            <a:endParaRPr lang="en-US" sz="1400" dirty="0"/>
          </a:p>
        </p:txBody>
      </p:sp>
      <p:sp>
        <p:nvSpPr>
          <p:cNvPr id="7" name="Text 4"/>
          <p:cNvSpPr/>
          <p:nvPr/>
        </p:nvSpPr>
        <p:spPr>
          <a:xfrm>
            <a:off x="5486400" y="3023233"/>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D9692B"/>
                </a:solidFill>
                <a:latin typeface="Noto Sans" pitchFamily="34" charset="0"/>
                <a:ea typeface="Noto Sans" pitchFamily="34" charset="-122"/>
                <a:cs typeface="Noto Sans" pitchFamily="34" charset="-120"/>
              </a:rPr>
              <a:t>2</a:t>
            </a:r>
            <a:endParaRPr lang="en-US" sz="1800" dirty="0"/>
          </a:p>
        </p:txBody>
      </p:sp>
      <p:sp>
        <p:nvSpPr>
          <p:cNvPr id="8" name="Text 5"/>
          <p:cNvSpPr/>
          <p:nvPr/>
        </p:nvSpPr>
        <p:spPr>
          <a:xfrm>
            <a:off x="5918200" y="3023233"/>
            <a:ext cx="56248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Diagonal tekislikda 5 ta nuqta: P1 — markaz, P2…P5 — diagonallarda, burchaklarga yaqin</a:t>
            </a:r>
            <a:endParaRPr lang="en-US" sz="1400" dirty="0"/>
          </a:p>
        </p:txBody>
      </p:sp>
      <p:sp>
        <p:nvSpPr>
          <p:cNvPr id="9" name="Text 6"/>
          <p:cNvSpPr/>
          <p:nvPr/>
        </p:nvSpPr>
        <p:spPr>
          <a:xfrm>
            <a:off x="5486400" y="3673475"/>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D9692B"/>
                </a:solidFill>
                <a:latin typeface="Noto Sans" pitchFamily="34" charset="0"/>
                <a:ea typeface="Noto Sans" pitchFamily="34" charset="-122"/>
                <a:cs typeface="Noto Sans" pitchFamily="34" charset="-120"/>
              </a:rPr>
              <a:t>3</a:t>
            </a:r>
            <a:endParaRPr lang="en-US" sz="1800" dirty="0"/>
          </a:p>
        </p:txBody>
      </p:sp>
      <p:sp>
        <p:nvSpPr>
          <p:cNvPr id="10" name="Text 7"/>
          <p:cNvSpPr/>
          <p:nvPr/>
        </p:nvSpPr>
        <p:spPr>
          <a:xfrm>
            <a:off x="5918200" y="3673475"/>
            <a:ext cx="56248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Har bir nuqtaga bir yoʻnalishdan 30 marta ketma-ket yondashiladi</a:t>
            </a:r>
            <a:endParaRPr lang="en-US" sz="1400" dirty="0"/>
          </a:p>
        </p:txBody>
      </p:sp>
      <p:sp>
        <p:nvSpPr>
          <p:cNvPr id="11" name="Text 8"/>
          <p:cNvSpPr/>
          <p:nvPr/>
        </p:nvSpPr>
        <p:spPr>
          <a:xfrm>
            <a:off x="5486400" y="4323717"/>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D9692B"/>
                </a:solidFill>
                <a:latin typeface="Noto Sans" pitchFamily="34" charset="0"/>
                <a:ea typeface="Noto Sans" pitchFamily="34" charset="-122"/>
                <a:cs typeface="Noto Sans" pitchFamily="34" charset="-120"/>
              </a:rPr>
              <a:t>4</a:t>
            </a:r>
            <a:endParaRPr lang="en-US" sz="1800" dirty="0"/>
          </a:p>
        </p:txBody>
      </p:sp>
      <p:sp>
        <p:nvSpPr>
          <p:cNvPr id="12" name="Text 9"/>
          <p:cNvSpPr/>
          <p:nvPr/>
        </p:nvSpPr>
        <p:spPr>
          <a:xfrm>
            <a:off x="5918200" y="4323717"/>
            <a:ext cx="56248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Nominal yuk va tezlikda; oʻlchash vositasi — lazer treker, koordinata-oʻlchash mashinasi yoki indikatorlar</a:t>
            </a:r>
            <a:endParaRPr lang="en-US" sz="1400" dirty="0"/>
          </a:p>
        </p:txBody>
      </p:sp>
      <p:sp>
        <p:nvSpPr>
          <p:cNvPr id="13"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MEXATRON MODUL</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Yuritma zanjirida xatolik manbalari</a:t>
            </a:r>
            <a:endParaRPr lang="en-US" sz="3200" dirty="0"/>
          </a:p>
        </p:txBody>
      </p:sp>
      <p:sp>
        <p:nvSpPr>
          <p:cNvPr id="4" name="Shape 2"/>
          <p:cNvSpPr/>
          <p:nvPr/>
        </p:nvSpPr>
        <p:spPr>
          <a:xfrm>
            <a:off x="815975" y="1857375"/>
            <a:ext cx="2256790" cy="1449070"/>
          </a:xfrm>
          <a:prstGeom prst="roundRect">
            <a:avLst>
              <a:gd name="adj" fmla="val 6792"/>
            </a:avLst>
          </a:prstGeom>
          <a:solidFill>
            <a:srgbClr val="FDFCF9"/>
          </a:solidFill>
          <a:ln w="6350">
            <a:solidFill>
              <a:srgbClr val="E2DED4"/>
            </a:solidFill>
            <a:prstDash val="solid"/>
          </a:ln>
        </p:spPr>
      </p:sp>
      <p:sp>
        <p:nvSpPr>
          <p:cNvPr id="5" name="Text 3"/>
          <p:cNvSpPr/>
          <p:nvPr/>
        </p:nvSpPr>
        <p:spPr>
          <a:xfrm>
            <a:off x="1021080" y="2062479"/>
            <a:ext cx="19019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Enkoder</a:t>
            </a:r>
            <a:endParaRPr lang="en-US" sz="1600" dirty="0"/>
          </a:p>
        </p:txBody>
      </p:sp>
      <p:sp>
        <p:nvSpPr>
          <p:cNvPr id="6" name="Text 4"/>
          <p:cNvSpPr/>
          <p:nvPr/>
        </p:nvSpPr>
        <p:spPr>
          <a:xfrm>
            <a:off x="1021080" y="2407921"/>
            <a:ext cx="190197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Kvantlash xatosi, oʻrnatish ekssentrisiteti, signal shovqini</a:t>
            </a:r>
            <a:endParaRPr lang="en-US" sz="1300" dirty="0"/>
          </a:p>
        </p:txBody>
      </p:sp>
      <p:pic>
        <p:nvPicPr>
          <p:cNvPr id="7" name="Image 0" descr="arrow-right">    </p:cNvPr>
          <p:cNvPicPr>
            <a:picLocks noChangeAspect="1"/>
          </p:cNvPicPr>
          <p:nvPr/>
        </p:nvPicPr>
        <p:blipFill>
          <a:blip r:embed="rId1"/>
          <a:srcRect l="0" r="0" t="0" b="0"/>
          <a:stretch/>
        </p:blipFill>
        <p:spPr>
          <a:xfrm>
            <a:off x="3177540" y="2454908"/>
            <a:ext cx="304800" cy="254000"/>
          </a:xfrm>
          <a:prstGeom prst="rect">
            <a:avLst/>
          </a:prstGeom>
        </p:spPr>
      </p:pic>
      <p:sp>
        <p:nvSpPr>
          <p:cNvPr id="8" name="Shape 5"/>
          <p:cNvSpPr/>
          <p:nvPr/>
        </p:nvSpPr>
        <p:spPr>
          <a:xfrm>
            <a:off x="3587115" y="1857375"/>
            <a:ext cx="2256790" cy="1449070"/>
          </a:xfrm>
          <a:prstGeom prst="roundRect">
            <a:avLst>
              <a:gd name="adj" fmla="val 6792"/>
            </a:avLst>
          </a:prstGeom>
          <a:solidFill>
            <a:srgbClr val="FDFCF9"/>
          </a:solidFill>
          <a:ln w="6350">
            <a:solidFill>
              <a:srgbClr val="E2DED4"/>
            </a:solidFill>
            <a:prstDash val="solid"/>
          </a:ln>
        </p:spPr>
      </p:sp>
      <p:sp>
        <p:nvSpPr>
          <p:cNvPr id="9" name="Text 6"/>
          <p:cNvSpPr/>
          <p:nvPr/>
        </p:nvSpPr>
        <p:spPr>
          <a:xfrm>
            <a:off x="3792220" y="2062479"/>
            <a:ext cx="19019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Reduktor</a:t>
            </a:r>
            <a:endParaRPr lang="en-US" sz="1600" dirty="0"/>
          </a:p>
        </p:txBody>
      </p:sp>
      <p:sp>
        <p:nvSpPr>
          <p:cNvPr id="10" name="Text 7"/>
          <p:cNvSpPr/>
          <p:nvPr/>
        </p:nvSpPr>
        <p:spPr>
          <a:xfrm>
            <a:off x="3792220" y="2407921"/>
            <a:ext cx="190197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Lyuft, kinematik xatolik, burilishdagi elastiklik</a:t>
            </a:r>
            <a:endParaRPr lang="en-US" sz="1300" dirty="0"/>
          </a:p>
        </p:txBody>
      </p:sp>
      <p:pic>
        <p:nvPicPr>
          <p:cNvPr id="11" name="Image 1" descr="arrow-right">    </p:cNvPr>
          <p:cNvPicPr>
            <a:picLocks noChangeAspect="1"/>
          </p:cNvPicPr>
          <p:nvPr/>
        </p:nvPicPr>
        <p:blipFill>
          <a:blip r:embed="rId2"/>
          <a:srcRect l="0" r="0" t="0" b="0"/>
          <a:stretch/>
        </p:blipFill>
        <p:spPr>
          <a:xfrm>
            <a:off x="5948680" y="2454908"/>
            <a:ext cx="304800" cy="254000"/>
          </a:xfrm>
          <a:prstGeom prst="rect">
            <a:avLst/>
          </a:prstGeom>
        </p:spPr>
      </p:pic>
      <p:sp>
        <p:nvSpPr>
          <p:cNvPr id="12" name="Shape 8"/>
          <p:cNvSpPr/>
          <p:nvPr/>
        </p:nvSpPr>
        <p:spPr>
          <a:xfrm>
            <a:off x="6358255" y="1857375"/>
            <a:ext cx="2256790" cy="1449070"/>
          </a:xfrm>
          <a:prstGeom prst="roundRect">
            <a:avLst>
              <a:gd name="adj" fmla="val 6792"/>
            </a:avLst>
          </a:prstGeom>
          <a:solidFill>
            <a:srgbClr val="FDFCF9"/>
          </a:solidFill>
          <a:ln w="6350">
            <a:solidFill>
              <a:srgbClr val="E2DED4"/>
            </a:solidFill>
            <a:prstDash val="solid"/>
          </a:ln>
        </p:spPr>
      </p:sp>
      <p:sp>
        <p:nvSpPr>
          <p:cNvPr id="13" name="Text 9"/>
          <p:cNvSpPr/>
          <p:nvPr/>
        </p:nvSpPr>
        <p:spPr>
          <a:xfrm>
            <a:off x="6563360" y="2062479"/>
            <a:ext cx="19019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Zveno</a:t>
            </a:r>
            <a:endParaRPr lang="en-US" sz="1600" dirty="0"/>
          </a:p>
        </p:txBody>
      </p:sp>
      <p:sp>
        <p:nvSpPr>
          <p:cNvPr id="14" name="Text 10"/>
          <p:cNvSpPr/>
          <p:nvPr/>
        </p:nvSpPr>
        <p:spPr>
          <a:xfrm>
            <a:off x="6563360" y="2407921"/>
            <a:ext cx="190197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Egilish, issiqlik kengayishi, geometrik oʻlcham xatoligi</a:t>
            </a:r>
            <a:endParaRPr lang="en-US" sz="1300" dirty="0"/>
          </a:p>
        </p:txBody>
      </p:sp>
      <p:pic>
        <p:nvPicPr>
          <p:cNvPr id="15" name="Image 2" descr="arrow-right">    </p:cNvPr>
          <p:cNvPicPr>
            <a:picLocks noChangeAspect="1"/>
          </p:cNvPicPr>
          <p:nvPr/>
        </p:nvPicPr>
        <p:blipFill>
          <a:blip r:embed="rId3"/>
          <a:srcRect l="0" r="0" t="0" b="0"/>
          <a:stretch/>
        </p:blipFill>
        <p:spPr>
          <a:xfrm>
            <a:off x="8719820" y="2454908"/>
            <a:ext cx="304800" cy="254000"/>
          </a:xfrm>
          <a:prstGeom prst="rect">
            <a:avLst/>
          </a:prstGeom>
        </p:spPr>
      </p:pic>
      <p:sp>
        <p:nvSpPr>
          <p:cNvPr id="16" name="Shape 11"/>
          <p:cNvSpPr/>
          <p:nvPr/>
        </p:nvSpPr>
        <p:spPr>
          <a:xfrm>
            <a:off x="9126220" y="1854200"/>
            <a:ext cx="2252980" cy="1455420"/>
          </a:xfrm>
          <a:prstGeom prst="roundRect">
            <a:avLst>
              <a:gd name="adj" fmla="val 6981"/>
            </a:avLst>
          </a:prstGeom>
          <a:solidFill>
            <a:srgbClr val="16233B"/>
          </a:solidFill>
          <a:ln/>
        </p:spPr>
      </p:sp>
      <p:sp>
        <p:nvSpPr>
          <p:cNvPr id="17" name="Text 12"/>
          <p:cNvSpPr/>
          <p:nvPr/>
        </p:nvSpPr>
        <p:spPr>
          <a:xfrm>
            <a:off x="9329420" y="2057400"/>
            <a:ext cx="19019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A46E"/>
                </a:solidFill>
                <a:latin typeface="Noto Sans" pitchFamily="34" charset="0"/>
                <a:ea typeface="Noto Sans" pitchFamily="34" charset="-122"/>
                <a:cs typeface="Noto Sans" pitchFamily="34" charset="-120"/>
              </a:rPr>
              <a:t>Ishchi organ</a:t>
            </a:r>
            <a:endParaRPr lang="en-US" sz="1600" dirty="0"/>
          </a:p>
        </p:txBody>
      </p:sp>
      <p:sp>
        <p:nvSpPr>
          <p:cNvPr id="18" name="Text 13"/>
          <p:cNvSpPr/>
          <p:nvPr/>
        </p:nvSpPr>
        <p:spPr>
          <a:xfrm>
            <a:off x="9329420" y="2402842"/>
            <a:ext cx="190197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3EE"/>
                </a:solidFill>
                <a:latin typeface="Noto Sans" pitchFamily="34" charset="0"/>
                <a:ea typeface="Noto Sans" pitchFamily="34" charset="-122"/>
                <a:cs typeface="Noto Sans" pitchFamily="34" charset="-120"/>
              </a:rPr>
              <a:t>Barcha xatoliklar yigʻindisi va asbobni kalibrlash xatosi</a:t>
            </a:r>
            <a:endParaRPr lang="en-US" sz="1300" dirty="0"/>
          </a:p>
        </p:txBody>
      </p:sp>
      <p:sp>
        <p:nvSpPr>
          <p:cNvPr id="19" name="Text 14"/>
          <p:cNvSpPr/>
          <p:nvPr/>
        </p:nvSpPr>
        <p:spPr>
          <a:xfrm>
            <a:off x="812800" y="3614421"/>
            <a:ext cx="10566400" cy="904240"/>
          </a:xfrm>
          <a:prstGeom prst="roundRect">
            <a:avLst>
              <a:gd name="adj" fmla="val 11236"/>
            </a:avLst>
          </a:prstGeom>
          <a:solidFill>
            <a:srgbClr val="E8EEF6"/>
          </a:solidFill>
          <a:ln/>
        </p:spPr>
        <p:txBody>
          <a:bodyPr wrap="square" lIns="224242" tIns="173442" rIns="0" bIns="148042"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Yarim yopiq kontur:</a:t>
            </a:r>
            <a:r>
              <a:rPr lang="en-US" sz="1400" dirty="0">
                <a:solidFill>
                  <a:srgbClr val="1D2433"/>
                </a:solidFill>
                <a:latin typeface="Noto Sans" pitchFamily="34" charset="0"/>
                <a:ea typeface="Noto Sans" pitchFamily="34" charset="-122"/>
                <a:cs typeface="Noto Sans" pitchFamily="34" charset="-120"/>
              </a:rPr>
              <a:t> enkoder dvigatel valida joylashsa, reduktor va zvenodagi xatoliklarni u sezmaydi. Boshqaruv tizimi pozitsiyani toʻgʻri deb hisoblaydi, ishchi organ esa boshqa joyda boʻladi.</a:t>
            </a:r>
            <a:endParaRPr lang="en-US" sz="1400" dirty="0"/>
          </a:p>
        </p:txBody>
      </p:sp>
      <p:sp>
        <p:nvSpPr>
          <p:cNvPr id="20"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1-MISOL</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Enkoder ruxsat qobiliyati va reduktor lyufti</a:t>
            </a:r>
            <a:endParaRPr lang="en-US" sz="3200" dirty="0"/>
          </a:p>
        </p:txBody>
      </p:sp>
      <p:sp>
        <p:nvSpPr>
          <p:cNvPr id="4" name="Text 2"/>
          <p:cNvSpPr/>
          <p:nvPr/>
        </p:nvSpPr>
        <p:spPr>
          <a:xfrm>
            <a:off x="812800" y="1803400"/>
            <a:ext cx="6959600" cy="751840"/>
          </a:xfrm>
          <a:prstGeom prst="roundRect">
            <a:avLst>
              <a:gd name="adj" fmla="val 10135"/>
            </a:avLst>
          </a:prstGeom>
          <a:solidFill>
            <a:srgbClr val="E8EEF6"/>
          </a:solidFill>
          <a:ln/>
        </p:spPr>
        <p:txBody>
          <a:bodyPr wrap="square" lIns="155482" tIns="104682" rIns="0" bIns="79282"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Berilgan:</a:t>
            </a:r>
            <a:r>
              <a:rPr lang="en-US" sz="1400" dirty="0">
                <a:solidFill>
                  <a:srgbClr val="1D2433"/>
                </a:solidFill>
                <a:latin typeface="Noto Sans" pitchFamily="34" charset="0"/>
                <a:ea typeface="Noto Sans" pitchFamily="34" charset="-122"/>
                <a:cs typeface="Noto Sans" pitchFamily="34" charset="-120"/>
              </a:rPr>
              <a:t> enkoder N = 2500 imp/ayl (×4 kvadratur), reduktor i = 100, lyuft 1′, zveno uzunligi L = 500 mm</a:t>
            </a:r>
            <a:endParaRPr lang="en-US" sz="1400" dirty="0"/>
          </a:p>
        </p:txBody>
      </p:sp>
      <p:sp>
        <p:nvSpPr>
          <p:cNvPr id="5" name="Text 3"/>
          <p:cNvSpPr/>
          <p:nvPr/>
        </p:nvSpPr>
        <p:spPr>
          <a:xfrm>
            <a:off x="812800" y="2682242"/>
            <a:ext cx="71683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Dvigatel valida</a:t>
            </a:r>
            <a:endParaRPr lang="en-US" sz="1200" dirty="0"/>
          </a:p>
        </p:txBody>
      </p:sp>
      <p:sp>
        <p:nvSpPr>
          <p:cNvPr id="6" name="Text 4"/>
          <p:cNvSpPr/>
          <p:nvPr/>
        </p:nvSpPr>
        <p:spPr>
          <a:xfrm>
            <a:off x="812800" y="2921000"/>
            <a:ext cx="716838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2433"/>
                </a:solidFill>
                <a:latin typeface="Noto Sans" pitchFamily="34" charset="0"/>
                <a:ea typeface="Noto Sans" pitchFamily="34" charset="-122"/>
                <a:cs typeface="Noto Sans" pitchFamily="34" charset="-120"/>
              </a:rPr>
              <a:t>Δθₘ = 360° / (4 · 2500) = 0,036°</a:t>
            </a:r>
            <a:endParaRPr lang="en-US" sz="1500" dirty="0"/>
          </a:p>
        </p:txBody>
      </p:sp>
      <p:sp>
        <p:nvSpPr>
          <p:cNvPr id="7" name="Text 5"/>
          <p:cNvSpPr/>
          <p:nvPr/>
        </p:nvSpPr>
        <p:spPr>
          <a:xfrm>
            <a:off x="812800" y="3314700"/>
            <a:ext cx="71683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Reduktor chiqishida</a:t>
            </a:r>
            <a:endParaRPr lang="en-US" sz="1200" dirty="0"/>
          </a:p>
        </p:txBody>
      </p:sp>
      <p:sp>
        <p:nvSpPr>
          <p:cNvPr id="8" name="Text 6"/>
          <p:cNvSpPr/>
          <p:nvPr/>
        </p:nvSpPr>
        <p:spPr>
          <a:xfrm>
            <a:off x="812800" y="3553458"/>
            <a:ext cx="716838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2433"/>
                </a:solidFill>
                <a:latin typeface="Noto Sans" pitchFamily="34" charset="0"/>
                <a:ea typeface="Noto Sans" pitchFamily="34" charset="-122"/>
                <a:cs typeface="Noto Sans" pitchFamily="34" charset="-120"/>
              </a:rPr>
              <a:t>Δθ = 0,036° / 100 = 0,00036° = 6,28 · 10⁻⁶ rad</a:t>
            </a:r>
            <a:endParaRPr lang="en-US" sz="1500" dirty="0"/>
          </a:p>
        </p:txBody>
      </p:sp>
      <p:sp>
        <p:nvSpPr>
          <p:cNvPr id="9" name="Text 7"/>
          <p:cNvSpPr/>
          <p:nvPr/>
        </p:nvSpPr>
        <p:spPr>
          <a:xfrm>
            <a:off x="812800" y="3947158"/>
            <a:ext cx="71683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Zveno uchida</a:t>
            </a:r>
            <a:endParaRPr lang="en-US" sz="1200" dirty="0"/>
          </a:p>
        </p:txBody>
      </p:sp>
      <p:sp>
        <p:nvSpPr>
          <p:cNvPr id="10" name="Text 8"/>
          <p:cNvSpPr/>
          <p:nvPr/>
        </p:nvSpPr>
        <p:spPr>
          <a:xfrm>
            <a:off x="812800" y="4185921"/>
            <a:ext cx="716838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2433"/>
                </a:solidFill>
                <a:latin typeface="Noto Sans" pitchFamily="34" charset="0"/>
                <a:ea typeface="Noto Sans" pitchFamily="34" charset="-122"/>
                <a:cs typeface="Noto Sans" pitchFamily="34" charset="-120"/>
              </a:rPr>
              <a:t>Δs = L · Δθ = 500 · 6,28 · 10⁻⁶ ≈ 0,003 mm</a:t>
            </a:r>
            <a:endParaRPr lang="en-US" sz="1500" dirty="0"/>
          </a:p>
        </p:txBody>
      </p:sp>
      <p:sp>
        <p:nvSpPr>
          <p:cNvPr id="11" name="Text 9"/>
          <p:cNvSpPr/>
          <p:nvPr/>
        </p:nvSpPr>
        <p:spPr>
          <a:xfrm>
            <a:off x="812800" y="4579621"/>
            <a:ext cx="71683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21A"/>
                </a:solidFill>
                <a:latin typeface="Noto Sans" pitchFamily="34" charset="0"/>
                <a:ea typeface="Noto Sans" pitchFamily="34" charset="-122"/>
                <a:cs typeface="Noto Sans" pitchFamily="34" charset="-120"/>
              </a:rPr>
              <a:t>Lyuft taʼsiri</a:t>
            </a:r>
            <a:endParaRPr lang="en-US" sz="1200" dirty="0"/>
          </a:p>
        </p:txBody>
      </p:sp>
      <p:sp>
        <p:nvSpPr>
          <p:cNvPr id="12" name="Text 10"/>
          <p:cNvSpPr/>
          <p:nvPr/>
        </p:nvSpPr>
        <p:spPr>
          <a:xfrm>
            <a:off x="812800" y="4818379"/>
            <a:ext cx="716838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2433"/>
                </a:solidFill>
                <a:latin typeface="Noto Sans" pitchFamily="34" charset="0"/>
                <a:ea typeface="Noto Sans" pitchFamily="34" charset="-122"/>
                <a:cs typeface="Noto Sans" pitchFamily="34" charset="-120"/>
              </a:rPr>
              <a:t>1′ = 2,91 · 10⁻⁴ rad → 500 · 2,91 · 10⁻⁴ ≈ 0,145 mm</a:t>
            </a:r>
            <a:endParaRPr lang="en-US" sz="1500" dirty="0"/>
          </a:p>
        </p:txBody>
      </p:sp>
      <p:sp>
        <p:nvSpPr>
          <p:cNvPr id="13" name="Shape 11"/>
          <p:cNvSpPr/>
          <p:nvPr/>
        </p:nvSpPr>
        <p:spPr>
          <a:xfrm>
            <a:off x="8080375" y="1806575"/>
            <a:ext cx="3295650" cy="1174750"/>
          </a:xfrm>
          <a:prstGeom prst="roundRect">
            <a:avLst>
              <a:gd name="adj" fmla="val 8378"/>
            </a:avLst>
          </a:prstGeom>
          <a:solidFill>
            <a:srgbClr val="FDFCF9"/>
          </a:solidFill>
          <a:ln w="6350">
            <a:solidFill>
              <a:srgbClr val="E2DED4"/>
            </a:solidFill>
            <a:prstDash val="solid"/>
          </a:ln>
        </p:spPr>
      </p:sp>
      <p:sp>
        <p:nvSpPr>
          <p:cNvPr id="14" name="Text 12"/>
          <p:cNvSpPr/>
          <p:nvPr/>
        </p:nvSpPr>
        <p:spPr>
          <a:xfrm>
            <a:off x="8285480" y="1986279"/>
            <a:ext cx="2972003"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2D6CB0"/>
                </a:solidFill>
                <a:latin typeface="Noto Sans" pitchFamily="34" charset="0"/>
                <a:ea typeface="Noto Sans" pitchFamily="34" charset="-122"/>
                <a:cs typeface="Noto Sans" pitchFamily="34" charset="-120"/>
              </a:rPr>
              <a:t>3 µm</a:t>
            </a:r>
            <a:endParaRPr lang="en-US" sz="4000" dirty="0"/>
          </a:p>
        </p:txBody>
      </p:sp>
      <p:sp>
        <p:nvSpPr>
          <p:cNvPr id="15" name="Text 13"/>
          <p:cNvSpPr/>
          <p:nvPr/>
        </p:nvSpPr>
        <p:spPr>
          <a:xfrm>
            <a:off x="8285480" y="2570479"/>
            <a:ext cx="297200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enkoder ruxsat qobiliyati</a:t>
            </a:r>
            <a:endParaRPr lang="en-US" sz="1300" dirty="0"/>
          </a:p>
        </p:txBody>
      </p:sp>
      <p:sp>
        <p:nvSpPr>
          <p:cNvPr id="16" name="Shape 14"/>
          <p:cNvSpPr/>
          <p:nvPr/>
        </p:nvSpPr>
        <p:spPr>
          <a:xfrm>
            <a:off x="8080375" y="3140075"/>
            <a:ext cx="3295650" cy="1174750"/>
          </a:xfrm>
          <a:prstGeom prst="roundRect">
            <a:avLst>
              <a:gd name="adj" fmla="val 8378"/>
            </a:avLst>
          </a:prstGeom>
          <a:solidFill>
            <a:srgbClr val="FDFCF9"/>
          </a:solidFill>
          <a:ln w="6350">
            <a:solidFill>
              <a:srgbClr val="E2DED4"/>
            </a:solidFill>
            <a:prstDash val="solid"/>
          </a:ln>
        </p:spPr>
      </p:sp>
      <p:sp>
        <p:nvSpPr>
          <p:cNvPr id="17" name="Text 15"/>
          <p:cNvSpPr/>
          <p:nvPr/>
        </p:nvSpPr>
        <p:spPr>
          <a:xfrm>
            <a:off x="8285480" y="3319779"/>
            <a:ext cx="2972003"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B5521A"/>
                </a:solidFill>
                <a:latin typeface="Noto Sans" pitchFamily="34" charset="0"/>
                <a:ea typeface="Noto Sans" pitchFamily="34" charset="-122"/>
                <a:cs typeface="Noto Sans" pitchFamily="34" charset="-120"/>
              </a:rPr>
              <a:t>145 µm</a:t>
            </a:r>
            <a:endParaRPr lang="en-US" sz="4000" dirty="0"/>
          </a:p>
        </p:txBody>
      </p:sp>
      <p:sp>
        <p:nvSpPr>
          <p:cNvPr id="18" name="Text 16"/>
          <p:cNvSpPr/>
          <p:nvPr/>
        </p:nvSpPr>
        <p:spPr>
          <a:xfrm>
            <a:off x="8285480" y="3903979"/>
            <a:ext cx="297200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lyuft keltirib chiqaradigan xatolik</a:t>
            </a:r>
            <a:endParaRPr lang="en-US" sz="1300" dirty="0"/>
          </a:p>
        </p:txBody>
      </p:sp>
      <p:sp>
        <p:nvSpPr>
          <p:cNvPr id="19" name="Text 17"/>
          <p:cNvSpPr/>
          <p:nvPr/>
        </p:nvSpPr>
        <p:spPr>
          <a:xfrm>
            <a:off x="8077200" y="4470400"/>
            <a:ext cx="340106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2433"/>
                </a:solidFill>
                <a:latin typeface="Noto Sans" pitchFamily="34" charset="0"/>
                <a:ea typeface="Noto Sans" pitchFamily="34" charset="-122"/>
                <a:cs typeface="Noto Sans" pitchFamily="34" charset="-120"/>
              </a:rPr>
              <a:t>Lyuft taʼsiri ≈ 46 marta katta: aniqlikni mexanika cheklaydi.</a:t>
            </a:r>
            <a:endParaRPr lang="en-US" sz="1400" dirty="0"/>
          </a:p>
        </p:txBody>
      </p:sp>
      <p:sp>
        <p:nvSpPr>
          <p:cNvPr id="20"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2-MISOL</a:t>
            </a:r>
            <a:endParaRPr lang="en-US" sz="1200" dirty="0"/>
          </a:p>
        </p:txBody>
      </p:sp>
      <p:sp>
        <p:nvSpPr>
          <p:cNvPr id="3" name="Text 1"/>
          <p:cNvSpPr/>
          <p:nvPr>
            <p:ph type="title"/>
          </p:nvPr>
        </p:nvSpPr>
        <p:spPr>
          <a:xfrm>
            <a:off x="812800" y="1102358"/>
            <a:ext cx="11379200"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P₀ = (500; 0; 400) mm nuqtaga 10 marta yondashish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62760"/>
          <a:ext cx="4307840" cy="3129280"/>
        </p:xfrm>
        <a:graphic>
          <a:graphicData uri="http://schemas.openxmlformats.org/drawingml/2006/table">
            <a:tbl>
              <a:tblPr/>
              <a:tblGrid>
                <a:gridCol w="1076960"/>
                <a:gridCol w="1076960"/>
                <a:gridCol w="1076960"/>
                <a:gridCol w="1076960"/>
              </a:tblGrid>
              <a:tr h="284480">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x, mm</a:t>
                      </a:r>
                      <a:endParaRPr lang="en-US" sz="1200" dirty="0">
                        <a:latin typeface="Noto Sans" charset="0"/>
                        <a:ea typeface="Noto Sans" charset="0"/>
                        <a:cs typeface="Noto Sans" charset="0"/>
                      </a:endParaRPr>
                    </a:p>
                  </a:txBody>
                  <a:tcPr marL="101600" marR="101600" marT="38100" marB="381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y, mm</a:t>
                      </a:r>
                      <a:endParaRPr lang="en-US" sz="1200" dirty="0">
                        <a:latin typeface="Noto Sans" charset="0"/>
                        <a:ea typeface="Noto Sans" charset="0"/>
                        <a:cs typeface="Noto Sans" charset="0"/>
                      </a:endParaRPr>
                    </a:p>
                  </a:txBody>
                  <a:tcPr marL="101600" marR="101600" marT="38100" marB="381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680"/>
                        </a:lnSpc>
                        <a:buNone/>
                      </a:pPr>
                      <a:r>
                        <a:rPr lang="en-US" sz="1200" b="1" dirty="0">
                          <a:solidFill>
                            <a:srgbClr val="F5F3EE"/>
                          </a:solidFill>
                          <a:latin typeface="Noto Sans" pitchFamily="34" charset="0"/>
                          <a:ea typeface="Noto Sans" pitchFamily="34" charset="-122"/>
                          <a:cs typeface="Noto Sans" pitchFamily="34" charset="-120"/>
                        </a:rPr>
                        <a:t>z, mm</a:t>
                      </a:r>
                      <a:endParaRPr lang="en-US" sz="1200" dirty="0">
                        <a:latin typeface="Noto Sans" charset="0"/>
                        <a:ea typeface="Noto Sans" charset="0"/>
                        <a:cs typeface="Noto Sans" charset="0"/>
                      </a:endParaRPr>
                    </a:p>
                  </a:txBody>
                  <a:tcPr marL="101600" marR="101600" marT="38100" marB="38100"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2844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1</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500,12</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0,05</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399,91</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844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2</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500,15</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0,02</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399,88</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844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500,10</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0,07</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399,93</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844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4</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500,18</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0,03</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399,90</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844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500,13</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0,06</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399,86</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844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6</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500,11</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0,04</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399,92</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844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7</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500,16</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0,01</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399,89</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844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8</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500,14</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0,05</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399,87</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844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9</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500,12</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0,08</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399,91</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284480">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10</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500,09</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0,04</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D2433"/>
                          </a:solidFill>
                          <a:latin typeface="Noto Sans" pitchFamily="34" charset="0"/>
                          <a:ea typeface="Noto Sans" pitchFamily="34" charset="-122"/>
                          <a:cs typeface="Noto Sans" pitchFamily="34" charset="-120"/>
                        </a:rPr>
                        <a:t>399,90</a:t>
                      </a:r>
                      <a:endParaRPr lang="en-US" sz="1200" dirty="0">
                        <a:latin typeface="Noto Sans" charset="0"/>
                        <a:ea typeface="Noto Sans" charset="0"/>
                        <a:cs typeface="Noto Sans" charset="0"/>
                      </a:endParaRPr>
                    </a:p>
                  </a:txBody>
                  <a:tcPr marL="101600" marR="101600" marT="38100" marB="381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Shape 2"/>
          <p:cNvSpPr/>
          <p:nvPr/>
        </p:nvSpPr>
        <p:spPr>
          <a:xfrm>
            <a:off x="5489575" y="1755775"/>
            <a:ext cx="5886450" cy="826770"/>
          </a:xfrm>
          <a:prstGeom prst="roundRect">
            <a:avLst>
              <a:gd name="adj" fmla="val 8833"/>
            </a:avLst>
          </a:prstGeom>
          <a:solidFill>
            <a:srgbClr val="FDFCF9"/>
          </a:solidFill>
          <a:ln w="6350">
            <a:solidFill>
              <a:srgbClr val="E2DED4"/>
            </a:solidFill>
            <a:prstDash val="solid"/>
          </a:ln>
        </p:spPr>
      </p:sp>
      <p:sp>
        <p:nvSpPr>
          <p:cNvPr id="6" name="Text 3"/>
          <p:cNvSpPr/>
          <p:nvPr/>
        </p:nvSpPr>
        <p:spPr>
          <a:xfrm>
            <a:off x="5694680" y="1910079"/>
            <a:ext cx="5640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Baritsentr</a:t>
            </a:r>
            <a:endParaRPr lang="en-US" sz="1200" dirty="0"/>
          </a:p>
        </p:txBody>
      </p:sp>
      <p:sp>
        <p:nvSpPr>
          <p:cNvPr id="7" name="Text 4"/>
          <p:cNvSpPr/>
          <p:nvPr/>
        </p:nvSpPr>
        <p:spPr>
          <a:xfrm>
            <a:off x="5694680" y="2161542"/>
            <a:ext cx="56405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2433"/>
                </a:solidFill>
                <a:latin typeface="Noto Sans" pitchFamily="34" charset="0"/>
                <a:ea typeface="Noto Sans" pitchFamily="34" charset="-122"/>
                <a:cs typeface="Noto Sans" pitchFamily="34" charset="-120"/>
              </a:rPr>
              <a:t>G = (500,130; 0,045; 399,897) mm</a:t>
            </a:r>
            <a:endParaRPr lang="en-US" sz="1500" dirty="0"/>
          </a:p>
        </p:txBody>
      </p:sp>
      <p:sp>
        <p:nvSpPr>
          <p:cNvPr id="8" name="Shape 5"/>
          <p:cNvSpPr/>
          <p:nvPr/>
        </p:nvSpPr>
        <p:spPr>
          <a:xfrm>
            <a:off x="5489575" y="2715896"/>
            <a:ext cx="5886450" cy="826770"/>
          </a:xfrm>
          <a:prstGeom prst="roundRect">
            <a:avLst>
              <a:gd name="adj" fmla="val 8833"/>
            </a:avLst>
          </a:prstGeom>
          <a:solidFill>
            <a:srgbClr val="FDFCF9"/>
          </a:solidFill>
          <a:ln w="6350">
            <a:solidFill>
              <a:srgbClr val="E2DED4"/>
            </a:solidFill>
            <a:prstDash val="solid"/>
          </a:ln>
        </p:spPr>
      </p:sp>
      <p:sp>
        <p:nvSpPr>
          <p:cNvPr id="9" name="Text 6"/>
          <p:cNvSpPr/>
          <p:nvPr/>
        </p:nvSpPr>
        <p:spPr>
          <a:xfrm>
            <a:off x="5694680" y="2870200"/>
            <a:ext cx="5640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D6CB0"/>
                </a:solidFill>
                <a:latin typeface="Noto Sans" pitchFamily="34" charset="0"/>
                <a:ea typeface="Noto Sans" pitchFamily="34" charset="-122"/>
                <a:cs typeface="Noto Sans" pitchFamily="34" charset="-120"/>
              </a:rPr>
              <a:t>Tarqoqlik</a:t>
            </a:r>
            <a:endParaRPr lang="en-US" sz="1200" dirty="0"/>
          </a:p>
        </p:txBody>
      </p:sp>
      <p:sp>
        <p:nvSpPr>
          <p:cNvPr id="10" name="Text 7"/>
          <p:cNvSpPr/>
          <p:nvPr/>
        </p:nvSpPr>
        <p:spPr>
          <a:xfrm>
            <a:off x="5694680" y="3121658"/>
            <a:ext cx="564052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2433"/>
                </a:solidFill>
                <a:latin typeface="Noto Sans" pitchFamily="34" charset="0"/>
                <a:ea typeface="Noto Sans" pitchFamily="34" charset="-122"/>
                <a:cs typeface="Noto Sans" pitchFamily="34" charset="-120"/>
              </a:rPr>
              <a:t>l̄ = 0,038 mm, σ = 0,011 mm</a:t>
            </a:r>
            <a:endParaRPr lang="en-US" sz="1500" dirty="0"/>
          </a:p>
        </p:txBody>
      </p:sp>
      <p:sp>
        <p:nvSpPr>
          <p:cNvPr id="11" name="Shape 8"/>
          <p:cNvSpPr/>
          <p:nvPr/>
        </p:nvSpPr>
        <p:spPr>
          <a:xfrm>
            <a:off x="5486400" y="3672842"/>
            <a:ext cx="2882900" cy="934720"/>
          </a:xfrm>
          <a:prstGeom prst="roundRect">
            <a:avLst>
              <a:gd name="adj" fmla="val 8152"/>
            </a:avLst>
          </a:prstGeom>
          <a:solidFill>
            <a:srgbClr val="FBE9DC"/>
          </a:solidFill>
          <a:ln/>
        </p:spPr>
      </p:sp>
      <p:sp>
        <p:nvSpPr>
          <p:cNvPr id="12" name="Text 9"/>
          <p:cNvSpPr/>
          <p:nvPr/>
        </p:nvSpPr>
        <p:spPr>
          <a:xfrm>
            <a:off x="5689600" y="3825242"/>
            <a:ext cx="255079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2"/>
                </a:solidFill>
                <a:latin typeface="Noto Sans" pitchFamily="34" charset="0"/>
                <a:ea typeface="Noto Sans" pitchFamily="34" charset="-122"/>
                <a:cs typeface="Noto Sans" pitchFamily="34" charset="-120"/>
              </a:rPr>
              <a:t>AP</a:t>
            </a:r>
            <a:endParaRPr lang="en-US" sz="1200" dirty="0"/>
          </a:p>
        </p:txBody>
      </p:sp>
      <p:sp>
        <p:nvSpPr>
          <p:cNvPr id="13" name="Text 10"/>
          <p:cNvSpPr/>
          <p:nvPr/>
        </p:nvSpPr>
        <p:spPr>
          <a:xfrm>
            <a:off x="5689600" y="4064000"/>
            <a:ext cx="255079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D2433"/>
                </a:solidFill>
                <a:latin typeface="Noto Sans" pitchFamily="34" charset="0"/>
                <a:ea typeface="Noto Sans" pitchFamily="34" charset="-122"/>
                <a:cs typeface="Noto Sans" pitchFamily="34" charset="-120"/>
              </a:rPr>
              <a:t>0,172 mm</a:t>
            </a:r>
            <a:endParaRPr lang="en-US" sz="2800" dirty="0"/>
          </a:p>
        </p:txBody>
      </p:sp>
      <p:sp>
        <p:nvSpPr>
          <p:cNvPr id="14" name="Shape 11"/>
          <p:cNvSpPr/>
          <p:nvPr/>
        </p:nvSpPr>
        <p:spPr>
          <a:xfrm>
            <a:off x="8496300" y="3672842"/>
            <a:ext cx="2882900" cy="934720"/>
          </a:xfrm>
          <a:prstGeom prst="roundRect">
            <a:avLst>
              <a:gd name="adj" fmla="val 8152"/>
            </a:avLst>
          </a:prstGeom>
          <a:solidFill>
            <a:srgbClr val="E8EEF6"/>
          </a:solidFill>
          <a:ln/>
        </p:spPr>
      </p:sp>
      <p:sp>
        <p:nvSpPr>
          <p:cNvPr id="15" name="Text 12"/>
          <p:cNvSpPr/>
          <p:nvPr/>
        </p:nvSpPr>
        <p:spPr>
          <a:xfrm>
            <a:off x="8699500" y="3825242"/>
            <a:ext cx="255079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85"/>
                </a:solidFill>
                <a:latin typeface="Noto Sans" pitchFamily="34" charset="0"/>
                <a:ea typeface="Noto Sans" pitchFamily="34" charset="-122"/>
                <a:cs typeface="Noto Sans" pitchFamily="34" charset="-120"/>
              </a:rPr>
              <a:t>RP</a:t>
            </a:r>
            <a:endParaRPr lang="en-US" sz="1200" dirty="0"/>
          </a:p>
        </p:txBody>
      </p:sp>
      <p:sp>
        <p:nvSpPr>
          <p:cNvPr id="16" name="Text 13"/>
          <p:cNvSpPr/>
          <p:nvPr/>
        </p:nvSpPr>
        <p:spPr>
          <a:xfrm>
            <a:off x="8699500" y="4064000"/>
            <a:ext cx="2550795"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D2433"/>
                </a:solidFill>
                <a:latin typeface="Noto Sans" pitchFamily="34" charset="0"/>
                <a:ea typeface="Noto Sans" pitchFamily="34" charset="-122"/>
                <a:cs typeface="Noto Sans" pitchFamily="34" charset="-120"/>
              </a:rPr>
              <a:t>0,070 mm</a:t>
            </a:r>
            <a:endParaRPr lang="en-US" sz="2800" dirty="0"/>
          </a:p>
        </p:txBody>
      </p:sp>
      <p:sp>
        <p:nvSpPr>
          <p:cNvPr id="17" name="Text 14"/>
          <p:cNvSpPr/>
          <p:nvPr/>
        </p:nvSpPr>
        <p:spPr>
          <a:xfrm>
            <a:off x="5486400" y="4734558"/>
            <a:ext cx="60695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433"/>
                </a:solidFill>
                <a:latin typeface="Noto Sans" pitchFamily="34" charset="0"/>
                <a:ea typeface="Noto Sans" pitchFamily="34" charset="-122"/>
                <a:cs typeface="Noto Sans" pitchFamily="34" charset="-120"/>
              </a:rPr>
              <a:t>AP &gt; RP: xatolikning asosiy qismi sistematik, uni kalibrlash orqali kamaytirish mumkin.</a:t>
            </a:r>
            <a:endParaRPr lang="en-US" sz="1300" dirty="0"/>
          </a:p>
        </p:txBody>
      </p:sp>
      <p:sp>
        <p:nvSpPr>
          <p:cNvPr id="18"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15 · Namunaviy oʻquv maʼlumotlari; ISO 9283 boʻyicha 30 ta oʻlchash talab qilinadi</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PYTHON</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AP va RP ni NumPy yordamida hisoblash</a:t>
            </a:r>
            <a:endParaRPr lang="en-US" sz="3200" dirty="0"/>
          </a:p>
        </p:txBody>
      </p:sp>
      <p:sp>
        <p:nvSpPr>
          <p:cNvPr id="4" name="Text 2"/>
          <p:cNvSpPr/>
          <p:nvPr/>
        </p:nvSpPr>
        <p:spPr>
          <a:xfrm>
            <a:off x="812800" y="1803400"/>
            <a:ext cx="6604000" cy="3512820"/>
          </a:xfrm>
          <a:prstGeom prst="roundRect">
            <a:avLst>
              <a:gd name="adj" fmla="val 2892"/>
            </a:avLst>
          </a:prstGeom>
          <a:solidFill>
            <a:srgbClr val="1D2433"/>
          </a:solidFill>
          <a:ln/>
        </p:spPr>
        <p:txBody>
          <a:bodyPr wrap="square" lIns="275042" tIns="224242" rIns="95210" bIns="198842" rtlCol="0" anchor="t">
            <a:normAutofit/>
          </a:bodyPr>
          <a:lstStyle/>
          <a:p>
            <a:pPr algn="l" indent="0" marL="0">
              <a:lnSpc>
                <a:spcPts val="1820"/>
              </a:lnSpc>
              <a:buNone/>
            </a:pPr>
            <a:r>
              <a:rPr lang="en-US" sz="1300" dirty="0">
                <a:solidFill>
                  <a:srgbClr val="F0A46E"/>
                </a:solidFill>
                <a:latin typeface="JetBrains Mono" pitchFamily="49" charset="0"/>
                <a:ea typeface="JetBrains Mono" pitchFamily="49" charset="-122"/>
                <a:cs typeface="JetBrains Mono" pitchFamily="49" charset="-120"/>
              </a:rPr>
              <a:t>import</a:t>
            </a:r>
            <a:r>
              <a:rPr lang="en-US" sz="1300" dirty="0">
                <a:solidFill>
                  <a:srgbClr val="E6E9EF"/>
                </a:solidFill>
                <a:latin typeface="JetBrains Mono" pitchFamily="49" charset="0"/>
                <a:ea typeface="JetBrains Mono" pitchFamily="49" charset="-122"/>
                <a:cs typeface="JetBrains Mono" pitchFamily="49" charset="-120"/>
              </a:rPr>
              <a:t> numpy </a:t>
            </a:r>
            <a:r>
              <a:rPr lang="en-US" sz="1300" dirty="0">
                <a:solidFill>
                  <a:srgbClr val="F0A46E"/>
                </a:solidFill>
                <a:latin typeface="JetBrains Mono" pitchFamily="49" charset="0"/>
                <a:ea typeface="JetBrains Mono" pitchFamily="49" charset="-122"/>
                <a:cs typeface="JetBrains Mono" pitchFamily="49" charset="-120"/>
              </a:rPr>
              <a:t>as</a:t>
            </a:r>
            <a:r>
              <a:rPr lang="en-US" sz="1300" dirty="0">
                <a:solidFill>
                  <a:srgbClr val="E6E9EF"/>
                </a:solidFill>
                <a:latin typeface="JetBrains Mono" pitchFamily="49" charset="0"/>
                <a:ea typeface="JetBrains Mono" pitchFamily="49" charset="-122"/>
                <a:cs typeface="JetBrains Mono" pitchFamily="49" charset="-120"/>
              </a:rPr>
              <a:t> np</a:t>
            </a:r>
            <a:endParaRPr lang="en-US" sz="1300" dirty="0"/>
          </a:p>
          <a:p>
            <a:pPr algn="l" indent="0" marL="0">
              <a:lnSpc>
                <a:spcPts val="1820"/>
              </a:lnSpc>
              <a:buNone/>
            </a:pPr>
            <a:endParaRPr lang="en-US" sz="1300" dirty="0"/>
          </a:p>
          <a:p>
            <a:pPr algn="l" indent="0" marL="0">
              <a:lnSpc>
                <a:spcPts val="1820"/>
              </a:lnSpc>
              <a:buNone/>
            </a:pPr>
            <a:r>
              <a:rPr lang="en-US" sz="1300" dirty="0">
                <a:solidFill>
                  <a:srgbClr val="8B96A8"/>
                </a:solidFill>
                <a:latin typeface="JetBrains Mono" pitchFamily="49" charset="0"/>
                <a:ea typeface="JetBrains Mono" pitchFamily="49" charset="-122"/>
                <a:cs typeface="JetBrains Mono" pitchFamily="49" charset="-120"/>
              </a:rPr>
              <a:t># buyruq berilgan nuqta, mm</a:t>
            </a:r>
            <a:endParaRPr lang="en-US" sz="1300" dirty="0"/>
          </a:p>
          <a:p>
            <a:pPr algn="l" indent="0" marL="0">
              <a:lnSpc>
                <a:spcPts val="1820"/>
              </a:lnSpc>
              <a:buNone/>
            </a:pPr>
            <a:r>
              <a:rPr lang="en-US" sz="1300" dirty="0">
                <a:solidFill>
                  <a:srgbClr val="E6E9EF"/>
                </a:solidFill>
                <a:latin typeface="JetBrains Mono" pitchFamily="49" charset="0"/>
                <a:ea typeface="JetBrains Mono" pitchFamily="49" charset="-122"/>
                <a:cs typeface="JetBrains Mono" pitchFamily="49" charset="-120"/>
              </a:rPr>
              <a:t>P0 = np.array([500.0, 0.0, 400.0])</a:t>
            </a:r>
            <a:endParaRPr lang="en-US" sz="1300" dirty="0"/>
          </a:p>
          <a:p>
            <a:pPr algn="l" indent="0" marL="0">
              <a:lnSpc>
                <a:spcPts val="1820"/>
              </a:lnSpc>
              <a:buNone/>
            </a:pPr>
            <a:r>
              <a:rPr lang="en-US" sz="1300" dirty="0">
                <a:solidFill>
                  <a:srgbClr val="8B96A8"/>
                </a:solidFill>
                <a:latin typeface="JetBrains Mono" pitchFamily="49" charset="0"/>
                <a:ea typeface="JetBrains Mono" pitchFamily="49" charset="-122"/>
                <a:cs typeface="JetBrains Mono" pitchFamily="49" charset="-120"/>
              </a:rPr>
              <a:t># n x 3 o'lchash natijalari (x, y, z)</a:t>
            </a:r>
            <a:endParaRPr lang="en-US" sz="1300" dirty="0"/>
          </a:p>
          <a:p>
            <a:pPr algn="l" indent="0" marL="0">
              <a:lnSpc>
                <a:spcPts val="1820"/>
              </a:lnSpc>
              <a:buNone/>
            </a:pPr>
            <a:r>
              <a:rPr lang="en-US" sz="1300" dirty="0">
                <a:solidFill>
                  <a:srgbClr val="E6E9EF"/>
                </a:solidFill>
                <a:latin typeface="JetBrains Mono" pitchFamily="49" charset="0"/>
                <a:ea typeface="JetBrains Mono" pitchFamily="49" charset="-122"/>
                <a:cs typeface="JetBrains Mono" pitchFamily="49" charset="-120"/>
              </a:rPr>
              <a:t>P = np.loadtxt(</a:t>
            </a:r>
            <a:r>
              <a:rPr lang="en-US" sz="1300" dirty="0">
                <a:solidFill>
                  <a:srgbClr val="9CCF8F"/>
                </a:solidFill>
                <a:latin typeface="JetBrains Mono" pitchFamily="49" charset="0"/>
                <a:ea typeface="JetBrains Mono" pitchFamily="49" charset="-122"/>
                <a:cs typeface="JetBrains Mono" pitchFamily="49" charset="-120"/>
              </a:rPr>
              <a:t>"olchash.csv"</a:t>
            </a:r>
            <a:r>
              <a:rPr lang="en-US" sz="1300" dirty="0">
                <a:solidFill>
                  <a:srgbClr val="E6E9EF"/>
                </a:solidFill>
                <a:latin typeface="JetBrains Mono" pitchFamily="49" charset="0"/>
                <a:ea typeface="JetBrains Mono" pitchFamily="49" charset="-122"/>
                <a:cs typeface="JetBrains Mono" pitchFamily="49" charset="-120"/>
              </a:rPr>
              <a:t>, delimiter=</a:t>
            </a:r>
            <a:r>
              <a:rPr lang="en-US" sz="1300" dirty="0">
                <a:solidFill>
                  <a:srgbClr val="9CCF8F"/>
                </a:solidFill>
                <a:latin typeface="JetBrains Mono" pitchFamily="49" charset="0"/>
                <a:ea typeface="JetBrains Mono" pitchFamily="49" charset="-122"/>
                <a:cs typeface="JetBrains Mono" pitchFamily="49" charset="-120"/>
              </a:rPr>
              <a:t>","</a:t>
            </a:r>
            <a:r>
              <a:rPr lang="en-US" sz="1300" dirty="0">
                <a:solidFill>
                  <a:srgbClr val="E6E9EF"/>
                </a:solidFill>
                <a:latin typeface="JetBrains Mono" pitchFamily="49" charset="0"/>
                <a:ea typeface="JetBrains Mono" pitchFamily="49" charset="-122"/>
                <a:cs typeface="JetBrains Mono" pitchFamily="49" charset="-120"/>
              </a:rPr>
              <a:t>)</a:t>
            </a:r>
            <a:endParaRPr lang="en-US" sz="1300" dirty="0"/>
          </a:p>
          <a:p>
            <a:pPr algn="l" indent="0" marL="0">
              <a:lnSpc>
                <a:spcPts val="1820"/>
              </a:lnSpc>
              <a:buNone/>
            </a:pPr>
            <a:endParaRPr lang="en-US" sz="1300" dirty="0"/>
          </a:p>
          <a:p>
            <a:pPr algn="l" indent="0" marL="0">
              <a:lnSpc>
                <a:spcPts val="1820"/>
              </a:lnSpc>
              <a:buNone/>
            </a:pPr>
            <a:r>
              <a:rPr lang="en-US" sz="1300" dirty="0">
                <a:solidFill>
                  <a:srgbClr val="E6E9EF"/>
                </a:solidFill>
                <a:latin typeface="JetBrains Mono" pitchFamily="49" charset="0"/>
                <a:ea typeface="JetBrains Mono" pitchFamily="49" charset="-122"/>
                <a:cs typeface="JetBrains Mono" pitchFamily="49" charset="-120"/>
              </a:rPr>
              <a:t>m = P.mean(axis=0)</a:t>
            </a:r>
            <a:r>
              <a:rPr lang="en-US" sz="1300" dirty="0">
                <a:solidFill>
                  <a:srgbClr val="8B96A8"/>
                </a:solidFill>
                <a:latin typeface="JetBrains Mono" pitchFamily="49" charset="0"/>
                <a:ea typeface="JetBrains Mono" pitchFamily="49" charset="-122"/>
                <a:cs typeface="JetBrains Mono" pitchFamily="49" charset="-120"/>
              </a:rPr>
              <a:t> # baritsentr</a:t>
            </a:r>
            <a:endParaRPr lang="en-US" sz="1300" dirty="0"/>
          </a:p>
          <a:p>
            <a:pPr algn="l" indent="0" marL="0">
              <a:lnSpc>
                <a:spcPts val="1820"/>
              </a:lnSpc>
              <a:buNone/>
            </a:pPr>
            <a:r>
              <a:rPr lang="en-US" sz="1300" dirty="0">
                <a:solidFill>
                  <a:srgbClr val="E6E9EF"/>
                </a:solidFill>
                <a:latin typeface="JetBrains Mono" pitchFamily="49" charset="0"/>
                <a:ea typeface="JetBrains Mono" pitchFamily="49" charset="-122"/>
                <a:cs typeface="JetBrains Mono" pitchFamily="49" charset="-120"/>
              </a:rPr>
              <a:t>AP = np.linalg.norm(m - P0)</a:t>
            </a:r>
            <a:endParaRPr lang="en-US" sz="1300" dirty="0"/>
          </a:p>
          <a:p>
            <a:pPr algn="l" indent="0" marL="0">
              <a:lnSpc>
                <a:spcPts val="1820"/>
              </a:lnSpc>
              <a:buNone/>
            </a:pPr>
            <a:r>
              <a:rPr lang="en-US" sz="1300" dirty="0">
                <a:solidFill>
                  <a:srgbClr val="E6E9EF"/>
                </a:solidFill>
                <a:latin typeface="JetBrains Mono" pitchFamily="49" charset="0"/>
                <a:ea typeface="JetBrains Mono" pitchFamily="49" charset="-122"/>
                <a:cs typeface="JetBrains Mono" pitchFamily="49" charset="-120"/>
              </a:rPr>
              <a:t>l = np.linalg.norm(P - m, axis=1)</a:t>
            </a:r>
            <a:endParaRPr lang="en-US" sz="1300" dirty="0"/>
          </a:p>
          <a:p>
            <a:pPr algn="l" indent="0" marL="0">
              <a:lnSpc>
                <a:spcPts val="1820"/>
              </a:lnSpc>
              <a:buNone/>
            </a:pPr>
            <a:r>
              <a:rPr lang="en-US" sz="1300" dirty="0">
                <a:solidFill>
                  <a:srgbClr val="E6E9EF"/>
                </a:solidFill>
                <a:latin typeface="JetBrains Mono" pitchFamily="49" charset="0"/>
                <a:ea typeface="JetBrains Mono" pitchFamily="49" charset="-122"/>
                <a:cs typeface="JetBrains Mono" pitchFamily="49" charset="-120"/>
              </a:rPr>
              <a:t>RP = l.mean() + 3 * l.std(ddof=1)</a:t>
            </a:r>
            <a:endParaRPr lang="en-US" sz="1300" dirty="0"/>
          </a:p>
          <a:p>
            <a:pPr algn="l" indent="0" marL="0">
              <a:lnSpc>
                <a:spcPts val="1820"/>
              </a:lnSpc>
              <a:buNone/>
            </a:pPr>
            <a:endParaRPr lang="en-US" sz="1300" dirty="0"/>
          </a:p>
          <a:p>
            <a:pPr algn="l" indent="0" marL="0">
              <a:lnSpc>
                <a:spcPts val="1820"/>
              </a:lnSpc>
              <a:buNone/>
            </a:pPr>
            <a:r>
              <a:rPr lang="en-US" sz="1300" dirty="0">
                <a:solidFill>
                  <a:srgbClr val="E6E9EF"/>
                </a:solidFill>
                <a:latin typeface="JetBrains Mono" pitchFamily="49" charset="0"/>
                <a:ea typeface="JetBrains Mono" pitchFamily="49" charset="-122"/>
                <a:cs typeface="JetBrains Mono" pitchFamily="49" charset="-120"/>
              </a:rPr>
              <a:t>print(f</a:t>
            </a:r>
            <a:r>
              <a:rPr lang="en-US" sz="1300" dirty="0">
                <a:solidFill>
                  <a:srgbClr val="9CCF8F"/>
                </a:solidFill>
                <a:latin typeface="JetBrains Mono" pitchFamily="49" charset="0"/>
                <a:ea typeface="JetBrains Mono" pitchFamily="49" charset="-122"/>
                <a:cs typeface="JetBrains Mono" pitchFamily="49" charset="-120"/>
              </a:rPr>
              <a:t>"AP = {AP:.3f} mm, RP = {RP:.3f} mm"</a:t>
            </a:r>
            <a:r>
              <a:rPr lang="en-US" sz="1300" dirty="0">
                <a:solidFill>
                  <a:srgbClr val="E6E9EF"/>
                </a:solidFill>
                <a:latin typeface="JetBrains Mono" pitchFamily="49" charset="0"/>
                <a:ea typeface="JetBrains Mono" pitchFamily="49" charset="-122"/>
                <a:cs typeface="JetBrains Mono" pitchFamily="49" charset="-120"/>
              </a:rPr>
              <a:t>)</a:t>
            </a:r>
            <a:endParaRPr lang="en-US" sz="1300" dirty="0"/>
          </a:p>
        </p:txBody>
      </p:sp>
      <p:sp>
        <p:nvSpPr>
          <p:cNvPr id="5" name="Shape 3"/>
          <p:cNvSpPr/>
          <p:nvPr/>
        </p:nvSpPr>
        <p:spPr>
          <a:xfrm>
            <a:off x="7724775" y="1806575"/>
            <a:ext cx="3651250" cy="786130"/>
          </a:xfrm>
          <a:prstGeom prst="roundRect">
            <a:avLst>
              <a:gd name="adj" fmla="val 9289"/>
            </a:avLst>
          </a:prstGeom>
          <a:solidFill>
            <a:srgbClr val="FDFCF9"/>
          </a:solidFill>
          <a:ln w="6350">
            <a:solidFill>
              <a:srgbClr val="E2DED4"/>
            </a:solidFill>
            <a:prstDash val="solid"/>
          </a:ln>
        </p:spPr>
      </p:sp>
      <p:sp>
        <p:nvSpPr>
          <p:cNvPr id="6" name="Text 4"/>
          <p:cNvSpPr/>
          <p:nvPr/>
        </p:nvSpPr>
        <p:spPr>
          <a:xfrm>
            <a:off x="7904480" y="1960885"/>
            <a:ext cx="33905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6CB0"/>
                </a:solidFill>
                <a:latin typeface="Noto Sans" pitchFamily="34" charset="0"/>
                <a:ea typeface="Noto Sans" pitchFamily="34" charset="-122"/>
                <a:cs typeface="Noto Sans" pitchFamily="34" charset="-120"/>
              </a:rPr>
              <a:t>mean(axis=0)</a:t>
            </a:r>
            <a:endParaRPr lang="en-US" sz="1400" dirty="0"/>
          </a:p>
        </p:txBody>
      </p:sp>
      <p:sp>
        <p:nvSpPr>
          <p:cNvPr id="7" name="Text 5"/>
          <p:cNvSpPr/>
          <p:nvPr/>
        </p:nvSpPr>
        <p:spPr>
          <a:xfrm>
            <a:off x="7904480" y="2225042"/>
            <a:ext cx="33905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Har bir ustun boʻyicha oʻrtacha: x̄, ȳ, z̄</a:t>
            </a:r>
            <a:endParaRPr lang="en-US" sz="1200" dirty="0"/>
          </a:p>
        </p:txBody>
      </p:sp>
      <p:sp>
        <p:nvSpPr>
          <p:cNvPr id="8" name="Shape 6"/>
          <p:cNvSpPr/>
          <p:nvPr/>
        </p:nvSpPr>
        <p:spPr>
          <a:xfrm>
            <a:off x="7724775" y="2751460"/>
            <a:ext cx="3651250" cy="999490"/>
          </a:xfrm>
          <a:prstGeom prst="roundRect">
            <a:avLst>
              <a:gd name="adj" fmla="val 7306"/>
            </a:avLst>
          </a:prstGeom>
          <a:solidFill>
            <a:srgbClr val="FDFCF9"/>
          </a:solidFill>
          <a:ln w="6350">
            <a:solidFill>
              <a:srgbClr val="E2DED4"/>
            </a:solidFill>
            <a:prstDash val="solid"/>
          </a:ln>
        </p:spPr>
      </p:sp>
      <p:sp>
        <p:nvSpPr>
          <p:cNvPr id="9" name="Text 7"/>
          <p:cNvSpPr/>
          <p:nvPr/>
        </p:nvSpPr>
        <p:spPr>
          <a:xfrm>
            <a:off x="7904480" y="2905758"/>
            <a:ext cx="33905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6CB0"/>
                </a:solidFill>
                <a:latin typeface="Noto Sans" pitchFamily="34" charset="0"/>
                <a:ea typeface="Noto Sans" pitchFamily="34" charset="-122"/>
                <a:cs typeface="Noto Sans" pitchFamily="34" charset="-120"/>
              </a:rPr>
              <a:t>linalg.norm</a:t>
            </a:r>
            <a:endParaRPr lang="en-US" sz="1400" dirty="0"/>
          </a:p>
        </p:txBody>
      </p:sp>
      <p:sp>
        <p:nvSpPr>
          <p:cNvPr id="10" name="Text 8"/>
          <p:cNvSpPr/>
          <p:nvPr/>
        </p:nvSpPr>
        <p:spPr>
          <a:xfrm>
            <a:off x="7904480" y="3169915"/>
            <a:ext cx="33905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Vektor uzunligi, yaʼni √ ichidagi kvadratlar yigʻindisi</a:t>
            </a:r>
            <a:endParaRPr lang="en-US" sz="1200" dirty="0"/>
          </a:p>
        </p:txBody>
      </p:sp>
      <p:sp>
        <p:nvSpPr>
          <p:cNvPr id="11" name="Shape 9"/>
          <p:cNvSpPr/>
          <p:nvPr/>
        </p:nvSpPr>
        <p:spPr>
          <a:xfrm>
            <a:off x="7724775" y="3909690"/>
            <a:ext cx="3651250" cy="999490"/>
          </a:xfrm>
          <a:prstGeom prst="roundRect">
            <a:avLst>
              <a:gd name="adj" fmla="val 7306"/>
            </a:avLst>
          </a:prstGeom>
          <a:solidFill>
            <a:srgbClr val="FDFCF9"/>
          </a:solidFill>
          <a:ln w="6350">
            <a:solidFill>
              <a:srgbClr val="E2DED4"/>
            </a:solidFill>
            <a:prstDash val="solid"/>
          </a:ln>
        </p:spPr>
      </p:sp>
      <p:sp>
        <p:nvSpPr>
          <p:cNvPr id="12" name="Text 10"/>
          <p:cNvSpPr/>
          <p:nvPr/>
        </p:nvSpPr>
        <p:spPr>
          <a:xfrm>
            <a:off x="7904480" y="4064000"/>
            <a:ext cx="33905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D6CB0"/>
                </a:solidFill>
                <a:latin typeface="Noto Sans" pitchFamily="34" charset="0"/>
                <a:ea typeface="Noto Sans" pitchFamily="34" charset="-122"/>
                <a:cs typeface="Noto Sans" pitchFamily="34" charset="-120"/>
              </a:rPr>
              <a:t>std(ddof=1)</a:t>
            </a:r>
            <a:endParaRPr lang="en-US" sz="1400" dirty="0"/>
          </a:p>
        </p:txBody>
      </p:sp>
      <p:sp>
        <p:nvSpPr>
          <p:cNvPr id="13" name="Text 11"/>
          <p:cNvSpPr/>
          <p:nvPr/>
        </p:nvSpPr>
        <p:spPr>
          <a:xfrm>
            <a:off x="7904480" y="4328158"/>
            <a:ext cx="33905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433"/>
                </a:solidFill>
                <a:latin typeface="Noto Sans" pitchFamily="34" charset="0"/>
                <a:ea typeface="Noto Sans" pitchFamily="34" charset="-122"/>
                <a:cs typeface="Noto Sans" pitchFamily="34" charset="-120"/>
              </a:rPr>
              <a:t>Maxrajda (n − 1): tanlanma standart chetlanishi</a:t>
            </a:r>
            <a:endParaRPr lang="en-US" sz="1200" dirty="0"/>
          </a:p>
        </p:txBody>
      </p:sp>
      <p:sp>
        <p:nvSpPr>
          <p:cNvPr id="14" name="Text 12"/>
          <p:cNvSpPr/>
          <p:nvPr/>
        </p:nvSpPr>
        <p:spPr>
          <a:xfrm>
            <a:off x="7721600" y="5064758"/>
            <a:ext cx="376732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Noto Sans" pitchFamily="34" charset="0"/>
                <a:ea typeface="Noto Sans" pitchFamily="34" charset="-122"/>
                <a:cs typeface="Noto Sans" pitchFamily="34" charset="-120"/>
              </a:rPr>
              <a:t>2-misol maʼlumotlari uchun natija: AP = 0.172 mm, RP = 0.070 mm</a:t>
            </a:r>
            <a:endParaRPr lang="en-US" sz="12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21A"/>
                </a:solidFill>
                <a:latin typeface="Noto Sans" pitchFamily="34" charset="0"/>
                <a:ea typeface="Noto Sans" pitchFamily="34" charset="-122"/>
                <a:cs typeface="Noto Sans" pitchFamily="34" charset="-120"/>
              </a:rPr>
              <a:t>AMALIY QISM</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3B"/>
                </a:solidFill>
                <a:latin typeface="Noto Sans" pitchFamily="34" charset="0"/>
                <a:ea typeface="Noto Sans" pitchFamily="34" charset="-122"/>
                <a:cs typeface="Noto Sans" pitchFamily="34" charset="-120"/>
              </a:rPr>
              <a:t>Topshiriqlar</a:t>
            </a:r>
            <a:endParaRPr lang="en-US" sz="3200" dirty="0"/>
          </a:p>
        </p:txBody>
      </p:sp>
      <p:sp>
        <p:nvSpPr>
          <p:cNvPr id="4" name="Shape 2"/>
          <p:cNvSpPr/>
          <p:nvPr/>
        </p:nvSpPr>
        <p:spPr>
          <a:xfrm>
            <a:off x="815975" y="1806575"/>
            <a:ext cx="10560050" cy="1802130"/>
          </a:xfrm>
          <a:prstGeom prst="roundRect">
            <a:avLst>
              <a:gd name="adj" fmla="val 4052"/>
            </a:avLst>
          </a:prstGeom>
          <a:solidFill>
            <a:srgbClr val="FDFCF9"/>
          </a:solidFill>
          <a:ln w="6350">
            <a:solidFill>
              <a:srgbClr val="E2DED4"/>
            </a:solidFill>
            <a:prstDash val="solid"/>
          </a:ln>
        </p:spPr>
      </p:sp>
      <p:sp>
        <p:nvSpPr>
          <p:cNvPr id="5" name="Text 3"/>
          <p:cNvSpPr/>
          <p:nvPr/>
        </p:nvSpPr>
        <p:spPr>
          <a:xfrm>
            <a:off x="1071880" y="2011685"/>
            <a:ext cx="1034968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1. Potensiometrik siljish datchigini kalibrlash</a:t>
            </a:r>
            <a:endParaRPr lang="en-US" sz="1600" dirty="0"/>
          </a:p>
        </p:txBody>
      </p:sp>
      <p:sp>
        <p:nvSpPr>
          <p:cNvPr id="6" name="Text 4"/>
          <p:cNvSpPr/>
          <p:nvPr/>
        </p:nvSpPr>
        <p:spPr>
          <a:xfrm>
            <a:off x="1071880" y="2357115"/>
            <a:ext cx="1034968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Sezgirlik S, chiziqlilik xatosi (%) va 10 bitli ADC (0…5 V) bilan ruxsat qobiliyatini toping.</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82040" y="2717802"/>
          <a:ext cx="10038080" cy="685800"/>
        </p:xfrm>
        <a:graphic>
          <a:graphicData uri="http://schemas.openxmlformats.org/drawingml/2006/table">
            <a:tbl>
              <a:tblPr/>
              <a:tblGrid>
                <a:gridCol w="1434011"/>
                <a:gridCol w="1434011"/>
                <a:gridCol w="1434011"/>
                <a:gridCol w="1434011"/>
                <a:gridCol w="1434011"/>
                <a:gridCol w="1434011"/>
                <a:gridCol w="1434011"/>
              </a:tblGrid>
              <a:tr h="342900">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X, mm</a:t>
                      </a:r>
                      <a:endParaRPr lang="en-US" sz="1300" dirty="0">
                        <a:latin typeface="Noto Sans" charset="0"/>
                        <a:ea typeface="Noto Sans" charset="0"/>
                        <a:cs typeface="Noto Sans" charset="0"/>
                      </a:endParaRPr>
                    </a:p>
                  </a:txBody>
                  <a:tcPr marL="127000" marR="127000" marT="50800" marB="50800"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0</a:t>
                      </a:r>
                      <a:endParaRPr lang="en-US" sz="1300" dirty="0">
                        <a:latin typeface="Noto Sans" charset="0"/>
                        <a:ea typeface="Noto Sans" charset="0"/>
                        <a:cs typeface="Noto Sans" charset="0"/>
                      </a:endParaRPr>
                    </a:p>
                  </a:txBody>
                  <a:tcPr marL="127000" marR="127000" marT="50800" marB="5080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10</a:t>
                      </a:r>
                      <a:endParaRPr lang="en-US" sz="1300" dirty="0">
                        <a:latin typeface="Noto Sans" charset="0"/>
                        <a:ea typeface="Noto Sans" charset="0"/>
                        <a:cs typeface="Noto Sans" charset="0"/>
                      </a:endParaRPr>
                    </a:p>
                  </a:txBody>
                  <a:tcPr marL="127000" marR="127000" marT="50800" marB="5080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20</a:t>
                      </a:r>
                      <a:endParaRPr lang="en-US" sz="1300" dirty="0">
                        <a:latin typeface="Noto Sans" charset="0"/>
                        <a:ea typeface="Noto Sans" charset="0"/>
                        <a:cs typeface="Noto Sans" charset="0"/>
                      </a:endParaRPr>
                    </a:p>
                  </a:txBody>
                  <a:tcPr marL="127000" marR="127000" marT="50800" marB="5080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30</a:t>
                      </a:r>
                      <a:endParaRPr lang="en-US" sz="1300" dirty="0">
                        <a:latin typeface="Noto Sans" charset="0"/>
                        <a:ea typeface="Noto Sans" charset="0"/>
                        <a:cs typeface="Noto Sans" charset="0"/>
                      </a:endParaRPr>
                    </a:p>
                  </a:txBody>
                  <a:tcPr marL="127000" marR="127000" marT="50800" marB="5080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40</a:t>
                      </a:r>
                      <a:endParaRPr lang="en-US" sz="1300" dirty="0">
                        <a:latin typeface="Noto Sans" charset="0"/>
                        <a:ea typeface="Noto Sans" charset="0"/>
                        <a:cs typeface="Noto Sans" charset="0"/>
                      </a:endParaRPr>
                    </a:p>
                  </a:txBody>
                  <a:tcPr marL="127000" marR="127000" marT="50800" marB="5080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820"/>
                        </a:lnSpc>
                        <a:buNone/>
                      </a:pPr>
                      <a:r>
                        <a:rPr lang="en-US" sz="1300" b="1" dirty="0">
                          <a:solidFill>
                            <a:srgbClr val="F5F3EE"/>
                          </a:solidFill>
                          <a:latin typeface="Noto Sans" pitchFamily="34" charset="0"/>
                          <a:ea typeface="Noto Sans" pitchFamily="34" charset="-122"/>
                          <a:cs typeface="Noto Sans" pitchFamily="34" charset="-120"/>
                        </a:rPr>
                        <a:t>50</a:t>
                      </a:r>
                      <a:endParaRPr lang="en-US" sz="1300" dirty="0">
                        <a:latin typeface="Noto Sans" charset="0"/>
                        <a:ea typeface="Noto Sans" charset="0"/>
                        <a:cs typeface="Noto Sans" charset="0"/>
                      </a:endParaRPr>
                    </a:p>
                  </a:txBody>
                  <a:tcPr marL="127000" marR="127000" marT="50800" marB="5080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r>
              <a:tr h="342900">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U, V</a:t>
                      </a:r>
                      <a:endParaRPr lang="en-US" sz="1300" dirty="0">
                        <a:latin typeface="Noto Sans" charset="0"/>
                        <a:ea typeface="Noto Sans" charset="0"/>
                        <a:cs typeface="Noto Sans" charset="0"/>
                      </a:endParaRPr>
                    </a:p>
                  </a:txBody>
                  <a:tcPr marL="127000" marR="127000" marT="50800" marB="508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0,02</a:t>
                      </a:r>
                      <a:endParaRPr lang="en-US" sz="1300" dirty="0">
                        <a:latin typeface="Noto Sans" charset="0"/>
                        <a:ea typeface="Noto Sans" charset="0"/>
                        <a:cs typeface="Noto Sans" charset="0"/>
                      </a:endParaRPr>
                    </a:p>
                  </a:txBody>
                  <a:tcPr marL="127000" marR="127000" marT="50800" marB="508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1,03</a:t>
                      </a:r>
                      <a:endParaRPr lang="en-US" sz="1300" dirty="0">
                        <a:latin typeface="Noto Sans" charset="0"/>
                        <a:ea typeface="Noto Sans" charset="0"/>
                        <a:cs typeface="Noto Sans" charset="0"/>
                      </a:endParaRPr>
                    </a:p>
                  </a:txBody>
                  <a:tcPr marL="127000" marR="127000" marT="50800" marB="508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2,05</a:t>
                      </a:r>
                      <a:endParaRPr lang="en-US" sz="1300" dirty="0">
                        <a:latin typeface="Noto Sans" charset="0"/>
                        <a:ea typeface="Noto Sans" charset="0"/>
                        <a:cs typeface="Noto Sans" charset="0"/>
                      </a:endParaRPr>
                    </a:p>
                  </a:txBody>
                  <a:tcPr marL="127000" marR="127000" marT="50800" marB="508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3,02</a:t>
                      </a:r>
                      <a:endParaRPr lang="en-US" sz="1300" dirty="0">
                        <a:latin typeface="Noto Sans" charset="0"/>
                        <a:ea typeface="Noto Sans" charset="0"/>
                        <a:cs typeface="Noto Sans" charset="0"/>
                      </a:endParaRPr>
                    </a:p>
                  </a:txBody>
                  <a:tcPr marL="127000" marR="127000" marT="50800" marB="508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3,98</a:t>
                      </a:r>
                      <a:endParaRPr lang="en-US" sz="1300" dirty="0">
                        <a:latin typeface="Noto Sans" charset="0"/>
                        <a:ea typeface="Noto Sans" charset="0"/>
                        <a:cs typeface="Noto Sans" charset="0"/>
                      </a:endParaRPr>
                    </a:p>
                  </a:txBody>
                  <a:tcPr marL="127000" marR="127000" marT="50800" marB="508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D2433"/>
                          </a:solidFill>
                          <a:latin typeface="Noto Sans" pitchFamily="34" charset="0"/>
                          <a:ea typeface="Noto Sans" pitchFamily="34" charset="-122"/>
                          <a:cs typeface="Noto Sans" pitchFamily="34" charset="-120"/>
                        </a:rPr>
                        <a:t>5,01</a:t>
                      </a:r>
                      <a:endParaRPr lang="en-US" sz="1300" dirty="0">
                        <a:latin typeface="Noto Sans" charset="0"/>
                        <a:ea typeface="Noto Sans" charset="0"/>
                        <a:cs typeface="Noto Sans" charset="0"/>
                      </a:endParaRPr>
                    </a:p>
                  </a:txBody>
                  <a:tcPr marL="127000" marR="127000" marT="50800" marB="508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8" name="Shape 5"/>
          <p:cNvSpPr/>
          <p:nvPr/>
        </p:nvSpPr>
        <p:spPr>
          <a:xfrm>
            <a:off x="815975" y="3869060"/>
            <a:ext cx="5175250" cy="1228090"/>
          </a:xfrm>
          <a:prstGeom prst="roundRect">
            <a:avLst>
              <a:gd name="adj" fmla="val 5946"/>
            </a:avLst>
          </a:prstGeom>
          <a:solidFill>
            <a:srgbClr val="FDFCF9"/>
          </a:solidFill>
          <a:ln w="6350">
            <a:solidFill>
              <a:srgbClr val="E2DED4"/>
            </a:solidFill>
            <a:prstDash val="solid"/>
          </a:ln>
        </p:spPr>
      </p:sp>
      <p:sp>
        <p:nvSpPr>
          <p:cNvPr id="9" name="Text 6"/>
          <p:cNvSpPr/>
          <p:nvPr/>
        </p:nvSpPr>
        <p:spPr>
          <a:xfrm>
            <a:off x="1071880" y="4074158"/>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2. Robotning AP va RP koʻrsatkichlari</a:t>
            </a:r>
            <a:endParaRPr lang="en-US" sz="1600" dirty="0"/>
          </a:p>
        </p:txBody>
      </p:sp>
      <p:sp>
        <p:nvSpPr>
          <p:cNvPr id="10" name="Text 7"/>
          <p:cNvSpPr/>
          <p:nvPr/>
        </p:nvSpPr>
        <p:spPr>
          <a:xfrm>
            <a:off x="1071880" y="439420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Variant boʻyicha 30 ta oʻlchash natijasidan AP va RP ni qoʻlda va Python dasturida hisoblang.</a:t>
            </a:r>
            <a:endParaRPr lang="en-US" sz="1400" dirty="0"/>
          </a:p>
        </p:txBody>
      </p:sp>
      <p:sp>
        <p:nvSpPr>
          <p:cNvPr id="11" name="Shape 8"/>
          <p:cNvSpPr/>
          <p:nvPr/>
        </p:nvSpPr>
        <p:spPr>
          <a:xfrm>
            <a:off x="6200775" y="3869060"/>
            <a:ext cx="5175250" cy="1228090"/>
          </a:xfrm>
          <a:prstGeom prst="roundRect">
            <a:avLst>
              <a:gd name="adj" fmla="val 5946"/>
            </a:avLst>
          </a:prstGeom>
          <a:solidFill>
            <a:srgbClr val="FDFCF9"/>
          </a:solidFill>
          <a:ln w="6350">
            <a:solidFill>
              <a:srgbClr val="E2DED4"/>
            </a:solidFill>
            <a:prstDash val="solid"/>
          </a:ln>
        </p:spPr>
      </p:sp>
      <p:sp>
        <p:nvSpPr>
          <p:cNvPr id="12" name="Text 9"/>
          <p:cNvSpPr/>
          <p:nvPr/>
        </p:nvSpPr>
        <p:spPr>
          <a:xfrm>
            <a:off x="6456680" y="4074158"/>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433"/>
                </a:solidFill>
                <a:latin typeface="Noto Sans" pitchFamily="34" charset="0"/>
                <a:ea typeface="Noto Sans" pitchFamily="34" charset="-122"/>
                <a:cs typeface="Noto Sans" pitchFamily="34" charset="-120"/>
              </a:rPr>
              <a:t>3. Enkoder va lyuft</a:t>
            </a:r>
            <a:endParaRPr lang="en-US" sz="1600" dirty="0"/>
          </a:p>
        </p:txBody>
      </p:sp>
      <p:sp>
        <p:nvSpPr>
          <p:cNvPr id="13" name="Text 10"/>
          <p:cNvSpPr/>
          <p:nvPr/>
        </p:nvSpPr>
        <p:spPr>
          <a:xfrm>
            <a:off x="6456680" y="439420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3"/>
                </a:solidFill>
                <a:latin typeface="Noto Sans" pitchFamily="34" charset="0"/>
                <a:ea typeface="Noto Sans" pitchFamily="34" charset="-122"/>
                <a:cs typeface="Noto Sans" pitchFamily="34" charset="-120"/>
              </a:rPr>
              <a:t>N = [___] imp/ayl, i = [___], lyuft [___]′, L = [___] mm uchun 1-misol hisobini takrorlang.</a:t>
            </a:r>
            <a:endParaRPr lang="en-US" sz="1400" dirty="0"/>
          </a:p>
        </p:txBody>
      </p:sp>
      <p:sp>
        <p:nvSpPr>
          <p:cNvPr id="14"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Noto Sans" pitchFamily="34" charset="0"/>
                <a:ea typeface="Noto Sans" pitchFamily="34" charset="-122"/>
                <a:cs typeface="Noto Sans" pitchFamily="34" charset="-120"/>
              </a:rPr>
              <a:t>Mexatron modullar va robotlarning metrologik tavsiflari · 17 · Hisobot: maqsad, nazariy qism, hisoblar, xulosa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46E"/>
                </a:solidFill>
                <a:latin typeface="Noto Sans" pitchFamily="34" charset="0"/>
                <a:ea typeface="Noto Sans" pitchFamily="34" charset="-122"/>
                <a:cs typeface="Noto Sans" pitchFamily="34" charset="-120"/>
              </a:rPr>
              <a:t>YAKUN</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Noto Sans" pitchFamily="34" charset="0"/>
                <a:ea typeface="Noto Sans" pitchFamily="34" charset="-122"/>
                <a:cs typeface="Noto Sans" pitchFamily="34" charset="-120"/>
              </a:rPr>
              <a:t>Nazorat savollari</a:t>
            </a:r>
            <a:endParaRPr lang="en-US" sz="3200" dirty="0"/>
          </a:p>
        </p:txBody>
      </p:sp>
      <p:sp>
        <p:nvSpPr>
          <p:cNvPr id="4" name="Text 2"/>
          <p:cNvSpPr/>
          <p:nvPr/>
        </p:nvSpPr>
        <p:spPr>
          <a:xfrm>
            <a:off x="871220" y="1854200"/>
            <a:ext cx="5166360" cy="1830070"/>
          </a:xfrm>
          <a:prstGeom prst="rect">
            <a:avLst/>
          </a:prstGeom>
          <a:noFill/>
          <a:ln/>
        </p:spPr>
        <p:txBody>
          <a:bodyPr wrap="square" lIns="0" tIns="0" rIns="0" bIns="0" rtlCol="0" anchor="t">
            <a:normAutofit/>
          </a:bodyPr>
          <a:lstStyle/>
          <a:p>
            <a:pPr algn="l" marL="195580" indent="-195580">
              <a:lnSpc>
                <a:spcPts val="2030"/>
              </a:lnSpc>
              <a:buSzPct val="100000"/>
              <a:buFontTx/>
              <a:buAutoNum type="arabicPeriod" startAt="1"/>
            </a:pPr>
            <a:r>
              <a:rPr lang="en-US" sz="1400" dirty="0">
                <a:solidFill>
                  <a:srgbClr val="E6E9EF"/>
                </a:solidFill>
                <a:latin typeface="Noto Sans" pitchFamily="34" charset="0"/>
                <a:ea typeface="Noto Sans" pitchFamily="34" charset="-122"/>
                <a:cs typeface="Noto Sans" pitchFamily="34" charset="-120"/>
              </a:rPr>
              <a:t>Oʻlchash vositasining metrologik tavsifi deganda nima tushuniladi?</a:t>
            </a:r>
            <a:endParaRPr lang="en-US" sz="1400" dirty="0"/>
          </a:p>
          <a:p>
            <a:pPr algn="l" marL="195580" indent="-195580">
              <a:lnSpc>
                <a:spcPts val="2030"/>
              </a:lnSpc>
              <a:buSzPct val="100000"/>
              <a:buFontTx/>
              <a:buAutoNum type="arabicPeriod" startAt="1"/>
            </a:pPr>
            <a:r>
              <a:rPr lang="en-US" sz="1400" dirty="0">
                <a:solidFill>
                  <a:srgbClr val="E6E9EF"/>
                </a:solidFill>
                <a:latin typeface="Noto Sans" pitchFamily="34" charset="0"/>
                <a:ea typeface="Noto Sans" pitchFamily="34" charset="-122"/>
                <a:cs typeface="Noto Sans" pitchFamily="34" charset="-120"/>
              </a:rPr>
              <a:t>Sezgirlik va ruxsat qobiliyatining farqi nimada?</a:t>
            </a:r>
            <a:endParaRPr lang="en-US" sz="1400" dirty="0"/>
          </a:p>
          <a:p>
            <a:pPr algn="l" marL="195580" indent="-195580">
              <a:lnSpc>
                <a:spcPts val="2030"/>
              </a:lnSpc>
              <a:buSzPct val="100000"/>
              <a:buFontTx/>
              <a:buAutoNum type="arabicPeriod" startAt="1"/>
            </a:pPr>
            <a:r>
              <a:rPr lang="en-US" sz="1400" dirty="0">
                <a:solidFill>
                  <a:srgbClr val="E6E9EF"/>
                </a:solidFill>
                <a:latin typeface="Noto Sans" pitchFamily="34" charset="0"/>
                <a:ea typeface="Noto Sans" pitchFamily="34" charset="-122"/>
                <a:cs typeface="Noto Sans" pitchFamily="34" charset="-120"/>
              </a:rPr>
              <a:t>Chiziqlilik xatosi va gisterezis qanday aniqlanadi?</a:t>
            </a:r>
            <a:endParaRPr lang="en-US" sz="1400" dirty="0"/>
          </a:p>
          <a:p>
            <a:pPr algn="l" marL="195580" indent="-195580">
              <a:lnSpc>
                <a:spcPts val="2030"/>
              </a:lnSpc>
              <a:buSzPct val="100000"/>
              <a:buFontTx/>
              <a:buAutoNum type="arabicPeriod" startAt="1"/>
            </a:pPr>
            <a:r>
              <a:rPr lang="en-US" sz="1400" dirty="0">
                <a:solidFill>
                  <a:srgbClr val="E6E9EF"/>
                </a:solidFill>
                <a:latin typeface="Noto Sans" pitchFamily="34" charset="0"/>
                <a:ea typeface="Noto Sans" pitchFamily="34" charset="-122"/>
                <a:cs typeface="Noto Sans" pitchFamily="34" charset="-120"/>
              </a:rPr>
              <a:t>Birinchi tartibli datchikning vaqt doimiysi qanday topiladi?</a:t>
            </a:r>
            <a:endParaRPr lang="en-US" sz="1400" dirty="0"/>
          </a:p>
        </p:txBody>
      </p:sp>
      <p:sp>
        <p:nvSpPr>
          <p:cNvPr id="5" name="Text 3"/>
          <p:cNvSpPr/>
          <p:nvPr/>
        </p:nvSpPr>
        <p:spPr>
          <a:xfrm>
            <a:off x="6357620" y="1854200"/>
            <a:ext cx="5166360" cy="1830070"/>
          </a:xfrm>
          <a:prstGeom prst="rect">
            <a:avLst/>
          </a:prstGeom>
          <a:noFill/>
          <a:ln/>
        </p:spPr>
        <p:txBody>
          <a:bodyPr wrap="square" lIns="0" tIns="0" rIns="0" bIns="0" rtlCol="0" anchor="t">
            <a:normAutofit/>
          </a:bodyPr>
          <a:lstStyle/>
          <a:p>
            <a:pPr algn="l" marL="195580" indent="-195580">
              <a:lnSpc>
                <a:spcPts val="2030"/>
              </a:lnSpc>
              <a:buSzPct val="100000"/>
              <a:buFontTx/>
              <a:buAutoNum type="arabicPeriod" startAt="1"/>
            </a:pPr>
            <a:r>
              <a:rPr lang="en-US" sz="1400" dirty="0">
                <a:solidFill>
                  <a:srgbClr val="E6E9EF"/>
                </a:solidFill>
                <a:latin typeface="Noto Sans" pitchFamily="34" charset="0"/>
                <a:ea typeface="Noto Sans" pitchFamily="34" charset="-122"/>
                <a:cs typeface="Noto Sans" pitchFamily="34" charset="-120"/>
              </a:rPr>
              <a:t>Absolyut, nisbiy va keltirilgan xatoliklar qanday farqlanadi?</a:t>
            </a:r>
            <a:endParaRPr lang="en-US" sz="1400" dirty="0"/>
          </a:p>
          <a:p>
            <a:pPr algn="l" marL="195580" indent="-195580">
              <a:lnSpc>
                <a:spcPts val="2030"/>
              </a:lnSpc>
              <a:buSzPct val="100000"/>
              <a:buFontTx/>
              <a:buAutoNum type="arabicPeriod" startAt="1"/>
            </a:pPr>
            <a:r>
              <a:rPr lang="en-US" sz="1400" dirty="0">
                <a:solidFill>
                  <a:srgbClr val="E6E9EF"/>
                </a:solidFill>
                <a:latin typeface="Noto Sans" pitchFamily="34" charset="0"/>
                <a:ea typeface="Noto Sans" pitchFamily="34" charset="-122"/>
                <a:cs typeface="Noto Sans" pitchFamily="34" charset="-120"/>
              </a:rPr>
              <a:t>Aniqlik va takrorlanuvchanlik farqini misol bilan tushuntiring.</a:t>
            </a:r>
            <a:endParaRPr lang="en-US" sz="1400" dirty="0"/>
          </a:p>
          <a:p>
            <a:pPr algn="l" marL="195580" indent="-195580">
              <a:lnSpc>
                <a:spcPts val="2030"/>
              </a:lnSpc>
              <a:buSzPct val="100000"/>
              <a:buFontTx/>
              <a:buAutoNum type="arabicPeriod" startAt="1"/>
            </a:pPr>
            <a:r>
              <a:rPr lang="en-US" sz="1400" dirty="0">
                <a:solidFill>
                  <a:srgbClr val="E6E9EF"/>
                </a:solidFill>
                <a:latin typeface="Noto Sans" pitchFamily="34" charset="0"/>
                <a:ea typeface="Noto Sans" pitchFamily="34" charset="-122"/>
                <a:cs typeface="Noto Sans" pitchFamily="34" charset="-120"/>
              </a:rPr>
              <a:t>ISO 9283 boʻyicha AP va RP qanday hisoblanadi?</a:t>
            </a:r>
            <a:endParaRPr lang="en-US" sz="1400" dirty="0"/>
          </a:p>
          <a:p>
            <a:pPr algn="l" marL="195580" indent="-195580">
              <a:lnSpc>
                <a:spcPts val="2030"/>
              </a:lnSpc>
              <a:buSzPct val="100000"/>
              <a:buFontTx/>
              <a:buAutoNum type="arabicPeriod" startAt="1"/>
            </a:pPr>
            <a:r>
              <a:rPr lang="en-US" sz="1400" dirty="0">
                <a:solidFill>
                  <a:srgbClr val="E6E9EF"/>
                </a:solidFill>
                <a:latin typeface="Noto Sans" pitchFamily="34" charset="0"/>
                <a:ea typeface="Noto Sans" pitchFamily="34" charset="-122"/>
                <a:cs typeface="Noto Sans" pitchFamily="34" charset="-120"/>
              </a:rPr>
              <a:t>Nima uchun yuqori ruxsatli enkoder yuqori aniqlikni kafolatlamaydi?</a:t>
            </a:r>
            <a:endParaRPr lang="en-US" sz="1400" dirty="0"/>
          </a:p>
        </p:txBody>
      </p:sp>
      <p:sp>
        <p:nvSpPr>
          <p:cNvPr id="6" name="Text 4"/>
          <p:cNvSpPr/>
          <p:nvPr/>
        </p:nvSpPr>
        <p:spPr>
          <a:xfrm>
            <a:off x="812800" y="6024885"/>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Noto Sans" pitchFamily="34" charset="0"/>
                <a:ea typeface="Noto Sans" pitchFamily="34" charset="-122"/>
                <a:cs typeface="Noto Sans" pitchFamily="34" charset="-120"/>
              </a:rPr>
              <a:t>Mexatron modullar va robotlarning metrologik tavsiflari · 18 · Adabiyot: Regtien, Dertien. Sensors for Mechatronics; Bolton. Mechatronics; Craig. Introduction to Robotics</a:t>
            </a:r>
            <a:endParaRPr lang="en-US" sz="1200" dirty="0"/>
          </a:p>
        </p:txBody>
      </p:sp>
    </p:spTree>
  </p:cSld>
  <p:clrMapOvr>
    <a:masterClrMapping/>
  </p:clrMapOvr>
</p:sld>
</file>

<file path=ppt/theme/theme1.xml><?xml version="1.0" encoding="utf-8"?>
<a:theme xmlns:a="http://schemas.openxmlformats.org/drawingml/2006/main" name="Mexatron modullar va robotlarning metrologik tavsiflari">
  <a:themeElements>
    <a:clrScheme name="Mexatron modullar va robotlarning metrologik tavsiflari">
      <a:dk1>
        <a:srgbClr val="16233B"/>
      </a:dk1>
      <a:lt1>
        <a:srgbClr val="F5F3EE"/>
      </a:lt1>
      <a:dk2>
        <a:srgbClr val="4E5768"/>
      </a:dk2>
      <a:lt2>
        <a:srgbClr val="DFDEDC"/>
      </a:lt2>
      <a:accent1>
        <a:srgbClr val="B5521A"/>
      </a:accent1>
      <a:accent2>
        <a:srgbClr val="2D6CB0"/>
      </a:accent2>
      <a:accent3>
        <a:srgbClr val="D9692B"/>
      </a:accent3>
      <a:accent4>
        <a:srgbClr val="F0A46E"/>
      </a:accent4>
      <a:accent5>
        <a:srgbClr val="8F3F12"/>
      </a:accent5>
      <a:accent6>
        <a:srgbClr val="1F4F85"/>
      </a:accent6>
      <a:hlink>
        <a:srgbClr val="0563C1"/>
      </a:hlink>
      <a:folHlink>
        <a:srgbClr val="954F72"/>
      </a:folHlink>
    </a:clrScheme>
    <a:fontScheme name="Mexatron modullar va robotlarning metrologik tavsiflari">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Mexatron modullar va robotlarning metrologik tavsiflari</dc:title>
  <dc:subject/>
  <dc:creator/>
  <cp:lastModifiedBy/>
  <cp:revision>1</cp:revision>
  <dcterms:created xsi:type="dcterms:W3CDTF">2026-10-16T05:58:22Z</dcterms:created>
  <dcterms:modified xsi:type="dcterms:W3CDTF">2026-10-16T05:58:22Z</dcterms:modified>
</cp:coreProperties>
</file>